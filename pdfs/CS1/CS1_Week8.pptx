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7"/>
  </p:notesMasterIdLst>
  <p:handoutMasterIdLst>
    <p:handoutMasterId r:id="rId28"/>
  </p:handoutMasterIdLst>
  <p:sldIdLst>
    <p:sldId id="256" r:id="rId2"/>
    <p:sldId id="1052" r:id="rId3"/>
    <p:sldId id="1189" r:id="rId4"/>
    <p:sldId id="1248" r:id="rId5"/>
    <p:sldId id="1249" r:id="rId6"/>
    <p:sldId id="1250" r:id="rId7"/>
    <p:sldId id="1070" r:id="rId8"/>
    <p:sldId id="257" r:id="rId9"/>
    <p:sldId id="1097" r:id="rId10"/>
    <p:sldId id="1251" r:id="rId11"/>
    <p:sldId id="1252" r:id="rId12"/>
    <p:sldId id="1253" r:id="rId13"/>
    <p:sldId id="1254" r:id="rId14"/>
    <p:sldId id="1255" r:id="rId15"/>
    <p:sldId id="1258" r:id="rId16"/>
    <p:sldId id="1259" r:id="rId17"/>
    <p:sldId id="1261" r:id="rId18"/>
    <p:sldId id="1263" r:id="rId19"/>
    <p:sldId id="1257" r:id="rId20"/>
    <p:sldId id="1262" r:id="rId21"/>
    <p:sldId id="1260" r:id="rId22"/>
    <p:sldId id="1256" r:id="rId23"/>
    <p:sldId id="1171" r:id="rId24"/>
    <p:sldId id="1118" r:id="rId25"/>
    <p:sldId id="1067" r:id="rId26"/>
  </p:sldIdLst>
  <p:sldSz cx="9144000" cy="5143500" type="screen16x9"/>
  <p:notesSz cx="6858000" cy="9144000"/>
  <p:embeddedFontLst>
    <p:embeddedFont>
      <p:font typeface="Cambria Math" panose="02040503050406030204" pitchFamily="18" charset="0"/>
      <p:regular r:id="rId29"/>
    </p:embeddedFont>
    <p:embeddedFont>
      <p:font typeface="Quattrocento Sans" panose="020B0502050000020003" pitchFamily="34" charset="0"/>
      <p:regular r:id="rId30"/>
      <p:bold r:id="rId31"/>
      <p:italic r:id="rId32"/>
      <p:boldItalic r:id="rId33"/>
    </p:embeddedFont>
    <p:embeddedFont>
      <p:font typeface="Segoe UI" panose="020B0502040204020203" pitchFamily="34" charset="0"/>
      <p:regular r:id="rId34"/>
      <p:bold r:id="rId35"/>
      <p:italic r:id="rId36"/>
      <p:boldItalic r:id="rId37"/>
    </p:embeddedFont>
    <p:embeddedFont>
      <p:font typeface="Segoe UI Black" panose="020B0A02040204020203" pitchFamily="34" charset="0"/>
      <p:bold r:id="rId38"/>
      <p:italic r:id="rId39"/>
      <p:boldItalic r:id="rId40"/>
    </p:embeddedFont>
    <p:embeddedFont>
      <p:font typeface="Segoe UI Light" panose="020B0502040204020203" pitchFamily="34" charset="0"/>
      <p:regular r:id="rId41"/>
      <p:italic r:id="rId42"/>
    </p:embeddedFont>
    <p:embeddedFont>
      <p:font typeface="Segoe UI Semibold" panose="020B0702040204020203"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tandardabschnitt" id="{C6295B93-5FFC-9442-A817-245B0E7A1F78}">
          <p14:sldIdLst>
            <p14:sldId id="256"/>
            <p14:sldId id="1052"/>
            <p14:sldId id="1189"/>
            <p14:sldId id="1248"/>
            <p14:sldId id="1249"/>
            <p14:sldId id="1250"/>
            <p14:sldId id="1070"/>
            <p14:sldId id="257"/>
          </p14:sldIdLst>
        </p14:section>
        <p14:section name="Time response" id="{1FBDD870-616A-2043-9AB2-93A2A117B0C5}">
          <p14:sldIdLst>
            <p14:sldId id="1097"/>
            <p14:sldId id="1251"/>
            <p14:sldId id="1252"/>
            <p14:sldId id="1253"/>
            <p14:sldId id="1254"/>
          </p14:sldIdLst>
        </p14:section>
        <p14:section name="System Response" id="{99F6F273-773A-6046-92C4-2E3701EFB2E9}">
          <p14:sldIdLst>
            <p14:sldId id="1255"/>
            <p14:sldId id="1258"/>
            <p14:sldId id="1259"/>
            <p14:sldId id="1261"/>
            <p14:sldId id="1263"/>
            <p14:sldId id="1257"/>
            <p14:sldId id="1262"/>
            <p14:sldId id="1260"/>
          </p14:sldIdLst>
        </p14:section>
        <p14:section name="PID-Control" id="{AB066B52-7B3D-FD40-BEC1-580AB52DEF13}">
          <p14:sldIdLst>
            <p14:sldId id="1256"/>
          </p14:sldIdLst>
        </p14:section>
        <p14:section name="Summary &amp; Problem Sets" id="{BCE4D2BE-C8A5-E54A-85DF-74588FB6A961}">
          <p14:sldIdLst>
            <p14:sldId id="1171"/>
          </p14:sldIdLst>
        </p14:section>
        <p14:section name="Ende" id="{FDF356B0-7B14-AF44-83A9-6B143533D1BA}">
          <p14:sldIdLst>
            <p14:sldId id="1118"/>
            <p14:sldId id="1067"/>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8F5"/>
    <a:srgbClr val="178F55"/>
    <a:srgbClr val="CCCCCC"/>
    <a:srgbClr val="E7E7E8"/>
    <a:srgbClr val="E99460"/>
    <a:srgbClr val="FE7606"/>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60"/>
    <p:restoredTop sz="94688"/>
  </p:normalViewPr>
  <p:slideViewPr>
    <p:cSldViewPr snapToGrid="0">
      <p:cViewPr>
        <p:scale>
          <a:sx n="138" d="100"/>
          <a:sy n="138" d="100"/>
        </p:scale>
        <p:origin x="-128" y="44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6AB46D-7F9A-1F62-1FF7-AC60624C6E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DD83487-D0BB-A389-B60D-19960FD2D2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D98D86-3ADD-8640-A1CB-F3A8CF3A4024}" type="datetimeFigureOut">
              <a:rPr lang="en-US" smtClean="0"/>
              <a:t>11/3/25</a:t>
            </a:fld>
            <a:endParaRPr lang="en-US"/>
          </a:p>
        </p:txBody>
      </p:sp>
      <p:sp>
        <p:nvSpPr>
          <p:cNvPr id="4" name="Footer Placeholder 3">
            <a:extLst>
              <a:ext uri="{FF2B5EF4-FFF2-40B4-BE49-F238E27FC236}">
                <a16:creationId xmlns:a16="http://schemas.microsoft.com/office/drawing/2014/main" id="{34F38B08-6768-38E3-58F8-47B150F727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Rabe</a:t>
            </a:r>
          </a:p>
        </p:txBody>
      </p:sp>
      <p:sp>
        <p:nvSpPr>
          <p:cNvPr id="5" name="Slide Number Placeholder 4">
            <a:extLst>
              <a:ext uri="{FF2B5EF4-FFF2-40B4-BE49-F238E27FC236}">
                <a16:creationId xmlns:a16="http://schemas.microsoft.com/office/drawing/2014/main" id="{E527F451-074A-21A5-21F5-9B26F232EA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363B5-5A7D-854B-843E-EB2CC41E3B6F}" type="slidenum">
              <a:rPr lang="en-US" smtClean="0"/>
              <a:t>‹Nr.›</a:t>
            </a:fld>
            <a:endParaRPr lang="en-US"/>
          </a:p>
        </p:txBody>
      </p:sp>
    </p:spTree>
    <p:extLst>
      <p:ext uri="{BB962C8B-B14F-4D97-AF65-F5344CB8AC3E}">
        <p14:creationId xmlns:p14="http://schemas.microsoft.com/office/powerpoint/2010/main" val="1823553715"/>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20:29:31.105"/>
    </inkml:context>
    <inkml:brush xml:id="br0">
      <inkml:brushProperty name="width" value="0.035" units="cm"/>
      <inkml:brushProperty name="height" value="0.035" units="cm"/>
      <inkml:brushProperty name="color" value="#FFFFFF"/>
    </inkml:brush>
  </inkml:definitions>
  <inkml:trace contextRef="#ctx0" brushRef="#br0">0 1 24575,'2'1'0,"-1"0"0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4T20:29:38.970"/>
    </inkml:context>
    <inkml:brush xml:id="br0">
      <inkml:brushProperty name="width" value="0.035" units="cm"/>
      <inkml:brushProperty name="height" value="0.035" units="cm"/>
      <inkml:brushProperty name="color" value="#FFFFFF"/>
    </inkml:brush>
  </inkml:definitions>
  <inkml:trace contextRef="#ctx0" brushRef="#br0">2068 406 24575,'-3'-2'0,"2"11"0,-3 12 0,-1 15 0,-1 6 0,-1 4 0,2-8 0,3-10 0,1-13 0,1-16 0,5-9 0,9-14 0,13-15 0,7-4 0,0 3 0,-9 11 0,-15 18 0,-21 29 0,-28 39 0,9-15 0,-3 4 0,-5 8 0,-2 1 0,3-4 0,1-2 0,-18 25 0,19-27 0,19-30 0,14-27 0,15-27 0,10-17 0,4-2 0,-5 12 0,-17 20 0,-28 19 0,-37 24 0,-28 22 0,40-15 0,0 1 0,-32 23 0,31-18 0,25-21 0,25-23 0,16-18 0,8-9 0,3 1 0,-8 12 0,-9 16 0,-8 11 0,-5 10 0,-4 4 0,-1 3 0,-2 9 0,-7 24 0,-9 28 0,8-30 0,0 2 0,0 0 0,0-1 0,-10 27 0,12-33 0,8-32 0,9-34 0,8-27 0,6-17 0,5-8 0,-2 12 0,-7 21 0,-6 22 0,-6 24 0,-8 25 0,-10 28 0,-6 15 0,-1 0 0,6-17 0,8-25 0,5-25 0,3-31 0,2-37 0,1-29 0,0 40 0,0 0 0,0-37 0,-1 35 0,-1 26 0,-4 25 0,-5 26 0,-6 33 0,7 2 0,1 9 0,0 21 0,2 7-213,2-19 0,1 4 0,0 0 213,1 1 0,0 0 0,1-2 0,-1-9 0,0-3 0,0-3 0,-1 15 0,-1-8 0,-2 10 0,1-51 0,4-98 0,1-20 0,0-18 0,1 31 0,0-6 0,0-4 0,0 1-386,0-9 1,0-1 0,0-1 0,0 2 385,1 4 0,-1 1 0,1 3 0,0 3 0,-1-5 0,1 4 0,1 8 294,-1 3 1,0 10-295,1-4 0,-12 72 0,-7 31 0,-2 18 0,-3 5 0,-2 10 0,-1 5-535,0 2 0,-1 6 1,-1 3-1,1 2 535,4-12 0,0 2 0,1 2 0,0-1 0,0-1 0,-2 16 0,0 1 0,2-3 0,1-2-112,-2 11 0,2-4 0,3-7 112,1 5 0,3-12 691,4-27 0,1-9-691,1-2 0,4-49 0,2-57 0,1-15 0,0-18 0,0 21 0,0-7 0,0-5 0,0-3-98,0 4 0,1-5 0,-1-1 0,0-2 1,1 1 97,0-3 0,1 0 0,-1-1 0,1 1 0,0 3 0,1-14 0,0 2 0,0 3 0,2 6 102,0-2 1,1 6-1,1 9-102,1 0 0,1 11 0,3-8 0,-3 50 0,-3 20 0,9 13 2811,20 31-2811,-5 9 0,2 10 0,-4 3 0,0 7 0,-1 5-617,4 18 0,-2 8 1,-3 4 616,-7-11 0,-2 5 0,-3 3 0,-2-1-415,-3-14 0,-3 1 0,0 0 0,-3 0 0,-2-1 415,-1 15 0,-3 0 0,-3-1 0,-2-4 0,-2-8 0,-2-3 0,-2-2 0,-3-5 0,-4 3 0,-2-5 0,-2-7 0,-8 6 0,0-10 0,-15 17 0,22-44 1693,15-31-1693,7-32 2287,3-41-2287,2 10 0,2-7 0,5-21 0,4-6 0,-1 28 0,2-1 0,1 0 0,10-29 0,3 3 0,-1 15 0,0 7 0,-7 20 0,-2 6 0,1-11 0,-25 32 0,-37 17 0,-7 12 0,-11 6 0,-24 7 0,-6 5 0,22-4 0,-2 1 0,0 2 0,-1 2 0,1 1 0,3-1 0,-18 7 0,8-1 0,22-9 0,6-3 0,-9 0 0,60-35 0,56-31 0,-7 12 0,6-3 0,14-8 0,2 1 0,2 0 0,0 1 0,-5 2 0,-3 2 0,-10 6 0,-4 1 0,23-16 0,-30 16 0,-25 15 0,-23 9 0,-33 3 0,-26 0 0,-20-3 0,2-3 0,26-1 0,24-5 0,35-12 0,61-31 0,-3 16 0,11-1 0,-9 8 0,6-1 0,1 0-225,6-2 0,1 1 0,0 1 225,-6 4 0,0 1 0,-4 2 0,18-8 0,-8 3 0,-23 12 0,-6 4 0,12-5 0,-35 15 0,-16 6 0,-4-1 0,9-8 675,28-18-675,38-25 0,-21 17 0,5-1 0,5-3 0,1 0 0,-2 3 0,-3 2 0,-10 7 0,-4 3 0,16-6 0,-28 16 0,-23 13 0,-17 5 0,-25 10 0,-61 29 0,16-6 0,-10 5 0,10-5 0,-5 2 0,-2 0-252,-3 2 0,-2 1 0,1-3 252,7-3 0,0-2 0,3-1 0,-20 6 0,7-5 0,25-10 0,8-5 0,-16-1 0,46-23 0,40-18 0,24-12 0,22-10 756,17-4-756,-37 27 0,0 1 0,2-1 0,0 1 0,-1 2 0,-2 2 0,29-14 0,-20 12 0,-24 9 0,-51 8 0,-60 9 0,8 3 0,-8 0 0,-15 1 0,-3-1 0,0 1 0,1-2 0,13-1 0,6-2 0,23 0 0,8-2 0,-12-3 0,38-7 0,28-17 0,34-25 0,0 10 0,2 1 0,10-10 0,9-3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ccbe504443_1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g2ccbe504443_1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65013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ccbe504443_1_18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 name="Google Shape;69;g2ccbe504443_1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6297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50154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3156626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b="1" i="0">
                <a:latin typeface="Segoe UI" panose="020B0502040204020203" pitchFamily="34" charset="0"/>
                <a:cs typeface="Segoe UI" panose="020B0502040204020203" pitchFamily="34" charset="0"/>
              </a:defRPr>
            </a:lvl1pPr>
          </a:lstStyle>
          <a:p>
            <a:r>
              <a:rPr lang="de-DE"/>
              <a:t>Mastertitelformat bearbeiten</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b="0" i="0">
                <a:latin typeface="Segoe UI Light" panose="020B0402040204020203" pitchFamily="34" charset="0"/>
                <a:cs typeface="Segoe UI Light" panose="020B04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5790DAB1-6132-8E49-950C-7A4598C8BD5E}"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07217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Segoe UI Semibold" panose="020B0502040204020203" pitchFamily="34" charset="0"/>
                <a:cs typeface="Segoe UI Semibold" panose="020B0502040204020203" pitchFamily="34" charset="0"/>
              </a:defRPr>
            </a:lvl1pPr>
          </a:lstStyle>
          <a:p>
            <a:r>
              <a:rPr lang="de-DE"/>
              <a:t>Mastertitelformat bearbeiten</a:t>
            </a:r>
            <a:endParaRPr lang="en-US"/>
          </a:p>
        </p:txBody>
      </p:sp>
      <p:sp>
        <p:nvSpPr>
          <p:cNvPr id="3" name="Content Placeholder 2"/>
          <p:cNvSpPr>
            <a:spLocks noGrp="1"/>
          </p:cNvSpPr>
          <p:nvPr>
            <p:ph idx="1"/>
          </p:nvPr>
        </p:nvSpPr>
        <p:spPr/>
        <p:txBody>
          <a:bodyPr/>
          <a:lstStyle>
            <a:lvl1pPr>
              <a:defRPr sz="1800"/>
            </a:lvl1pPr>
            <a:lvl2pPr>
              <a:defRPr sz="1500"/>
            </a:lvl2pPr>
            <a:lvl3pPr>
              <a:defRPr sz="1200"/>
            </a:lvl3pPr>
            <a:lvl4pPr>
              <a:defRPr sz="1050"/>
            </a:lvl4pPr>
            <a:lvl5pPr>
              <a:defRPr sz="9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B0CD05D9-D09D-3D4F-ABB6-B8CE6E32BC22}"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995653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de-DE"/>
              <a:t>Mastertitelformat bearbeiten</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6185C12D-6E52-F241-A7F7-3B7AD5C9557C}"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10216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2EF7524D-3A07-A34A-9723-8DF210E9AD9A}"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98347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de-DE"/>
              <a:t>Mastertitelformat bearbeiten</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629842" y="1878806"/>
            <a:ext cx="3868340"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4629150" y="1878806"/>
            <a:ext cx="3887391"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e Placeholder 6"/>
          <p:cNvSpPr>
            <a:spLocks noGrp="1"/>
          </p:cNvSpPr>
          <p:nvPr>
            <p:ph type="dt" sz="half" idx="10"/>
          </p:nvPr>
        </p:nvSpPr>
        <p:spPr>
          <a:xfrm>
            <a:off x="628650" y="4767263"/>
            <a:ext cx="2057400" cy="273844"/>
          </a:xfrm>
          <a:prstGeom prst="rect">
            <a:avLst/>
          </a:prstGeom>
        </p:spPr>
        <p:txBody>
          <a:bodyPr/>
          <a:lstStyle/>
          <a:p>
            <a:pPr defTabSz="342900">
              <a:buClrTx/>
            </a:pPr>
            <a:fld id="{980C7E59-597D-B54B-A9E3-7D29B1447A10}"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476417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Date Placeholder 2"/>
          <p:cNvSpPr>
            <a:spLocks noGrp="1"/>
          </p:cNvSpPr>
          <p:nvPr>
            <p:ph type="dt" sz="half" idx="10"/>
          </p:nvPr>
        </p:nvSpPr>
        <p:spPr>
          <a:xfrm>
            <a:off x="628650" y="4767263"/>
            <a:ext cx="2057400" cy="273844"/>
          </a:xfrm>
          <a:prstGeom prst="rect">
            <a:avLst/>
          </a:prstGeom>
        </p:spPr>
        <p:txBody>
          <a:bodyPr/>
          <a:lstStyle/>
          <a:p>
            <a:pPr defTabSz="342900">
              <a:buClrTx/>
            </a:pPr>
            <a:fld id="{AE2E1015-23F4-4B40-A11E-C001C2B9BC01}"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50157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pPr defTabSz="342900">
              <a:buClrTx/>
            </a:pPr>
            <a:fld id="{2D306621-6DD1-614E-A652-AE9A8EB2D1AB}"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85451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7C8DF265-596D-3D4F-8B95-AA2651B4D46A}"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83114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pPr defTabSz="342900">
              <a:buClrTx/>
            </a:pPr>
            <a:fld id="{4EBA4EB2-964C-114D-A560-441B6A376279}"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052334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42EF2A13-8ED6-3345-A350-8DA17845BB65}"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16588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de-DE"/>
              <a:t>Mastertitelformat bearbeiten</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pPr defTabSz="342900">
              <a:buClrTx/>
            </a:pPr>
            <a:fld id="{53B36267-238A-A141-939E-43BF76AEAD21}" type="datetime1">
              <a:rPr lang="de-CH" sz="1350" kern="1200" smtClean="0">
                <a:solidFill>
                  <a:srgbClr val="101623"/>
                </a:solidFill>
                <a:latin typeface="Calibri" panose="020F0502020204030204"/>
                <a:ea typeface="+mn-ea"/>
                <a:cs typeface="+mn-cs"/>
              </a:rPr>
              <a:t>03.11.25</a:t>
            </a:fld>
            <a:endParaRPr lang="en-CH" sz="1350" kern="1200">
              <a:solidFill>
                <a:srgbClr val="101623"/>
              </a:solidFill>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29932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‹Nr.›</a:t>
            </a:fld>
            <a:endParaRPr lang="en-CH" kern="1200">
              <a:solidFill>
                <a:srgbClr val="101623">
                  <a:tint val="75000"/>
                </a:srgbClr>
              </a:solidFill>
              <a:latin typeface="Calibri" panose="020F0502020204030204"/>
              <a:ea typeface="+mn-ea"/>
              <a:cs typeface="+mn-cs"/>
            </a:endParaRPr>
          </a:p>
        </p:txBody>
      </p:sp>
      <p:pic>
        <p:nvPicPr>
          <p:cNvPr id="4" name="Picture 7" descr="A black background with a black square&#10;&#10;Description automatically generated with medium confidence">
            <a:extLst>
              <a:ext uri="{FF2B5EF4-FFF2-40B4-BE49-F238E27FC236}">
                <a16:creationId xmlns:a16="http://schemas.microsoft.com/office/drawing/2014/main" id="{07C2C286-74A8-CF18-6D5D-5483E3A588CB}"/>
              </a:ext>
            </a:extLst>
          </p:cNvPr>
          <p:cNvPicPr>
            <a:picLocks noChangeAspect="1"/>
          </p:cNvPicPr>
          <p:nvPr userDrawn="1"/>
        </p:nvPicPr>
        <p:blipFill>
          <a:blip r:embed="rId13"/>
          <a:stretch>
            <a:fillRect/>
          </a:stretch>
        </p:blipFill>
        <p:spPr>
          <a:xfrm>
            <a:off x="236836" y="4733926"/>
            <a:ext cx="1287391" cy="470106"/>
          </a:xfrm>
          <a:prstGeom prst="rect">
            <a:avLst/>
          </a:prstGeom>
        </p:spPr>
      </p:pic>
      <p:pic>
        <p:nvPicPr>
          <p:cNvPr id="7" name="Grafik 6">
            <a:extLst>
              <a:ext uri="{FF2B5EF4-FFF2-40B4-BE49-F238E27FC236}">
                <a16:creationId xmlns:a16="http://schemas.microsoft.com/office/drawing/2014/main" id="{A25D8FA1-CEF5-7E41-FFD1-9BC94CF74539}"/>
              </a:ext>
            </a:extLst>
          </p:cNvPr>
          <p:cNvPicPr>
            <a:picLocks noChangeAspect="1"/>
          </p:cNvPicPr>
          <p:nvPr userDrawn="1"/>
        </p:nvPicPr>
        <p:blipFill>
          <a:blip r:embed="rId14"/>
          <a:stretch>
            <a:fillRect/>
          </a:stretch>
        </p:blipFill>
        <p:spPr>
          <a:xfrm>
            <a:off x="1509092" y="4828074"/>
            <a:ext cx="275076" cy="275076"/>
          </a:xfrm>
          <a:prstGeom prst="rect">
            <a:avLst/>
          </a:prstGeom>
        </p:spPr>
      </p:pic>
    </p:spTree>
    <p:extLst>
      <p:ext uri="{BB962C8B-B14F-4D97-AF65-F5344CB8AC3E}">
        <p14:creationId xmlns:p14="http://schemas.microsoft.com/office/powerpoint/2010/main" val="254089211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dt="0"/>
  <p:txStyles>
    <p:titleStyle>
      <a:lvl1pPr algn="l" defTabSz="685800" rtl="0" eaLnBrk="1" latinLnBrk="0" hangingPunct="1">
        <a:lnSpc>
          <a:spcPct val="90000"/>
        </a:lnSpc>
        <a:spcBef>
          <a:spcPct val="0"/>
        </a:spcBef>
        <a:buNone/>
        <a:defRPr sz="3300" kern="1200">
          <a:solidFill>
            <a:schemeClr val="tx1"/>
          </a:solidFill>
          <a:latin typeface="Segoe UI" panose="020B0502040204020203" pitchFamily="34" charset="0"/>
          <a:ea typeface="+mj-ea"/>
          <a:cs typeface="Segoe UI" panose="020B0502040204020203"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Segoe UI" panose="020F0502020204030204" pitchFamily="34" charset="0"/>
          <a:ea typeface="+mn-ea"/>
          <a:cs typeface="Segoe U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egoe UI" panose="020F0502020204030204" pitchFamily="34" charset="0"/>
          <a:ea typeface="+mn-ea"/>
          <a:cs typeface="Segoe UI" panose="020F05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egoe UI" panose="020F0502020204030204" pitchFamily="34" charset="0"/>
          <a:ea typeface="+mn-ea"/>
          <a:cs typeface="Segoe U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egoe UI" panose="020F0502020204030204" pitchFamily="34" charset="0"/>
          <a:ea typeface="+mn-ea"/>
          <a:cs typeface="Segoe U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egoe UI" panose="020F0502020204030204" pitchFamily="34" charset="0"/>
          <a:ea typeface="+mn-ea"/>
          <a:cs typeface="Segoe U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11.jpeg"/><Relationship Id="rId5" Type="http://schemas.openxmlformats.org/officeDocument/2006/relationships/image" Target="../media/image71.png"/><Relationship Id="rId10" Type="http://schemas.openxmlformats.org/officeDocument/2006/relationships/image" Target="../media/image10.png"/><Relationship Id="rId4" Type="http://schemas.openxmlformats.org/officeDocument/2006/relationships/image" Target="../media/image70.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5.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13.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73.png"/><Relationship Id="rId5" Type="http://schemas.openxmlformats.org/officeDocument/2006/relationships/image" Target="../media/image71.png"/><Relationship Id="rId15" Type="http://schemas.openxmlformats.org/officeDocument/2006/relationships/image" Target="../media/image20.png"/><Relationship Id="rId10" Type="http://schemas.openxmlformats.org/officeDocument/2006/relationships/image" Target="../media/image72.png"/><Relationship Id="rId19" Type="http://schemas.openxmlformats.org/officeDocument/2006/relationships/image" Target="../media/image24.png"/><Relationship Id="rId9" Type="http://schemas.openxmlformats.org/officeDocument/2006/relationships/image" Target="../media/image16.png"/><Relationship Id="rId1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8.png"/><Relationship Id="rId7" Type="http://schemas.openxmlformats.org/officeDocument/2006/relationships/customXml" Target="../ink/ink2.xml"/><Relationship Id="rId12"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customXml" Target="../ink/ink1.xml"/><Relationship Id="rId10" Type="http://schemas.openxmlformats.org/officeDocument/2006/relationships/image" Target="../media/image43.png"/><Relationship Id="rId4" Type="http://schemas.openxmlformats.org/officeDocument/2006/relationships/image" Target="../media/image39.png"/><Relationship Id="rId9"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40.png"/><Relationship Id="rId2" Type="http://schemas.openxmlformats.org/officeDocument/2006/relationships/image" Target="../media/image12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https://docs.google.com/forms/d/e/1FAIpQLSdHl0kjWo63aNzDkAV0cnmQadCAj5L0D7v7aSh0BK7BBdEgpA/viewform?usp=header"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chemeClr val="dk1"/>
              </a:buClr>
              <a:buSzPts val="4500"/>
              <a:buFont typeface="Quattrocento Sans"/>
              <a:buNone/>
            </a:pPr>
            <a:r>
              <a:rPr lang="en-US" noProof="0" dirty="0"/>
              <a:t>CS1 Week 8</a:t>
            </a:r>
          </a:p>
        </p:txBody>
      </p:sp>
      <p:sp>
        <p:nvSpPr>
          <p:cNvPr id="65" name="Google Shape;65;p15"/>
          <p:cNvSpPr txBox="1">
            <a:spLocks noGrp="1"/>
          </p:cNvSpPr>
          <p:nvPr>
            <p:ph type="subTitle" idx="1"/>
          </p:nvPr>
        </p:nvSpPr>
        <p:spPr>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1800"/>
              <a:buNone/>
            </a:pPr>
            <a:r>
              <a:rPr lang="en-US" noProof="0"/>
              <a:t>Proportional Feedback, Root Locus</a:t>
            </a:r>
          </a:p>
        </p:txBody>
      </p:sp>
      <p:sp>
        <p:nvSpPr>
          <p:cNvPr id="66" name="Google Shape;66;p15"/>
          <p:cNvSpPr txBox="1">
            <a:spLocks noGrp="1"/>
          </p:cNvSpPr>
          <p:nvPr>
            <p:ph type="sldNum" sz="quarter"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noProof="0" smtClean="0"/>
              <a:t>1</a:t>
            </a:fld>
            <a:endParaRPr lang="en-US" noProof="0"/>
          </a:p>
        </p:txBody>
      </p:sp>
      <p:sp>
        <p:nvSpPr>
          <p:cNvPr id="2" name="Footer Placeholder 1">
            <a:extLst>
              <a:ext uri="{FF2B5EF4-FFF2-40B4-BE49-F238E27FC236}">
                <a16:creationId xmlns:a16="http://schemas.microsoft.com/office/drawing/2014/main" id="{17D308ED-A674-3D91-8DF4-ACE218383B8B}"/>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pic>
        <p:nvPicPr>
          <p:cNvPr id="5" name="Grafik 4">
            <a:extLst>
              <a:ext uri="{FF2B5EF4-FFF2-40B4-BE49-F238E27FC236}">
                <a16:creationId xmlns:a16="http://schemas.microsoft.com/office/drawing/2014/main" id="{2BDF04DF-8383-902C-FBB4-F0102DCAA4CD}"/>
              </a:ext>
            </a:extLst>
          </p:cNvPr>
          <p:cNvPicPr>
            <a:picLocks noChangeAspect="1"/>
          </p:cNvPicPr>
          <p:nvPr/>
        </p:nvPicPr>
        <p:blipFill>
          <a:blip r:embed="rId3"/>
          <a:srcRect t="576" b="576"/>
          <a:stretch/>
        </p:blipFill>
        <p:spPr>
          <a:xfrm>
            <a:off x="4016750" y="3669563"/>
            <a:ext cx="1110499" cy="1097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31110B-6CB5-5994-04AE-824730E5FB94}"/>
              </a:ext>
            </a:extLst>
          </p:cNvPr>
          <p:cNvSpPr>
            <a:spLocks noGrp="1"/>
          </p:cNvSpPr>
          <p:nvPr>
            <p:ph type="ctrTitle"/>
          </p:nvPr>
        </p:nvSpPr>
        <p:spPr/>
        <p:txBody>
          <a:bodyPr/>
          <a:lstStyle/>
          <a:p>
            <a:r>
              <a:rPr lang="en-US" noProof="0"/>
              <a:t>Recap Last Week</a:t>
            </a:r>
          </a:p>
        </p:txBody>
      </p:sp>
      <p:sp>
        <p:nvSpPr>
          <p:cNvPr id="3" name="Untertitel 2">
            <a:extLst>
              <a:ext uri="{FF2B5EF4-FFF2-40B4-BE49-F238E27FC236}">
                <a16:creationId xmlns:a16="http://schemas.microsoft.com/office/drawing/2014/main" id="{83AD3CD8-E8F2-3C33-7DB9-8804A5B9ABBF}"/>
              </a:ext>
            </a:extLst>
          </p:cNvPr>
          <p:cNvSpPr>
            <a:spLocks noGrp="1"/>
          </p:cNvSpPr>
          <p:nvPr>
            <p:ph type="subTitle" idx="1"/>
          </p:nvPr>
        </p:nvSpPr>
        <p:spPr/>
        <p:txBody>
          <a:bodyPr/>
          <a:lstStyle/>
          <a:p>
            <a:endParaRPr lang="en-US" noProof="0"/>
          </a:p>
        </p:txBody>
      </p:sp>
      <p:sp>
        <p:nvSpPr>
          <p:cNvPr id="4" name="Fußzeilenplatzhalter 3">
            <a:extLst>
              <a:ext uri="{FF2B5EF4-FFF2-40B4-BE49-F238E27FC236}">
                <a16:creationId xmlns:a16="http://schemas.microsoft.com/office/drawing/2014/main" id="{BB010242-2D10-B3FC-938D-3ADDCFE106B6}"/>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6E08D1C-18D4-1751-941C-81AF9A2B8F9A}"/>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a:t>
            </a:fld>
            <a:endParaRPr lang="en-US" kern="1200" noProof="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644219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780CC6-E1DB-3F98-83C4-1DEEB9E76E6A}"/>
              </a:ext>
            </a:extLst>
          </p:cNvPr>
          <p:cNvSpPr>
            <a:spLocks noGrp="1"/>
          </p:cNvSpPr>
          <p:nvPr>
            <p:ph type="title"/>
          </p:nvPr>
        </p:nvSpPr>
        <p:spPr/>
        <p:txBody>
          <a:bodyPr/>
          <a:lstStyle/>
          <a:p>
            <a:r>
              <a:rPr lang="en-US" noProof="0"/>
              <a:t>Quiz 1</a:t>
            </a:r>
          </a:p>
        </p:txBody>
      </p:sp>
      <p:sp>
        <p:nvSpPr>
          <p:cNvPr id="3" name="Inhaltsplatzhalter 2">
            <a:extLst>
              <a:ext uri="{FF2B5EF4-FFF2-40B4-BE49-F238E27FC236}">
                <a16:creationId xmlns:a16="http://schemas.microsoft.com/office/drawing/2014/main" id="{A0EA1775-A4F8-EB01-E052-BF7EEAECD24C}"/>
              </a:ext>
            </a:extLst>
          </p:cNvPr>
          <p:cNvSpPr>
            <a:spLocks noGrp="1"/>
          </p:cNvSpPr>
          <p:nvPr>
            <p:ph idx="1"/>
          </p:nvPr>
        </p:nvSpPr>
        <p:spPr>
          <a:xfrm>
            <a:off x="546354" y="1369219"/>
            <a:ext cx="8679942" cy="3263504"/>
          </a:xfrm>
        </p:spPr>
        <p:txBody>
          <a:bodyPr/>
          <a:lstStyle/>
          <a:p>
            <a:pPr marL="0" indent="0">
              <a:buNone/>
            </a:pPr>
            <a:r>
              <a:rPr lang="en-US" dirty="0"/>
              <a:t>The Root Locus plot is a plot that shows…</a:t>
            </a:r>
            <a:endParaRPr lang="en-US" noProof="0" dirty="0"/>
          </a:p>
        </p:txBody>
      </p:sp>
      <p:sp>
        <p:nvSpPr>
          <p:cNvPr id="4" name="Fußzeilenplatzhalter 3">
            <a:extLst>
              <a:ext uri="{FF2B5EF4-FFF2-40B4-BE49-F238E27FC236}">
                <a16:creationId xmlns:a16="http://schemas.microsoft.com/office/drawing/2014/main" id="{C41165A5-333E-12B4-B27B-9CF0428A7BDA}"/>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090BEDA5-655A-7FD9-BCF1-35297F5D93E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3</a:t>
            </a:fld>
            <a:endParaRPr lang="en-US" kern="1200" noProof="0">
              <a:solidFill>
                <a:srgbClr val="101623">
                  <a:tint val="75000"/>
                </a:srgbClr>
              </a:solidFill>
              <a:latin typeface="Calibri" panose="020F0502020204030204"/>
              <a:ea typeface="+mn-ea"/>
              <a:cs typeface="+mn-cs"/>
            </a:endParaRPr>
          </a:p>
        </p:txBody>
      </p:sp>
      <p:sp>
        <p:nvSpPr>
          <p:cNvPr id="6" name="Rectangle: Rounded Corners 18">
            <a:extLst>
              <a:ext uri="{FF2B5EF4-FFF2-40B4-BE49-F238E27FC236}">
                <a16:creationId xmlns:a16="http://schemas.microsoft.com/office/drawing/2014/main" id="{4274F1B5-1457-AC76-495C-13031067C193}"/>
              </a:ext>
            </a:extLst>
          </p:cNvPr>
          <p:cNvSpPr/>
          <p:nvPr/>
        </p:nvSpPr>
        <p:spPr>
          <a:xfrm>
            <a:off x="628649" y="3425393"/>
            <a:ext cx="6653599"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when we close our eyes</a:t>
            </a:r>
            <a:endParaRPr lang="en-US" b="1" noProof="0" dirty="0">
              <a:solidFill>
                <a:schemeClr val="tx1"/>
              </a:solidFill>
              <a:latin typeface="Segoe UI Semibold" panose="020B0702040204020203" pitchFamily="34" charset="0"/>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1788C5D7-3A42-C654-C0D8-6812CAFBC84A}"/>
              </a:ext>
            </a:extLst>
          </p:cNvPr>
          <p:cNvSpPr/>
          <p:nvPr/>
        </p:nvSpPr>
        <p:spPr>
          <a:xfrm>
            <a:off x="628650" y="2751793"/>
            <a:ext cx="6653598"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for different gains</a:t>
            </a:r>
            <a:endParaRPr lang="en-US" b="1" noProof="0" dirty="0">
              <a:solidFill>
                <a:schemeClr val="tx1"/>
              </a:solidFill>
              <a:latin typeface="Segoe UI Semibold" panose="020B0702040204020203" pitchFamily="34" charset="0"/>
              <a:cs typeface="Segoe UI Semibold" panose="020B0702040204020203" pitchFamily="34" charset="0"/>
            </a:endParaRPr>
          </a:p>
        </p:txBody>
      </p:sp>
      <p:sp>
        <p:nvSpPr>
          <p:cNvPr id="8" name="Rectangle: Rounded Corners 18">
            <a:extLst>
              <a:ext uri="{FF2B5EF4-FFF2-40B4-BE49-F238E27FC236}">
                <a16:creationId xmlns:a16="http://schemas.microsoft.com/office/drawing/2014/main" id="{9FE528F3-7E15-BC77-44C2-A655B842AC95}"/>
              </a:ext>
            </a:extLst>
          </p:cNvPr>
          <p:cNvSpPr/>
          <p:nvPr/>
        </p:nvSpPr>
        <p:spPr>
          <a:xfrm>
            <a:off x="628650" y="2073395"/>
            <a:ext cx="6653598"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for different poles/zeros</a:t>
            </a:r>
            <a:endParaRPr lang="en-US" b="1" noProof="0" dirty="0">
              <a:solidFill>
                <a:schemeClr val="tx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883939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6489D-6A0E-5D5E-E0E0-AD39DC61D43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F6E2780-34DF-F51A-3675-5841E8185B62}"/>
              </a:ext>
            </a:extLst>
          </p:cNvPr>
          <p:cNvSpPr>
            <a:spLocks noGrp="1"/>
          </p:cNvSpPr>
          <p:nvPr>
            <p:ph type="title"/>
          </p:nvPr>
        </p:nvSpPr>
        <p:spPr/>
        <p:txBody>
          <a:bodyPr/>
          <a:lstStyle/>
          <a:p>
            <a:r>
              <a:rPr lang="en-US" noProof="0" dirty="0"/>
              <a:t>Quiz 1</a:t>
            </a:r>
          </a:p>
        </p:txBody>
      </p:sp>
      <p:sp>
        <p:nvSpPr>
          <p:cNvPr id="3" name="Inhaltsplatzhalter 2">
            <a:extLst>
              <a:ext uri="{FF2B5EF4-FFF2-40B4-BE49-F238E27FC236}">
                <a16:creationId xmlns:a16="http://schemas.microsoft.com/office/drawing/2014/main" id="{83DAD5C8-7938-521F-C9AB-C49E9E72CB1C}"/>
              </a:ext>
            </a:extLst>
          </p:cNvPr>
          <p:cNvSpPr>
            <a:spLocks noGrp="1"/>
          </p:cNvSpPr>
          <p:nvPr>
            <p:ph idx="1"/>
          </p:nvPr>
        </p:nvSpPr>
        <p:spPr>
          <a:xfrm>
            <a:off x="546354" y="1369219"/>
            <a:ext cx="8679942" cy="3263504"/>
          </a:xfrm>
        </p:spPr>
        <p:txBody>
          <a:bodyPr/>
          <a:lstStyle/>
          <a:p>
            <a:pPr marL="0" indent="0">
              <a:buNone/>
            </a:pPr>
            <a:r>
              <a:rPr lang="en-US" dirty="0"/>
              <a:t>The Root Locus plot is a plot that shows…</a:t>
            </a:r>
            <a:endParaRPr lang="en-US" noProof="0" dirty="0"/>
          </a:p>
        </p:txBody>
      </p:sp>
      <p:sp>
        <p:nvSpPr>
          <p:cNvPr id="4" name="Fußzeilenplatzhalter 3">
            <a:extLst>
              <a:ext uri="{FF2B5EF4-FFF2-40B4-BE49-F238E27FC236}">
                <a16:creationId xmlns:a16="http://schemas.microsoft.com/office/drawing/2014/main" id="{AFC60914-B4B8-C68A-A356-C1B1A5DA76C5}"/>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76C2E7C4-5F38-F3BD-96DF-8220F21FDC57}"/>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4</a:t>
            </a:fld>
            <a:endParaRPr lang="en-US" kern="1200" noProof="0">
              <a:solidFill>
                <a:srgbClr val="101623">
                  <a:tint val="75000"/>
                </a:srgbClr>
              </a:solidFill>
              <a:latin typeface="Calibri" panose="020F0502020204030204"/>
              <a:ea typeface="+mn-ea"/>
              <a:cs typeface="+mn-cs"/>
            </a:endParaRPr>
          </a:p>
        </p:txBody>
      </p:sp>
      <p:sp>
        <p:nvSpPr>
          <p:cNvPr id="6" name="Rectangle: Rounded Corners 18">
            <a:extLst>
              <a:ext uri="{FF2B5EF4-FFF2-40B4-BE49-F238E27FC236}">
                <a16:creationId xmlns:a16="http://schemas.microsoft.com/office/drawing/2014/main" id="{82EE5A76-C200-C6EE-9452-0CC4BE2171AB}"/>
              </a:ext>
            </a:extLst>
          </p:cNvPr>
          <p:cNvSpPr/>
          <p:nvPr/>
        </p:nvSpPr>
        <p:spPr>
          <a:xfrm>
            <a:off x="628649" y="3425393"/>
            <a:ext cx="6653599"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C.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when we close our eyes</a:t>
            </a:r>
            <a:endParaRPr lang="en-US" b="1" noProof="0" dirty="0">
              <a:solidFill>
                <a:schemeClr val="tx1"/>
              </a:solidFill>
              <a:latin typeface="Segoe UI Semibold" panose="020B0702040204020203" pitchFamily="34" charset="0"/>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85F11967-CB17-08CA-3EE9-28CBF1E78BE8}"/>
              </a:ext>
            </a:extLst>
          </p:cNvPr>
          <p:cNvSpPr/>
          <p:nvPr/>
        </p:nvSpPr>
        <p:spPr>
          <a:xfrm>
            <a:off x="628650" y="2751793"/>
            <a:ext cx="6653598" cy="498355"/>
          </a:xfrm>
          <a:prstGeom prst="roundRect">
            <a:avLst>
              <a:gd name="adj" fmla="val 11229"/>
            </a:avLst>
          </a:prstGeom>
          <a:solidFill>
            <a:schemeClr val="accent3"/>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B.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for different gains</a:t>
            </a:r>
            <a:endParaRPr lang="en-US" b="1" noProof="0" dirty="0">
              <a:solidFill>
                <a:schemeClr val="tx1"/>
              </a:solidFill>
              <a:latin typeface="Segoe UI Semibold" panose="020B0702040204020203" pitchFamily="34" charset="0"/>
              <a:cs typeface="Segoe UI Semibold" panose="020B0702040204020203" pitchFamily="34" charset="0"/>
            </a:endParaRPr>
          </a:p>
        </p:txBody>
      </p:sp>
      <p:sp>
        <p:nvSpPr>
          <p:cNvPr id="8" name="Rectangle: Rounded Corners 18">
            <a:extLst>
              <a:ext uri="{FF2B5EF4-FFF2-40B4-BE49-F238E27FC236}">
                <a16:creationId xmlns:a16="http://schemas.microsoft.com/office/drawing/2014/main" id="{2208B588-30C7-DE10-E8EE-E3D52C0C0F53}"/>
              </a:ext>
            </a:extLst>
          </p:cNvPr>
          <p:cNvSpPr/>
          <p:nvPr/>
        </p:nvSpPr>
        <p:spPr>
          <a:xfrm>
            <a:off x="628650" y="2073395"/>
            <a:ext cx="6653598" cy="498355"/>
          </a:xfrm>
          <a:prstGeom prst="roundRect">
            <a:avLst>
              <a:gd name="adj" fmla="val 11229"/>
            </a:avLst>
          </a:prstGeom>
          <a:solidFill>
            <a:schemeClr val="accent5">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182880" rtlCol="0" anchor="ctr"/>
          <a:lstStyle/>
          <a:p>
            <a:pPr>
              <a:spcBef>
                <a:spcPts val="200"/>
              </a:spcBef>
            </a:pPr>
            <a:r>
              <a:rPr lang="en-US" b="1" noProof="0" dirty="0">
                <a:solidFill>
                  <a:schemeClr val="tx1"/>
                </a:solidFill>
                <a:latin typeface="Segoe UI Black" panose="020B0A02040204020203" pitchFamily="34" charset="0"/>
                <a:ea typeface="Segoe UI Black" panose="020B0A02040204020203" pitchFamily="34" charset="0"/>
              </a:rPr>
              <a:t>A.   </a:t>
            </a:r>
            <a:r>
              <a:rPr lang="en-US" b="1" noProof="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that shows us how a closed-loop system behaves for different poles/zeros</a:t>
            </a:r>
            <a:endParaRPr lang="en-US" b="1" noProof="0" dirty="0">
              <a:solidFill>
                <a:schemeClr val="tx1"/>
              </a:solidFill>
              <a:latin typeface="Segoe UI Semibold" panose="020B0702040204020203" pitchFamily="34" charset="0"/>
              <a:cs typeface="Segoe UI Semibold" panose="020B0702040204020203" pitchFamily="34" charset="0"/>
            </a:endParaRPr>
          </a:p>
        </p:txBody>
      </p:sp>
      <p:grpSp>
        <p:nvGrpSpPr>
          <p:cNvPr id="9" name="Gruppieren 8">
            <a:extLst>
              <a:ext uri="{FF2B5EF4-FFF2-40B4-BE49-F238E27FC236}">
                <a16:creationId xmlns:a16="http://schemas.microsoft.com/office/drawing/2014/main" id="{7B363529-1A6D-D925-9639-CFE98106AF67}"/>
              </a:ext>
            </a:extLst>
          </p:cNvPr>
          <p:cNvGrpSpPr/>
          <p:nvPr/>
        </p:nvGrpSpPr>
        <p:grpSpPr>
          <a:xfrm>
            <a:off x="7210789" y="533132"/>
            <a:ext cx="1826141" cy="1420887"/>
            <a:chOff x="7164594" y="1853741"/>
            <a:chExt cx="1826141" cy="1420887"/>
          </a:xfrm>
        </p:grpSpPr>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BE145589-5416-4E55-1BF8-097A48D5F579}"/>
                    </a:ext>
                  </a:extLst>
                </p:cNvPr>
                <p:cNvSpPr txBox="1"/>
                <p:nvPr/>
              </p:nvSpPr>
              <p:spPr>
                <a:xfrm>
                  <a:off x="8558437" y="2746805"/>
                  <a:ext cx="43229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𝑅𝑒</m:t>
                        </m:r>
                      </m:oMath>
                    </m:oMathPara>
                  </a14:m>
                  <a:endParaRPr lang="en-US" noProof="0"/>
                </a:p>
              </p:txBody>
            </p:sp>
          </mc:Choice>
          <mc:Fallback xmlns="">
            <p:sp>
              <p:nvSpPr>
                <p:cNvPr id="7" name="Textfeld 6">
                  <a:extLst>
                    <a:ext uri="{FF2B5EF4-FFF2-40B4-BE49-F238E27FC236}">
                      <a16:creationId xmlns:a16="http://schemas.microsoft.com/office/drawing/2014/main" id="{096DCEC6-BDB1-FAD5-D584-BE8FFC169F1D}"/>
                    </a:ext>
                  </a:extLst>
                </p:cNvPr>
                <p:cNvSpPr txBox="1">
                  <a:spLocks noRot="1" noChangeAspect="1" noMove="1" noResize="1" noEditPoints="1" noAdjustHandles="1" noChangeArrowheads="1" noChangeShapeType="1" noTextEdit="1"/>
                </p:cNvSpPr>
                <p:nvPr/>
              </p:nvSpPr>
              <p:spPr>
                <a:xfrm>
                  <a:off x="8558437" y="2746805"/>
                  <a:ext cx="432298"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65F438A8-6B73-457E-4DE8-15E0D657BADD}"/>
                    </a:ext>
                  </a:extLst>
                </p:cNvPr>
                <p:cNvSpPr txBox="1"/>
                <p:nvPr/>
              </p:nvSpPr>
              <p:spPr>
                <a:xfrm>
                  <a:off x="7757177" y="1853741"/>
                  <a:ext cx="44582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𝐼𝑚</m:t>
                        </m:r>
                      </m:oMath>
                    </m:oMathPara>
                  </a14:m>
                  <a:endParaRPr lang="en-US" noProof="0"/>
                </a:p>
              </p:txBody>
            </p:sp>
          </mc:Choice>
          <mc:Fallback xmlns="">
            <p:sp>
              <p:nvSpPr>
                <p:cNvPr id="8" name="Textfeld 7">
                  <a:extLst>
                    <a:ext uri="{FF2B5EF4-FFF2-40B4-BE49-F238E27FC236}">
                      <a16:creationId xmlns:a16="http://schemas.microsoft.com/office/drawing/2014/main" id="{5B004403-DF93-0686-FB8C-5E9D0027E201}"/>
                    </a:ext>
                  </a:extLst>
                </p:cNvPr>
                <p:cNvSpPr txBox="1">
                  <a:spLocks noRot="1" noChangeAspect="1" noMove="1" noResize="1" noEditPoints="1" noAdjustHandles="1" noChangeArrowheads="1" noChangeShapeType="1" noTextEdit="1"/>
                </p:cNvSpPr>
                <p:nvPr/>
              </p:nvSpPr>
              <p:spPr>
                <a:xfrm>
                  <a:off x="7757177" y="1853741"/>
                  <a:ext cx="445828" cy="307777"/>
                </a:xfrm>
                <a:prstGeom prst="rect">
                  <a:avLst/>
                </a:prstGeom>
                <a:blipFill>
                  <a:blip r:embed="rId4"/>
                  <a:stretch>
                    <a:fillRect/>
                  </a:stretch>
                </a:blipFill>
              </p:spPr>
              <p:txBody>
                <a:bodyPr/>
                <a:lstStyle/>
                <a:p>
                  <a:r>
                    <a:rPr lang="en-US">
                      <a:noFill/>
                    </a:rPr>
                    <a:t> </a:t>
                  </a:r>
                </a:p>
              </p:txBody>
            </p:sp>
          </mc:Fallback>
        </mc:AlternateContent>
        <p:grpSp>
          <p:nvGrpSpPr>
            <p:cNvPr id="12" name="Gruppieren 11">
              <a:extLst>
                <a:ext uri="{FF2B5EF4-FFF2-40B4-BE49-F238E27FC236}">
                  <a16:creationId xmlns:a16="http://schemas.microsoft.com/office/drawing/2014/main" id="{C5E17D05-BA3C-4CC0-73F7-6F3EBB6EB7D9}"/>
                </a:ext>
              </a:extLst>
            </p:cNvPr>
            <p:cNvGrpSpPr/>
            <p:nvPr/>
          </p:nvGrpSpPr>
          <p:grpSpPr>
            <a:xfrm>
              <a:off x="7164594" y="2090371"/>
              <a:ext cx="1556450" cy="1184257"/>
              <a:chOff x="6917852" y="2166770"/>
              <a:chExt cx="1556450" cy="1184257"/>
            </a:xfrm>
          </p:grpSpPr>
          <p:grpSp>
            <p:nvGrpSpPr>
              <p:cNvPr id="13" name="Gruppieren 12">
                <a:extLst>
                  <a:ext uri="{FF2B5EF4-FFF2-40B4-BE49-F238E27FC236}">
                    <a16:creationId xmlns:a16="http://schemas.microsoft.com/office/drawing/2014/main" id="{57661856-125F-3A84-D15E-8FD45FBCBF4D}"/>
                  </a:ext>
                </a:extLst>
              </p:cNvPr>
              <p:cNvGrpSpPr/>
              <p:nvPr/>
            </p:nvGrpSpPr>
            <p:grpSpPr>
              <a:xfrm>
                <a:off x="6917852" y="2166770"/>
                <a:ext cx="1556450" cy="1184257"/>
                <a:chOff x="5953736" y="2160421"/>
                <a:chExt cx="1556450" cy="1184257"/>
              </a:xfrm>
            </p:grpSpPr>
            <p:cxnSp>
              <p:nvCxnSpPr>
                <p:cNvPr id="15" name="Gerade Verbindung mit Pfeil 14">
                  <a:extLst>
                    <a:ext uri="{FF2B5EF4-FFF2-40B4-BE49-F238E27FC236}">
                      <a16:creationId xmlns:a16="http://schemas.microsoft.com/office/drawing/2014/main" id="{E0EB43C6-D5A3-CF45-F54D-5218EB127FDD}"/>
                    </a:ext>
                  </a:extLst>
                </p:cNvPr>
                <p:cNvCxnSpPr>
                  <a:cxnSpLocks/>
                </p:cNvCxnSpPr>
                <p:nvPr/>
              </p:nvCxnSpPr>
              <p:spPr>
                <a:xfrm flipV="1">
                  <a:off x="6599861" y="2160421"/>
                  <a:ext cx="0" cy="11842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FBC6089C-5867-45EE-7371-806DE257781E}"/>
                    </a:ext>
                  </a:extLst>
                </p:cNvPr>
                <p:cNvCxnSpPr>
                  <a:cxnSpLocks/>
                </p:cNvCxnSpPr>
                <p:nvPr/>
              </p:nvCxnSpPr>
              <p:spPr>
                <a:xfrm>
                  <a:off x="5953736" y="2817020"/>
                  <a:ext cx="15564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feld 13">
                <a:extLst>
                  <a:ext uri="{FF2B5EF4-FFF2-40B4-BE49-F238E27FC236}">
                    <a16:creationId xmlns:a16="http://schemas.microsoft.com/office/drawing/2014/main" id="{069110EF-11B6-67C7-01B3-968B214CCF2D}"/>
                  </a:ext>
                </a:extLst>
              </p:cNvPr>
              <p:cNvSpPr txBox="1"/>
              <p:nvPr/>
            </p:nvSpPr>
            <p:spPr>
              <a:xfrm>
                <a:off x="7758249" y="2571750"/>
                <a:ext cx="325730" cy="430887"/>
              </a:xfrm>
              <a:prstGeom prst="rect">
                <a:avLst/>
              </a:prstGeom>
              <a:noFill/>
            </p:spPr>
            <p:txBody>
              <a:bodyPr wrap="none" rtlCol="0">
                <a:spAutoFit/>
              </a:bodyPr>
              <a:lstStyle/>
              <a:p>
                <a:r>
                  <a:rPr lang="en-US" sz="2200" noProof="0">
                    <a:solidFill>
                      <a:srgbClr val="FF0000"/>
                    </a:solidFill>
                  </a:rPr>
                  <a:t>x</a:t>
                </a:r>
              </a:p>
            </p:txBody>
          </p:sp>
        </p:grpSp>
      </p:grpSp>
      <p:sp>
        <p:nvSpPr>
          <p:cNvPr id="17" name="Textfeld 16">
            <a:extLst>
              <a:ext uri="{FF2B5EF4-FFF2-40B4-BE49-F238E27FC236}">
                <a16:creationId xmlns:a16="http://schemas.microsoft.com/office/drawing/2014/main" id="{7645854D-B85E-93C4-F3A2-CB2FC59DED02}"/>
              </a:ext>
            </a:extLst>
          </p:cNvPr>
          <p:cNvSpPr txBox="1"/>
          <p:nvPr/>
        </p:nvSpPr>
        <p:spPr>
          <a:xfrm>
            <a:off x="6591469" y="342102"/>
            <a:ext cx="2393604" cy="307777"/>
          </a:xfrm>
          <a:prstGeom prst="rect">
            <a:avLst/>
          </a:prstGeom>
          <a:noFill/>
        </p:spPr>
        <p:txBody>
          <a:bodyPr wrap="none" rtlCol="0">
            <a:spAutoFit/>
          </a:bodyPr>
          <a:lstStyle/>
          <a:p>
            <a:r>
              <a:rPr lang="en-US" i="1" noProof="0"/>
              <a:t>Pole-Zero Plot Closed-Loop</a:t>
            </a:r>
          </a:p>
        </p:txBody>
      </p:sp>
      <p:cxnSp>
        <p:nvCxnSpPr>
          <p:cNvPr id="18" name="Gerade Verbindung mit Pfeil 17">
            <a:extLst>
              <a:ext uri="{FF2B5EF4-FFF2-40B4-BE49-F238E27FC236}">
                <a16:creationId xmlns:a16="http://schemas.microsoft.com/office/drawing/2014/main" id="{A1AA8CB2-0BD1-09C9-7201-C1D1E4905718}"/>
              </a:ext>
            </a:extLst>
          </p:cNvPr>
          <p:cNvCxnSpPr/>
          <p:nvPr/>
        </p:nvCxnSpPr>
        <p:spPr>
          <a:xfrm flipH="1">
            <a:off x="7282248" y="1426196"/>
            <a:ext cx="900353" cy="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Textfeld 20">
                <a:extLst>
                  <a:ext uri="{FF2B5EF4-FFF2-40B4-BE49-F238E27FC236}">
                    <a16:creationId xmlns:a16="http://schemas.microsoft.com/office/drawing/2014/main" id="{0A802971-BDAD-0FA5-53D6-20D58BBED15A}"/>
                  </a:ext>
                </a:extLst>
              </p:cNvPr>
              <p:cNvSpPr txBox="1"/>
              <p:nvPr/>
            </p:nvSpPr>
            <p:spPr>
              <a:xfrm>
                <a:off x="2669060" y="731510"/>
                <a:ext cx="461318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noProof="0" smtClean="0">
                          <a:latin typeface="Cambria Math" panose="02040503050406030204" pitchFamily="18" charset="0"/>
                        </a:rPr>
                        <m:t>𝑠</m:t>
                      </m:r>
                      <m:r>
                        <a:rPr lang="en-US" i="1" noProof="0">
                          <a:latin typeface="Cambria Math" panose="02040503050406030204" pitchFamily="18" charset="0"/>
                        </a:rPr>
                        <m:t>+</m:t>
                      </m:r>
                      <m:r>
                        <a:rPr lang="en-US" i="1" noProof="0">
                          <a:latin typeface="Cambria Math" panose="02040503050406030204" pitchFamily="18" charset="0"/>
                        </a:rPr>
                        <m:t>𝑘</m:t>
                      </m:r>
                      <m:r>
                        <a:rPr lang="en-US" i="1" noProof="0">
                          <a:latin typeface="Cambria Math" panose="02040503050406030204" pitchFamily="18" charset="0"/>
                        </a:rPr>
                        <m:t>−1=0⇒</m:t>
                      </m:r>
                      <m:r>
                        <a:rPr lang="en-US" b="0" i="1" noProof="0" smtClean="0">
                          <a:latin typeface="Cambria Math" panose="02040503050406030204" pitchFamily="18" charset="0"/>
                        </a:rPr>
                        <m:t>𝑠</m:t>
                      </m:r>
                      <m:r>
                        <a:rPr lang="en-US" i="1" noProof="0">
                          <a:latin typeface="Cambria Math" panose="02040503050406030204" pitchFamily="18" charset="0"/>
                        </a:rPr>
                        <m:t>=1−</m:t>
                      </m:r>
                      <m:r>
                        <a:rPr lang="en-US" i="1" noProof="0">
                          <a:latin typeface="Cambria Math" panose="02040503050406030204" pitchFamily="18" charset="0"/>
                        </a:rPr>
                        <m:t>𝑘</m:t>
                      </m:r>
                    </m:oMath>
                  </m:oMathPara>
                </a14:m>
                <a:endParaRPr lang="de-DE" dirty="0"/>
              </a:p>
            </p:txBody>
          </p:sp>
        </mc:Choice>
        <mc:Fallback>
          <p:sp>
            <p:nvSpPr>
              <p:cNvPr id="21" name="Textfeld 20">
                <a:extLst>
                  <a:ext uri="{FF2B5EF4-FFF2-40B4-BE49-F238E27FC236}">
                    <a16:creationId xmlns:a16="http://schemas.microsoft.com/office/drawing/2014/main" id="{0A802971-BDAD-0FA5-53D6-20D58BBED15A}"/>
                  </a:ext>
                </a:extLst>
              </p:cNvPr>
              <p:cNvSpPr txBox="1">
                <a:spLocks noRot="1" noChangeAspect="1" noMove="1" noResize="1" noEditPoints="1" noAdjustHandles="1" noChangeArrowheads="1" noChangeShapeType="1" noTextEdit="1"/>
              </p:cNvSpPr>
              <p:nvPr/>
            </p:nvSpPr>
            <p:spPr>
              <a:xfrm>
                <a:off x="2669060" y="731510"/>
                <a:ext cx="4613188" cy="307777"/>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22" name="Textfeld 21">
                <a:extLst>
                  <a:ext uri="{FF2B5EF4-FFF2-40B4-BE49-F238E27FC236}">
                    <a16:creationId xmlns:a16="http://schemas.microsoft.com/office/drawing/2014/main" id="{8CBCB0BF-F3DD-EB4E-09E9-1A8C1C920786}"/>
                  </a:ext>
                </a:extLst>
              </p:cNvPr>
              <p:cNvSpPr txBox="1"/>
              <p:nvPr/>
            </p:nvSpPr>
            <p:spPr>
              <a:xfrm>
                <a:off x="7975289" y="1441584"/>
                <a:ext cx="593689" cy="27699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200" i="1" dirty="0" smtClean="0">
                          <a:solidFill>
                            <a:srgbClr val="FF0000"/>
                          </a:solidFill>
                          <a:latin typeface="Cambria Math" panose="02040503050406030204" pitchFamily="18" charset="0"/>
                        </a:rPr>
                        <m:t>𝑘</m:t>
                      </m:r>
                      <m:r>
                        <a:rPr lang="de-DE" sz="1200" i="1" dirty="0" smtClean="0">
                          <a:solidFill>
                            <a:srgbClr val="FF0000"/>
                          </a:solidFill>
                          <a:latin typeface="Cambria Math" panose="02040503050406030204" pitchFamily="18" charset="0"/>
                        </a:rPr>
                        <m:t>=0</m:t>
                      </m:r>
                    </m:oMath>
                  </m:oMathPara>
                </a14:m>
              </a:p>
            </p:txBody>
          </p:sp>
        </mc:Choice>
        <mc:Fallback>
          <p:sp>
            <p:nvSpPr>
              <p:cNvPr id="22" name="Textfeld 21">
                <a:extLst>
                  <a:ext uri="{FF2B5EF4-FFF2-40B4-BE49-F238E27FC236}">
                    <a16:creationId xmlns:a16="http://schemas.microsoft.com/office/drawing/2014/main" id="{8CBCB0BF-F3DD-EB4E-09E9-1A8C1C920786}"/>
                  </a:ext>
                </a:extLst>
              </p:cNvPr>
              <p:cNvSpPr txBox="1">
                <a:spLocks noRot="1" noChangeAspect="1" noMove="1" noResize="1" noEditPoints="1" noAdjustHandles="1" noChangeArrowheads="1" noChangeShapeType="1" noTextEdit="1"/>
              </p:cNvSpPr>
              <p:nvPr/>
            </p:nvSpPr>
            <p:spPr>
              <a:xfrm>
                <a:off x="7975289" y="1441584"/>
                <a:ext cx="593689" cy="276999"/>
              </a:xfrm>
              <a:prstGeom prst="rect">
                <a:avLst/>
              </a:prstGeom>
              <a:blipFill>
                <a:blip r:embed="rId6"/>
                <a:stretch>
                  <a:fillRect r="-2083" b="-13043"/>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24" name="Textfeld 23">
                <a:extLst>
                  <a:ext uri="{FF2B5EF4-FFF2-40B4-BE49-F238E27FC236}">
                    <a16:creationId xmlns:a16="http://schemas.microsoft.com/office/drawing/2014/main" id="{717A2842-18BC-8151-EE85-5339E97CB9FA}"/>
                  </a:ext>
                </a:extLst>
              </p:cNvPr>
              <p:cNvSpPr txBox="1"/>
              <p:nvPr/>
            </p:nvSpPr>
            <p:spPr>
              <a:xfrm>
                <a:off x="7046456" y="1444308"/>
                <a:ext cx="640175" cy="27699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200" i="1" dirty="0" smtClean="0">
                          <a:solidFill>
                            <a:srgbClr val="FF0000"/>
                          </a:solidFill>
                          <a:latin typeface="Cambria Math" panose="02040503050406030204" pitchFamily="18" charset="0"/>
                        </a:rPr>
                        <m:t>𝑘</m:t>
                      </m:r>
                      <m:r>
                        <a:rPr lang="de-DE" sz="1200" i="1" dirty="0" smtClean="0">
                          <a:solidFill>
                            <a:srgbClr val="FF0000"/>
                          </a:solidFill>
                          <a:latin typeface="Cambria Math" panose="02040503050406030204" pitchFamily="18" charset="0"/>
                        </a:rPr>
                        <m:t>=∞</m:t>
                      </m:r>
                    </m:oMath>
                  </m:oMathPara>
                </a14:m>
              </a:p>
            </p:txBody>
          </p:sp>
        </mc:Choice>
        <mc:Fallback>
          <p:sp>
            <p:nvSpPr>
              <p:cNvPr id="24" name="Textfeld 23">
                <a:extLst>
                  <a:ext uri="{FF2B5EF4-FFF2-40B4-BE49-F238E27FC236}">
                    <a16:creationId xmlns:a16="http://schemas.microsoft.com/office/drawing/2014/main" id="{717A2842-18BC-8151-EE85-5339E97CB9FA}"/>
                  </a:ext>
                </a:extLst>
              </p:cNvPr>
              <p:cNvSpPr txBox="1">
                <a:spLocks noRot="1" noChangeAspect="1" noMove="1" noResize="1" noEditPoints="1" noAdjustHandles="1" noChangeArrowheads="1" noChangeShapeType="1" noTextEdit="1"/>
              </p:cNvSpPr>
              <p:nvPr/>
            </p:nvSpPr>
            <p:spPr>
              <a:xfrm>
                <a:off x="7046456" y="1444308"/>
                <a:ext cx="640175" cy="276999"/>
              </a:xfrm>
              <a:prstGeom prst="rect">
                <a:avLst/>
              </a:prstGeom>
              <a:blipFill>
                <a:blip r:embed="rId7"/>
                <a:stretch>
                  <a:fillRect r="-1923" b="-13043"/>
                </a:stretch>
              </a:blipFill>
            </p:spPr>
            <p:txBody>
              <a:bodyPr/>
              <a:lstStyle/>
              <a:p>
                <a:r>
                  <a:rPr lang="de-DE">
                    <a:noFill/>
                  </a:rPr>
                  <a:t> </a:t>
                </a:r>
              </a:p>
            </p:txBody>
          </p:sp>
        </mc:Fallback>
      </mc:AlternateContent>
      <p:sp>
        <p:nvSpPr>
          <p:cNvPr id="25" name="Textfeld 24">
            <a:extLst>
              <a:ext uri="{FF2B5EF4-FFF2-40B4-BE49-F238E27FC236}">
                <a16:creationId xmlns:a16="http://schemas.microsoft.com/office/drawing/2014/main" id="{6A770FF8-51F7-BB76-1BB3-09FDD43E09F2}"/>
              </a:ext>
            </a:extLst>
          </p:cNvPr>
          <p:cNvSpPr txBox="1"/>
          <p:nvPr/>
        </p:nvSpPr>
        <p:spPr>
          <a:xfrm>
            <a:off x="3714750" y="480732"/>
            <a:ext cx="2462534" cy="307777"/>
          </a:xfrm>
          <a:prstGeom prst="rect">
            <a:avLst/>
          </a:prstGeom>
          <a:noFill/>
        </p:spPr>
        <p:txBody>
          <a:bodyPr wrap="none" rtlCol="0">
            <a:spAutoFit/>
          </a:bodyPr>
          <a:lstStyle/>
          <a:p>
            <a:r>
              <a:rPr lang="de-DE" dirty="0" err="1">
                <a:latin typeface="Segoe UI" panose="020B0502040204020203" pitchFamily="34" charset="0"/>
                <a:cs typeface="Segoe UI" panose="020B0502040204020203" pitchFamily="34" charset="0"/>
              </a:rPr>
              <a:t>calculating</a:t>
            </a:r>
            <a:r>
              <a:rPr lang="de-DE" dirty="0">
                <a:latin typeface="Segoe UI" panose="020B0502040204020203" pitchFamily="34" charset="0"/>
                <a:cs typeface="Segoe UI" panose="020B0502040204020203" pitchFamily="34" charset="0"/>
              </a:rPr>
              <a:t> </a:t>
            </a:r>
            <a:r>
              <a:rPr lang="de-DE" dirty="0" err="1">
                <a:latin typeface="Segoe UI" panose="020B0502040204020203" pitchFamily="34" charset="0"/>
                <a:cs typeface="Segoe UI" panose="020B0502040204020203" pitchFamily="34" charset="0"/>
              </a:rPr>
              <a:t>closed</a:t>
            </a:r>
            <a:r>
              <a:rPr lang="de-DE" dirty="0">
                <a:latin typeface="Segoe UI" panose="020B0502040204020203" pitchFamily="34" charset="0"/>
                <a:cs typeface="Segoe UI" panose="020B0502040204020203" pitchFamily="34" charset="0"/>
              </a:rPr>
              <a:t>-loop pole:</a:t>
            </a:r>
          </a:p>
        </p:txBody>
      </p:sp>
    </p:spTree>
    <p:extLst>
      <p:ext uri="{BB962C8B-B14F-4D97-AF65-F5344CB8AC3E}">
        <p14:creationId xmlns:p14="http://schemas.microsoft.com/office/powerpoint/2010/main" val="1377169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604918-5220-A082-387A-F9F019EA9E18}"/>
              </a:ext>
            </a:extLst>
          </p:cNvPr>
          <p:cNvSpPr>
            <a:spLocks noGrp="1"/>
          </p:cNvSpPr>
          <p:nvPr>
            <p:ph type="title"/>
          </p:nvPr>
        </p:nvSpPr>
        <p:spPr/>
        <p:txBody>
          <a:bodyPr/>
          <a:lstStyle/>
          <a:p>
            <a:r>
              <a:rPr lang="de-DE" dirty="0"/>
              <a:t>Quiz 2</a:t>
            </a:r>
          </a:p>
        </p:txBody>
      </p:sp>
      <p:pic>
        <p:nvPicPr>
          <p:cNvPr id="7" name="Inhaltsplatzhalter 6" descr="Ein Bild, das Text, Quittung, Diagramm, Reihe enthält.&#10;&#10;KI-generierte Inhalte können fehlerhaft sein.">
            <a:extLst>
              <a:ext uri="{FF2B5EF4-FFF2-40B4-BE49-F238E27FC236}">
                <a16:creationId xmlns:a16="http://schemas.microsoft.com/office/drawing/2014/main" id="{CD38BE82-D2BD-2CDA-E684-1C93D3341A50}"/>
              </a:ext>
            </a:extLst>
          </p:cNvPr>
          <p:cNvPicPr>
            <a:picLocks noGrp="1" noChangeAspect="1"/>
          </p:cNvPicPr>
          <p:nvPr>
            <p:ph idx="1"/>
          </p:nvPr>
        </p:nvPicPr>
        <p:blipFill>
          <a:blip r:embed="rId2"/>
          <a:stretch>
            <a:fillRect/>
          </a:stretch>
        </p:blipFill>
        <p:spPr>
          <a:xfrm>
            <a:off x="407210" y="1268016"/>
            <a:ext cx="8329579" cy="3057096"/>
          </a:xfrm>
        </p:spPr>
      </p:pic>
      <p:sp>
        <p:nvSpPr>
          <p:cNvPr id="4" name="Fußzeilenplatzhalter 3">
            <a:extLst>
              <a:ext uri="{FF2B5EF4-FFF2-40B4-BE49-F238E27FC236}">
                <a16:creationId xmlns:a16="http://schemas.microsoft.com/office/drawing/2014/main" id="{AE194F17-AE61-1671-4B0F-5198E8CE92B5}"/>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AE880880-4CEC-45F9-7C10-40A82645E104}"/>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5</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75081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C553-7E41-0659-A605-7ACC19AC7ED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2F300D4-BE24-C89C-1DD8-4C7B15C0DB47}"/>
              </a:ext>
            </a:extLst>
          </p:cNvPr>
          <p:cNvSpPr>
            <a:spLocks noGrp="1"/>
          </p:cNvSpPr>
          <p:nvPr>
            <p:ph type="title"/>
          </p:nvPr>
        </p:nvSpPr>
        <p:spPr/>
        <p:txBody>
          <a:bodyPr/>
          <a:lstStyle/>
          <a:p>
            <a:r>
              <a:rPr lang="de-DE" dirty="0"/>
              <a:t>Quiz 2</a:t>
            </a:r>
          </a:p>
        </p:txBody>
      </p:sp>
      <p:pic>
        <p:nvPicPr>
          <p:cNvPr id="7" name="Inhaltsplatzhalter 6" descr="Ein Bild, das Text, Quittung, Diagramm, Reihe enthält.&#10;&#10;KI-generierte Inhalte können fehlerhaft sein.">
            <a:extLst>
              <a:ext uri="{FF2B5EF4-FFF2-40B4-BE49-F238E27FC236}">
                <a16:creationId xmlns:a16="http://schemas.microsoft.com/office/drawing/2014/main" id="{0715F3F2-BD16-84C0-0C40-27C5C48E7E89}"/>
              </a:ext>
            </a:extLst>
          </p:cNvPr>
          <p:cNvPicPr>
            <a:picLocks noGrp="1" noChangeAspect="1"/>
          </p:cNvPicPr>
          <p:nvPr>
            <p:ph idx="1"/>
          </p:nvPr>
        </p:nvPicPr>
        <p:blipFill>
          <a:blip r:embed="rId2"/>
          <a:stretch>
            <a:fillRect/>
          </a:stretch>
        </p:blipFill>
        <p:spPr>
          <a:xfrm>
            <a:off x="407210" y="1268016"/>
            <a:ext cx="8329579" cy="3057096"/>
          </a:xfrm>
        </p:spPr>
      </p:pic>
      <p:sp>
        <p:nvSpPr>
          <p:cNvPr id="4" name="Fußzeilenplatzhalter 3">
            <a:extLst>
              <a:ext uri="{FF2B5EF4-FFF2-40B4-BE49-F238E27FC236}">
                <a16:creationId xmlns:a16="http://schemas.microsoft.com/office/drawing/2014/main" id="{B06B4542-8147-A1BD-E3BB-9D2D5CDE664A}"/>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2C0A032-46E3-1923-692A-A298F019087F}"/>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6</a:t>
            </a:fld>
            <a:endParaRPr lang="en-CH" kern="1200">
              <a:solidFill>
                <a:srgbClr val="101623">
                  <a:tint val="75000"/>
                </a:srgbClr>
              </a:solidFill>
              <a:latin typeface="Calibri" panose="020F0502020204030204"/>
              <a:ea typeface="+mn-ea"/>
              <a:cs typeface="+mn-cs"/>
            </a:endParaRPr>
          </a:p>
        </p:txBody>
      </p:sp>
      <p:sp>
        <p:nvSpPr>
          <p:cNvPr id="6" name="Textfeld 5">
            <a:extLst>
              <a:ext uri="{FF2B5EF4-FFF2-40B4-BE49-F238E27FC236}">
                <a16:creationId xmlns:a16="http://schemas.microsoft.com/office/drawing/2014/main" id="{248CEA37-F35B-B914-3406-7C5E76CC22D5}"/>
              </a:ext>
            </a:extLst>
          </p:cNvPr>
          <p:cNvSpPr txBox="1"/>
          <p:nvPr/>
        </p:nvSpPr>
        <p:spPr>
          <a:xfrm>
            <a:off x="7597099" y="1821942"/>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8" name="Textfeld 7">
            <a:extLst>
              <a:ext uri="{FF2B5EF4-FFF2-40B4-BE49-F238E27FC236}">
                <a16:creationId xmlns:a16="http://schemas.microsoft.com/office/drawing/2014/main" id="{5252AA37-76C6-684F-CCB7-EE54330F717F}"/>
              </a:ext>
            </a:extLst>
          </p:cNvPr>
          <p:cNvSpPr txBox="1"/>
          <p:nvPr/>
        </p:nvSpPr>
        <p:spPr>
          <a:xfrm>
            <a:off x="6801571" y="2387084"/>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9" name="Textfeld 8">
            <a:extLst>
              <a:ext uri="{FF2B5EF4-FFF2-40B4-BE49-F238E27FC236}">
                <a16:creationId xmlns:a16="http://schemas.microsoft.com/office/drawing/2014/main" id="{F6B54B9C-9684-75D6-CE6B-BA3700BEBF06}"/>
              </a:ext>
            </a:extLst>
          </p:cNvPr>
          <p:cNvSpPr txBox="1"/>
          <p:nvPr/>
        </p:nvSpPr>
        <p:spPr>
          <a:xfrm>
            <a:off x="7196186" y="2891790"/>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10" name="Textfeld 9">
            <a:extLst>
              <a:ext uri="{FF2B5EF4-FFF2-40B4-BE49-F238E27FC236}">
                <a16:creationId xmlns:a16="http://schemas.microsoft.com/office/drawing/2014/main" id="{F8D838B2-B9BE-4544-E705-6709BFDBF7CE}"/>
              </a:ext>
            </a:extLst>
          </p:cNvPr>
          <p:cNvSpPr txBox="1"/>
          <p:nvPr/>
        </p:nvSpPr>
        <p:spPr>
          <a:xfrm>
            <a:off x="6457950" y="3431286"/>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Tree>
    <p:extLst>
      <p:ext uri="{BB962C8B-B14F-4D97-AF65-F5344CB8AC3E}">
        <p14:creationId xmlns:p14="http://schemas.microsoft.com/office/powerpoint/2010/main" val="3196010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CC64-0DBE-B30D-A730-8FA4D19E47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AAA2AB-8549-DFCF-746A-7B77B38598CA}"/>
              </a:ext>
            </a:extLst>
          </p:cNvPr>
          <p:cNvSpPr>
            <a:spLocks noGrp="1"/>
          </p:cNvSpPr>
          <p:nvPr>
            <p:ph type="title"/>
          </p:nvPr>
        </p:nvSpPr>
        <p:spPr>
          <a:xfrm>
            <a:off x="154932" y="-74781"/>
            <a:ext cx="7886700" cy="994172"/>
          </a:xfrm>
        </p:spPr>
        <p:txBody>
          <a:bodyPr>
            <a:normAutofit/>
          </a:bodyPr>
          <a:lstStyle/>
          <a:p>
            <a:r>
              <a:rPr lang="en-US" sz="2200" noProof="0"/>
              <a:t>Course Schedule</a:t>
            </a:r>
          </a:p>
        </p:txBody>
      </p:sp>
      <p:graphicFrame>
        <p:nvGraphicFramePr>
          <p:cNvPr id="6" name="Inhaltsplatzhalter 5">
            <a:extLst>
              <a:ext uri="{FF2B5EF4-FFF2-40B4-BE49-F238E27FC236}">
                <a16:creationId xmlns:a16="http://schemas.microsoft.com/office/drawing/2014/main" id="{82A225B6-0519-8214-8DAA-A58A56D112E1}"/>
              </a:ext>
            </a:extLst>
          </p:cNvPr>
          <p:cNvGraphicFramePr>
            <a:graphicFrameLocks noGrp="1"/>
          </p:cNvGraphicFramePr>
          <p:nvPr>
            <p:ph idx="1"/>
            <p:extLst>
              <p:ext uri="{D42A27DB-BD31-4B8C-83A1-F6EECF244321}">
                <p14:modId xmlns:p14="http://schemas.microsoft.com/office/powerpoint/2010/main" val="3621086886"/>
              </p:ext>
            </p:extLst>
          </p:nvPr>
        </p:nvGraphicFramePr>
        <p:xfrm>
          <a:off x="1515762" y="601877"/>
          <a:ext cx="6977657" cy="4114800"/>
        </p:xfrm>
        <a:graphic>
          <a:graphicData uri="http://schemas.openxmlformats.org/drawingml/2006/table">
            <a:tbl>
              <a:tblPr firstRow="1" bandRow="1">
                <a:tableStyleId>{073A0DAA-6AF3-43AB-8588-CEC1D06C72B9}</a:tableStyleId>
              </a:tblPr>
              <a:tblGrid>
                <a:gridCol w="5775768">
                  <a:extLst>
                    <a:ext uri="{9D8B030D-6E8A-4147-A177-3AD203B41FA5}">
                      <a16:colId xmlns:a16="http://schemas.microsoft.com/office/drawing/2014/main" val="1380074924"/>
                    </a:ext>
                  </a:extLst>
                </a:gridCol>
                <a:gridCol w="1201889">
                  <a:extLst>
                    <a:ext uri="{9D8B030D-6E8A-4147-A177-3AD203B41FA5}">
                      <a16:colId xmlns:a16="http://schemas.microsoft.com/office/drawing/2014/main" val="1379686130"/>
                    </a:ext>
                  </a:extLst>
                </a:gridCol>
              </a:tblGrid>
              <a:tr h="202554">
                <a:tc>
                  <a:txBody>
                    <a:bodyPr/>
                    <a:lstStyle/>
                    <a:p>
                      <a:r>
                        <a:rPr lang="en-US" sz="1200" noProof="0">
                          <a:latin typeface="Segoe UI" panose="020B0502040204020203" pitchFamily="34" charset="0"/>
                          <a:cs typeface="Segoe UI" panose="020B0502040204020203" pitchFamily="34" charset="0"/>
                        </a:rPr>
                        <a:t>Subject</a:t>
                      </a:r>
                    </a:p>
                  </a:txBody>
                  <a:tcPr/>
                </a:tc>
                <a:tc>
                  <a:txBody>
                    <a:bodyPr/>
                    <a:lstStyle/>
                    <a:p>
                      <a:r>
                        <a:rPr lang="en-US" sz="1200" noProof="0">
                          <a:latin typeface="Segoe UI" panose="020B0502040204020203" pitchFamily="34" charset="0"/>
                          <a:cs typeface="Segoe UI" panose="020B0502040204020203" pitchFamily="34" charset="0"/>
                        </a:rPr>
                        <a:t>Week</a:t>
                      </a:r>
                    </a:p>
                  </a:txBody>
                  <a:tcPr/>
                </a:tc>
                <a:extLst>
                  <a:ext uri="{0D108BD9-81ED-4DB2-BD59-A6C34878D82A}">
                    <a16:rowId xmlns:a16="http://schemas.microsoft.com/office/drawing/2014/main" val="3007072606"/>
                  </a:ext>
                </a:extLst>
              </a:tr>
              <a:tr h="202554">
                <a:tc>
                  <a:txBody>
                    <a:bodyPr/>
                    <a:lstStyle/>
                    <a:p>
                      <a:r>
                        <a:rPr lang="en-US" sz="1200" noProof="0">
                          <a:latin typeface="Segoe UI" panose="020B0502040204020203" pitchFamily="34" charset="0"/>
                          <a:cs typeface="Segoe UI" panose="020B0502040204020203" pitchFamily="34" charset="0"/>
                        </a:rPr>
                        <a:t>Introduction, Control Architectures, Motivation </a:t>
                      </a:r>
                    </a:p>
                  </a:txBody>
                  <a:tcPr/>
                </a:tc>
                <a:tc>
                  <a:txBody>
                    <a:bodyPr/>
                    <a:lstStyle/>
                    <a:p>
                      <a:pPr algn="ctr"/>
                      <a:r>
                        <a:rPr lang="en-US" sz="1200" noProof="0">
                          <a:latin typeface="Segoe UI" panose="020B0502040204020203" pitchFamily="34" charset="0"/>
                          <a:cs typeface="Segoe UI" panose="020B0502040204020203" pitchFamily="34" charset="0"/>
                        </a:rPr>
                        <a:t>1</a:t>
                      </a:r>
                    </a:p>
                  </a:txBody>
                  <a:tcPr/>
                </a:tc>
                <a:extLst>
                  <a:ext uri="{0D108BD9-81ED-4DB2-BD59-A6C34878D82A}">
                    <a16:rowId xmlns:a16="http://schemas.microsoft.com/office/drawing/2014/main" val="705878649"/>
                  </a:ext>
                </a:extLst>
              </a:tr>
              <a:tr h="202554">
                <a:tc>
                  <a:txBody>
                    <a:bodyPr/>
                    <a:lstStyle/>
                    <a:p>
                      <a:r>
                        <a:rPr lang="en-US" sz="1200" noProof="0">
                          <a:latin typeface="Segoe UI" panose="020B0502040204020203" pitchFamily="34" charset="0"/>
                          <a:cs typeface="Segoe UI" panose="020B0502040204020203" pitchFamily="34" charset="0"/>
                        </a:rPr>
                        <a:t>Modeling, Model examples</a:t>
                      </a:r>
                    </a:p>
                  </a:txBody>
                  <a:tcPr>
                    <a:solidFill>
                      <a:srgbClr val="E7E7E8"/>
                    </a:solidFill>
                  </a:tcPr>
                </a:tc>
                <a:tc>
                  <a:txBody>
                    <a:bodyPr/>
                    <a:lstStyle/>
                    <a:p>
                      <a:pPr algn="ctr"/>
                      <a:r>
                        <a:rPr lang="en-US" sz="1200" noProof="0">
                          <a:highlight>
                            <a:srgbClr val="C0C0C0"/>
                          </a:highlight>
                          <a:latin typeface="Segoe UI" panose="020B0502040204020203" pitchFamily="34" charset="0"/>
                          <a:cs typeface="Segoe UI" panose="020B0502040204020203" pitchFamily="34" charset="0"/>
                        </a:rPr>
                        <a:t>2</a:t>
                      </a:r>
                    </a:p>
                  </a:txBody>
                  <a:tcPr>
                    <a:solidFill>
                      <a:srgbClr val="E7E7E8"/>
                    </a:solidFill>
                  </a:tcPr>
                </a:tc>
                <a:extLst>
                  <a:ext uri="{0D108BD9-81ED-4DB2-BD59-A6C34878D82A}">
                    <a16:rowId xmlns:a16="http://schemas.microsoft.com/office/drawing/2014/main" val="3288833323"/>
                  </a:ext>
                </a:extLst>
              </a:tr>
              <a:tr h="202554">
                <a:tc>
                  <a:txBody>
                    <a:bodyPr/>
                    <a:lstStyle/>
                    <a:p>
                      <a:r>
                        <a:rPr lang="en-US" sz="1200" noProof="0">
                          <a:latin typeface="Segoe UI" panose="020B0502040204020203" pitchFamily="34" charset="0"/>
                          <a:cs typeface="Segoe UI" panose="020B0502040204020203" pitchFamily="34" charset="0"/>
                        </a:rPr>
                        <a:t>System properties, Linearization</a:t>
                      </a:r>
                    </a:p>
                  </a:txBody>
                  <a:tcPr>
                    <a:solidFill>
                      <a:srgbClr val="CCCCCC"/>
                    </a:solidFill>
                  </a:tcPr>
                </a:tc>
                <a:tc>
                  <a:txBody>
                    <a:bodyPr/>
                    <a:lstStyle/>
                    <a:p>
                      <a:pPr algn="ctr"/>
                      <a:r>
                        <a:rPr lang="en-US" sz="1200" noProof="0">
                          <a:latin typeface="Segoe UI" panose="020B0502040204020203" pitchFamily="34" charset="0"/>
                          <a:cs typeface="Segoe UI" panose="020B0502040204020203" pitchFamily="34" charset="0"/>
                        </a:rPr>
                        <a:t>3</a:t>
                      </a:r>
                    </a:p>
                  </a:txBody>
                  <a:tcPr>
                    <a:solidFill>
                      <a:srgbClr val="CCCCCC"/>
                    </a:solidFill>
                  </a:tcPr>
                </a:tc>
                <a:extLst>
                  <a:ext uri="{0D108BD9-81ED-4DB2-BD59-A6C34878D82A}">
                    <a16:rowId xmlns:a16="http://schemas.microsoft.com/office/drawing/2014/main" val="3720094237"/>
                  </a:ext>
                </a:extLst>
              </a:tr>
              <a:tr h="202554">
                <a:tc>
                  <a:txBody>
                    <a:bodyPr/>
                    <a:lstStyle/>
                    <a:p>
                      <a:r>
                        <a:rPr lang="en-US" sz="1200" noProof="0">
                          <a:latin typeface="Segoe UI" panose="020B0502040204020203" pitchFamily="34" charset="0"/>
                          <a:cs typeface="Segoe UI" panose="020B0502040204020203" pitchFamily="34" charset="0"/>
                        </a:rPr>
                        <a:t>Analysis: Time response, Stability</a:t>
                      </a:r>
                    </a:p>
                  </a:txBody>
                  <a:tcPr>
                    <a:solidFill>
                      <a:srgbClr val="E7E7E8"/>
                    </a:solidFill>
                  </a:tcPr>
                </a:tc>
                <a:tc>
                  <a:txBody>
                    <a:bodyPr/>
                    <a:lstStyle/>
                    <a:p>
                      <a:pPr algn="ctr"/>
                      <a:r>
                        <a:rPr lang="en-US" sz="1200" noProof="0">
                          <a:latin typeface="Segoe UI" panose="020B0502040204020203" pitchFamily="34" charset="0"/>
                          <a:cs typeface="Segoe UI" panose="020B0502040204020203" pitchFamily="34" charset="0"/>
                        </a:rPr>
                        <a:t>4</a:t>
                      </a:r>
                    </a:p>
                  </a:txBody>
                  <a:tcPr>
                    <a:solidFill>
                      <a:srgbClr val="E7E7E8"/>
                    </a:solidFill>
                  </a:tcPr>
                </a:tc>
                <a:extLst>
                  <a:ext uri="{0D108BD9-81ED-4DB2-BD59-A6C34878D82A}">
                    <a16:rowId xmlns:a16="http://schemas.microsoft.com/office/drawing/2014/main" val="461718805"/>
                  </a:ext>
                </a:extLst>
              </a:tr>
              <a:tr h="202554">
                <a:tc>
                  <a:txBody>
                    <a:bodyPr/>
                    <a:lstStyle/>
                    <a:p>
                      <a:r>
                        <a:rPr lang="en-US" sz="1200" noProof="0">
                          <a:latin typeface="Segoe UI" panose="020B0502040204020203" pitchFamily="34" charset="0"/>
                          <a:cs typeface="Segoe UI" panose="020B0502040204020203" pitchFamily="34" charset="0"/>
                        </a:rPr>
                        <a:t>Transfer functions 1: Definition and properties</a:t>
                      </a:r>
                    </a:p>
                  </a:txBody>
                  <a:tcPr>
                    <a:solidFill>
                      <a:srgbClr val="CCCCCC"/>
                    </a:solidFill>
                  </a:tcPr>
                </a:tc>
                <a:tc>
                  <a:txBody>
                    <a:bodyPr/>
                    <a:lstStyle/>
                    <a:p>
                      <a:pPr algn="ctr"/>
                      <a:r>
                        <a:rPr lang="en-US" sz="1200" noProof="0">
                          <a:latin typeface="Segoe UI" panose="020B0502040204020203" pitchFamily="34" charset="0"/>
                          <a:cs typeface="Segoe UI" panose="020B0502040204020203" pitchFamily="34" charset="0"/>
                        </a:rPr>
                        <a:t>5</a:t>
                      </a:r>
                    </a:p>
                  </a:txBody>
                  <a:tcPr>
                    <a:solidFill>
                      <a:srgbClr val="CCCCCC"/>
                    </a:solidFill>
                  </a:tcPr>
                </a:tc>
                <a:extLst>
                  <a:ext uri="{0D108BD9-81ED-4DB2-BD59-A6C34878D82A}">
                    <a16:rowId xmlns:a16="http://schemas.microsoft.com/office/drawing/2014/main" val="876186559"/>
                  </a:ext>
                </a:extLst>
              </a:tr>
              <a:tr h="202554">
                <a:tc>
                  <a:txBody>
                    <a:bodyPr/>
                    <a:lstStyle/>
                    <a:p>
                      <a:r>
                        <a:rPr lang="en-US" sz="1200" noProof="0" dirty="0">
                          <a:latin typeface="Segoe UI" panose="020B0502040204020203" pitchFamily="34" charset="0"/>
                          <a:cs typeface="Segoe UI" panose="020B0502040204020203" pitchFamily="34" charset="0"/>
                        </a:rPr>
                        <a:t>Transfer functions 2: Poles and Zeros</a:t>
                      </a:r>
                    </a:p>
                  </a:txBody>
                  <a:tcPr>
                    <a:solidFill>
                      <a:srgbClr val="E7E7E8"/>
                    </a:solidFill>
                  </a:tcPr>
                </a:tc>
                <a:tc>
                  <a:txBody>
                    <a:bodyPr/>
                    <a:lstStyle/>
                    <a:p>
                      <a:pPr algn="ctr"/>
                      <a:r>
                        <a:rPr lang="en-US" sz="1200" noProof="0" dirty="0">
                          <a:latin typeface="Segoe UI" panose="020B0502040204020203" pitchFamily="34" charset="0"/>
                          <a:cs typeface="Segoe UI" panose="020B0502040204020203" pitchFamily="34" charset="0"/>
                        </a:rPr>
                        <a:t>6</a:t>
                      </a:r>
                    </a:p>
                  </a:txBody>
                  <a:tcPr>
                    <a:solidFill>
                      <a:srgbClr val="E7E7E8"/>
                    </a:solidFill>
                  </a:tcPr>
                </a:tc>
                <a:extLst>
                  <a:ext uri="{0D108BD9-81ED-4DB2-BD59-A6C34878D82A}">
                    <a16:rowId xmlns:a16="http://schemas.microsoft.com/office/drawing/2014/main" val="78514993"/>
                  </a:ext>
                </a:extLst>
              </a:tr>
              <a:tr h="202554">
                <a:tc>
                  <a:txBody>
                    <a:bodyPr/>
                    <a:lstStyle/>
                    <a:p>
                      <a:r>
                        <a:rPr lang="en-US" sz="1200" noProof="0" dirty="0">
                          <a:latin typeface="Segoe UI" panose="020B0502040204020203" pitchFamily="34" charset="0"/>
                          <a:cs typeface="Segoe UI" panose="020B0502040204020203" pitchFamily="34" charset="0"/>
                        </a:rPr>
                        <a:t>Proportional feedback control, Root Locus</a:t>
                      </a:r>
                    </a:p>
                  </a:txBody>
                  <a:tcPr>
                    <a:solidFill>
                      <a:srgbClr val="CCCCCC"/>
                    </a:solidFill>
                  </a:tcPr>
                </a:tc>
                <a:tc>
                  <a:txBody>
                    <a:bodyPr/>
                    <a:lstStyle/>
                    <a:p>
                      <a:pPr algn="ctr"/>
                      <a:r>
                        <a:rPr lang="en-US" sz="1200" noProof="0" dirty="0">
                          <a:latin typeface="Segoe UI" panose="020B0502040204020203" pitchFamily="34" charset="0"/>
                          <a:cs typeface="Segoe UI" panose="020B0502040204020203" pitchFamily="34" charset="0"/>
                        </a:rPr>
                        <a:t>7</a:t>
                      </a:r>
                    </a:p>
                  </a:txBody>
                  <a:tcPr>
                    <a:solidFill>
                      <a:srgbClr val="CCCCCC"/>
                    </a:solidFill>
                  </a:tcPr>
                </a:tc>
                <a:extLst>
                  <a:ext uri="{0D108BD9-81ED-4DB2-BD59-A6C34878D82A}">
                    <a16:rowId xmlns:a16="http://schemas.microsoft.com/office/drawing/2014/main" val="2845015324"/>
                  </a:ext>
                </a:extLst>
              </a:tr>
              <a:tr h="202554">
                <a:tc>
                  <a:txBody>
                    <a:bodyPr/>
                    <a:lstStyle/>
                    <a:p>
                      <a:r>
                        <a:rPr lang="en-US" sz="1200" noProof="0" dirty="0">
                          <a:latin typeface="Segoe UI" panose="020B0502040204020203" pitchFamily="34" charset="0"/>
                          <a:cs typeface="Segoe UI" panose="020B0502040204020203" pitchFamily="34" charset="0"/>
                        </a:rPr>
                        <a:t>Time-Domain specifications, PID control, Computer implementation</a:t>
                      </a:r>
                    </a:p>
                  </a:txBody>
                  <a:tcPr>
                    <a:solidFill>
                      <a:schemeClr val="accent2"/>
                    </a:solidFill>
                  </a:tcPr>
                </a:tc>
                <a:tc>
                  <a:txBody>
                    <a:bodyPr/>
                    <a:lstStyle/>
                    <a:p>
                      <a:pPr algn="ctr"/>
                      <a:r>
                        <a:rPr lang="en-US" sz="1200" noProof="0" dirty="0">
                          <a:latin typeface="Segoe UI" panose="020B0502040204020203" pitchFamily="34" charset="0"/>
                          <a:cs typeface="Segoe UI" panose="020B0502040204020203" pitchFamily="34" charset="0"/>
                        </a:rPr>
                        <a:t>8</a:t>
                      </a:r>
                    </a:p>
                  </a:txBody>
                  <a:tcPr>
                    <a:solidFill>
                      <a:schemeClr val="accent2"/>
                    </a:solidFill>
                  </a:tcPr>
                </a:tc>
                <a:extLst>
                  <a:ext uri="{0D108BD9-81ED-4DB2-BD59-A6C34878D82A}">
                    <a16:rowId xmlns:a16="http://schemas.microsoft.com/office/drawing/2014/main" val="4101599545"/>
                  </a:ext>
                </a:extLst>
              </a:tr>
              <a:tr h="202554">
                <a:tc>
                  <a:txBody>
                    <a:bodyPr/>
                    <a:lstStyle/>
                    <a:p>
                      <a:r>
                        <a:rPr lang="en-US" sz="1200" noProof="0">
                          <a:latin typeface="Segoe UI" panose="020B0502040204020203" pitchFamily="34" charset="0"/>
                          <a:cs typeface="Segoe UI" panose="020B0502040204020203" pitchFamily="34" charset="0"/>
                        </a:rPr>
                        <a:t>Frequency response, Bode plots </a:t>
                      </a:r>
                    </a:p>
                  </a:txBody>
                  <a:tcPr/>
                </a:tc>
                <a:tc>
                  <a:txBody>
                    <a:bodyPr/>
                    <a:lstStyle/>
                    <a:p>
                      <a:pPr algn="ctr"/>
                      <a:r>
                        <a:rPr lang="en-US" sz="1200" noProof="0">
                          <a:latin typeface="Segoe UI" panose="020B0502040204020203" pitchFamily="34" charset="0"/>
                          <a:cs typeface="Segoe UI" panose="020B0502040204020203" pitchFamily="34" charset="0"/>
                        </a:rPr>
                        <a:t>9</a:t>
                      </a:r>
                    </a:p>
                  </a:txBody>
                  <a:tcPr/>
                </a:tc>
                <a:extLst>
                  <a:ext uri="{0D108BD9-81ED-4DB2-BD59-A6C34878D82A}">
                    <a16:rowId xmlns:a16="http://schemas.microsoft.com/office/drawing/2014/main" val="1940241698"/>
                  </a:ext>
                </a:extLst>
              </a:tr>
              <a:tr h="202554">
                <a:tc>
                  <a:txBody>
                    <a:bodyPr/>
                    <a:lstStyle/>
                    <a:p>
                      <a:r>
                        <a:rPr lang="en-US" sz="1200" noProof="0">
                          <a:latin typeface="Segoe UI" panose="020B0502040204020203" pitchFamily="34" charset="0"/>
                          <a:cs typeface="Segoe UI" panose="020B0502040204020203" pitchFamily="34" charset="0"/>
                        </a:rPr>
                        <a:t>The Nyquist condition, Time delays</a:t>
                      </a:r>
                    </a:p>
                  </a:txBody>
                  <a:tcPr/>
                </a:tc>
                <a:tc>
                  <a:txBody>
                    <a:bodyPr/>
                    <a:lstStyle/>
                    <a:p>
                      <a:pPr algn="ctr"/>
                      <a:r>
                        <a:rPr lang="en-US" sz="1200" noProof="0">
                          <a:latin typeface="Segoe UI" panose="020B0502040204020203" pitchFamily="34" charset="0"/>
                          <a:cs typeface="Segoe UI" panose="020B0502040204020203" pitchFamily="34" charset="0"/>
                        </a:rPr>
                        <a:t>10</a:t>
                      </a:r>
                    </a:p>
                  </a:txBody>
                  <a:tcPr/>
                </a:tc>
                <a:extLst>
                  <a:ext uri="{0D108BD9-81ED-4DB2-BD59-A6C34878D82A}">
                    <a16:rowId xmlns:a16="http://schemas.microsoft.com/office/drawing/2014/main" val="130444306"/>
                  </a:ext>
                </a:extLst>
              </a:tr>
              <a:tr h="202554">
                <a:tc>
                  <a:txBody>
                    <a:bodyPr/>
                    <a:lstStyle/>
                    <a:p>
                      <a:r>
                        <a:rPr lang="en-US" sz="1200" noProof="0">
                          <a:latin typeface="Segoe UI" panose="020B0502040204020203" pitchFamily="34" charset="0"/>
                          <a:cs typeface="Segoe UI" panose="020B0502040204020203" pitchFamily="34" charset="0"/>
                        </a:rPr>
                        <a:t>Frequency-domain Specifications, Dynamic Compensation, Loop Shaping</a:t>
                      </a:r>
                    </a:p>
                  </a:txBody>
                  <a:tcPr/>
                </a:tc>
                <a:tc>
                  <a:txBody>
                    <a:bodyPr/>
                    <a:lstStyle/>
                    <a:p>
                      <a:pPr algn="ctr"/>
                      <a:r>
                        <a:rPr lang="en-US" sz="1200" noProof="0">
                          <a:latin typeface="Segoe UI" panose="020B0502040204020203" pitchFamily="34" charset="0"/>
                          <a:cs typeface="Segoe UI" panose="020B0502040204020203" pitchFamily="34" charset="0"/>
                        </a:rPr>
                        <a:t>11</a:t>
                      </a:r>
                    </a:p>
                  </a:txBody>
                  <a:tcPr/>
                </a:tc>
                <a:extLst>
                  <a:ext uri="{0D108BD9-81ED-4DB2-BD59-A6C34878D82A}">
                    <a16:rowId xmlns:a16="http://schemas.microsoft.com/office/drawing/2014/main" val="249586294"/>
                  </a:ext>
                </a:extLst>
              </a:tr>
              <a:tr h="202554">
                <a:tc>
                  <a:txBody>
                    <a:bodyPr/>
                    <a:lstStyle/>
                    <a:p>
                      <a:r>
                        <a:rPr lang="en-US" sz="1200" noProof="0">
                          <a:latin typeface="Segoe UI" panose="020B0502040204020203" pitchFamily="34" charset="0"/>
                          <a:cs typeface="Segoe UI" panose="020B0502040204020203" pitchFamily="34" charset="0"/>
                        </a:rPr>
                        <a:t>Time delays, Successive loop closure, Nonlinearities</a:t>
                      </a:r>
                    </a:p>
                  </a:txBody>
                  <a:tcPr/>
                </a:tc>
                <a:tc>
                  <a:txBody>
                    <a:bodyPr/>
                    <a:lstStyle/>
                    <a:p>
                      <a:pPr algn="ctr"/>
                      <a:r>
                        <a:rPr lang="en-US" sz="1200" noProof="0">
                          <a:latin typeface="Segoe UI" panose="020B0502040204020203" pitchFamily="34" charset="0"/>
                          <a:cs typeface="Segoe UI" panose="020B0502040204020203" pitchFamily="34" charset="0"/>
                        </a:rPr>
                        <a:t>12</a:t>
                      </a:r>
                    </a:p>
                  </a:txBody>
                  <a:tcPr/>
                </a:tc>
                <a:extLst>
                  <a:ext uri="{0D108BD9-81ED-4DB2-BD59-A6C34878D82A}">
                    <a16:rowId xmlns:a16="http://schemas.microsoft.com/office/drawing/2014/main" val="1531751894"/>
                  </a:ext>
                </a:extLst>
              </a:tr>
              <a:tr h="202554">
                <a:tc>
                  <a:txBody>
                    <a:bodyPr/>
                    <a:lstStyle/>
                    <a:p>
                      <a:r>
                        <a:rPr lang="en-US" sz="1200" noProof="0">
                          <a:latin typeface="Segoe UI" panose="020B0502040204020203" pitchFamily="34" charset="0"/>
                          <a:cs typeface="Segoe UI" panose="020B0502040204020203" pitchFamily="34" charset="0"/>
                        </a:rPr>
                        <a:t>Describing functions</a:t>
                      </a:r>
                    </a:p>
                  </a:txBody>
                  <a:tcPr/>
                </a:tc>
                <a:tc>
                  <a:txBody>
                    <a:bodyPr/>
                    <a:lstStyle/>
                    <a:p>
                      <a:pPr algn="ctr"/>
                      <a:r>
                        <a:rPr lang="en-US" sz="1200" noProof="0">
                          <a:latin typeface="Segoe UI" panose="020B0502040204020203" pitchFamily="34" charset="0"/>
                          <a:cs typeface="Segoe UI" panose="020B0502040204020203" pitchFamily="34" charset="0"/>
                        </a:rPr>
                        <a:t>13</a:t>
                      </a:r>
                    </a:p>
                  </a:txBody>
                  <a:tcPr/>
                </a:tc>
                <a:extLst>
                  <a:ext uri="{0D108BD9-81ED-4DB2-BD59-A6C34878D82A}">
                    <a16:rowId xmlns:a16="http://schemas.microsoft.com/office/drawing/2014/main" val="569238377"/>
                  </a:ext>
                </a:extLst>
              </a:tr>
              <a:tr h="202554">
                <a:tc>
                  <a:txBody>
                    <a:bodyPr/>
                    <a:lstStyle/>
                    <a:p>
                      <a:r>
                        <a:rPr lang="en-US" sz="1200" noProof="0">
                          <a:latin typeface="Segoe UI" panose="020B0502040204020203" pitchFamily="34" charset="0"/>
                          <a:cs typeface="Segoe UI" panose="020B0502040204020203" pitchFamily="34" charset="0"/>
                        </a:rPr>
                        <a:t>Intro to Uncertainty and Robustness</a:t>
                      </a:r>
                    </a:p>
                  </a:txBody>
                  <a:tcPr/>
                </a:tc>
                <a:tc>
                  <a:txBody>
                    <a:bodyPr/>
                    <a:lstStyle/>
                    <a:p>
                      <a:pPr algn="ctr"/>
                      <a:r>
                        <a:rPr lang="en-US" sz="1200" noProof="0" dirty="0">
                          <a:latin typeface="Segoe UI" panose="020B0502040204020203" pitchFamily="34" charset="0"/>
                          <a:cs typeface="Segoe UI" panose="020B0502040204020203" pitchFamily="34" charset="0"/>
                        </a:rPr>
                        <a:t>14</a:t>
                      </a:r>
                    </a:p>
                  </a:txBody>
                  <a:tcPr/>
                </a:tc>
                <a:extLst>
                  <a:ext uri="{0D108BD9-81ED-4DB2-BD59-A6C34878D82A}">
                    <a16:rowId xmlns:a16="http://schemas.microsoft.com/office/drawing/2014/main" val="4180974576"/>
                  </a:ext>
                </a:extLst>
              </a:tr>
            </a:tbl>
          </a:graphicData>
        </a:graphic>
      </p:graphicFrame>
      <p:sp>
        <p:nvSpPr>
          <p:cNvPr id="20" name="Textfeld 19">
            <a:extLst>
              <a:ext uri="{FF2B5EF4-FFF2-40B4-BE49-F238E27FC236}">
                <a16:creationId xmlns:a16="http://schemas.microsoft.com/office/drawing/2014/main" id="{F4099E1C-F5C1-8EB0-C32A-9FABF9E13B5C}"/>
              </a:ext>
            </a:extLst>
          </p:cNvPr>
          <p:cNvSpPr txBox="1"/>
          <p:nvPr/>
        </p:nvSpPr>
        <p:spPr>
          <a:xfrm>
            <a:off x="387695" y="1188631"/>
            <a:ext cx="821059" cy="261610"/>
          </a:xfrm>
          <a:prstGeom prst="rect">
            <a:avLst/>
          </a:prstGeom>
          <a:noFill/>
        </p:spPr>
        <p:txBody>
          <a:bodyPr wrap="none" rtlCol="0">
            <a:spAutoFit/>
          </a:bodyPr>
          <a:lstStyle/>
          <a:p>
            <a:r>
              <a:rPr lang="en-US" sz="1100" b="1" noProof="0">
                <a:solidFill>
                  <a:srgbClr val="FF0000"/>
                </a:solidFill>
                <a:latin typeface="Segoe UI" panose="020B0502040204020203" pitchFamily="34" charset="0"/>
                <a:cs typeface="Segoe UI" panose="020B0502040204020203" pitchFamily="34" charset="0"/>
              </a:rPr>
              <a:t>Modeling</a:t>
            </a:r>
          </a:p>
        </p:txBody>
      </p:sp>
      <p:sp>
        <p:nvSpPr>
          <p:cNvPr id="27" name="Textfeld 26">
            <a:extLst>
              <a:ext uri="{FF2B5EF4-FFF2-40B4-BE49-F238E27FC236}">
                <a16:creationId xmlns:a16="http://schemas.microsoft.com/office/drawing/2014/main" id="{654D5136-D84F-27EE-492C-52DB88CD3DA3}"/>
              </a:ext>
            </a:extLst>
          </p:cNvPr>
          <p:cNvSpPr txBox="1"/>
          <p:nvPr/>
        </p:nvSpPr>
        <p:spPr>
          <a:xfrm>
            <a:off x="483876" y="2528472"/>
            <a:ext cx="724878" cy="261610"/>
          </a:xfrm>
          <a:prstGeom prst="rect">
            <a:avLst/>
          </a:prstGeom>
          <a:noFill/>
        </p:spPr>
        <p:txBody>
          <a:bodyPr wrap="none" rtlCol="0">
            <a:spAutoFit/>
          </a:bodyPr>
          <a:lstStyle/>
          <a:p>
            <a:r>
              <a:rPr lang="en-US" sz="1100" b="1" noProof="0" dirty="0">
                <a:solidFill>
                  <a:srgbClr val="FF0000"/>
                </a:solidFill>
                <a:latin typeface="Segoe UI" panose="020B0502040204020203" pitchFamily="34" charset="0"/>
                <a:cs typeface="Segoe UI" panose="020B0502040204020203" pitchFamily="34" charset="0"/>
              </a:rPr>
              <a:t>Analysis</a:t>
            </a:r>
          </a:p>
        </p:txBody>
      </p:sp>
      <p:sp>
        <p:nvSpPr>
          <p:cNvPr id="31" name="Textfeld 30">
            <a:extLst>
              <a:ext uri="{FF2B5EF4-FFF2-40B4-BE49-F238E27FC236}">
                <a16:creationId xmlns:a16="http://schemas.microsoft.com/office/drawing/2014/main" id="{0CF889FA-8E46-8663-A0F5-184385FA3DD1}"/>
              </a:ext>
            </a:extLst>
          </p:cNvPr>
          <p:cNvSpPr txBox="1"/>
          <p:nvPr/>
        </p:nvSpPr>
        <p:spPr>
          <a:xfrm>
            <a:off x="403725" y="4071829"/>
            <a:ext cx="805029" cy="261610"/>
          </a:xfrm>
          <a:prstGeom prst="rect">
            <a:avLst/>
          </a:prstGeom>
          <a:noFill/>
        </p:spPr>
        <p:txBody>
          <a:bodyPr wrap="none" rtlCol="0">
            <a:spAutoFit/>
          </a:bodyPr>
          <a:lstStyle/>
          <a:p>
            <a:r>
              <a:rPr lang="en-US" sz="1100" b="1" noProof="0">
                <a:solidFill>
                  <a:srgbClr val="FF0000"/>
                </a:solidFill>
                <a:latin typeface="Segoe UI" panose="020B0502040204020203" pitchFamily="34" charset="0"/>
                <a:cs typeface="Segoe UI" panose="020B0502040204020203" pitchFamily="34" charset="0"/>
              </a:rPr>
              <a:t>Synthesis</a:t>
            </a:r>
          </a:p>
        </p:txBody>
      </p:sp>
      <p:sp>
        <p:nvSpPr>
          <p:cNvPr id="37" name="Geschweifte Klammer links 36">
            <a:extLst>
              <a:ext uri="{FF2B5EF4-FFF2-40B4-BE49-F238E27FC236}">
                <a16:creationId xmlns:a16="http://schemas.microsoft.com/office/drawing/2014/main" id="{0B0A67E7-7C57-C73E-4879-C13FFF882B68}"/>
              </a:ext>
            </a:extLst>
          </p:cNvPr>
          <p:cNvSpPr/>
          <p:nvPr/>
        </p:nvSpPr>
        <p:spPr>
          <a:xfrm>
            <a:off x="1208754" y="1820468"/>
            <a:ext cx="257337" cy="171052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38" name="Geschweifte Klammer links 37">
            <a:extLst>
              <a:ext uri="{FF2B5EF4-FFF2-40B4-BE49-F238E27FC236}">
                <a16:creationId xmlns:a16="http://schemas.microsoft.com/office/drawing/2014/main" id="{2D72810E-ED2B-7956-66CA-4602D2A82388}"/>
              </a:ext>
            </a:extLst>
          </p:cNvPr>
          <p:cNvSpPr/>
          <p:nvPr/>
        </p:nvSpPr>
        <p:spPr>
          <a:xfrm>
            <a:off x="1208754" y="994180"/>
            <a:ext cx="196599" cy="65051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39" name="Geschweifte Klammer links 38">
            <a:extLst>
              <a:ext uri="{FF2B5EF4-FFF2-40B4-BE49-F238E27FC236}">
                <a16:creationId xmlns:a16="http://schemas.microsoft.com/office/drawing/2014/main" id="{CBA056D0-42DA-D2CE-1EC0-9CCE338DF6B3}"/>
              </a:ext>
            </a:extLst>
          </p:cNvPr>
          <p:cNvSpPr/>
          <p:nvPr/>
        </p:nvSpPr>
        <p:spPr>
          <a:xfrm>
            <a:off x="1170298" y="3735078"/>
            <a:ext cx="257337" cy="935113"/>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3" name="Fußzeilenplatzhalter 2">
            <a:extLst>
              <a:ext uri="{FF2B5EF4-FFF2-40B4-BE49-F238E27FC236}">
                <a16:creationId xmlns:a16="http://schemas.microsoft.com/office/drawing/2014/main" id="{8156553A-9A4C-1E19-B27B-2D993B339018}"/>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4" name="Foliennummernplatzhalter 3">
            <a:extLst>
              <a:ext uri="{FF2B5EF4-FFF2-40B4-BE49-F238E27FC236}">
                <a16:creationId xmlns:a16="http://schemas.microsoft.com/office/drawing/2014/main" id="{4A1A8A2D-3E36-17EC-3693-31A5FD6CDE25}"/>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7</a:t>
            </a:fld>
            <a:endParaRPr lang="en-US" kern="1200" noProof="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415752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Quattrocento Sans"/>
              <a:buNone/>
            </a:pPr>
            <a:r>
              <a:rPr lang="en-US" noProof="0"/>
              <a:t>Today</a:t>
            </a:r>
          </a:p>
        </p:txBody>
      </p:sp>
      <p:sp>
        <p:nvSpPr>
          <p:cNvPr id="72" name="Google Shape;72;p16"/>
          <p:cNvSpPr txBox="1">
            <a:spLocks noGrp="1"/>
          </p:cNvSpPr>
          <p:nvPr>
            <p:ph idx="1"/>
          </p:nvPr>
        </p:nvSpPr>
        <p:spPr>
          <a:xfrm>
            <a:off x="628650" y="1230934"/>
            <a:ext cx="7886700" cy="3263504"/>
          </a:xfrm>
          <a:prstGeom prst="rect">
            <a:avLst/>
          </a:prstGeom>
          <a:noFill/>
          <a:ln>
            <a:noFill/>
          </a:ln>
        </p:spPr>
        <p:txBody>
          <a:bodyPr spcFirstLastPara="1" wrap="square" lIns="68575" tIns="34275" rIns="68575" bIns="34275" anchor="t" anchorCtr="0">
            <a:normAutofit/>
          </a:bodyPr>
          <a:lstStyle/>
          <a:p>
            <a:pPr marL="342900" lvl="0" indent="-342900">
              <a:spcBef>
                <a:spcPts val="0"/>
              </a:spcBef>
              <a:buClr>
                <a:schemeClr val="dk1"/>
              </a:buClr>
              <a:buSzPts val="1800"/>
              <a:buFont typeface="+mj-lt"/>
              <a:buAutoNum type="arabicPeriod"/>
            </a:pPr>
            <a:endParaRPr lang="en-US" u="sng" noProof="0" dirty="0"/>
          </a:p>
          <a:p>
            <a:pPr marL="342900" lvl="0" indent="-342900">
              <a:spcBef>
                <a:spcPts val="0"/>
              </a:spcBef>
              <a:buClr>
                <a:schemeClr val="dk1"/>
              </a:buClr>
              <a:buSzPts val="1800"/>
              <a:buFont typeface="+mj-lt"/>
              <a:buAutoNum type="arabicPeriod"/>
            </a:pPr>
            <a:r>
              <a:rPr lang="en-US" u="sng" noProof="0" dirty="0"/>
              <a:t>System Specifications</a:t>
            </a:r>
          </a:p>
          <a:p>
            <a:pPr marL="342900" lvl="0" indent="-342900">
              <a:spcBef>
                <a:spcPts val="0"/>
              </a:spcBef>
              <a:buClr>
                <a:schemeClr val="dk1"/>
              </a:buClr>
              <a:buSzPts val="1800"/>
              <a:buFont typeface="+mj-lt"/>
              <a:buAutoNum type="arabicPeriod"/>
            </a:pPr>
            <a:r>
              <a:rPr lang="en-US" u="sng" noProof="0" dirty="0"/>
              <a:t>Time-Domain Specifications</a:t>
            </a:r>
          </a:p>
          <a:p>
            <a:pPr marL="0" lvl="0" indent="0">
              <a:spcBef>
                <a:spcPts val="0"/>
              </a:spcBef>
              <a:buClr>
                <a:schemeClr val="dk1"/>
              </a:buClr>
              <a:buSzPts val="1800"/>
              <a:buNone/>
            </a:pPr>
            <a:endParaRPr lang="en-US" u="sng" noProof="0" dirty="0"/>
          </a:p>
        </p:txBody>
      </p:sp>
      <p:sp>
        <p:nvSpPr>
          <p:cNvPr id="74" name="Google Shape;74;p16"/>
          <p:cNvSpPr txBox="1">
            <a:spLocks noGrp="1"/>
          </p:cNvSpPr>
          <p:nvPr>
            <p:ph type="ftr" sz="quarter" idx="11"/>
          </p:nvPr>
        </p:nvSpPr>
        <p:spPr>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US" noProof="0"/>
              <a:t>Kissan Varatharajan - </a:t>
            </a:r>
            <a:r>
              <a:rPr lang="en-US" noProof="0" err="1"/>
              <a:t>kissanv.github.io</a:t>
            </a:r>
            <a:endParaRPr lang="en-US" noProof="0"/>
          </a:p>
        </p:txBody>
      </p:sp>
      <p:sp>
        <p:nvSpPr>
          <p:cNvPr id="73" name="Google Shape;73;p16"/>
          <p:cNvSpPr txBox="1">
            <a:spLocks noGrp="1"/>
          </p:cNvSpPr>
          <p:nvPr>
            <p:ph type="sldNum" sz="quarter" idx="12"/>
          </p:nvPr>
        </p:nvSpPr>
        <p:spPr>
          <a:prstGeom prst="rect">
            <a:avLst/>
          </a:prstGeom>
          <a:noFill/>
          <a:ln>
            <a:noFill/>
          </a:ln>
        </p:spPr>
        <p:txBody>
          <a:bodyPr spcFirstLastPara="1" wrap="square" lIns="68575" tIns="34275" rIns="68575" bIns="34275" anchor="ctr" anchorCtr="0">
            <a:normAutofit/>
          </a:bodyPr>
          <a:lstStyle/>
          <a:p>
            <a:pPr marL="0" lvl="0" indent="0" algn="r" rtl="0">
              <a:spcBef>
                <a:spcPts val="0"/>
              </a:spcBef>
              <a:spcAft>
                <a:spcPts val="0"/>
              </a:spcAft>
              <a:buClr>
                <a:srgbClr val="000000"/>
              </a:buClr>
              <a:buFont typeface="Arial"/>
              <a:buNone/>
            </a:pPr>
            <a:fld id="{00000000-1234-1234-1234-123412341234}" type="slidenum">
              <a:rPr lang="en-US" noProof="0" smtClean="0"/>
              <a:t>8</a:t>
            </a:fld>
            <a:endParaRPr lang="en-US" noProof="0"/>
          </a:p>
        </p:txBody>
      </p:sp>
    </p:spTree>
    <p:extLst>
      <p:ext uri="{BB962C8B-B14F-4D97-AF65-F5344CB8AC3E}">
        <p14:creationId xmlns:p14="http://schemas.microsoft.com/office/powerpoint/2010/main" val="2485152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F4AE5C-3E2F-B68C-A037-64DF367CED68}"/>
              </a:ext>
            </a:extLst>
          </p:cNvPr>
          <p:cNvSpPr>
            <a:spLocks noGrp="1"/>
          </p:cNvSpPr>
          <p:nvPr>
            <p:ph type="ctrTitle"/>
          </p:nvPr>
        </p:nvSpPr>
        <p:spPr>
          <a:xfrm>
            <a:off x="1143000" y="841772"/>
            <a:ext cx="6959851" cy="1790700"/>
          </a:xfrm>
        </p:spPr>
        <p:txBody>
          <a:bodyPr/>
          <a:lstStyle/>
          <a:p>
            <a:r>
              <a:rPr lang="en-US" noProof="0" dirty="0"/>
              <a:t>1. </a:t>
            </a:r>
            <a:r>
              <a:rPr lang="en-US" dirty="0"/>
              <a:t>System Specifications</a:t>
            </a:r>
            <a:endParaRPr lang="en-US" noProof="0" dirty="0"/>
          </a:p>
        </p:txBody>
      </p:sp>
      <p:sp>
        <p:nvSpPr>
          <p:cNvPr id="3" name="Untertitel 2">
            <a:extLst>
              <a:ext uri="{FF2B5EF4-FFF2-40B4-BE49-F238E27FC236}">
                <a16:creationId xmlns:a16="http://schemas.microsoft.com/office/drawing/2014/main" id="{8FEC819A-74B0-7EC8-4337-41DC3E86B626}"/>
              </a:ext>
            </a:extLst>
          </p:cNvPr>
          <p:cNvSpPr>
            <a:spLocks noGrp="1"/>
          </p:cNvSpPr>
          <p:nvPr>
            <p:ph type="subTitle" idx="1"/>
          </p:nvPr>
        </p:nvSpPr>
        <p:spPr/>
        <p:txBody>
          <a:bodyPr/>
          <a:lstStyle/>
          <a:p>
            <a:endParaRPr lang="en-US" noProof="0"/>
          </a:p>
        </p:txBody>
      </p:sp>
      <p:sp>
        <p:nvSpPr>
          <p:cNvPr id="4" name="Fußzeilenplatzhalter 3">
            <a:extLst>
              <a:ext uri="{FF2B5EF4-FFF2-40B4-BE49-F238E27FC236}">
                <a16:creationId xmlns:a16="http://schemas.microsoft.com/office/drawing/2014/main" id="{E833F9BA-5972-1172-A390-8A7AA1A2068D}"/>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E32D4EBF-656E-D2D2-0159-2EA0943B95ED}"/>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9</a:t>
            </a:fld>
            <a:endParaRPr lang="en-US" kern="1200" noProof="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330333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098B99-FC75-E348-ED3D-406646E38E97}"/>
              </a:ext>
            </a:extLst>
          </p:cNvPr>
          <p:cNvSpPr>
            <a:spLocks noGrp="1"/>
          </p:cNvSpPr>
          <p:nvPr>
            <p:ph type="title"/>
          </p:nvPr>
        </p:nvSpPr>
        <p:spPr/>
        <p:txBody>
          <a:bodyPr/>
          <a:lstStyle/>
          <a:p>
            <a:r>
              <a:rPr lang="de-DE" dirty="0" err="1"/>
              <a:t>Introduction</a:t>
            </a:r>
            <a:endParaRPr lang="de-DE" dirty="0"/>
          </a:p>
        </p:txBody>
      </p:sp>
      <p:sp>
        <p:nvSpPr>
          <p:cNvPr id="3" name="Inhaltsplatzhalter 2">
            <a:extLst>
              <a:ext uri="{FF2B5EF4-FFF2-40B4-BE49-F238E27FC236}">
                <a16:creationId xmlns:a16="http://schemas.microsoft.com/office/drawing/2014/main" id="{3CA35D9A-128F-F5EB-83A0-50412C54953F}"/>
              </a:ext>
            </a:extLst>
          </p:cNvPr>
          <p:cNvSpPr>
            <a:spLocks noGrp="1"/>
          </p:cNvSpPr>
          <p:nvPr>
            <p:ph idx="1"/>
          </p:nvPr>
        </p:nvSpPr>
        <p:spPr>
          <a:xfrm>
            <a:off x="345523" y="1344669"/>
            <a:ext cx="3797599" cy="3263504"/>
          </a:xfrm>
        </p:spPr>
        <p:txBody>
          <a:bodyPr>
            <a:normAutofit/>
          </a:bodyPr>
          <a:lstStyle/>
          <a:p>
            <a:pPr marL="0" indent="0">
              <a:buNone/>
            </a:pPr>
            <a:r>
              <a:rPr lang="de-DE" sz="1600" dirty="0"/>
              <a:t>Week 7: </a:t>
            </a:r>
            <a:r>
              <a:rPr lang="de-DE" sz="1600" dirty="0" err="1"/>
              <a:t>Closed</a:t>
            </a:r>
            <a:r>
              <a:rPr lang="de-DE" sz="1600" dirty="0"/>
              <a:t>-Loop </a:t>
            </a:r>
            <a:r>
              <a:rPr lang="de-DE" sz="1600" dirty="0" err="1"/>
              <a:t>Stability</a:t>
            </a: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a:p>
            <a:pPr marL="0" indent="0">
              <a:buNone/>
            </a:pPr>
            <a:r>
              <a:rPr lang="de-DE" sz="1600" dirty="0"/>
              <a:t>Job </a:t>
            </a:r>
            <a:r>
              <a:rPr lang="de-DE" sz="1600" dirty="0" err="1"/>
              <a:t>is</a:t>
            </a:r>
            <a:r>
              <a:rPr lang="de-DE" sz="1600" dirty="0"/>
              <a:t> </a:t>
            </a:r>
            <a:r>
              <a:rPr lang="de-DE" sz="1600" dirty="0" err="1"/>
              <a:t>finished</a:t>
            </a:r>
            <a:r>
              <a:rPr lang="de-DE" sz="1600" dirty="0"/>
              <a:t>?</a:t>
            </a:r>
          </a:p>
        </p:txBody>
      </p:sp>
      <p:sp>
        <p:nvSpPr>
          <p:cNvPr id="4" name="Fußzeilenplatzhalter 3">
            <a:extLst>
              <a:ext uri="{FF2B5EF4-FFF2-40B4-BE49-F238E27FC236}">
                <a16:creationId xmlns:a16="http://schemas.microsoft.com/office/drawing/2014/main" id="{ABE140ED-3C22-4FC7-8641-7DBBE219E8DD}"/>
              </a:ext>
            </a:extLst>
          </p:cNvPr>
          <p:cNvSpPr>
            <a:spLocks noGrp="1"/>
          </p:cNvSpPr>
          <p:nvPr>
            <p:ph type="ftr" sz="quarter" idx="11"/>
          </p:nvPr>
        </p:nvSpPr>
        <p:spPr/>
        <p:txBody>
          <a:bodyPr/>
          <a:lstStyle/>
          <a:p>
            <a:pPr defTabSz="342900">
              <a:buClrTx/>
            </a:pPr>
            <a:r>
              <a:rPr lang="de-CH" kern="1200" dirty="0">
                <a:solidFill>
                  <a:srgbClr val="101623">
                    <a:tint val="75000"/>
                  </a:srgbClr>
                </a:solidFill>
                <a:latin typeface="Calibri" panose="020F0502020204030204"/>
                <a:ea typeface="+mn-ea"/>
                <a:cs typeface="+mn-cs"/>
              </a:rPr>
              <a:t>Kissan Varatharajan - </a:t>
            </a:r>
            <a:r>
              <a:rPr lang="de-CH" kern="1200" dirty="0" err="1">
                <a:solidFill>
                  <a:srgbClr val="101623">
                    <a:tint val="75000"/>
                  </a:srgbClr>
                </a:solidFill>
                <a:latin typeface="Calibri" panose="020F0502020204030204"/>
                <a:ea typeface="+mn-ea"/>
                <a:cs typeface="+mn-cs"/>
              </a:rPr>
              <a:t>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BFE55A7B-920D-0A10-4347-EB3885AAB3AE}"/>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10</a:t>
            </a:fld>
            <a:endParaRPr lang="en-CH" kern="1200">
              <a:solidFill>
                <a:srgbClr val="101623">
                  <a:tint val="75000"/>
                </a:srgbClr>
              </a:solidFill>
              <a:latin typeface="Calibri" panose="020F0502020204030204"/>
              <a:ea typeface="+mn-ea"/>
              <a:cs typeface="+mn-cs"/>
            </a:endParaRPr>
          </a:p>
        </p:txBody>
      </p:sp>
      <p:grpSp>
        <p:nvGrpSpPr>
          <p:cNvPr id="6" name="Gruppieren 5">
            <a:extLst>
              <a:ext uri="{FF2B5EF4-FFF2-40B4-BE49-F238E27FC236}">
                <a16:creationId xmlns:a16="http://schemas.microsoft.com/office/drawing/2014/main" id="{76EDD45F-0B8A-8FAC-B4B6-AA49E7C9385B}"/>
              </a:ext>
            </a:extLst>
          </p:cNvPr>
          <p:cNvGrpSpPr/>
          <p:nvPr/>
        </p:nvGrpSpPr>
        <p:grpSpPr>
          <a:xfrm>
            <a:off x="4904513" y="172641"/>
            <a:ext cx="4060935" cy="1029367"/>
            <a:chOff x="4891261" y="102393"/>
            <a:chExt cx="4060935" cy="1029367"/>
          </a:xfrm>
        </p:grpSpPr>
        <p:sp>
          <p:nvSpPr>
            <p:cNvPr id="7" name="Oval 6">
              <a:extLst>
                <a:ext uri="{FF2B5EF4-FFF2-40B4-BE49-F238E27FC236}">
                  <a16:creationId xmlns:a16="http://schemas.microsoft.com/office/drawing/2014/main" id="{B0DE1CFA-E755-FC56-80C3-5E99D50ADEE1}"/>
                </a:ext>
              </a:extLst>
            </p:cNvPr>
            <p:cNvSpPr/>
            <p:nvPr/>
          </p:nvSpPr>
          <p:spPr>
            <a:xfrm>
              <a:off x="5362418" y="321780"/>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p:cxnSp>
          <p:nvCxnSpPr>
            <p:cNvPr id="8" name="Gerade Verbindung mit Pfeil 7">
              <a:extLst>
                <a:ext uri="{FF2B5EF4-FFF2-40B4-BE49-F238E27FC236}">
                  <a16:creationId xmlns:a16="http://schemas.microsoft.com/office/drawing/2014/main" id="{A9A2EC13-9F0B-3AAA-2F74-23A6C8821994}"/>
                </a:ext>
              </a:extLst>
            </p:cNvPr>
            <p:cNvCxnSpPr>
              <a:cxnSpLocks/>
            </p:cNvCxnSpPr>
            <p:nvPr/>
          </p:nvCxnSpPr>
          <p:spPr>
            <a:xfrm>
              <a:off x="8241382" y="424960"/>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uppieren 8">
              <a:extLst>
                <a:ext uri="{FF2B5EF4-FFF2-40B4-BE49-F238E27FC236}">
                  <a16:creationId xmlns:a16="http://schemas.microsoft.com/office/drawing/2014/main" id="{E0739D6A-AB35-C055-17A2-3C2D81578F24}"/>
                </a:ext>
              </a:extLst>
            </p:cNvPr>
            <p:cNvGrpSpPr/>
            <p:nvPr/>
          </p:nvGrpSpPr>
          <p:grpSpPr>
            <a:xfrm>
              <a:off x="7354668" y="164444"/>
              <a:ext cx="886714" cy="553007"/>
              <a:chOff x="2403054" y="3026666"/>
              <a:chExt cx="545710" cy="553007"/>
            </a:xfrm>
          </p:grpSpPr>
          <p:sp>
            <p:nvSpPr>
              <p:cNvPr id="21" name="Rechteck 20">
                <a:extLst>
                  <a:ext uri="{FF2B5EF4-FFF2-40B4-BE49-F238E27FC236}">
                    <a16:creationId xmlns:a16="http://schemas.microsoft.com/office/drawing/2014/main" id="{0B2C4B06-A796-5C7F-61B9-574DB1E11DBB}"/>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mc:AlternateContent xmlns:mc="http://schemas.openxmlformats.org/markup-compatibility/2006" xmlns:a14="http://schemas.microsoft.com/office/drawing/2010/main">
            <mc:Choice Requires="a14">
              <p:sp>
                <p:nvSpPr>
                  <p:cNvPr id="22" name="Textfeld 21">
                    <a:extLst>
                      <a:ext uri="{FF2B5EF4-FFF2-40B4-BE49-F238E27FC236}">
                        <a16:creationId xmlns:a16="http://schemas.microsoft.com/office/drawing/2014/main" id="{4083BE7F-0B5A-D65A-66F2-E2BDC9502B75}"/>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a:p>
                </p:txBody>
              </p:sp>
            </mc:Choice>
            <mc:Fallback xmlns="">
              <p:sp>
                <p:nvSpPr>
                  <p:cNvPr id="10" name="Textfeld 9">
                    <a:extLst>
                      <a:ext uri="{FF2B5EF4-FFF2-40B4-BE49-F238E27FC236}">
                        <a16:creationId xmlns:a16="http://schemas.microsoft.com/office/drawing/2014/main" id="{1842A42C-A9C8-4B70-B04E-FCD5E70A37F6}"/>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3"/>
                    <a:stretch>
                      <a:fillRect b="-14754"/>
                    </a:stretch>
                  </a:blipFill>
                </p:spPr>
                <p:txBody>
                  <a:bodyPr/>
                  <a:lstStyle/>
                  <a:p>
                    <a:r>
                      <a:rPr lang="en-US">
                        <a:noFill/>
                      </a:rPr>
                      <a:t> </a:t>
                    </a:r>
                  </a:p>
                </p:txBody>
              </p:sp>
            </mc:Fallback>
          </mc:AlternateContent>
        </p:grpSp>
        <p:grpSp>
          <p:nvGrpSpPr>
            <p:cNvPr id="10" name="Gruppieren 9">
              <a:extLst>
                <a:ext uri="{FF2B5EF4-FFF2-40B4-BE49-F238E27FC236}">
                  <a16:creationId xmlns:a16="http://schemas.microsoft.com/office/drawing/2014/main" id="{B21819EB-9961-E464-8911-34025F377762}"/>
                </a:ext>
              </a:extLst>
            </p:cNvPr>
            <p:cNvGrpSpPr/>
            <p:nvPr/>
          </p:nvGrpSpPr>
          <p:grpSpPr>
            <a:xfrm>
              <a:off x="6014915" y="164444"/>
              <a:ext cx="943472" cy="553007"/>
              <a:chOff x="2676164" y="3940223"/>
              <a:chExt cx="587951" cy="553007"/>
            </a:xfrm>
          </p:grpSpPr>
          <p:sp>
            <p:nvSpPr>
              <p:cNvPr id="19" name="Rechteck 18">
                <a:extLst>
                  <a:ext uri="{FF2B5EF4-FFF2-40B4-BE49-F238E27FC236}">
                    <a16:creationId xmlns:a16="http://schemas.microsoft.com/office/drawing/2014/main" id="{E2484295-2651-91CD-86F6-EA27C46364CA}"/>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mc:AlternateContent xmlns:mc="http://schemas.openxmlformats.org/markup-compatibility/2006" xmlns:a14="http://schemas.microsoft.com/office/drawing/2010/main">
            <mc:Choice Requires="a14">
              <p:sp>
                <p:nvSpPr>
                  <p:cNvPr id="20" name="Textfeld 19">
                    <a:extLst>
                      <a:ext uri="{FF2B5EF4-FFF2-40B4-BE49-F238E27FC236}">
                        <a16:creationId xmlns:a16="http://schemas.microsoft.com/office/drawing/2014/main" id="{A40CB2DF-2CD9-4917-9B66-3CF8433A5C8D}"/>
                      </a:ext>
                    </a:extLst>
                  </p:cNvPr>
                  <p:cNvSpPr txBox="1"/>
                  <p:nvPr/>
                </p:nvSpPr>
                <p:spPr>
                  <a:xfrm>
                    <a:off x="2869111" y="4006502"/>
                    <a:ext cx="2301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noProof="0" smtClean="0">
                              <a:latin typeface="Cambria Math" panose="02040503050406030204" pitchFamily="18" charset="0"/>
                              <a:cs typeface="Segoe UI" panose="020B0502040204020203" pitchFamily="34" charset="0"/>
                            </a:rPr>
                            <m:t>𝑘</m:t>
                          </m:r>
                        </m:oMath>
                      </m:oMathPara>
                    </a14:m>
                    <a:endParaRPr lang="en-US" noProof="0"/>
                  </a:p>
                </p:txBody>
              </p:sp>
            </mc:Choice>
            <mc:Fallback xmlns="">
              <p:sp>
                <p:nvSpPr>
                  <p:cNvPr id="13" name="Textfeld 12">
                    <a:extLst>
                      <a:ext uri="{FF2B5EF4-FFF2-40B4-BE49-F238E27FC236}">
                        <a16:creationId xmlns:a16="http://schemas.microsoft.com/office/drawing/2014/main" id="{CE736069-ADC1-5E69-43BE-5D9A373FC01F}"/>
                      </a:ext>
                    </a:extLst>
                  </p:cNvPr>
                  <p:cNvSpPr txBox="1">
                    <a:spLocks noRot="1" noChangeAspect="1" noMove="1" noResize="1" noEditPoints="1" noAdjustHandles="1" noChangeArrowheads="1" noChangeShapeType="1" noTextEdit="1"/>
                  </p:cNvSpPr>
                  <p:nvPr/>
                </p:nvSpPr>
                <p:spPr>
                  <a:xfrm>
                    <a:off x="2869111" y="4006502"/>
                    <a:ext cx="230160" cy="369332"/>
                  </a:xfrm>
                  <a:prstGeom prst="rect">
                    <a:avLst/>
                  </a:prstGeom>
                  <a:blipFill>
                    <a:blip r:embed="rId4"/>
                    <a:stretch>
                      <a:fillRect/>
                    </a:stretch>
                  </a:blipFill>
                </p:spPr>
                <p:txBody>
                  <a:bodyPr/>
                  <a:lstStyle/>
                  <a:p>
                    <a:r>
                      <a:rPr lang="en-US">
                        <a:noFill/>
                      </a:rPr>
                      <a:t> </a:t>
                    </a:r>
                  </a:p>
                </p:txBody>
              </p:sp>
            </mc:Fallback>
          </mc:AlternateContent>
        </p:grpSp>
        <p:cxnSp>
          <p:nvCxnSpPr>
            <p:cNvPr id="11" name="Gerade Verbindung mit Pfeil 10">
              <a:extLst>
                <a:ext uri="{FF2B5EF4-FFF2-40B4-BE49-F238E27FC236}">
                  <a16:creationId xmlns:a16="http://schemas.microsoft.com/office/drawing/2014/main" id="{952931EA-DEF6-98DF-76A2-BF6F96B8DF5B}"/>
                </a:ext>
              </a:extLst>
            </p:cNvPr>
            <p:cNvCxnSpPr>
              <a:cxnSpLocks/>
              <a:endCxn id="19" idx="1"/>
            </p:cNvCxnSpPr>
            <p:nvPr/>
          </p:nvCxnSpPr>
          <p:spPr>
            <a:xfrm>
              <a:off x="5573194" y="440947"/>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CDA9EAC5-A7AB-0EF5-6C52-7255C66F01A1}"/>
                </a:ext>
              </a:extLst>
            </p:cNvPr>
            <p:cNvCxnSpPr>
              <a:cxnSpLocks/>
            </p:cNvCxnSpPr>
            <p:nvPr/>
          </p:nvCxnSpPr>
          <p:spPr>
            <a:xfrm>
              <a:off x="4891261" y="427669"/>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EB8CA0EC-4BFC-7F02-F84E-D31A7CB63D2E}"/>
                    </a:ext>
                  </a:extLst>
                </p:cNvPr>
                <p:cNvSpPr txBox="1"/>
                <p:nvPr/>
              </p:nvSpPr>
              <p:spPr>
                <a:xfrm>
                  <a:off x="5242885" y="12694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a:p>
              </p:txBody>
            </p:sp>
          </mc:Choice>
          <mc:Fallback xmlns="">
            <p:sp>
              <p:nvSpPr>
                <p:cNvPr id="16" name="Textfeld 15">
                  <a:extLst>
                    <a:ext uri="{FF2B5EF4-FFF2-40B4-BE49-F238E27FC236}">
                      <a16:creationId xmlns:a16="http://schemas.microsoft.com/office/drawing/2014/main" id="{702866DB-22BD-7A9D-03C1-D9D40C262809}"/>
                    </a:ext>
                  </a:extLst>
                </p:cNvPr>
                <p:cNvSpPr txBox="1">
                  <a:spLocks noRot="1" noChangeAspect="1" noMove="1" noResize="1" noEditPoints="1" noAdjustHandles="1" noChangeArrowheads="1" noChangeShapeType="1" noTextEdit="1"/>
                </p:cNvSpPr>
                <p:nvPr/>
              </p:nvSpPr>
              <p:spPr>
                <a:xfrm>
                  <a:off x="5242885" y="126943"/>
                  <a:ext cx="1041569"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9F3924F2-1A83-51F6-A501-4B4551DF26FF}"/>
                    </a:ext>
                  </a:extLst>
                </p:cNvPr>
                <p:cNvSpPr txBox="1"/>
                <p:nvPr/>
              </p:nvSpPr>
              <p:spPr>
                <a:xfrm>
                  <a:off x="6640490" y="10239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a:p>
              </p:txBody>
            </p:sp>
          </mc:Choice>
          <mc:Fallback xmlns="">
            <p:sp>
              <p:nvSpPr>
                <p:cNvPr id="17" name="Textfeld 16">
                  <a:extLst>
                    <a:ext uri="{FF2B5EF4-FFF2-40B4-BE49-F238E27FC236}">
                      <a16:creationId xmlns:a16="http://schemas.microsoft.com/office/drawing/2014/main" id="{38CEF287-BE15-D8B6-350C-AB70D1D2F6A1}"/>
                    </a:ext>
                  </a:extLst>
                </p:cNvPr>
                <p:cNvSpPr txBox="1">
                  <a:spLocks noRot="1" noChangeAspect="1" noMove="1" noResize="1" noEditPoints="1" noAdjustHandles="1" noChangeArrowheads="1" noChangeShapeType="1" noTextEdit="1"/>
                </p:cNvSpPr>
                <p:nvPr/>
              </p:nvSpPr>
              <p:spPr>
                <a:xfrm>
                  <a:off x="6640490" y="102393"/>
                  <a:ext cx="1041569" cy="338554"/>
                </a:xfrm>
                <a:prstGeom prst="rect">
                  <a:avLst/>
                </a:prstGeom>
                <a:blipFill>
                  <a:blip r:embed="rId6"/>
                  <a:stretch>
                    <a:fillRect/>
                  </a:stretch>
                </a:blipFill>
              </p:spPr>
              <p:txBody>
                <a:bodyPr/>
                <a:lstStyle/>
                <a:p>
                  <a:r>
                    <a:rPr lang="en-US">
                      <a:noFill/>
                    </a:rPr>
                    <a:t> </a:t>
                  </a:r>
                </a:p>
              </p:txBody>
            </p:sp>
          </mc:Fallback>
        </mc:AlternateContent>
        <p:cxnSp>
          <p:nvCxnSpPr>
            <p:cNvPr id="15" name="Gerade Verbindung mit Pfeil 14">
              <a:extLst>
                <a:ext uri="{FF2B5EF4-FFF2-40B4-BE49-F238E27FC236}">
                  <a16:creationId xmlns:a16="http://schemas.microsoft.com/office/drawing/2014/main" id="{D6B21390-6F8F-E6E1-A06F-4BECB43FE13B}"/>
                </a:ext>
              </a:extLst>
            </p:cNvPr>
            <p:cNvCxnSpPr>
              <a:cxnSpLocks/>
            </p:cNvCxnSpPr>
            <p:nvPr/>
          </p:nvCxnSpPr>
          <p:spPr>
            <a:xfrm>
              <a:off x="6968970" y="415816"/>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15">
              <a:extLst>
                <a:ext uri="{FF2B5EF4-FFF2-40B4-BE49-F238E27FC236}">
                  <a16:creationId xmlns:a16="http://schemas.microsoft.com/office/drawing/2014/main" id="{E05956E1-322A-D918-1539-5F82CD172E73}"/>
                </a:ext>
              </a:extLst>
            </p:cNvPr>
            <p:cNvCxnSpPr>
              <a:cxnSpLocks/>
            </p:cNvCxnSpPr>
            <p:nvPr/>
          </p:nvCxnSpPr>
          <p:spPr>
            <a:xfrm>
              <a:off x="8515349" y="424960"/>
              <a:ext cx="0" cy="70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B7475B99-716C-FB61-CB71-AD1AFC7DCD69}"/>
                    </a:ext>
                  </a:extLst>
                </p:cNvPr>
                <p:cNvSpPr txBox="1"/>
                <p:nvPr/>
              </p:nvSpPr>
              <p:spPr>
                <a:xfrm>
                  <a:off x="5105406" y="406794"/>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a:p>
              </p:txBody>
            </p:sp>
          </mc:Choice>
          <mc:Fallback xmlns="">
            <p:sp>
              <p:nvSpPr>
                <p:cNvPr id="20" name="Textfeld 19">
                  <a:extLst>
                    <a:ext uri="{FF2B5EF4-FFF2-40B4-BE49-F238E27FC236}">
                      <a16:creationId xmlns:a16="http://schemas.microsoft.com/office/drawing/2014/main" id="{3BEFB96A-C30C-A3B5-8810-CE29A3E94A98}"/>
                    </a:ext>
                  </a:extLst>
                </p:cNvPr>
                <p:cNvSpPr txBox="1">
                  <a:spLocks noRot="1" noChangeAspect="1" noMove="1" noResize="1" noEditPoints="1" noAdjustHandles="1" noChangeArrowheads="1" noChangeShapeType="1" noTextEdit="1"/>
                </p:cNvSpPr>
                <p:nvPr/>
              </p:nvSpPr>
              <p:spPr>
                <a:xfrm>
                  <a:off x="5105406" y="406794"/>
                  <a:ext cx="1041569" cy="369332"/>
                </a:xfrm>
                <a:prstGeom prst="rect">
                  <a:avLst/>
                </a:prstGeom>
                <a:blipFill>
                  <a:blip r:embed="rId7"/>
                  <a:stretch>
                    <a:fillRect/>
                  </a:stretch>
                </a:blipFill>
              </p:spPr>
              <p:txBody>
                <a:bodyPr/>
                <a:lstStyle/>
                <a:p>
                  <a:r>
                    <a:rPr lang="en-US">
                      <a:noFill/>
                    </a:rPr>
                    <a:t> </a:t>
                  </a:r>
                </a:p>
              </p:txBody>
            </p:sp>
          </mc:Fallback>
        </mc:AlternateContent>
        <p:cxnSp>
          <p:nvCxnSpPr>
            <p:cNvPr id="18" name="Gewinkelte Verbindung 17">
              <a:extLst>
                <a:ext uri="{FF2B5EF4-FFF2-40B4-BE49-F238E27FC236}">
                  <a16:creationId xmlns:a16="http://schemas.microsoft.com/office/drawing/2014/main" id="{3F8FFAD3-698C-1215-F215-7DE1E015295B}"/>
                </a:ext>
              </a:extLst>
            </p:cNvPr>
            <p:cNvCxnSpPr/>
            <p:nvPr/>
          </p:nvCxnSpPr>
          <p:spPr>
            <a:xfrm rot="10800000">
              <a:off x="5470419" y="537780"/>
              <a:ext cx="3044931" cy="593980"/>
            </a:xfrm>
            <a:prstGeom prst="bentConnector3">
              <a:avLst>
                <a:gd name="adj1" fmla="val 10005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3" name="Textfeld 22">
                <a:extLst>
                  <a:ext uri="{FF2B5EF4-FFF2-40B4-BE49-F238E27FC236}">
                    <a16:creationId xmlns:a16="http://schemas.microsoft.com/office/drawing/2014/main" id="{C9DF7E14-10C1-D9D3-CDA3-1876EA0CEA68}"/>
                  </a:ext>
                </a:extLst>
              </p:cNvPr>
              <p:cNvSpPr txBox="1"/>
              <p:nvPr/>
            </p:nvSpPr>
            <p:spPr>
              <a:xfrm>
                <a:off x="4953307" y="166413"/>
                <a:ext cx="323294"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i="1" dirty="0" smtClean="0">
                          <a:latin typeface="Cambria Math" panose="02040503050406030204" pitchFamily="18" charset="0"/>
                        </a:rPr>
                        <m:t>𝑟</m:t>
                      </m:r>
                    </m:oMath>
                  </m:oMathPara>
                </a14:m>
                <a:endParaRPr lang="de-DE" dirty="0"/>
              </a:p>
            </p:txBody>
          </p:sp>
        </mc:Choice>
        <mc:Fallback>
          <p:sp>
            <p:nvSpPr>
              <p:cNvPr id="23" name="Textfeld 22">
                <a:extLst>
                  <a:ext uri="{FF2B5EF4-FFF2-40B4-BE49-F238E27FC236}">
                    <a16:creationId xmlns:a16="http://schemas.microsoft.com/office/drawing/2014/main" id="{C9DF7E14-10C1-D9D3-CDA3-1876EA0CEA68}"/>
                  </a:ext>
                </a:extLst>
              </p:cNvPr>
              <p:cNvSpPr txBox="1">
                <a:spLocks noRot="1" noChangeAspect="1" noMove="1" noResize="1" noEditPoints="1" noAdjustHandles="1" noChangeArrowheads="1" noChangeShapeType="1" noTextEdit="1"/>
              </p:cNvSpPr>
              <p:nvPr/>
            </p:nvSpPr>
            <p:spPr>
              <a:xfrm>
                <a:off x="4953307" y="166413"/>
                <a:ext cx="323294" cy="307777"/>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24" name="Textfeld 23">
                <a:extLst>
                  <a:ext uri="{FF2B5EF4-FFF2-40B4-BE49-F238E27FC236}">
                    <a16:creationId xmlns:a16="http://schemas.microsoft.com/office/drawing/2014/main" id="{9E63B5CC-F892-E8D4-D819-97CAD68F87C9}"/>
                  </a:ext>
                </a:extLst>
              </p:cNvPr>
              <p:cNvSpPr txBox="1"/>
              <p:nvPr/>
            </p:nvSpPr>
            <p:spPr>
              <a:xfrm>
                <a:off x="8556673" y="187431"/>
                <a:ext cx="338426"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CH" b="0" i="1" dirty="0" smtClean="0">
                          <a:latin typeface="Cambria Math" panose="02040503050406030204" pitchFamily="18" charset="0"/>
                        </a:rPr>
                        <m:t>𝑦</m:t>
                      </m:r>
                    </m:oMath>
                  </m:oMathPara>
                </a14:m>
                <a:endParaRPr lang="de-DE" dirty="0"/>
              </a:p>
            </p:txBody>
          </p:sp>
        </mc:Choice>
        <mc:Fallback>
          <p:sp>
            <p:nvSpPr>
              <p:cNvPr id="24" name="Textfeld 23">
                <a:extLst>
                  <a:ext uri="{FF2B5EF4-FFF2-40B4-BE49-F238E27FC236}">
                    <a16:creationId xmlns:a16="http://schemas.microsoft.com/office/drawing/2014/main" id="{9E63B5CC-F892-E8D4-D819-97CAD68F87C9}"/>
                  </a:ext>
                </a:extLst>
              </p:cNvPr>
              <p:cNvSpPr txBox="1">
                <a:spLocks noRot="1" noChangeAspect="1" noMove="1" noResize="1" noEditPoints="1" noAdjustHandles="1" noChangeArrowheads="1" noChangeShapeType="1" noTextEdit="1"/>
              </p:cNvSpPr>
              <p:nvPr/>
            </p:nvSpPr>
            <p:spPr>
              <a:xfrm>
                <a:off x="8556673" y="187431"/>
                <a:ext cx="338426" cy="307777"/>
              </a:xfrm>
              <a:prstGeom prst="rect">
                <a:avLst/>
              </a:prstGeom>
              <a:blipFill>
                <a:blip r:embed="rId9"/>
                <a:stretch>
                  <a:fillRect b="-8000"/>
                </a:stretch>
              </a:blipFill>
            </p:spPr>
            <p:txBody>
              <a:bodyPr/>
              <a:lstStyle/>
              <a:p>
                <a:r>
                  <a:rPr lang="de-DE">
                    <a:noFill/>
                  </a:rPr>
                  <a:t> </a:t>
                </a:r>
              </a:p>
            </p:txBody>
          </p:sp>
        </mc:Fallback>
      </mc:AlternateContent>
      <p:pic>
        <p:nvPicPr>
          <p:cNvPr id="28" name="Grafik 27" descr="Ein Bild, das Diagramm, Reihe, Kreis enthält.&#10;&#10;KI-generierte Inhalte können fehlerhaft sein.">
            <a:extLst>
              <a:ext uri="{FF2B5EF4-FFF2-40B4-BE49-F238E27FC236}">
                <a16:creationId xmlns:a16="http://schemas.microsoft.com/office/drawing/2014/main" id="{58DF6425-FB63-3408-EAA8-28E51BE5B358}"/>
              </a:ext>
            </a:extLst>
          </p:cNvPr>
          <p:cNvPicPr>
            <a:picLocks noChangeAspect="1"/>
          </p:cNvPicPr>
          <p:nvPr/>
        </p:nvPicPr>
        <p:blipFill>
          <a:blip r:embed="rId10"/>
          <a:stretch>
            <a:fillRect/>
          </a:stretch>
        </p:blipFill>
        <p:spPr>
          <a:xfrm>
            <a:off x="393886" y="1663870"/>
            <a:ext cx="2624444" cy="2266911"/>
          </a:xfrm>
          <a:prstGeom prst="rect">
            <a:avLst/>
          </a:prstGeom>
        </p:spPr>
      </p:pic>
      <p:pic>
        <p:nvPicPr>
          <p:cNvPr id="30" name="Grafik 29" descr="Ein Bild, das Text, Menschliches Gesicht, Anzug, Mann enthält.&#10;&#10;KI-generierte Inhalte können fehlerhaft sein.">
            <a:extLst>
              <a:ext uri="{FF2B5EF4-FFF2-40B4-BE49-F238E27FC236}">
                <a16:creationId xmlns:a16="http://schemas.microsoft.com/office/drawing/2014/main" id="{7BCCE9C5-7DC3-CF4A-244C-074BC9D42363}"/>
              </a:ext>
            </a:extLst>
          </p:cNvPr>
          <p:cNvPicPr>
            <a:picLocks noChangeAspect="1"/>
          </p:cNvPicPr>
          <p:nvPr/>
        </p:nvPicPr>
        <p:blipFill>
          <a:blip r:embed="rId11"/>
          <a:stretch>
            <a:fillRect/>
          </a:stretch>
        </p:blipFill>
        <p:spPr>
          <a:xfrm>
            <a:off x="3353441" y="1583831"/>
            <a:ext cx="1815894" cy="2664628"/>
          </a:xfrm>
          <a:prstGeom prst="rect">
            <a:avLst/>
          </a:prstGeom>
        </p:spPr>
      </p:pic>
      <p:sp>
        <p:nvSpPr>
          <p:cNvPr id="32" name="Inhaltsplatzhalter 2">
            <a:extLst>
              <a:ext uri="{FF2B5EF4-FFF2-40B4-BE49-F238E27FC236}">
                <a16:creationId xmlns:a16="http://schemas.microsoft.com/office/drawing/2014/main" id="{86B0934D-E9B2-38B2-8BE3-50472315EDFC}"/>
              </a:ext>
            </a:extLst>
          </p:cNvPr>
          <p:cNvSpPr txBox="1">
            <a:spLocks/>
          </p:cNvSpPr>
          <p:nvPr/>
        </p:nvSpPr>
        <p:spPr>
          <a:xfrm>
            <a:off x="5375670" y="1344669"/>
            <a:ext cx="3797599" cy="326350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Segoe UI" panose="020F0502020204030204" pitchFamily="34" charset="0"/>
                <a:ea typeface="+mn-ea"/>
                <a:cs typeface="Segoe U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egoe UI" panose="020F0502020204030204" pitchFamily="34" charset="0"/>
                <a:ea typeface="+mn-ea"/>
                <a:cs typeface="Segoe UI" panose="020F05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Segoe UI" panose="020F0502020204030204" pitchFamily="34" charset="0"/>
                <a:ea typeface="+mn-ea"/>
                <a:cs typeface="Segoe U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Segoe UI" panose="020F0502020204030204" pitchFamily="34" charset="0"/>
                <a:ea typeface="+mn-ea"/>
                <a:cs typeface="Segoe U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900" kern="1200">
                <a:solidFill>
                  <a:schemeClr val="tx1"/>
                </a:solidFill>
                <a:latin typeface="Segoe UI" panose="020F0502020204030204" pitchFamily="34" charset="0"/>
                <a:ea typeface="+mn-ea"/>
                <a:cs typeface="Segoe U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ClrTx/>
              <a:buFont typeface="Arial" panose="020B0604020202020204" pitchFamily="34" charset="0"/>
              <a:buNone/>
            </a:pPr>
            <a:r>
              <a:rPr lang="de-DE" sz="1600" dirty="0"/>
              <a:t>Week 8: </a:t>
            </a:r>
            <a:r>
              <a:rPr lang="de-DE" sz="1600" dirty="0" err="1"/>
              <a:t>Closed</a:t>
            </a:r>
            <a:r>
              <a:rPr lang="de-DE" sz="1600" dirty="0"/>
              <a:t>-Loop </a:t>
            </a:r>
            <a:r>
              <a:rPr lang="de-DE" sz="1600" dirty="0" err="1"/>
              <a:t>Specifications</a:t>
            </a: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a:p>
            <a:pPr marL="0" indent="0">
              <a:buClrTx/>
              <a:buFont typeface="Arial" panose="020B0604020202020204" pitchFamily="34" charset="0"/>
              <a:buNone/>
            </a:pPr>
            <a:r>
              <a:rPr lang="de-DE" sz="1600" dirty="0" err="1"/>
              <a:t>We</a:t>
            </a:r>
            <a:r>
              <a:rPr lang="de-DE" sz="1600" dirty="0"/>
              <a:t> </a:t>
            </a:r>
            <a:r>
              <a:rPr lang="de-DE" sz="1600" dirty="0" err="1"/>
              <a:t>need</a:t>
            </a:r>
            <a:r>
              <a:rPr lang="de-DE" sz="1600" dirty="0"/>
              <a:t> </a:t>
            </a:r>
            <a:r>
              <a:rPr lang="de-DE" sz="1600" dirty="0" err="1"/>
              <a:t>to</a:t>
            </a:r>
            <a:r>
              <a:rPr lang="de-DE" sz="1600" dirty="0"/>
              <a:t> </a:t>
            </a:r>
            <a:r>
              <a:rPr lang="de-DE" sz="1600" dirty="0" err="1"/>
              <a:t>make</a:t>
            </a:r>
            <a:r>
              <a:rPr lang="de-DE" sz="1600" dirty="0"/>
              <a:t> </a:t>
            </a:r>
            <a:r>
              <a:rPr lang="de-DE" sz="1600" dirty="0" err="1"/>
              <a:t>sure</a:t>
            </a:r>
            <a:r>
              <a:rPr lang="de-DE" sz="1600" dirty="0"/>
              <a:t> </a:t>
            </a:r>
            <a:r>
              <a:rPr lang="de-DE" sz="1600" dirty="0" err="1"/>
              <a:t>it's</a:t>
            </a:r>
            <a:r>
              <a:rPr lang="de-DE" sz="1600" dirty="0"/>
              <a:t> quick and </a:t>
            </a:r>
            <a:r>
              <a:rPr lang="de-DE" sz="1600" dirty="0" err="1"/>
              <a:t>can</a:t>
            </a:r>
            <a:r>
              <a:rPr lang="de-DE" sz="1600" dirty="0"/>
              <a:t> handle </a:t>
            </a:r>
            <a:r>
              <a:rPr lang="de-DE" sz="1600" dirty="0" err="1"/>
              <a:t>disturbances</a:t>
            </a:r>
            <a:r>
              <a:rPr lang="de-DE" sz="1600" dirty="0"/>
              <a:t> and </a:t>
            </a:r>
            <a:r>
              <a:rPr lang="de-DE" sz="1600" dirty="0" err="1"/>
              <a:t>errors</a:t>
            </a:r>
            <a:r>
              <a:rPr lang="de-DE" sz="1600" dirty="0"/>
              <a:t> </a:t>
            </a:r>
            <a:r>
              <a:rPr lang="de-DE" sz="1600" dirty="0" err="1"/>
              <a:t>well</a:t>
            </a:r>
            <a:r>
              <a:rPr lang="de-DE" sz="1600" dirty="0"/>
              <a:t>!</a:t>
            </a:r>
          </a:p>
          <a:p>
            <a:pPr marL="0" indent="0">
              <a:buClrTx/>
              <a:buFont typeface="Arial" panose="020B0604020202020204" pitchFamily="34" charset="0"/>
              <a:buNone/>
            </a:pPr>
            <a:endParaRPr lang="de-DE" sz="1600" dirty="0"/>
          </a:p>
          <a:p>
            <a:pPr marL="0" indent="0">
              <a:buClrTx/>
              <a:buFont typeface="Arial" panose="020B0604020202020204" pitchFamily="34" charset="0"/>
              <a:buNone/>
            </a:pPr>
            <a:endParaRPr lang="de-DE" sz="1600" dirty="0"/>
          </a:p>
        </p:txBody>
      </p:sp>
      <p:pic>
        <p:nvPicPr>
          <p:cNvPr id="45" name="Grafik 44" descr="Ein Bild, das Reihe, Schrift, Text, Diagramm enthält.&#10;&#10;KI-generierte Inhalte können fehlerhaft sein.">
            <a:extLst>
              <a:ext uri="{FF2B5EF4-FFF2-40B4-BE49-F238E27FC236}">
                <a16:creationId xmlns:a16="http://schemas.microsoft.com/office/drawing/2014/main" id="{BC85E42B-3254-E7A9-44B0-4AD42D62C43D}"/>
              </a:ext>
            </a:extLst>
          </p:cNvPr>
          <p:cNvPicPr>
            <a:picLocks noChangeAspect="1"/>
          </p:cNvPicPr>
          <p:nvPr/>
        </p:nvPicPr>
        <p:blipFill>
          <a:blip r:embed="rId12"/>
          <a:stretch>
            <a:fillRect/>
          </a:stretch>
        </p:blipFill>
        <p:spPr>
          <a:xfrm>
            <a:off x="5397426" y="1825191"/>
            <a:ext cx="3148425" cy="1909532"/>
          </a:xfrm>
          <a:prstGeom prst="rect">
            <a:avLst/>
          </a:prstGeom>
        </p:spPr>
      </p:pic>
    </p:spTree>
    <p:extLst>
      <p:ext uri="{BB962C8B-B14F-4D97-AF65-F5344CB8AC3E}">
        <p14:creationId xmlns:p14="http://schemas.microsoft.com/office/powerpoint/2010/main" val="214789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E0D2A3-5E50-48EC-62B7-E40B053712BF}"/>
              </a:ext>
            </a:extLst>
          </p:cNvPr>
          <p:cNvSpPr>
            <a:spLocks noGrp="1"/>
          </p:cNvSpPr>
          <p:nvPr>
            <p:ph type="title"/>
          </p:nvPr>
        </p:nvSpPr>
        <p:spPr/>
        <p:txBody>
          <a:bodyPr/>
          <a:lstStyle/>
          <a:p>
            <a:r>
              <a:rPr lang="de-DE" dirty="0"/>
              <a:t>Steady-State Error</a:t>
            </a:r>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7C7AFC49-8DD9-FC1D-4CAF-2FF43A77ACD9}"/>
                  </a:ext>
                </a:extLst>
              </p:cNvPr>
              <p:cNvSpPr>
                <a:spLocks noGrp="1"/>
              </p:cNvSpPr>
              <p:nvPr>
                <p:ph idx="1"/>
              </p:nvPr>
            </p:nvSpPr>
            <p:spPr>
              <a:xfrm>
                <a:off x="188277" y="1214505"/>
                <a:ext cx="8955724" cy="1402420"/>
              </a:xfrm>
            </p:spPr>
            <p:txBody>
              <a:bodyPr/>
              <a:lstStyle/>
              <a:p>
                <a:pPr marL="0" indent="0">
                  <a:buNone/>
                </a:pPr>
                <a:r>
                  <a:rPr lang="de-DE" dirty="0" err="1"/>
                  <a:t>Assume</a:t>
                </a:r>
                <a:r>
                  <a:rPr lang="de-DE" dirty="0"/>
                  <a:t> </a:t>
                </a:r>
                <a:r>
                  <a:rPr lang="de-DE" dirty="0" err="1"/>
                  <a:t>we</a:t>
                </a:r>
                <a:r>
                  <a:rPr lang="de-DE" dirty="0"/>
                  <a:t> </a:t>
                </a:r>
                <a:r>
                  <a:rPr lang="de-DE" dirty="0" err="1"/>
                  <a:t>apply</a:t>
                </a:r>
                <a:r>
                  <a:rPr lang="de-DE" dirty="0"/>
                  <a:t> a </a:t>
                </a:r>
                <a:r>
                  <a:rPr lang="de-DE" dirty="0" err="1"/>
                  <a:t>step</a:t>
                </a:r>
                <a:r>
                  <a:rPr lang="de-DE" dirty="0"/>
                  <a:t> </a:t>
                </a:r>
                <a:r>
                  <a:rPr lang="de-DE" dirty="0" err="1"/>
                  <a:t>input</a:t>
                </a:r>
                <a:r>
                  <a:rPr lang="de-DE" dirty="0"/>
                  <a:t> </a:t>
                </a:r>
                <a:r>
                  <a:rPr lang="de-DE" dirty="0" err="1"/>
                  <a:t>to</a:t>
                </a:r>
                <a:r>
                  <a:rPr lang="de-DE" dirty="0"/>
                  <a:t> a </a:t>
                </a:r>
                <a:r>
                  <a:rPr lang="de-DE" dirty="0" err="1"/>
                  <a:t>system</a:t>
                </a:r>
                <a:r>
                  <a:rPr lang="de-DE" dirty="0"/>
                  <a:t>. </a:t>
                </a:r>
                <a:r>
                  <a:rPr lang="de-DE" dirty="0" err="1"/>
                  <a:t>Does</a:t>
                </a:r>
                <a:r>
                  <a:rPr lang="de-DE" dirty="0"/>
                  <a:t> </a:t>
                </a:r>
                <a:r>
                  <a:rPr lang="de-DE" dirty="0" err="1"/>
                  <a:t>the</a:t>
                </a:r>
                <a:r>
                  <a:rPr lang="de-DE" dirty="0"/>
                  <a:t> </a:t>
                </a:r>
                <a:r>
                  <a:rPr lang="de-DE" dirty="0" err="1"/>
                  <a:t>output</a:t>
                </a:r>
                <a:r>
                  <a:rPr lang="de-DE" dirty="0"/>
                  <a:t> </a:t>
                </a:r>
                <a:r>
                  <a:rPr lang="de-DE" dirty="0" err="1"/>
                  <a:t>approach</a:t>
                </a:r>
                <a:r>
                  <a:rPr lang="de-DE" dirty="0"/>
                  <a:t> </a:t>
                </a:r>
                <a:r>
                  <a:rPr lang="de-DE" dirty="0" err="1"/>
                  <a:t>the</a:t>
                </a:r>
                <a:r>
                  <a:rPr lang="de-DE" dirty="0"/>
                  <a:t> </a:t>
                </a:r>
                <a:r>
                  <a:rPr lang="de-DE" dirty="0" err="1"/>
                  <a:t>reference</a:t>
                </a:r>
                <a:r>
                  <a:rPr lang="de-DE" dirty="0"/>
                  <a:t>?</a:t>
                </a:r>
              </a:p>
              <a:p>
                <a:pPr marL="0" indent="0">
                  <a:buNone/>
                </a:pPr>
                <a:r>
                  <a:rPr lang="de-DE" dirty="0"/>
                  <a:t>As </a:t>
                </a:r>
                <a:r>
                  <a:rPr lang="de-DE" dirty="0" err="1"/>
                  <a:t>defined</a:t>
                </a:r>
                <a:r>
                  <a:rPr lang="de-DE" dirty="0"/>
                  <a:t> last </a:t>
                </a:r>
                <a:r>
                  <a:rPr lang="de-DE" dirty="0" err="1"/>
                  <a:t>week</a:t>
                </a:r>
                <a:r>
                  <a:rPr lang="de-DE" dirty="0"/>
                  <a:t>, </a:t>
                </a:r>
                <a:r>
                  <a:rPr lang="de-DE" dirty="0" err="1"/>
                  <a:t>the</a:t>
                </a:r>
                <a:r>
                  <a:rPr lang="de-DE" dirty="0"/>
                  <a:t> </a:t>
                </a:r>
                <a:r>
                  <a:rPr lang="de-DE" dirty="0" err="1"/>
                  <a:t>relationship</a:t>
                </a:r>
                <a:r>
                  <a:rPr lang="de-DE" dirty="0"/>
                  <a:t> </a:t>
                </a:r>
                <a:r>
                  <a:rPr lang="de-DE" dirty="0" err="1"/>
                  <a:t>between</a:t>
                </a:r>
                <a:r>
                  <a:rPr lang="de-DE" dirty="0"/>
                  <a:t> </a:t>
                </a:r>
                <a14:m>
                  <m:oMath xmlns:m="http://schemas.openxmlformats.org/officeDocument/2006/math">
                    <m:r>
                      <a:rPr lang="de-DE" i="1" dirty="0" smtClean="0">
                        <a:latin typeface="Cambria Math" panose="02040503050406030204" pitchFamily="18" charset="0"/>
                      </a:rPr>
                      <m:t>𝑟</m:t>
                    </m:r>
                  </m:oMath>
                </a14:m>
                <a:r>
                  <a:rPr lang="de-DE" dirty="0"/>
                  <a:t> and </a:t>
                </a:r>
                <a14:m>
                  <m:oMath xmlns:m="http://schemas.openxmlformats.org/officeDocument/2006/math">
                    <m:r>
                      <a:rPr lang="de-DE" i="1" dirty="0" smtClean="0">
                        <a:latin typeface="Cambria Math" panose="02040503050406030204" pitchFamily="18" charset="0"/>
                      </a:rPr>
                      <m:t>𝑒</m:t>
                    </m:r>
                  </m:oMath>
                </a14:m>
                <a:r>
                  <a:rPr lang="de-DE" dirty="0"/>
                  <a:t> </a:t>
                </a:r>
                <a:r>
                  <a:rPr lang="de-DE" dirty="0" err="1"/>
                  <a:t>is</a:t>
                </a:r>
                <a:r>
                  <a:rPr lang="de-DE" dirty="0"/>
                  <a:t> </a:t>
                </a:r>
                <a:r>
                  <a:rPr lang="de-DE" dirty="0" err="1"/>
                  <a:t>captured</a:t>
                </a:r>
                <a:r>
                  <a:rPr lang="de-DE" dirty="0"/>
                  <a:t> </a:t>
                </a:r>
                <a:r>
                  <a:rPr lang="de-DE" dirty="0" err="1"/>
                  <a:t>with</a:t>
                </a:r>
                <a:r>
                  <a:rPr lang="de-DE" dirty="0"/>
                  <a:t> </a:t>
                </a:r>
                <a14:m>
                  <m:oMath xmlns:m="http://schemas.openxmlformats.org/officeDocument/2006/math">
                    <m:r>
                      <a:rPr lang="de-DE" i="1" dirty="0" smtClean="0">
                        <a:latin typeface="Cambria Math" panose="02040503050406030204" pitchFamily="18" charset="0"/>
                      </a:rPr>
                      <m:t>𝑆</m:t>
                    </m:r>
                    <m:d>
                      <m:dPr>
                        <m:ctrlPr>
                          <a:rPr lang="de-DE" i="1" dirty="0" smtClean="0">
                            <a:latin typeface="Cambria Math" panose="02040503050406030204" pitchFamily="18" charset="0"/>
                          </a:rPr>
                        </m:ctrlPr>
                      </m:dPr>
                      <m:e>
                        <m:r>
                          <a:rPr lang="de-DE" i="1" dirty="0" smtClean="0">
                            <a:latin typeface="Cambria Math" panose="02040503050406030204" pitchFamily="18" charset="0"/>
                          </a:rPr>
                          <m:t>𝑠</m:t>
                        </m:r>
                      </m:e>
                    </m:d>
                    <m:r>
                      <a:rPr lang="de-DE" i="1" dirty="0" smtClean="0">
                        <a:latin typeface="Cambria Math" panose="02040503050406030204" pitchFamily="18" charset="0"/>
                      </a:rPr>
                      <m:t>=</m:t>
                    </m:r>
                    <m:f>
                      <m:fPr>
                        <m:ctrlPr>
                          <a:rPr lang="de-DE" i="1" dirty="0" smtClean="0">
                            <a:latin typeface="Cambria Math" panose="02040503050406030204" pitchFamily="18" charset="0"/>
                          </a:rPr>
                        </m:ctrlPr>
                      </m:fPr>
                      <m:num>
                        <m:r>
                          <a:rPr lang="de-DE" i="1" dirty="0" smtClean="0">
                            <a:latin typeface="Cambria Math" panose="02040503050406030204" pitchFamily="18" charset="0"/>
                          </a:rPr>
                          <m:t>1</m:t>
                        </m:r>
                      </m:num>
                      <m:den>
                        <m:r>
                          <a:rPr lang="de-DE" i="1" dirty="0" smtClean="0">
                            <a:latin typeface="Cambria Math" panose="02040503050406030204" pitchFamily="18" charset="0"/>
                          </a:rPr>
                          <m:t>1+</m:t>
                        </m:r>
                        <m:r>
                          <a:rPr lang="de-DE" i="1" dirty="0" smtClean="0">
                            <a:latin typeface="Cambria Math" panose="02040503050406030204" pitchFamily="18" charset="0"/>
                          </a:rPr>
                          <m:t>𝐿</m:t>
                        </m:r>
                        <m:d>
                          <m:dPr>
                            <m:ctrlPr>
                              <a:rPr lang="de-DE" i="1" dirty="0" smtClean="0">
                                <a:latin typeface="Cambria Math" panose="02040503050406030204" pitchFamily="18" charset="0"/>
                              </a:rPr>
                            </m:ctrlPr>
                          </m:dPr>
                          <m:e>
                            <m:r>
                              <a:rPr lang="de-DE" i="1" dirty="0" smtClean="0">
                                <a:latin typeface="Cambria Math" panose="02040503050406030204" pitchFamily="18" charset="0"/>
                              </a:rPr>
                              <m:t>𝑠</m:t>
                            </m:r>
                          </m:e>
                        </m:d>
                      </m:den>
                    </m:f>
                  </m:oMath>
                </a14:m>
                <a:endParaRPr lang="de-DE" dirty="0"/>
              </a:p>
              <a:p>
                <a:pPr marL="0" indent="0">
                  <a:buNone/>
                </a:pPr>
                <a:r>
                  <a:rPr lang="de-DE" dirty="0" err="1"/>
                  <a:t>we</a:t>
                </a:r>
                <a:r>
                  <a:rPr lang="de-DE" dirty="0"/>
                  <a:t> find </a:t>
                </a:r>
                <a:r>
                  <a:rPr lang="de-DE" dirty="0" err="1"/>
                  <a:t>the</a:t>
                </a:r>
                <a:r>
                  <a:rPr lang="de-DE" dirty="0"/>
                  <a:t> </a:t>
                </a:r>
                <a:r>
                  <a:rPr lang="de-DE" dirty="0" err="1"/>
                  <a:t>steady-state</a:t>
                </a:r>
                <a:r>
                  <a:rPr lang="de-DE" dirty="0"/>
                  <a:t> </a:t>
                </a:r>
                <a:r>
                  <a:rPr lang="de-DE" dirty="0" err="1"/>
                  <a:t>error</a:t>
                </a:r>
                <a:r>
                  <a:rPr lang="de-DE" dirty="0"/>
                  <a:t> </a:t>
                </a:r>
                <a:r>
                  <a:rPr lang="de-DE" dirty="0" err="1"/>
                  <a:t>as</a:t>
                </a:r>
                <a:r>
                  <a:rPr lang="de-DE" dirty="0"/>
                  <a:t>:</a:t>
                </a:r>
              </a:p>
            </p:txBody>
          </p:sp>
        </mc:Choice>
        <mc:Fallback>
          <p:sp>
            <p:nvSpPr>
              <p:cNvPr id="3" name="Inhaltsplatzhalter 2">
                <a:extLst>
                  <a:ext uri="{FF2B5EF4-FFF2-40B4-BE49-F238E27FC236}">
                    <a16:creationId xmlns:a16="http://schemas.microsoft.com/office/drawing/2014/main" id="{7C7AFC49-8DD9-FC1D-4CAF-2FF43A77ACD9}"/>
                  </a:ext>
                </a:extLst>
              </p:cNvPr>
              <p:cNvSpPr>
                <a:spLocks noGrp="1" noRot="1" noChangeAspect="1" noMove="1" noResize="1" noEditPoints="1" noAdjustHandles="1" noChangeArrowheads="1" noChangeShapeType="1" noTextEdit="1"/>
              </p:cNvSpPr>
              <p:nvPr>
                <p:ph idx="1"/>
              </p:nvPr>
            </p:nvSpPr>
            <p:spPr>
              <a:xfrm>
                <a:off x="188277" y="1214505"/>
                <a:ext cx="8955724" cy="1402420"/>
              </a:xfrm>
              <a:blipFill>
                <a:blip r:embed="rId2"/>
                <a:stretch>
                  <a:fillRect l="-567" t="-450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D64B5FA5-23EE-ABA9-7B9E-23CDEBB78161}"/>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3967FC4-CE5A-207E-4612-4FB424A3E35C}"/>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11</a:t>
            </a:fld>
            <a:endParaRPr lang="en-CH" kern="1200">
              <a:solidFill>
                <a:srgbClr val="101623">
                  <a:tint val="75000"/>
                </a:srgbClr>
              </a:solidFill>
              <a:latin typeface="Calibri" panose="020F0502020204030204"/>
              <a:ea typeface="+mn-ea"/>
              <a:cs typeface="+mn-cs"/>
            </a:endParaRPr>
          </a:p>
        </p:txBody>
      </p:sp>
      <p:grpSp>
        <p:nvGrpSpPr>
          <p:cNvPr id="22" name="Gruppieren 21">
            <a:extLst>
              <a:ext uri="{FF2B5EF4-FFF2-40B4-BE49-F238E27FC236}">
                <a16:creationId xmlns:a16="http://schemas.microsoft.com/office/drawing/2014/main" id="{61ECFB45-6D50-7744-DD80-3D073956E0A7}"/>
              </a:ext>
            </a:extLst>
          </p:cNvPr>
          <p:cNvGrpSpPr/>
          <p:nvPr/>
        </p:nvGrpSpPr>
        <p:grpSpPr>
          <a:xfrm>
            <a:off x="6049146" y="2253776"/>
            <a:ext cx="2536796" cy="1852336"/>
            <a:chOff x="5636769" y="2246107"/>
            <a:chExt cx="2536796" cy="1852336"/>
          </a:xfrm>
        </p:grpSpPr>
        <p:grpSp>
          <p:nvGrpSpPr>
            <p:cNvPr id="6" name="Gruppieren 5">
              <a:extLst>
                <a:ext uri="{FF2B5EF4-FFF2-40B4-BE49-F238E27FC236}">
                  <a16:creationId xmlns:a16="http://schemas.microsoft.com/office/drawing/2014/main" id="{A72B137A-EDDA-699B-DB0B-AA6AD2219325}"/>
                </a:ext>
              </a:extLst>
            </p:cNvPr>
            <p:cNvGrpSpPr/>
            <p:nvPr/>
          </p:nvGrpSpPr>
          <p:grpSpPr>
            <a:xfrm>
              <a:off x="5636769" y="2246107"/>
              <a:ext cx="2536796" cy="1852336"/>
              <a:chOff x="6583680" y="2766060"/>
              <a:chExt cx="2536796" cy="1852336"/>
            </a:xfrm>
          </p:grpSpPr>
          <p:cxnSp>
            <p:nvCxnSpPr>
              <p:cNvPr id="7" name="Gewinkelte Verbindung 6">
                <a:extLst>
                  <a:ext uri="{FF2B5EF4-FFF2-40B4-BE49-F238E27FC236}">
                    <a16:creationId xmlns:a16="http://schemas.microsoft.com/office/drawing/2014/main" id="{43C09400-97C6-C27D-3E67-B2BCCBBECB28}"/>
                  </a:ext>
                </a:extLst>
              </p:cNvPr>
              <p:cNvCxnSpPr>
                <a:cxnSpLocks/>
              </p:cNvCxnSpPr>
              <p:nvPr/>
            </p:nvCxnSpPr>
            <p:spPr>
              <a:xfrm>
                <a:off x="6583680" y="2766060"/>
                <a:ext cx="2453640" cy="1337489"/>
              </a:xfrm>
              <a:prstGeom prst="bentConnector3">
                <a:avLst>
                  <a:gd name="adj1" fmla="val 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 name="Gruppieren 7">
                <a:extLst>
                  <a:ext uri="{FF2B5EF4-FFF2-40B4-BE49-F238E27FC236}">
                    <a16:creationId xmlns:a16="http://schemas.microsoft.com/office/drawing/2014/main" id="{19EB43B9-6B9B-7089-6302-C4DAE7B20F02}"/>
                  </a:ext>
                </a:extLst>
              </p:cNvPr>
              <p:cNvGrpSpPr/>
              <p:nvPr/>
            </p:nvGrpSpPr>
            <p:grpSpPr>
              <a:xfrm>
                <a:off x="6837812" y="2968376"/>
                <a:ext cx="2282664" cy="1650020"/>
                <a:chOff x="6826325" y="2942807"/>
                <a:chExt cx="2282664" cy="1650020"/>
              </a:xfrm>
            </p:grpSpPr>
            <mc:AlternateContent xmlns:mc="http://schemas.openxmlformats.org/markup-compatibility/2006">
              <mc:Choice xmlns:a14="http://schemas.microsoft.com/office/drawing/2010/main" Requires="a14">
                <p:sp>
                  <p:nvSpPr>
                    <p:cNvPr id="9" name="Textfeld 8">
                      <a:extLst>
                        <a:ext uri="{FF2B5EF4-FFF2-40B4-BE49-F238E27FC236}">
                          <a16:creationId xmlns:a16="http://schemas.microsoft.com/office/drawing/2014/main" id="{2C03B5DA-2539-4290-5EDB-A64728A991F5}"/>
                        </a:ext>
                      </a:extLst>
                    </p:cNvPr>
                    <p:cNvSpPr txBox="1"/>
                    <p:nvPr/>
                  </p:nvSpPr>
                  <p:spPr>
                    <a:xfrm>
                      <a:off x="8049764" y="3449009"/>
                      <a:ext cx="55271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noProof="0" smtClean="0">
                                <a:solidFill>
                                  <a:schemeClr val="accent2"/>
                                </a:solidFill>
                                <a:latin typeface="Cambria Math" panose="02040503050406030204" pitchFamily="18" charset="0"/>
                              </a:rPr>
                              <m:t>𝑦</m:t>
                            </m:r>
                            <m:d>
                              <m:dPr>
                                <m:ctrlPr>
                                  <a:rPr lang="de-CH" b="0" i="1" noProof="0" smtClean="0">
                                    <a:solidFill>
                                      <a:schemeClr val="accent2"/>
                                    </a:solidFill>
                                    <a:latin typeface="Cambria Math" panose="02040503050406030204" pitchFamily="18" charset="0"/>
                                  </a:rPr>
                                </m:ctrlPr>
                              </m:dPr>
                              <m:e>
                                <m:r>
                                  <a:rPr lang="de-CH" b="0" i="1" noProof="0" smtClean="0">
                                    <a:solidFill>
                                      <a:schemeClr val="accent2"/>
                                    </a:solidFill>
                                    <a:latin typeface="Cambria Math" panose="02040503050406030204" pitchFamily="18" charset="0"/>
                                  </a:rPr>
                                  <m:t>𝑡</m:t>
                                </m:r>
                              </m:e>
                            </m:d>
                          </m:oMath>
                        </m:oMathPara>
                      </a14:m>
                    </a:p>
                  </p:txBody>
                </p:sp>
              </mc:Choice>
              <mc:Fallback>
                <p:sp>
                  <p:nvSpPr>
                    <p:cNvPr id="9" name="Textfeld 8">
                      <a:extLst>
                        <a:ext uri="{FF2B5EF4-FFF2-40B4-BE49-F238E27FC236}">
                          <a16:creationId xmlns:a16="http://schemas.microsoft.com/office/drawing/2014/main" id="{2C03B5DA-2539-4290-5EDB-A64728A991F5}"/>
                        </a:ext>
                      </a:extLst>
                    </p:cNvPr>
                    <p:cNvSpPr txBox="1">
                      <a:spLocks noRot="1" noChangeAspect="1" noMove="1" noResize="1" noEditPoints="1" noAdjustHandles="1" noChangeArrowheads="1" noChangeShapeType="1" noTextEdit="1"/>
                    </p:cNvSpPr>
                    <p:nvPr/>
                  </p:nvSpPr>
                  <p:spPr>
                    <a:xfrm>
                      <a:off x="8049764" y="3449009"/>
                      <a:ext cx="552715" cy="307777"/>
                    </a:xfrm>
                    <a:prstGeom prst="rect">
                      <a:avLst/>
                    </a:prstGeom>
                    <a:blipFill>
                      <a:blip r:embed="rId3"/>
                      <a:stretch>
                        <a:fillRect t="-4000" r="-6818" b="-2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E6FD9658-D969-2A1B-F5F2-2B6E1F8C3895}"/>
                        </a:ext>
                      </a:extLst>
                    </p:cNvPr>
                    <p:cNvSpPr txBox="1"/>
                    <p:nvPr/>
                  </p:nvSpPr>
                  <p:spPr>
                    <a:xfrm>
                      <a:off x="8813716" y="4102059"/>
                      <a:ext cx="29527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1" noProof="0" smtClean="0">
                                <a:latin typeface="Cambria Math" panose="02040503050406030204" pitchFamily="18" charset="0"/>
                              </a:rPr>
                              <m:t>t</m:t>
                            </m:r>
                          </m:oMath>
                        </m:oMathPara>
                      </a14:m>
                      <a:endParaRPr lang="en-US" noProof="0" dirty="0"/>
                    </a:p>
                  </p:txBody>
                </p:sp>
              </mc:Choice>
              <mc:Fallback xmlns="">
                <p:sp>
                  <p:nvSpPr>
                    <p:cNvPr id="18" name="Textfeld 17">
                      <a:extLst>
                        <a:ext uri="{FF2B5EF4-FFF2-40B4-BE49-F238E27FC236}">
                          <a16:creationId xmlns:a16="http://schemas.microsoft.com/office/drawing/2014/main" id="{547E796D-B39F-CC20-0029-BB74D09D3A63}"/>
                        </a:ext>
                      </a:extLst>
                    </p:cNvPr>
                    <p:cNvSpPr txBox="1">
                      <a:spLocks noRot="1" noChangeAspect="1" noMove="1" noResize="1" noEditPoints="1" noAdjustHandles="1" noChangeArrowheads="1" noChangeShapeType="1" noTextEdit="1"/>
                    </p:cNvSpPr>
                    <p:nvPr/>
                  </p:nvSpPr>
                  <p:spPr>
                    <a:xfrm>
                      <a:off x="8813716" y="4102059"/>
                      <a:ext cx="295273" cy="307777"/>
                    </a:xfrm>
                    <a:prstGeom prst="rect">
                      <a:avLst/>
                    </a:prstGeom>
                    <a:blipFill>
                      <a:blip r:embed="rId6"/>
                      <a:stretch>
                        <a:fillRect/>
                      </a:stretch>
                    </a:blipFill>
                  </p:spPr>
                  <p:txBody>
                    <a:bodyPr/>
                    <a:lstStyle/>
                    <a:p>
                      <a:r>
                        <a:rPr lang="de-DE">
                          <a:noFill/>
                        </a:rPr>
                        <a:t> </a:t>
                      </a:r>
                    </a:p>
                  </p:txBody>
                </p:sp>
              </mc:Fallback>
            </mc:AlternateContent>
            <p:sp>
              <p:nvSpPr>
                <p:cNvPr id="11" name="Freihandform 10">
                  <a:extLst>
                    <a:ext uri="{FF2B5EF4-FFF2-40B4-BE49-F238E27FC236}">
                      <a16:creationId xmlns:a16="http://schemas.microsoft.com/office/drawing/2014/main" id="{12198C18-F416-9D70-735E-D56E6B3FB609}"/>
                    </a:ext>
                  </a:extLst>
                </p:cNvPr>
                <p:cNvSpPr/>
                <p:nvPr/>
              </p:nvSpPr>
              <p:spPr>
                <a:xfrm rot="6900422">
                  <a:off x="7015821" y="2753311"/>
                  <a:ext cx="1650020" cy="2029011"/>
                </a:xfrm>
                <a:custGeom>
                  <a:avLst/>
                  <a:gdLst>
                    <a:gd name="connsiteX0" fmla="*/ 0 w 1363980"/>
                    <a:gd name="connsiteY0" fmla="*/ 0 h 876300"/>
                    <a:gd name="connsiteX1" fmla="*/ 1363980 w 1363980"/>
                    <a:gd name="connsiteY1" fmla="*/ 876300 h 876300"/>
                  </a:gdLst>
                  <a:ahLst/>
                  <a:cxnLst>
                    <a:cxn ang="0">
                      <a:pos x="connsiteX0" y="connsiteY0"/>
                    </a:cxn>
                    <a:cxn ang="0">
                      <a:pos x="connsiteX1" y="connsiteY1"/>
                    </a:cxn>
                  </a:cxnLst>
                  <a:rect l="l" t="t" r="r" b="b"/>
                  <a:pathLst>
                    <a:path w="1363980" h="876300">
                      <a:moveTo>
                        <a:pt x="0" y="0"/>
                      </a:moveTo>
                      <a:cubicBezTo>
                        <a:pt x="352425" y="403860"/>
                        <a:pt x="704850" y="807720"/>
                        <a:pt x="1363980" y="876300"/>
                      </a:cubicBezTo>
                    </a:path>
                  </a:pathLst>
                </a:cu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cxnSp>
          <p:nvCxnSpPr>
            <p:cNvPr id="17" name="Gerade Verbindung 16">
              <a:extLst>
                <a:ext uri="{FF2B5EF4-FFF2-40B4-BE49-F238E27FC236}">
                  <a16:creationId xmlns:a16="http://schemas.microsoft.com/office/drawing/2014/main" id="{258A7AE5-9917-7AB7-BF6E-7C47715EBCBB}"/>
                </a:ext>
              </a:extLst>
            </p:cNvPr>
            <p:cNvCxnSpPr>
              <a:cxnSpLocks/>
            </p:cNvCxnSpPr>
            <p:nvPr/>
          </p:nvCxnSpPr>
          <p:spPr>
            <a:xfrm>
              <a:off x="5636769" y="2774023"/>
              <a:ext cx="25367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Textfeld 20">
                  <a:extLst>
                    <a:ext uri="{FF2B5EF4-FFF2-40B4-BE49-F238E27FC236}">
                      <a16:creationId xmlns:a16="http://schemas.microsoft.com/office/drawing/2014/main" id="{F7C46852-28E2-29CD-EC5E-B68BDFCF8DF6}"/>
                    </a:ext>
                  </a:extLst>
                </p:cNvPr>
                <p:cNvSpPr txBox="1"/>
                <p:nvPr/>
              </p:nvSpPr>
              <p:spPr>
                <a:xfrm>
                  <a:off x="7153182" y="2466246"/>
                  <a:ext cx="536044"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i="1" dirty="0" smtClean="0">
                            <a:solidFill>
                              <a:srgbClr val="FF0000"/>
                            </a:solidFill>
                            <a:latin typeface="Cambria Math" panose="02040503050406030204" pitchFamily="18" charset="0"/>
                          </a:rPr>
                          <m:t>𝑟</m:t>
                        </m:r>
                        <m:d>
                          <m:dPr>
                            <m:ctrlPr>
                              <a:rPr lang="de-DE" i="1" dirty="0" smtClean="0">
                                <a:solidFill>
                                  <a:srgbClr val="FF0000"/>
                                </a:solidFill>
                                <a:latin typeface="Cambria Math" panose="02040503050406030204" pitchFamily="18" charset="0"/>
                              </a:rPr>
                            </m:ctrlPr>
                          </m:dPr>
                          <m:e>
                            <m:r>
                              <a:rPr lang="de-DE" i="1" dirty="0" smtClean="0">
                                <a:solidFill>
                                  <a:srgbClr val="FF0000"/>
                                </a:solidFill>
                                <a:latin typeface="Cambria Math" panose="02040503050406030204" pitchFamily="18" charset="0"/>
                              </a:rPr>
                              <m:t>𝑡</m:t>
                            </m:r>
                          </m:e>
                        </m:d>
                      </m:oMath>
                    </m:oMathPara>
                  </a14:m>
                </a:p>
              </p:txBody>
            </p:sp>
          </mc:Choice>
          <mc:Fallback>
            <p:sp>
              <p:nvSpPr>
                <p:cNvPr id="21" name="Textfeld 20">
                  <a:extLst>
                    <a:ext uri="{FF2B5EF4-FFF2-40B4-BE49-F238E27FC236}">
                      <a16:creationId xmlns:a16="http://schemas.microsoft.com/office/drawing/2014/main" id="{F7C46852-28E2-29CD-EC5E-B68BDFCF8DF6}"/>
                    </a:ext>
                  </a:extLst>
                </p:cNvPr>
                <p:cNvSpPr txBox="1">
                  <a:spLocks noRot="1" noChangeAspect="1" noMove="1" noResize="1" noEditPoints="1" noAdjustHandles="1" noChangeArrowheads="1" noChangeShapeType="1" noTextEdit="1"/>
                </p:cNvSpPr>
                <p:nvPr/>
              </p:nvSpPr>
              <p:spPr>
                <a:xfrm>
                  <a:off x="7153182" y="2466246"/>
                  <a:ext cx="536044" cy="307777"/>
                </a:xfrm>
                <a:prstGeom prst="rect">
                  <a:avLst/>
                </a:prstGeom>
                <a:blipFill>
                  <a:blip r:embed="rId7"/>
                  <a:stretch>
                    <a:fillRect t="-4000" r="-6977" b="-24000"/>
                  </a:stretch>
                </a:blipFill>
              </p:spPr>
              <p:txBody>
                <a:bodyPr/>
                <a:lstStyle/>
                <a:p>
                  <a:r>
                    <a:rPr lang="de-DE">
                      <a:noFill/>
                    </a:rPr>
                    <a:t> </a:t>
                  </a:r>
                </a:p>
              </p:txBody>
            </p:sp>
          </mc:Fallback>
        </mc:AlternateContent>
      </p:grpSp>
      <p:grpSp>
        <p:nvGrpSpPr>
          <p:cNvPr id="23" name="Gruppieren 22">
            <a:extLst>
              <a:ext uri="{FF2B5EF4-FFF2-40B4-BE49-F238E27FC236}">
                <a16:creationId xmlns:a16="http://schemas.microsoft.com/office/drawing/2014/main" id="{BFA52363-F369-60D5-BA3D-78C1105F4C2E}"/>
              </a:ext>
            </a:extLst>
          </p:cNvPr>
          <p:cNvGrpSpPr/>
          <p:nvPr/>
        </p:nvGrpSpPr>
        <p:grpSpPr>
          <a:xfrm>
            <a:off x="4839246" y="125638"/>
            <a:ext cx="4060935" cy="1029367"/>
            <a:chOff x="4891261" y="102393"/>
            <a:chExt cx="4060935" cy="1029367"/>
          </a:xfrm>
        </p:grpSpPr>
        <p:sp>
          <p:nvSpPr>
            <p:cNvPr id="24" name="Oval 23">
              <a:extLst>
                <a:ext uri="{FF2B5EF4-FFF2-40B4-BE49-F238E27FC236}">
                  <a16:creationId xmlns:a16="http://schemas.microsoft.com/office/drawing/2014/main" id="{D1780F66-F50E-7440-E909-D18008175F88}"/>
                </a:ext>
              </a:extLst>
            </p:cNvPr>
            <p:cNvSpPr/>
            <p:nvPr/>
          </p:nvSpPr>
          <p:spPr>
            <a:xfrm>
              <a:off x="5362418" y="321780"/>
              <a:ext cx="216000" cy="216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p:cxnSp>
          <p:nvCxnSpPr>
            <p:cNvPr id="25" name="Gerade Verbindung mit Pfeil 24">
              <a:extLst>
                <a:ext uri="{FF2B5EF4-FFF2-40B4-BE49-F238E27FC236}">
                  <a16:creationId xmlns:a16="http://schemas.microsoft.com/office/drawing/2014/main" id="{68578FD4-7399-9354-379C-11EE6FBDED93}"/>
                </a:ext>
              </a:extLst>
            </p:cNvPr>
            <p:cNvCxnSpPr>
              <a:cxnSpLocks/>
            </p:cNvCxnSpPr>
            <p:nvPr/>
          </p:nvCxnSpPr>
          <p:spPr>
            <a:xfrm>
              <a:off x="8241382" y="424960"/>
              <a:ext cx="7108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uppieren 25">
              <a:extLst>
                <a:ext uri="{FF2B5EF4-FFF2-40B4-BE49-F238E27FC236}">
                  <a16:creationId xmlns:a16="http://schemas.microsoft.com/office/drawing/2014/main" id="{089E01E3-8469-4C45-FB6D-D283AB67BC19}"/>
                </a:ext>
              </a:extLst>
            </p:cNvPr>
            <p:cNvGrpSpPr/>
            <p:nvPr/>
          </p:nvGrpSpPr>
          <p:grpSpPr>
            <a:xfrm>
              <a:off x="7354668" y="164444"/>
              <a:ext cx="886714" cy="553007"/>
              <a:chOff x="2403054" y="3026666"/>
              <a:chExt cx="545710" cy="553007"/>
            </a:xfrm>
          </p:grpSpPr>
          <p:sp>
            <p:nvSpPr>
              <p:cNvPr id="38" name="Rechteck 37">
                <a:extLst>
                  <a:ext uri="{FF2B5EF4-FFF2-40B4-BE49-F238E27FC236}">
                    <a16:creationId xmlns:a16="http://schemas.microsoft.com/office/drawing/2014/main" id="{376F3098-BD57-644E-945D-68FD85491902}"/>
                  </a:ext>
                </a:extLst>
              </p:cNvPr>
              <p:cNvSpPr/>
              <p:nvPr/>
            </p:nvSpPr>
            <p:spPr>
              <a:xfrm>
                <a:off x="2403054" y="3026666"/>
                <a:ext cx="545710"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CCD3691C-B6AB-C4F7-F8B5-536DD4F52D3A}"/>
                      </a:ext>
                    </a:extLst>
                  </p:cNvPr>
                  <p:cNvSpPr txBox="1"/>
                  <p:nvPr/>
                </p:nvSpPr>
                <p:spPr>
                  <a:xfrm>
                    <a:off x="2459135" y="3107336"/>
                    <a:ext cx="4219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cs typeface="Segoe UI" panose="020B0502040204020203" pitchFamily="34" charset="0"/>
                            </a:rPr>
                            <m:t>𝑃</m:t>
                          </m:r>
                          <m:r>
                            <a:rPr lang="en-US" sz="1800" b="0" i="1" noProof="0" smtClean="0">
                              <a:latin typeface="Cambria Math" panose="02040503050406030204" pitchFamily="18" charset="0"/>
                              <a:cs typeface="Segoe UI" panose="020B0502040204020203" pitchFamily="34" charset="0"/>
                            </a:rPr>
                            <m:t>(</m:t>
                          </m:r>
                          <m:r>
                            <m:rPr>
                              <m:sty m:val="p"/>
                            </m:rPr>
                            <a:rPr lang="en-US" sz="1800" b="0" i="1" noProof="0" smtClean="0">
                              <a:latin typeface="Cambria Math" panose="02040503050406030204" pitchFamily="18" charset="0"/>
                              <a:cs typeface="Segoe UI" panose="020B0502040204020203" pitchFamily="34" charset="0"/>
                            </a:rPr>
                            <m:t>s</m:t>
                          </m:r>
                          <m:r>
                            <a:rPr lang="en-US" sz="1800" b="0" i="1" noProof="0" smtClean="0">
                              <a:latin typeface="Cambria Math" panose="02040503050406030204" pitchFamily="18" charset="0"/>
                              <a:cs typeface="Segoe UI" panose="020B0502040204020203" pitchFamily="34" charset="0"/>
                            </a:rPr>
                            <m:t>)</m:t>
                          </m:r>
                        </m:oMath>
                      </m:oMathPara>
                    </a14:m>
                    <a:endParaRPr lang="en-US" noProof="0"/>
                  </a:p>
                </p:txBody>
              </p:sp>
            </mc:Choice>
            <mc:Fallback xmlns="">
              <p:sp>
                <p:nvSpPr>
                  <p:cNvPr id="10" name="Textfeld 9">
                    <a:extLst>
                      <a:ext uri="{FF2B5EF4-FFF2-40B4-BE49-F238E27FC236}">
                        <a16:creationId xmlns:a16="http://schemas.microsoft.com/office/drawing/2014/main" id="{1842A42C-A9C8-4B70-B04E-FCD5E70A37F6}"/>
                      </a:ext>
                    </a:extLst>
                  </p:cNvPr>
                  <p:cNvSpPr txBox="1">
                    <a:spLocks noRot="1" noChangeAspect="1" noMove="1" noResize="1" noEditPoints="1" noAdjustHandles="1" noChangeArrowheads="1" noChangeShapeType="1" noTextEdit="1"/>
                  </p:cNvSpPr>
                  <p:nvPr/>
                </p:nvSpPr>
                <p:spPr>
                  <a:xfrm>
                    <a:off x="2459135" y="3107336"/>
                    <a:ext cx="421972" cy="369332"/>
                  </a:xfrm>
                  <a:prstGeom prst="rect">
                    <a:avLst/>
                  </a:prstGeom>
                  <a:blipFill>
                    <a:blip r:embed="rId8"/>
                    <a:stretch>
                      <a:fillRect b="-14754"/>
                    </a:stretch>
                  </a:blipFill>
                </p:spPr>
                <p:txBody>
                  <a:bodyPr/>
                  <a:lstStyle/>
                  <a:p>
                    <a:r>
                      <a:rPr lang="en-US">
                        <a:noFill/>
                      </a:rPr>
                      <a:t> </a:t>
                    </a:r>
                  </a:p>
                </p:txBody>
              </p:sp>
            </mc:Fallback>
          </mc:AlternateContent>
        </p:grpSp>
        <p:grpSp>
          <p:nvGrpSpPr>
            <p:cNvPr id="27" name="Gruppieren 26">
              <a:extLst>
                <a:ext uri="{FF2B5EF4-FFF2-40B4-BE49-F238E27FC236}">
                  <a16:creationId xmlns:a16="http://schemas.microsoft.com/office/drawing/2014/main" id="{00293CF5-40F8-68E5-5487-D9ADAA337FF7}"/>
                </a:ext>
              </a:extLst>
            </p:cNvPr>
            <p:cNvGrpSpPr/>
            <p:nvPr/>
          </p:nvGrpSpPr>
          <p:grpSpPr>
            <a:xfrm>
              <a:off x="6014915" y="164444"/>
              <a:ext cx="943472" cy="553007"/>
              <a:chOff x="2676164" y="3940223"/>
              <a:chExt cx="587951" cy="553007"/>
            </a:xfrm>
          </p:grpSpPr>
          <p:sp>
            <p:nvSpPr>
              <p:cNvPr id="36" name="Rechteck 35">
                <a:extLst>
                  <a:ext uri="{FF2B5EF4-FFF2-40B4-BE49-F238E27FC236}">
                    <a16:creationId xmlns:a16="http://schemas.microsoft.com/office/drawing/2014/main" id="{D208065F-DD15-C994-FEFC-F35814C9A7DA}"/>
                  </a:ext>
                </a:extLst>
              </p:cNvPr>
              <p:cNvSpPr/>
              <p:nvPr/>
            </p:nvSpPr>
            <p:spPr>
              <a:xfrm>
                <a:off x="2676164" y="3940223"/>
                <a:ext cx="587951" cy="553007"/>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p>
            </p:txBody>
          </p:sp>
          <mc:AlternateContent xmlns:mc="http://schemas.openxmlformats.org/markup-compatibility/2006">
            <mc:Choice xmlns:a14="http://schemas.microsoft.com/office/drawing/2010/main" Requires="a14">
              <p:sp>
                <p:nvSpPr>
                  <p:cNvPr id="37" name="Textfeld 36">
                    <a:extLst>
                      <a:ext uri="{FF2B5EF4-FFF2-40B4-BE49-F238E27FC236}">
                        <a16:creationId xmlns:a16="http://schemas.microsoft.com/office/drawing/2014/main" id="{16D33AEE-433F-151D-9393-EBB3ED680828}"/>
                      </a:ext>
                    </a:extLst>
                  </p:cNvPr>
                  <p:cNvSpPr txBox="1"/>
                  <p:nvPr/>
                </p:nvSpPr>
                <p:spPr>
                  <a:xfrm>
                    <a:off x="2769897" y="4038240"/>
                    <a:ext cx="4285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CH" sz="1800" b="0" i="1" noProof="0" smtClean="0">
                              <a:latin typeface="Cambria Math" panose="02040503050406030204" pitchFamily="18" charset="0"/>
                              <a:cs typeface="Segoe UI" panose="020B0502040204020203" pitchFamily="34" charset="0"/>
                            </a:rPr>
                            <m:t>𝐶</m:t>
                          </m:r>
                          <m:d>
                            <m:dPr>
                              <m:ctrlPr>
                                <a:rPr lang="de-CH" sz="1800" b="0" i="1" noProof="0" smtClean="0">
                                  <a:latin typeface="Cambria Math" panose="02040503050406030204" pitchFamily="18" charset="0"/>
                                  <a:cs typeface="Segoe UI" panose="020B0502040204020203" pitchFamily="34" charset="0"/>
                                </a:rPr>
                              </m:ctrlPr>
                            </m:dPr>
                            <m:e>
                              <m:r>
                                <a:rPr lang="de-CH" sz="1800" b="0" i="1" noProof="0" smtClean="0">
                                  <a:latin typeface="Cambria Math" panose="02040503050406030204" pitchFamily="18" charset="0"/>
                                  <a:cs typeface="Segoe UI" panose="020B0502040204020203" pitchFamily="34" charset="0"/>
                                </a:rPr>
                                <m:t>𝑠</m:t>
                              </m:r>
                            </m:e>
                          </m:d>
                        </m:oMath>
                      </m:oMathPara>
                    </a14:m>
                  </a:p>
                </p:txBody>
              </p:sp>
            </mc:Choice>
            <mc:Fallback>
              <p:sp>
                <p:nvSpPr>
                  <p:cNvPr id="37" name="Textfeld 36">
                    <a:extLst>
                      <a:ext uri="{FF2B5EF4-FFF2-40B4-BE49-F238E27FC236}">
                        <a16:creationId xmlns:a16="http://schemas.microsoft.com/office/drawing/2014/main" id="{16D33AEE-433F-151D-9393-EBB3ED680828}"/>
                      </a:ext>
                    </a:extLst>
                  </p:cNvPr>
                  <p:cNvSpPr txBox="1">
                    <a:spLocks noRot="1" noChangeAspect="1" noMove="1" noResize="1" noEditPoints="1" noAdjustHandles="1" noChangeArrowheads="1" noChangeShapeType="1" noTextEdit="1"/>
                  </p:cNvSpPr>
                  <p:nvPr/>
                </p:nvSpPr>
                <p:spPr>
                  <a:xfrm>
                    <a:off x="2769897" y="4038240"/>
                    <a:ext cx="428552" cy="369332"/>
                  </a:xfrm>
                  <a:prstGeom prst="rect">
                    <a:avLst/>
                  </a:prstGeom>
                  <a:blipFill>
                    <a:blip r:embed="rId9"/>
                    <a:stretch>
                      <a:fillRect t="-6667" r="-10909" b="-26667"/>
                    </a:stretch>
                  </a:blipFill>
                </p:spPr>
                <p:txBody>
                  <a:bodyPr/>
                  <a:lstStyle/>
                  <a:p>
                    <a:r>
                      <a:rPr lang="de-DE">
                        <a:noFill/>
                      </a:rPr>
                      <a:t> </a:t>
                    </a:r>
                  </a:p>
                </p:txBody>
              </p:sp>
            </mc:Fallback>
          </mc:AlternateContent>
        </p:grpSp>
        <p:cxnSp>
          <p:nvCxnSpPr>
            <p:cNvPr id="28" name="Gerade Verbindung mit Pfeil 27">
              <a:extLst>
                <a:ext uri="{FF2B5EF4-FFF2-40B4-BE49-F238E27FC236}">
                  <a16:creationId xmlns:a16="http://schemas.microsoft.com/office/drawing/2014/main" id="{BFA4CD57-7852-3420-333B-714C50E8345D}"/>
                </a:ext>
              </a:extLst>
            </p:cNvPr>
            <p:cNvCxnSpPr>
              <a:cxnSpLocks/>
              <a:endCxn id="36" idx="1"/>
            </p:cNvCxnSpPr>
            <p:nvPr/>
          </p:nvCxnSpPr>
          <p:spPr>
            <a:xfrm>
              <a:off x="5573194" y="440947"/>
              <a:ext cx="44172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287B9DF3-7E34-CCF6-F495-C6DA0C449E6C}"/>
                </a:ext>
              </a:extLst>
            </p:cNvPr>
            <p:cNvCxnSpPr>
              <a:cxnSpLocks/>
            </p:cNvCxnSpPr>
            <p:nvPr/>
          </p:nvCxnSpPr>
          <p:spPr>
            <a:xfrm>
              <a:off x="4891261" y="427669"/>
              <a:ext cx="471157" cy="21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63865294-60DB-4D59-8AAC-C2EE974426AA}"/>
                    </a:ext>
                  </a:extLst>
                </p:cNvPr>
                <p:cNvSpPr txBox="1"/>
                <p:nvPr/>
              </p:nvSpPr>
              <p:spPr>
                <a:xfrm>
                  <a:off x="5242885" y="12694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𝑒</m:t>
                        </m:r>
                      </m:oMath>
                    </m:oMathPara>
                  </a14:m>
                  <a:endParaRPr lang="en-US" sz="1600" noProof="0"/>
                </a:p>
              </p:txBody>
            </p:sp>
          </mc:Choice>
          <mc:Fallback xmlns="">
            <p:sp>
              <p:nvSpPr>
                <p:cNvPr id="16" name="Textfeld 15">
                  <a:extLst>
                    <a:ext uri="{FF2B5EF4-FFF2-40B4-BE49-F238E27FC236}">
                      <a16:creationId xmlns:a16="http://schemas.microsoft.com/office/drawing/2014/main" id="{702866DB-22BD-7A9D-03C1-D9D40C262809}"/>
                    </a:ext>
                  </a:extLst>
                </p:cNvPr>
                <p:cNvSpPr txBox="1">
                  <a:spLocks noRot="1" noChangeAspect="1" noMove="1" noResize="1" noEditPoints="1" noAdjustHandles="1" noChangeArrowheads="1" noChangeShapeType="1" noTextEdit="1"/>
                </p:cNvSpPr>
                <p:nvPr/>
              </p:nvSpPr>
              <p:spPr>
                <a:xfrm>
                  <a:off x="5242885" y="126943"/>
                  <a:ext cx="1041569" cy="3385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43EC32D5-91AA-8387-9AEA-A25A08BDBB7C}"/>
                    </a:ext>
                  </a:extLst>
                </p:cNvPr>
                <p:cNvSpPr txBox="1"/>
                <p:nvPr/>
              </p:nvSpPr>
              <p:spPr>
                <a:xfrm>
                  <a:off x="6640490" y="102393"/>
                  <a:ext cx="104156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noProof="0" smtClean="0">
                            <a:latin typeface="Cambria Math" panose="02040503050406030204" pitchFamily="18" charset="0"/>
                          </a:rPr>
                          <m:t> </m:t>
                        </m:r>
                        <m:r>
                          <a:rPr lang="en-US" sz="1600" b="0" i="1" noProof="0" smtClean="0">
                            <a:latin typeface="Cambria Math" panose="02040503050406030204" pitchFamily="18" charset="0"/>
                          </a:rPr>
                          <m:t>𝑢</m:t>
                        </m:r>
                      </m:oMath>
                    </m:oMathPara>
                  </a14:m>
                  <a:endParaRPr lang="en-US" sz="1600" noProof="0"/>
                </a:p>
              </p:txBody>
            </p:sp>
          </mc:Choice>
          <mc:Fallback xmlns="">
            <p:sp>
              <p:nvSpPr>
                <p:cNvPr id="17" name="Textfeld 16">
                  <a:extLst>
                    <a:ext uri="{FF2B5EF4-FFF2-40B4-BE49-F238E27FC236}">
                      <a16:creationId xmlns:a16="http://schemas.microsoft.com/office/drawing/2014/main" id="{38CEF287-BE15-D8B6-350C-AB70D1D2F6A1}"/>
                    </a:ext>
                  </a:extLst>
                </p:cNvPr>
                <p:cNvSpPr txBox="1">
                  <a:spLocks noRot="1" noChangeAspect="1" noMove="1" noResize="1" noEditPoints="1" noAdjustHandles="1" noChangeArrowheads="1" noChangeShapeType="1" noTextEdit="1"/>
                </p:cNvSpPr>
                <p:nvPr/>
              </p:nvSpPr>
              <p:spPr>
                <a:xfrm>
                  <a:off x="6640490" y="102393"/>
                  <a:ext cx="1041569" cy="338554"/>
                </a:xfrm>
                <a:prstGeom prst="rect">
                  <a:avLst/>
                </a:prstGeom>
                <a:blipFill>
                  <a:blip r:embed="rId10"/>
                  <a:stretch>
                    <a:fillRect/>
                  </a:stretch>
                </a:blipFill>
              </p:spPr>
              <p:txBody>
                <a:bodyPr/>
                <a:lstStyle/>
                <a:p>
                  <a:r>
                    <a:rPr lang="en-US">
                      <a:noFill/>
                    </a:rPr>
                    <a:t> </a:t>
                  </a:r>
                </a:p>
              </p:txBody>
            </p:sp>
          </mc:Fallback>
        </mc:AlternateContent>
        <p:cxnSp>
          <p:nvCxnSpPr>
            <p:cNvPr id="32" name="Gerade Verbindung mit Pfeil 31">
              <a:extLst>
                <a:ext uri="{FF2B5EF4-FFF2-40B4-BE49-F238E27FC236}">
                  <a16:creationId xmlns:a16="http://schemas.microsoft.com/office/drawing/2014/main" id="{99BC5C06-BD85-E902-8572-6D4A5174A377}"/>
                </a:ext>
              </a:extLst>
            </p:cNvPr>
            <p:cNvCxnSpPr>
              <a:cxnSpLocks/>
            </p:cNvCxnSpPr>
            <p:nvPr/>
          </p:nvCxnSpPr>
          <p:spPr>
            <a:xfrm>
              <a:off x="6968970" y="415816"/>
              <a:ext cx="359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32">
              <a:extLst>
                <a:ext uri="{FF2B5EF4-FFF2-40B4-BE49-F238E27FC236}">
                  <a16:creationId xmlns:a16="http://schemas.microsoft.com/office/drawing/2014/main" id="{FEE00A69-2BBF-A286-4A6F-9FCB425C2706}"/>
                </a:ext>
              </a:extLst>
            </p:cNvPr>
            <p:cNvCxnSpPr>
              <a:cxnSpLocks/>
            </p:cNvCxnSpPr>
            <p:nvPr/>
          </p:nvCxnSpPr>
          <p:spPr>
            <a:xfrm>
              <a:off x="8515349" y="424960"/>
              <a:ext cx="0" cy="706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5D452D58-6F13-1CA9-4DCE-DE3B0432697B}"/>
                    </a:ext>
                  </a:extLst>
                </p:cNvPr>
                <p:cNvSpPr txBox="1"/>
                <p:nvPr/>
              </p:nvSpPr>
              <p:spPr>
                <a:xfrm>
                  <a:off x="5105406" y="406794"/>
                  <a:ext cx="10415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noProof="0" smtClean="0">
                            <a:latin typeface="Cambria Math" panose="02040503050406030204" pitchFamily="18" charset="0"/>
                          </a:rPr>
                          <m:t> </m:t>
                        </m:r>
                        <m:r>
                          <a:rPr lang="en-US" sz="1800" b="0" i="1" noProof="0" smtClean="0">
                            <a:latin typeface="Cambria Math" panose="02040503050406030204" pitchFamily="18" charset="0"/>
                          </a:rPr>
                          <m:t>−</m:t>
                        </m:r>
                      </m:oMath>
                    </m:oMathPara>
                  </a14:m>
                  <a:endParaRPr lang="en-US" sz="1800" noProof="0"/>
                </a:p>
              </p:txBody>
            </p:sp>
          </mc:Choice>
          <mc:Fallback xmlns="">
            <p:sp>
              <p:nvSpPr>
                <p:cNvPr id="20" name="Textfeld 19">
                  <a:extLst>
                    <a:ext uri="{FF2B5EF4-FFF2-40B4-BE49-F238E27FC236}">
                      <a16:creationId xmlns:a16="http://schemas.microsoft.com/office/drawing/2014/main" id="{3BEFB96A-C30C-A3B5-8810-CE29A3E94A98}"/>
                    </a:ext>
                  </a:extLst>
                </p:cNvPr>
                <p:cNvSpPr txBox="1">
                  <a:spLocks noRot="1" noChangeAspect="1" noMove="1" noResize="1" noEditPoints="1" noAdjustHandles="1" noChangeArrowheads="1" noChangeShapeType="1" noTextEdit="1"/>
                </p:cNvSpPr>
                <p:nvPr/>
              </p:nvSpPr>
              <p:spPr>
                <a:xfrm>
                  <a:off x="5105406" y="406794"/>
                  <a:ext cx="1041569" cy="369332"/>
                </a:xfrm>
                <a:prstGeom prst="rect">
                  <a:avLst/>
                </a:prstGeom>
                <a:blipFill>
                  <a:blip r:embed="rId11"/>
                  <a:stretch>
                    <a:fillRect/>
                  </a:stretch>
                </a:blipFill>
              </p:spPr>
              <p:txBody>
                <a:bodyPr/>
                <a:lstStyle/>
                <a:p>
                  <a:r>
                    <a:rPr lang="en-US">
                      <a:noFill/>
                    </a:rPr>
                    <a:t> </a:t>
                  </a:r>
                </a:p>
              </p:txBody>
            </p:sp>
          </mc:Fallback>
        </mc:AlternateContent>
        <p:cxnSp>
          <p:nvCxnSpPr>
            <p:cNvPr id="35" name="Gewinkelte Verbindung 34">
              <a:extLst>
                <a:ext uri="{FF2B5EF4-FFF2-40B4-BE49-F238E27FC236}">
                  <a16:creationId xmlns:a16="http://schemas.microsoft.com/office/drawing/2014/main" id="{7CFA5A9C-B029-979A-F2F1-5A92871F0CE2}"/>
                </a:ext>
              </a:extLst>
            </p:cNvPr>
            <p:cNvCxnSpPr/>
            <p:nvPr/>
          </p:nvCxnSpPr>
          <p:spPr>
            <a:xfrm rot="10800000">
              <a:off x="5470419" y="537780"/>
              <a:ext cx="3044931" cy="593980"/>
            </a:xfrm>
            <a:prstGeom prst="bentConnector3">
              <a:avLst>
                <a:gd name="adj1" fmla="val 10005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0" name="Textfeld 39">
                <a:extLst>
                  <a:ext uri="{FF2B5EF4-FFF2-40B4-BE49-F238E27FC236}">
                    <a16:creationId xmlns:a16="http://schemas.microsoft.com/office/drawing/2014/main" id="{87EBE237-8394-C8C7-4BAD-5E0E11488873}"/>
                  </a:ext>
                </a:extLst>
              </p:cNvPr>
              <p:cNvSpPr txBox="1"/>
              <p:nvPr/>
            </p:nvSpPr>
            <p:spPr>
              <a:xfrm>
                <a:off x="4888040" y="119410"/>
                <a:ext cx="323294"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i="1" dirty="0" smtClean="0">
                          <a:latin typeface="Cambria Math" panose="02040503050406030204" pitchFamily="18" charset="0"/>
                        </a:rPr>
                        <m:t>𝑟</m:t>
                      </m:r>
                    </m:oMath>
                  </m:oMathPara>
                </a14:m>
                <a:endParaRPr lang="de-DE" dirty="0"/>
              </a:p>
            </p:txBody>
          </p:sp>
        </mc:Choice>
        <mc:Fallback>
          <p:sp>
            <p:nvSpPr>
              <p:cNvPr id="40" name="Textfeld 39">
                <a:extLst>
                  <a:ext uri="{FF2B5EF4-FFF2-40B4-BE49-F238E27FC236}">
                    <a16:creationId xmlns:a16="http://schemas.microsoft.com/office/drawing/2014/main" id="{87EBE237-8394-C8C7-4BAD-5E0E11488873}"/>
                  </a:ext>
                </a:extLst>
              </p:cNvPr>
              <p:cNvSpPr txBox="1">
                <a:spLocks noRot="1" noChangeAspect="1" noMove="1" noResize="1" noEditPoints="1" noAdjustHandles="1" noChangeArrowheads="1" noChangeShapeType="1" noTextEdit="1"/>
              </p:cNvSpPr>
              <p:nvPr/>
            </p:nvSpPr>
            <p:spPr>
              <a:xfrm>
                <a:off x="4888040" y="119410"/>
                <a:ext cx="323294" cy="307777"/>
              </a:xfrm>
              <a:prstGeom prst="rect">
                <a:avLst/>
              </a:prstGeom>
              <a:blipFill>
                <a:blip r:embed="rId12"/>
                <a:stretch>
                  <a:fillRect/>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1" name="Textfeld 40">
                <a:extLst>
                  <a:ext uri="{FF2B5EF4-FFF2-40B4-BE49-F238E27FC236}">
                    <a16:creationId xmlns:a16="http://schemas.microsoft.com/office/drawing/2014/main" id="{C4FDB664-AC93-A46F-3EA3-CA67F5450B27}"/>
                  </a:ext>
                </a:extLst>
              </p:cNvPr>
              <p:cNvSpPr txBox="1"/>
              <p:nvPr/>
            </p:nvSpPr>
            <p:spPr>
              <a:xfrm>
                <a:off x="8491406" y="140428"/>
                <a:ext cx="338426"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CH" b="0" i="1" dirty="0" smtClean="0">
                          <a:latin typeface="Cambria Math" panose="02040503050406030204" pitchFamily="18" charset="0"/>
                        </a:rPr>
                        <m:t>𝑦</m:t>
                      </m:r>
                    </m:oMath>
                  </m:oMathPara>
                </a14:m>
                <a:endParaRPr lang="de-DE" dirty="0"/>
              </a:p>
            </p:txBody>
          </p:sp>
        </mc:Choice>
        <mc:Fallback>
          <p:sp>
            <p:nvSpPr>
              <p:cNvPr id="41" name="Textfeld 40">
                <a:extLst>
                  <a:ext uri="{FF2B5EF4-FFF2-40B4-BE49-F238E27FC236}">
                    <a16:creationId xmlns:a16="http://schemas.microsoft.com/office/drawing/2014/main" id="{C4FDB664-AC93-A46F-3EA3-CA67F5450B27}"/>
                  </a:ext>
                </a:extLst>
              </p:cNvPr>
              <p:cNvSpPr txBox="1">
                <a:spLocks noRot="1" noChangeAspect="1" noMove="1" noResize="1" noEditPoints="1" noAdjustHandles="1" noChangeArrowheads="1" noChangeShapeType="1" noTextEdit="1"/>
              </p:cNvSpPr>
              <p:nvPr/>
            </p:nvSpPr>
            <p:spPr>
              <a:xfrm>
                <a:off x="8491406" y="140428"/>
                <a:ext cx="338426" cy="307777"/>
              </a:xfrm>
              <a:prstGeom prst="rect">
                <a:avLst/>
              </a:prstGeom>
              <a:blipFill>
                <a:blip r:embed="rId13"/>
                <a:stretch>
                  <a:fillRect b="-4000"/>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2" name="Textfeld 41">
                <a:extLst>
                  <a:ext uri="{FF2B5EF4-FFF2-40B4-BE49-F238E27FC236}">
                    <a16:creationId xmlns:a16="http://schemas.microsoft.com/office/drawing/2014/main" id="{83CBD093-E2F3-86EE-C764-212D9A01A6AE}"/>
                  </a:ext>
                </a:extLst>
              </p:cNvPr>
              <p:cNvSpPr txBox="1"/>
              <p:nvPr/>
            </p:nvSpPr>
            <p:spPr>
              <a:xfrm>
                <a:off x="188276" y="2584955"/>
                <a:ext cx="4163261" cy="65934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de-CH" sz="1600" i="1" dirty="0" smtClean="0">
                              <a:latin typeface="Cambria Math" panose="02040503050406030204" pitchFamily="18" charset="0"/>
                            </a:rPr>
                          </m:ctrlPr>
                        </m:sSubPr>
                        <m:e>
                          <m:r>
                            <a:rPr lang="de-CH" sz="1600" i="1" dirty="0" smtClean="0">
                              <a:latin typeface="Cambria Math" panose="02040503050406030204" pitchFamily="18" charset="0"/>
                            </a:rPr>
                            <m:t>𝑒</m:t>
                          </m:r>
                        </m:e>
                        <m:sub>
                          <m:r>
                            <a:rPr lang="de-CH" sz="1600" i="1" dirty="0" err="1">
                              <a:latin typeface="Cambria Math" panose="02040503050406030204" pitchFamily="18" charset="0"/>
                            </a:rPr>
                            <m:t>𝑠𝑠</m:t>
                          </m:r>
                        </m:sub>
                      </m:sSub>
                      <m:r>
                        <a:rPr lang="de-CH" sz="1600" i="1" dirty="0">
                          <a:latin typeface="Cambria Math" panose="02040503050406030204" pitchFamily="18" charset="0"/>
                        </a:rPr>
                        <m:t>=</m:t>
                      </m:r>
                      <m:func>
                        <m:funcPr>
                          <m:ctrlPr>
                            <a:rPr lang="de-CH" sz="1600" i="1" dirty="0">
                              <a:latin typeface="Cambria Math" panose="02040503050406030204" pitchFamily="18" charset="0"/>
                            </a:rPr>
                          </m:ctrlPr>
                        </m:funcPr>
                        <m:fName>
                          <m:limLow>
                            <m:limLowPr>
                              <m:ctrlPr>
                                <a:rPr lang="de-CH" sz="1600" i="1" dirty="0">
                                  <a:latin typeface="Cambria Math" panose="02040503050406030204" pitchFamily="18" charset="0"/>
                                </a:rPr>
                              </m:ctrlPr>
                            </m:limLowPr>
                            <m:e>
                              <m:r>
                                <m:rPr>
                                  <m:sty m:val="p"/>
                                </m:rPr>
                                <a:rPr lang="de-CH" sz="1600" i="0" dirty="0" err="1">
                                  <a:latin typeface="Cambria Math" panose="02040503050406030204" pitchFamily="18" charset="0"/>
                                </a:rPr>
                                <m:t>lim</m:t>
                              </m:r>
                            </m:e>
                            <m:lim>
                              <m:r>
                                <a:rPr lang="de-CH" sz="1600" i="1" dirty="0">
                                  <a:latin typeface="Cambria Math" panose="02040503050406030204" pitchFamily="18" charset="0"/>
                                </a:rPr>
                                <m:t>𝑡</m:t>
                              </m:r>
                              <m:r>
                                <a:rPr lang="de-CH" sz="1600" i="1" dirty="0">
                                  <a:latin typeface="Cambria Math" panose="02040503050406030204" pitchFamily="18" charset="0"/>
                                </a:rPr>
                                <m:t>→∞</m:t>
                              </m:r>
                            </m:lim>
                          </m:limLow>
                        </m:fName>
                        <m:e>
                          <m:r>
                            <a:rPr lang="de-CH" sz="1600" i="1" dirty="0" err="1">
                              <a:latin typeface="Cambria Math" panose="02040503050406030204" pitchFamily="18" charset="0"/>
                            </a:rPr>
                            <m:t>𝑒</m:t>
                          </m:r>
                        </m:e>
                      </m:func>
                      <m:d>
                        <m:dPr>
                          <m:ctrlPr>
                            <a:rPr lang="de-CH" sz="1600" i="1" dirty="0">
                              <a:latin typeface="Cambria Math" panose="02040503050406030204" pitchFamily="18" charset="0"/>
                            </a:rPr>
                          </m:ctrlPr>
                        </m:dPr>
                        <m:e>
                          <m:r>
                            <a:rPr lang="de-CH" sz="1600" i="1" dirty="0">
                              <a:latin typeface="Cambria Math" panose="02040503050406030204" pitchFamily="18" charset="0"/>
                            </a:rPr>
                            <m:t>𝑡</m:t>
                          </m:r>
                        </m:e>
                      </m:d>
                      <m:r>
                        <a:rPr lang="de-CH" sz="1600" i="1" dirty="0" smtClean="0">
                          <a:latin typeface="Cambria Math" panose="02040503050406030204" pitchFamily="18" charset="0"/>
                        </a:rPr>
                        <m:t>=</m:t>
                      </m:r>
                      <m:func>
                        <m:funcPr>
                          <m:ctrlPr>
                            <a:rPr lang="de-CH" sz="1600" i="1" dirty="0" smtClean="0">
                              <a:latin typeface="Cambria Math" panose="02040503050406030204" pitchFamily="18" charset="0"/>
                            </a:rPr>
                          </m:ctrlPr>
                        </m:funcPr>
                        <m:fName>
                          <m:limLow>
                            <m:limLowPr>
                              <m:ctrlPr>
                                <a:rPr lang="de-CH" sz="1600" i="1" dirty="0" smtClean="0">
                                  <a:latin typeface="Cambria Math" panose="02040503050406030204" pitchFamily="18" charset="0"/>
                                </a:rPr>
                              </m:ctrlPr>
                            </m:limLowPr>
                            <m:e>
                              <m:r>
                                <m:rPr>
                                  <m:sty m:val="p"/>
                                </m:rPr>
                                <a:rPr lang="de-CH" sz="1600" i="0" dirty="0" err="1">
                                  <a:latin typeface="Cambria Math" panose="02040503050406030204" pitchFamily="18" charset="0"/>
                                </a:rPr>
                                <m:t>lim</m:t>
                              </m:r>
                            </m:e>
                            <m:lim>
                              <m:r>
                                <a:rPr lang="de-CH" sz="1600" i="1" dirty="0">
                                  <a:latin typeface="Cambria Math" panose="02040503050406030204" pitchFamily="18" charset="0"/>
                                </a:rPr>
                                <m:t>𝑠</m:t>
                              </m:r>
                              <m:r>
                                <a:rPr lang="de-CH" sz="1600" i="1" dirty="0">
                                  <a:latin typeface="Cambria Math" panose="02040503050406030204" pitchFamily="18" charset="0"/>
                                </a:rPr>
                                <m:t>→0</m:t>
                              </m:r>
                            </m:lim>
                          </m:limLow>
                        </m:fName>
                        <m:e>
                          <m:r>
                            <a:rPr lang="de-CH" sz="1600" i="1" dirty="0">
                              <a:latin typeface="Cambria Math" panose="02040503050406030204" pitchFamily="18" charset="0"/>
                            </a:rPr>
                            <m:t>𝑠</m:t>
                          </m:r>
                        </m:e>
                      </m:func>
                      <m:r>
                        <a:rPr lang="de-CH" sz="1600" i="1" dirty="0">
                          <a:latin typeface="Cambria Math" panose="02040503050406030204" pitchFamily="18" charset="0"/>
                        </a:rPr>
                        <m:t>𝐸</m:t>
                      </m:r>
                      <m:d>
                        <m:dPr>
                          <m:ctrlPr>
                            <a:rPr lang="de-CH" sz="1600" i="1" dirty="0">
                              <a:latin typeface="Cambria Math" panose="02040503050406030204" pitchFamily="18" charset="0"/>
                            </a:rPr>
                          </m:ctrlPr>
                        </m:dPr>
                        <m:e>
                          <m:r>
                            <a:rPr lang="de-CH" sz="1600" i="1" dirty="0">
                              <a:latin typeface="Cambria Math" panose="02040503050406030204" pitchFamily="18" charset="0"/>
                            </a:rPr>
                            <m:t>𝑠</m:t>
                          </m:r>
                        </m:e>
                      </m:d>
                      <m:r>
                        <a:rPr lang="de-CH" sz="1600" i="1" dirty="0" smtClean="0">
                          <a:latin typeface="Cambria Math" panose="02040503050406030204" pitchFamily="18" charset="0"/>
                        </a:rPr>
                        <m:t>=</m:t>
                      </m:r>
                      <m:func>
                        <m:funcPr>
                          <m:ctrlPr>
                            <a:rPr lang="de-CH" sz="1600" i="1" dirty="0" smtClean="0">
                              <a:latin typeface="Cambria Math" panose="02040503050406030204" pitchFamily="18" charset="0"/>
                            </a:rPr>
                          </m:ctrlPr>
                        </m:funcPr>
                        <m:fName>
                          <m:limLow>
                            <m:limLowPr>
                              <m:ctrlPr>
                                <a:rPr lang="de-CH" sz="1600" i="1" dirty="0" smtClean="0">
                                  <a:latin typeface="Cambria Math" panose="02040503050406030204" pitchFamily="18" charset="0"/>
                                </a:rPr>
                              </m:ctrlPr>
                            </m:limLowPr>
                            <m:e>
                              <m:r>
                                <m:rPr>
                                  <m:sty m:val="p"/>
                                </m:rPr>
                                <a:rPr lang="de-CH" sz="1600" i="0" dirty="0" err="1">
                                  <a:latin typeface="Cambria Math" panose="02040503050406030204" pitchFamily="18" charset="0"/>
                                </a:rPr>
                                <m:t>lim</m:t>
                              </m:r>
                            </m:e>
                            <m:lim>
                              <m:r>
                                <a:rPr lang="de-CH" sz="1600" i="1" dirty="0">
                                  <a:latin typeface="Cambria Math" panose="02040503050406030204" pitchFamily="18" charset="0"/>
                                </a:rPr>
                                <m:t>𝑠</m:t>
                              </m:r>
                              <m:r>
                                <a:rPr lang="de-CH" sz="1600" i="1" dirty="0">
                                  <a:latin typeface="Cambria Math" panose="02040503050406030204" pitchFamily="18" charset="0"/>
                                </a:rPr>
                                <m:t>→0</m:t>
                              </m:r>
                            </m:lim>
                          </m:limLow>
                        </m:fName>
                        <m:e>
                          <m:r>
                            <a:rPr lang="de-CH" sz="1600" i="1" dirty="0">
                              <a:latin typeface="Cambria Math" panose="02040503050406030204" pitchFamily="18" charset="0"/>
                            </a:rPr>
                            <m:t>𝑠</m:t>
                          </m:r>
                        </m:e>
                      </m:func>
                      <m:r>
                        <a:rPr lang="de-CH" sz="1600" i="1" dirty="0">
                          <a:latin typeface="Cambria Math" panose="02040503050406030204" pitchFamily="18" charset="0"/>
                        </a:rPr>
                        <m:t>𝑆</m:t>
                      </m:r>
                      <m:d>
                        <m:dPr>
                          <m:ctrlPr>
                            <a:rPr lang="de-CH" sz="1600" i="1" dirty="0">
                              <a:latin typeface="Cambria Math" panose="02040503050406030204" pitchFamily="18" charset="0"/>
                            </a:rPr>
                          </m:ctrlPr>
                        </m:dPr>
                        <m:e>
                          <m:r>
                            <a:rPr lang="de-CH" sz="1600" i="1" dirty="0">
                              <a:latin typeface="Cambria Math" panose="02040503050406030204" pitchFamily="18" charset="0"/>
                            </a:rPr>
                            <m:t>𝑠</m:t>
                          </m:r>
                        </m:e>
                      </m:d>
                      <m:r>
                        <a:rPr lang="de-CH" sz="1600" i="1" dirty="0">
                          <a:latin typeface="Cambria Math" panose="02040503050406030204" pitchFamily="18" charset="0"/>
                        </a:rPr>
                        <m:t>𝑅</m:t>
                      </m:r>
                      <m:d>
                        <m:dPr>
                          <m:ctrlPr>
                            <a:rPr lang="de-CH" sz="1600" i="1" dirty="0">
                              <a:latin typeface="Cambria Math" panose="02040503050406030204" pitchFamily="18" charset="0"/>
                            </a:rPr>
                          </m:ctrlPr>
                        </m:dPr>
                        <m:e>
                          <m:r>
                            <a:rPr lang="de-CH" sz="1600" i="1" dirty="0">
                              <a:latin typeface="Cambria Math" panose="02040503050406030204" pitchFamily="18" charset="0"/>
                            </a:rPr>
                            <m:t>𝑠</m:t>
                          </m:r>
                        </m:e>
                      </m:d>
                    </m:oMath>
                  </m:oMathPara>
                </a14:m>
              </a:p>
              <a:p/>
            </p:txBody>
          </p:sp>
        </mc:Choice>
        <mc:Fallback>
          <p:sp>
            <p:nvSpPr>
              <p:cNvPr id="42" name="Textfeld 41">
                <a:extLst>
                  <a:ext uri="{FF2B5EF4-FFF2-40B4-BE49-F238E27FC236}">
                    <a16:creationId xmlns:a16="http://schemas.microsoft.com/office/drawing/2014/main" id="{83CBD093-E2F3-86EE-C764-212D9A01A6AE}"/>
                  </a:ext>
                </a:extLst>
              </p:cNvPr>
              <p:cNvSpPr txBox="1">
                <a:spLocks noRot="1" noChangeAspect="1" noMove="1" noResize="1" noEditPoints="1" noAdjustHandles="1" noChangeArrowheads="1" noChangeShapeType="1" noTextEdit="1"/>
              </p:cNvSpPr>
              <p:nvPr/>
            </p:nvSpPr>
            <p:spPr>
              <a:xfrm>
                <a:off x="188276" y="2584955"/>
                <a:ext cx="4163261" cy="659348"/>
              </a:xfrm>
              <a:prstGeom prst="rect">
                <a:avLst/>
              </a:prstGeom>
              <a:blipFill>
                <a:blip r:embed="rId14"/>
                <a:stretch>
                  <a:fillRect l="-608" t="-1887" r="-912" b="-9434"/>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3" name="Textfeld 42">
                <a:extLst>
                  <a:ext uri="{FF2B5EF4-FFF2-40B4-BE49-F238E27FC236}">
                    <a16:creationId xmlns:a16="http://schemas.microsoft.com/office/drawing/2014/main" id="{E0E113A7-C1FD-E750-B826-A05740994337}"/>
                  </a:ext>
                </a:extLst>
              </p:cNvPr>
              <p:cNvSpPr txBox="1"/>
              <p:nvPr/>
            </p:nvSpPr>
            <p:spPr>
              <a:xfrm>
                <a:off x="271533" y="2962294"/>
                <a:ext cx="2566344" cy="441275"/>
              </a:xfrm>
              <a:prstGeom prst="rect">
                <a:avLst/>
              </a:prstGeom>
              <a:noFill/>
            </p:spPr>
            <p:txBody>
              <a:bodyPr wrap="none" rtlCol="0">
                <a:spAutoFit/>
              </a:bodyPr>
              <a:lstStyle/>
              <a:p>
                <a:r>
                  <a:rPr lang="de-DE" sz="1600" dirty="0" err="1"/>
                  <a:t>step</a:t>
                </a:r>
                <a:r>
                  <a:rPr lang="de-DE" sz="1600" dirty="0"/>
                  <a:t> </a:t>
                </a:r>
                <a:r>
                  <a:rPr lang="de-DE" sz="1600" dirty="0" err="1"/>
                  <a:t>input</a:t>
                </a:r>
                <a:r>
                  <a:rPr lang="de-DE" sz="1600" dirty="0"/>
                  <a:t> </a:t>
                </a:r>
                <a14:m>
                  <m:oMath xmlns:m="http://schemas.openxmlformats.org/officeDocument/2006/math">
                    <m:r>
                      <a:rPr lang="de-DE" sz="1600" i="1" dirty="0" smtClean="0">
                        <a:latin typeface="Cambria Math" panose="02040503050406030204" pitchFamily="18" charset="0"/>
                      </a:rPr>
                      <m:t>𝑅</m:t>
                    </m:r>
                    <m:d>
                      <m:dPr>
                        <m:ctrlPr>
                          <a:rPr lang="de-DE" sz="1600" i="1" dirty="0" smtClean="0">
                            <a:latin typeface="Cambria Math" panose="02040503050406030204" pitchFamily="18" charset="0"/>
                          </a:rPr>
                        </m:ctrlPr>
                      </m:dPr>
                      <m:e>
                        <m:r>
                          <a:rPr lang="de-DE" sz="1600" i="1" dirty="0" smtClean="0">
                            <a:latin typeface="Cambria Math" panose="02040503050406030204" pitchFamily="18" charset="0"/>
                          </a:rPr>
                          <m:t>𝑠</m:t>
                        </m:r>
                      </m:e>
                    </m:d>
                    <m:r>
                      <a:rPr lang="de-DE" sz="1600" i="1" dirty="0" smtClean="0">
                        <a:latin typeface="Cambria Math" panose="02040503050406030204" pitchFamily="18" charset="0"/>
                      </a:rPr>
                      <m:t>=</m:t>
                    </m:r>
                    <m:f>
                      <m:fPr>
                        <m:ctrlPr>
                          <a:rPr lang="de-DE" sz="1600" i="1" dirty="0" smtClean="0">
                            <a:latin typeface="Cambria Math" panose="02040503050406030204" pitchFamily="18" charset="0"/>
                          </a:rPr>
                        </m:ctrlPr>
                      </m:fPr>
                      <m:num>
                        <m:r>
                          <a:rPr lang="de-DE" sz="1600" i="1" dirty="0" smtClean="0">
                            <a:latin typeface="Cambria Math" panose="02040503050406030204" pitchFamily="18" charset="0"/>
                          </a:rPr>
                          <m:t>1</m:t>
                        </m:r>
                      </m:num>
                      <m:den>
                        <m:r>
                          <a:rPr lang="de-DE" sz="1600" i="1" dirty="0" smtClean="0">
                            <a:latin typeface="Cambria Math" panose="02040503050406030204" pitchFamily="18" charset="0"/>
                          </a:rPr>
                          <m:t>𝑠</m:t>
                        </m:r>
                      </m:den>
                    </m:f>
                  </m:oMath>
                </a14:m>
                <a:r>
                  <a:rPr lang="de-DE" sz="1600" dirty="0"/>
                  <a:t>, </a:t>
                </a:r>
                <a:r>
                  <a:rPr lang="de-DE" sz="1600" dirty="0" err="1"/>
                  <a:t>hence</a:t>
                </a:r>
                <a:endParaRPr lang="de-DE" sz="1600" dirty="0"/>
              </a:p>
            </p:txBody>
          </p:sp>
        </mc:Choice>
        <mc:Fallback>
          <p:sp>
            <p:nvSpPr>
              <p:cNvPr id="43" name="Textfeld 42">
                <a:extLst>
                  <a:ext uri="{FF2B5EF4-FFF2-40B4-BE49-F238E27FC236}">
                    <a16:creationId xmlns:a16="http://schemas.microsoft.com/office/drawing/2014/main" id="{E0E113A7-C1FD-E750-B826-A05740994337}"/>
                  </a:ext>
                </a:extLst>
              </p:cNvPr>
              <p:cNvSpPr txBox="1">
                <a:spLocks noRot="1" noChangeAspect="1" noMove="1" noResize="1" noEditPoints="1" noAdjustHandles="1" noChangeArrowheads="1" noChangeShapeType="1" noTextEdit="1"/>
              </p:cNvSpPr>
              <p:nvPr/>
            </p:nvSpPr>
            <p:spPr>
              <a:xfrm>
                <a:off x="271533" y="2962294"/>
                <a:ext cx="2566344" cy="441275"/>
              </a:xfrm>
              <a:prstGeom prst="rect">
                <a:avLst/>
              </a:prstGeom>
              <a:blipFill>
                <a:blip r:embed="rId15"/>
                <a:stretch>
                  <a:fillRect l="-1478" r="-493" b="-5714"/>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4" name="Textfeld 43">
                <a:extLst>
                  <a:ext uri="{FF2B5EF4-FFF2-40B4-BE49-F238E27FC236}">
                    <a16:creationId xmlns:a16="http://schemas.microsoft.com/office/drawing/2014/main" id="{53D7ABE1-0DCB-9E41-6A8A-81B902184642}"/>
                  </a:ext>
                </a:extLst>
              </p:cNvPr>
              <p:cNvSpPr txBox="1"/>
              <p:nvPr/>
            </p:nvSpPr>
            <p:spPr>
              <a:xfrm>
                <a:off x="188277" y="3296376"/>
                <a:ext cx="4163260" cy="58977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de-CH" sz="1600" i="1" dirty="0" smtClean="0">
                              <a:latin typeface="Cambria Math" panose="02040503050406030204" pitchFamily="18" charset="0"/>
                            </a:rPr>
                          </m:ctrlPr>
                        </m:sSubPr>
                        <m:e>
                          <m:r>
                            <a:rPr lang="de-CH" sz="1600" i="1" dirty="0" smtClean="0">
                              <a:latin typeface="Cambria Math" panose="02040503050406030204" pitchFamily="18" charset="0"/>
                            </a:rPr>
                            <m:t>𝑒</m:t>
                          </m:r>
                        </m:e>
                        <m:sub>
                          <m:r>
                            <a:rPr lang="de-CH" sz="1600" i="1" dirty="0" err="1">
                              <a:latin typeface="Cambria Math" panose="02040503050406030204" pitchFamily="18" charset="0"/>
                            </a:rPr>
                            <m:t>𝑠𝑠</m:t>
                          </m:r>
                        </m:sub>
                      </m:sSub>
                      <m:r>
                        <a:rPr lang="de-CH" sz="1600" i="1" dirty="0">
                          <a:latin typeface="Cambria Math" panose="02040503050406030204" pitchFamily="18" charset="0"/>
                        </a:rPr>
                        <m:t>=</m:t>
                      </m:r>
                      <m:func>
                        <m:funcPr>
                          <m:ctrlPr>
                            <a:rPr lang="de-CH" sz="1600" i="1" dirty="0">
                              <a:latin typeface="Cambria Math" panose="02040503050406030204" pitchFamily="18" charset="0"/>
                            </a:rPr>
                          </m:ctrlPr>
                        </m:funcPr>
                        <m:fName>
                          <m:limLow>
                            <m:limLowPr>
                              <m:ctrlPr>
                                <a:rPr lang="de-CH" sz="1600" i="1" dirty="0">
                                  <a:latin typeface="Cambria Math" panose="02040503050406030204" pitchFamily="18" charset="0"/>
                                </a:rPr>
                              </m:ctrlPr>
                            </m:limLowPr>
                            <m:e>
                              <m:r>
                                <m:rPr>
                                  <m:sty m:val="p"/>
                                </m:rPr>
                                <a:rPr lang="de-CH" sz="1600" i="0" dirty="0" err="1">
                                  <a:latin typeface="Cambria Math" panose="02040503050406030204" pitchFamily="18" charset="0"/>
                                </a:rPr>
                                <m:t>lim</m:t>
                              </m:r>
                            </m:e>
                            <m:lim>
                              <m:r>
                                <a:rPr lang="de-CH" sz="1600" i="1" dirty="0">
                                  <a:latin typeface="Cambria Math" panose="02040503050406030204" pitchFamily="18" charset="0"/>
                                </a:rPr>
                                <m:t>𝑠</m:t>
                              </m:r>
                              <m:r>
                                <a:rPr lang="de-CH" sz="1600" i="1" dirty="0">
                                  <a:latin typeface="Cambria Math" panose="02040503050406030204" pitchFamily="18" charset="0"/>
                                </a:rPr>
                                <m:t>→0</m:t>
                              </m:r>
                            </m:lim>
                          </m:limLow>
                        </m:fName>
                        <m:e>
                          <m:r>
                            <a:rPr lang="de-CH" sz="1600" i="1" dirty="0">
                              <a:latin typeface="Cambria Math" panose="02040503050406030204" pitchFamily="18" charset="0"/>
                            </a:rPr>
                            <m:t>𝑠</m:t>
                          </m:r>
                        </m:e>
                      </m:func>
                      <m:r>
                        <a:rPr lang="de-CH" sz="1600" i="1" dirty="0">
                          <a:latin typeface="Cambria Math" panose="02040503050406030204" pitchFamily="18" charset="0"/>
                        </a:rPr>
                        <m:t>⋅</m:t>
                      </m:r>
                      <m:f>
                        <m:fPr>
                          <m:ctrlPr>
                            <a:rPr lang="de-CH" sz="1600" i="1" dirty="0">
                              <a:latin typeface="Cambria Math" panose="02040503050406030204" pitchFamily="18" charset="0"/>
                            </a:rPr>
                          </m:ctrlPr>
                        </m:fPr>
                        <m:num>
                          <m:r>
                            <a:rPr lang="de-CH" sz="1600" i="1" dirty="0">
                              <a:latin typeface="Cambria Math" panose="02040503050406030204" pitchFamily="18" charset="0"/>
                            </a:rPr>
                            <m:t>1</m:t>
                          </m:r>
                        </m:num>
                        <m:den>
                          <m:r>
                            <a:rPr lang="de-CH" sz="1600" i="1" dirty="0">
                              <a:latin typeface="Cambria Math" panose="02040503050406030204" pitchFamily="18" charset="0"/>
                            </a:rPr>
                            <m:t>1+</m:t>
                          </m:r>
                          <m:r>
                            <a:rPr lang="de-CH" sz="1600" i="1" dirty="0">
                              <a:latin typeface="Cambria Math" panose="02040503050406030204" pitchFamily="18" charset="0"/>
                            </a:rPr>
                            <m:t>𝐶</m:t>
                          </m:r>
                          <m:d>
                            <m:dPr>
                              <m:ctrlPr>
                                <a:rPr lang="de-CH" sz="1600" i="1" dirty="0">
                                  <a:latin typeface="Cambria Math" panose="02040503050406030204" pitchFamily="18" charset="0"/>
                                </a:rPr>
                              </m:ctrlPr>
                            </m:dPr>
                            <m:e>
                              <m:r>
                                <a:rPr lang="de-CH" sz="1600" i="1" dirty="0">
                                  <a:latin typeface="Cambria Math" panose="02040503050406030204" pitchFamily="18" charset="0"/>
                                </a:rPr>
                                <m:t>𝑠</m:t>
                              </m:r>
                            </m:e>
                          </m:d>
                          <m:r>
                            <a:rPr lang="de-CH" sz="1600" i="1" dirty="0">
                              <a:latin typeface="Cambria Math" panose="02040503050406030204" pitchFamily="18" charset="0"/>
                            </a:rPr>
                            <m:t>𝑃</m:t>
                          </m:r>
                          <m:d>
                            <m:dPr>
                              <m:ctrlPr>
                                <a:rPr lang="de-CH" sz="1600" i="1" dirty="0">
                                  <a:latin typeface="Cambria Math" panose="02040503050406030204" pitchFamily="18" charset="0"/>
                                </a:rPr>
                              </m:ctrlPr>
                            </m:dPr>
                            <m:e>
                              <m:r>
                                <a:rPr lang="de-CH" sz="1600" i="1" dirty="0">
                                  <a:latin typeface="Cambria Math" panose="02040503050406030204" pitchFamily="18" charset="0"/>
                                </a:rPr>
                                <m:t>𝑠</m:t>
                              </m:r>
                            </m:e>
                          </m:d>
                        </m:den>
                      </m:f>
                      <m:r>
                        <a:rPr lang="de-CH" sz="1600" i="1" dirty="0">
                          <a:latin typeface="Cambria Math" panose="02040503050406030204" pitchFamily="18" charset="0"/>
                        </a:rPr>
                        <m:t>⋅</m:t>
                      </m:r>
                      <m:f>
                        <m:fPr>
                          <m:ctrlPr>
                            <a:rPr lang="de-CH" sz="1600" i="1" dirty="0">
                              <a:latin typeface="Cambria Math" panose="02040503050406030204" pitchFamily="18" charset="0"/>
                            </a:rPr>
                          </m:ctrlPr>
                        </m:fPr>
                        <m:num>
                          <m:r>
                            <a:rPr lang="de-CH" sz="1600" i="1" dirty="0">
                              <a:latin typeface="Cambria Math" panose="02040503050406030204" pitchFamily="18" charset="0"/>
                            </a:rPr>
                            <m:t>1</m:t>
                          </m:r>
                        </m:num>
                        <m:den>
                          <m:r>
                            <a:rPr lang="de-CH" sz="1600" i="1" dirty="0">
                              <a:latin typeface="Cambria Math" panose="02040503050406030204" pitchFamily="18" charset="0"/>
                            </a:rPr>
                            <m:t>𝑠</m:t>
                          </m:r>
                        </m:den>
                      </m:f>
                      <m:r>
                        <a:rPr lang="de-CH" sz="1600" i="1" dirty="0" smtClean="0">
                          <a:latin typeface="Cambria Math" panose="02040503050406030204" pitchFamily="18" charset="0"/>
                        </a:rPr>
                        <m:t>=</m:t>
                      </m:r>
                      <m:f>
                        <m:fPr>
                          <m:ctrlPr>
                            <a:rPr lang="de-CH" sz="1600" i="1" dirty="0" smtClean="0">
                              <a:latin typeface="Cambria Math" panose="02040503050406030204" pitchFamily="18" charset="0"/>
                            </a:rPr>
                          </m:ctrlPr>
                        </m:fPr>
                        <m:num>
                          <m:r>
                            <a:rPr lang="de-CH" sz="1600" i="1" dirty="0">
                              <a:latin typeface="Cambria Math" panose="02040503050406030204" pitchFamily="18" charset="0"/>
                            </a:rPr>
                            <m:t>1</m:t>
                          </m:r>
                        </m:num>
                        <m:den>
                          <m:r>
                            <a:rPr lang="de-CH" sz="1600" i="1" dirty="0">
                              <a:latin typeface="Cambria Math" panose="02040503050406030204" pitchFamily="18" charset="0"/>
                            </a:rPr>
                            <m:t>1+</m:t>
                          </m:r>
                          <m:r>
                            <a:rPr lang="de-CH" sz="1600" i="1" dirty="0">
                              <a:latin typeface="Cambria Math" panose="02040503050406030204" pitchFamily="18" charset="0"/>
                            </a:rPr>
                            <m:t>𝐶</m:t>
                          </m:r>
                          <m:d>
                            <m:dPr>
                              <m:ctrlPr>
                                <a:rPr lang="de-CH" sz="1600" i="1" dirty="0">
                                  <a:latin typeface="Cambria Math" panose="02040503050406030204" pitchFamily="18" charset="0"/>
                                </a:rPr>
                              </m:ctrlPr>
                            </m:dPr>
                            <m:e>
                              <m:r>
                                <a:rPr lang="de-CH" sz="1600" i="1" dirty="0">
                                  <a:latin typeface="Cambria Math" panose="02040503050406030204" pitchFamily="18" charset="0"/>
                                </a:rPr>
                                <m:t>0</m:t>
                              </m:r>
                            </m:e>
                          </m:d>
                          <m:r>
                            <a:rPr lang="de-CH" sz="1600" i="1" dirty="0">
                              <a:latin typeface="Cambria Math" panose="02040503050406030204" pitchFamily="18" charset="0"/>
                            </a:rPr>
                            <m:t>𝑃</m:t>
                          </m:r>
                          <m:d>
                            <m:dPr>
                              <m:ctrlPr>
                                <a:rPr lang="de-CH" sz="1600" i="1" dirty="0">
                                  <a:latin typeface="Cambria Math" panose="02040503050406030204" pitchFamily="18" charset="0"/>
                                </a:rPr>
                              </m:ctrlPr>
                            </m:dPr>
                            <m:e>
                              <m:r>
                                <a:rPr lang="de-CH" sz="1600" i="1" dirty="0">
                                  <a:latin typeface="Cambria Math" panose="02040503050406030204" pitchFamily="18" charset="0"/>
                                </a:rPr>
                                <m:t>0</m:t>
                              </m:r>
                            </m:e>
                          </m:d>
                        </m:den>
                      </m:f>
                    </m:oMath>
                  </m:oMathPara>
                </a14:m>
              </a:p>
            </p:txBody>
          </p:sp>
        </mc:Choice>
        <mc:Fallback>
          <p:sp>
            <p:nvSpPr>
              <p:cNvPr id="44" name="Textfeld 43">
                <a:extLst>
                  <a:ext uri="{FF2B5EF4-FFF2-40B4-BE49-F238E27FC236}">
                    <a16:creationId xmlns:a16="http://schemas.microsoft.com/office/drawing/2014/main" id="{53D7ABE1-0DCB-9E41-6A8A-81B902184642}"/>
                  </a:ext>
                </a:extLst>
              </p:cNvPr>
              <p:cNvSpPr txBox="1">
                <a:spLocks noRot="1" noChangeAspect="1" noMove="1" noResize="1" noEditPoints="1" noAdjustHandles="1" noChangeArrowheads="1" noChangeShapeType="1" noTextEdit="1"/>
              </p:cNvSpPr>
              <p:nvPr/>
            </p:nvSpPr>
            <p:spPr>
              <a:xfrm>
                <a:off x="188277" y="3296376"/>
                <a:ext cx="4163260" cy="589777"/>
              </a:xfrm>
              <a:prstGeom prst="rect">
                <a:avLst/>
              </a:prstGeom>
              <a:blipFill>
                <a:blip r:embed="rId16"/>
                <a:stretch>
                  <a:fillRect r="-1216"/>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5" name="Textfeld 44">
                <a:extLst>
                  <a:ext uri="{FF2B5EF4-FFF2-40B4-BE49-F238E27FC236}">
                    <a16:creationId xmlns:a16="http://schemas.microsoft.com/office/drawing/2014/main" id="{5C6BDAA3-95E1-C20B-EC16-B658D3BBED7E}"/>
                  </a:ext>
                </a:extLst>
              </p:cNvPr>
              <p:cNvSpPr txBox="1"/>
              <p:nvPr/>
            </p:nvSpPr>
            <p:spPr>
              <a:xfrm>
                <a:off x="186478" y="3924686"/>
                <a:ext cx="5302798" cy="338554"/>
              </a:xfrm>
              <a:prstGeom prst="rect">
                <a:avLst/>
              </a:prstGeom>
              <a:noFill/>
            </p:spPr>
            <p:txBody>
              <a:bodyPr wrap="none" rtlCol="0">
                <a:spAutoFit/>
              </a:bodyPr>
              <a:lstStyle/>
              <a:p>
                <a:r>
                  <a:rPr lang="de-DE" sz="1600" dirty="0"/>
                  <a:t>That </a:t>
                </a:r>
                <a:r>
                  <a:rPr lang="de-DE" sz="1600" dirty="0" err="1"/>
                  <a:t>means</a:t>
                </a:r>
                <a:r>
                  <a:rPr lang="de-DE" sz="1600" dirty="0"/>
                  <a:t>, </a:t>
                </a:r>
                <a:r>
                  <a:rPr lang="de-DE" sz="1600" dirty="0" err="1"/>
                  <a:t>that</a:t>
                </a:r>
                <a:r>
                  <a:rPr lang="de-DE" sz="1600" dirty="0"/>
                  <a:t> </a:t>
                </a:r>
                <a:r>
                  <a:rPr lang="de-DE" sz="1600" dirty="0" err="1"/>
                  <a:t>for</a:t>
                </a:r>
                <a:r>
                  <a:rPr lang="de-DE" sz="1600" dirty="0"/>
                  <a:t> </a:t>
                </a:r>
                <a14:m>
                  <m:oMath xmlns:m="http://schemas.openxmlformats.org/officeDocument/2006/math">
                    <m:sSub>
                      <m:sSubPr>
                        <m:ctrlPr>
                          <a:rPr lang="de-CH" sz="1600" i="1" dirty="0">
                            <a:latin typeface="Cambria Math" panose="02040503050406030204" pitchFamily="18" charset="0"/>
                          </a:rPr>
                        </m:ctrlPr>
                      </m:sSubPr>
                      <m:e>
                        <m:r>
                          <a:rPr lang="de-CH" sz="1600" i="1" dirty="0">
                            <a:latin typeface="Cambria Math" panose="02040503050406030204" pitchFamily="18" charset="0"/>
                          </a:rPr>
                          <m:t>𝑒</m:t>
                        </m:r>
                      </m:e>
                      <m:sub>
                        <m:r>
                          <a:rPr lang="de-CH" sz="1600" i="1" dirty="0" err="1">
                            <a:latin typeface="Cambria Math" panose="02040503050406030204" pitchFamily="18" charset="0"/>
                          </a:rPr>
                          <m:t>𝑠𝑠</m:t>
                        </m:r>
                      </m:sub>
                    </m:sSub>
                  </m:oMath>
                </a14:m>
                <a:r>
                  <a:rPr lang="de-DE" sz="1600" dirty="0"/>
                  <a:t> </a:t>
                </a:r>
                <a:r>
                  <a:rPr lang="de-DE" sz="1600" dirty="0" err="1"/>
                  <a:t>to</a:t>
                </a:r>
                <a:r>
                  <a:rPr lang="de-DE" sz="1600" dirty="0"/>
                  <a:t> </a:t>
                </a:r>
                <a:r>
                  <a:rPr lang="de-DE" sz="1600" dirty="0" err="1"/>
                  <a:t>be</a:t>
                </a:r>
                <a:r>
                  <a:rPr lang="de-DE" sz="1600" dirty="0"/>
                  <a:t> </a:t>
                </a:r>
                <a:r>
                  <a:rPr lang="de-DE" sz="1600" dirty="0" err="1"/>
                  <a:t>zero</a:t>
                </a:r>
                <a:r>
                  <a:rPr lang="de-DE" sz="1600" dirty="0"/>
                  <a:t> </a:t>
                </a:r>
                <a14:m>
                  <m:oMath xmlns:m="http://schemas.openxmlformats.org/officeDocument/2006/math">
                    <m:r>
                      <a:rPr lang="de-DE" sz="1600" i="1" dirty="0" smtClean="0">
                        <a:latin typeface="Cambria Math" panose="02040503050406030204" pitchFamily="18" charset="0"/>
                      </a:rPr>
                      <m:t>𝐿</m:t>
                    </m:r>
                    <m:d>
                      <m:dPr>
                        <m:ctrlPr>
                          <a:rPr lang="de-DE" sz="1600" i="1" dirty="0" smtClean="0">
                            <a:latin typeface="Cambria Math" panose="02040503050406030204" pitchFamily="18" charset="0"/>
                          </a:rPr>
                        </m:ctrlPr>
                      </m:dPr>
                      <m:e>
                        <m:r>
                          <a:rPr lang="de-DE" sz="1600" i="1" dirty="0" smtClean="0">
                            <a:latin typeface="Cambria Math" panose="02040503050406030204" pitchFamily="18" charset="0"/>
                          </a:rPr>
                          <m:t>0</m:t>
                        </m:r>
                      </m:e>
                    </m:d>
                    <m:r>
                      <a:rPr lang="de-DE" sz="1600" i="1" dirty="0" smtClean="0">
                        <a:latin typeface="Cambria Math" panose="02040503050406030204" pitchFamily="18" charset="0"/>
                      </a:rPr>
                      <m:t>=</m:t>
                    </m:r>
                    <m:r>
                      <a:rPr lang="de-DE" sz="1600" i="1" dirty="0" smtClean="0">
                        <a:latin typeface="Cambria Math" panose="02040503050406030204" pitchFamily="18" charset="0"/>
                      </a:rPr>
                      <m:t>𝐶</m:t>
                    </m:r>
                    <m:d>
                      <m:dPr>
                        <m:ctrlPr>
                          <a:rPr lang="de-DE" sz="1600" i="1" dirty="0" smtClean="0">
                            <a:latin typeface="Cambria Math" panose="02040503050406030204" pitchFamily="18" charset="0"/>
                          </a:rPr>
                        </m:ctrlPr>
                      </m:dPr>
                      <m:e>
                        <m:r>
                          <a:rPr lang="de-DE" sz="1600" i="1" dirty="0" smtClean="0">
                            <a:latin typeface="Cambria Math" panose="02040503050406030204" pitchFamily="18" charset="0"/>
                          </a:rPr>
                          <m:t>0</m:t>
                        </m:r>
                      </m:e>
                    </m:d>
                    <m:r>
                      <a:rPr lang="de-DE" sz="1600" i="1" dirty="0" smtClean="0">
                        <a:latin typeface="Cambria Math" panose="02040503050406030204" pitchFamily="18" charset="0"/>
                      </a:rPr>
                      <m:t>𝑃</m:t>
                    </m:r>
                    <m:d>
                      <m:dPr>
                        <m:ctrlPr>
                          <a:rPr lang="de-DE" sz="1600" i="1" dirty="0" smtClean="0">
                            <a:latin typeface="Cambria Math" panose="02040503050406030204" pitchFamily="18" charset="0"/>
                          </a:rPr>
                        </m:ctrlPr>
                      </m:dPr>
                      <m:e>
                        <m:r>
                          <a:rPr lang="de-DE" sz="1600" i="1" dirty="0" smtClean="0">
                            <a:latin typeface="Cambria Math" panose="02040503050406030204" pitchFamily="18" charset="0"/>
                          </a:rPr>
                          <m:t>0</m:t>
                        </m:r>
                      </m:e>
                    </m:d>
                    <m:r>
                      <a:rPr lang="de-DE" sz="1600" i="1" dirty="0" smtClean="0">
                        <a:latin typeface="Cambria Math" panose="02040503050406030204" pitchFamily="18" charset="0"/>
                      </a:rPr>
                      <m:t>=∞</m:t>
                    </m:r>
                  </m:oMath>
                </a14:m>
                <a:endParaRPr lang="de-DE" sz="1600" dirty="0"/>
              </a:p>
            </p:txBody>
          </p:sp>
        </mc:Choice>
        <mc:Fallback>
          <p:sp>
            <p:nvSpPr>
              <p:cNvPr id="45" name="Textfeld 44">
                <a:extLst>
                  <a:ext uri="{FF2B5EF4-FFF2-40B4-BE49-F238E27FC236}">
                    <a16:creationId xmlns:a16="http://schemas.microsoft.com/office/drawing/2014/main" id="{5C6BDAA3-95E1-C20B-EC16-B658D3BBED7E}"/>
                  </a:ext>
                </a:extLst>
              </p:cNvPr>
              <p:cNvSpPr txBox="1">
                <a:spLocks noRot="1" noChangeAspect="1" noMove="1" noResize="1" noEditPoints="1" noAdjustHandles="1" noChangeArrowheads="1" noChangeShapeType="1" noTextEdit="1"/>
              </p:cNvSpPr>
              <p:nvPr/>
            </p:nvSpPr>
            <p:spPr>
              <a:xfrm>
                <a:off x="186478" y="3924686"/>
                <a:ext cx="5302798" cy="338554"/>
              </a:xfrm>
              <a:prstGeom prst="rect">
                <a:avLst/>
              </a:prstGeom>
              <a:blipFill>
                <a:blip r:embed="rId17"/>
                <a:stretch>
                  <a:fillRect l="-477" t="-7407" b="-25926"/>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6" name="Textfeld 45">
                <a:extLst>
                  <a:ext uri="{FF2B5EF4-FFF2-40B4-BE49-F238E27FC236}">
                    <a16:creationId xmlns:a16="http://schemas.microsoft.com/office/drawing/2014/main" id="{1C384B21-AB38-BF36-22E7-C3532A81C31A}"/>
                  </a:ext>
                </a:extLst>
              </p:cNvPr>
              <p:cNvSpPr txBox="1"/>
              <p:nvPr/>
            </p:nvSpPr>
            <p:spPr>
              <a:xfrm>
                <a:off x="214653" y="4359419"/>
                <a:ext cx="5635325" cy="338554"/>
              </a:xfrm>
              <a:prstGeom prst="rect">
                <a:avLst/>
              </a:prstGeom>
              <a:noFill/>
            </p:spPr>
            <p:txBody>
              <a:bodyPr wrap="none" rtlCol="0">
                <a:spAutoFit/>
              </a:bodyPr>
              <a:lstStyle/>
              <a:p>
                <a14:m>
                  <m:oMath xmlns:m="http://schemas.openxmlformats.org/officeDocument/2006/math">
                    <m:r>
                      <a:rPr lang="de-DE" sz="1600" i="1" dirty="0" smtClean="0">
                        <a:latin typeface="Cambria Math" panose="02040503050406030204" pitchFamily="18" charset="0"/>
                        <a:cs typeface="Segoe UI" panose="020B0502040204020203" pitchFamily="34" charset="0"/>
                      </a:rPr>
                      <m:t>⟶</m:t>
                    </m:r>
                  </m:oMath>
                </a14:m>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What</a:t>
                </a:r>
                <a:r>
                  <a:rPr lang="de-DE" sz="1600" dirty="0">
                    <a:latin typeface="Segoe UI" panose="020B0502040204020203" pitchFamily="34" charset="0"/>
                    <a:cs typeface="Segoe UI" panose="020B0502040204020203" pitchFamily="34" charset="0"/>
                  </a:rPr>
                  <a:t> feature </a:t>
                </a:r>
                <a:r>
                  <a:rPr lang="de-DE" sz="1600" dirty="0" err="1">
                    <a:latin typeface="Segoe UI" panose="020B0502040204020203" pitchFamily="34" charset="0"/>
                    <a:cs typeface="Segoe UI" panose="020B0502040204020203" pitchFamily="34" charset="0"/>
                  </a:rPr>
                  <a:t>must</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general</a:t>
                </a:r>
                <a:r>
                  <a:rPr lang="de-DE" sz="1600" dirty="0">
                    <a:latin typeface="Segoe UI" panose="020B0502040204020203" pitchFamily="34" charset="0"/>
                    <a:cs typeface="Segoe UI" panose="020B0502040204020203" pitchFamily="34" charset="0"/>
                  </a:rPr>
                  <a:t> </a:t>
                </a:r>
                <a14:m>
                  <m:oMath xmlns:m="http://schemas.openxmlformats.org/officeDocument/2006/math">
                    <m:r>
                      <a:rPr lang="de-DE" sz="1600" i="1" dirty="0" smtClean="0">
                        <a:latin typeface="Cambria Math" panose="02040503050406030204" pitchFamily="18" charset="0"/>
                        <a:cs typeface="Segoe UI" panose="020B0502040204020203" pitchFamily="34" charset="0"/>
                      </a:rPr>
                      <m:t>𝐿</m:t>
                    </m:r>
                    <m:d>
                      <m:dPr>
                        <m:ctrlPr>
                          <a:rPr lang="de-DE" sz="1600" i="1" dirty="0" smtClean="0">
                            <a:latin typeface="Cambria Math" panose="02040503050406030204" pitchFamily="18" charset="0"/>
                            <a:cs typeface="Segoe UI" panose="020B0502040204020203" pitchFamily="34" charset="0"/>
                          </a:rPr>
                        </m:ctrlPr>
                      </m:dPr>
                      <m:e>
                        <m:r>
                          <a:rPr lang="de-DE" sz="1600" i="1" dirty="0" smtClean="0">
                            <a:latin typeface="Cambria Math" panose="02040503050406030204" pitchFamily="18" charset="0"/>
                            <a:cs typeface="Segoe UI" panose="020B0502040204020203" pitchFamily="34" charset="0"/>
                          </a:rPr>
                          <m:t>𝑠</m:t>
                        </m:r>
                      </m:e>
                    </m:d>
                  </m:oMath>
                </a14:m>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have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this</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to</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be</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true</a:t>
                </a:r>
                <a:r>
                  <a:rPr lang="de-DE" sz="1600" dirty="0">
                    <a:latin typeface="Segoe UI" panose="020B0502040204020203" pitchFamily="34" charset="0"/>
                    <a:cs typeface="Segoe UI" panose="020B0502040204020203" pitchFamily="34" charset="0"/>
                  </a:rPr>
                  <a:t>? </a:t>
                </a:r>
              </a:p>
            </p:txBody>
          </p:sp>
        </mc:Choice>
        <mc:Fallback>
          <p:sp>
            <p:nvSpPr>
              <p:cNvPr id="46" name="Textfeld 45">
                <a:extLst>
                  <a:ext uri="{FF2B5EF4-FFF2-40B4-BE49-F238E27FC236}">
                    <a16:creationId xmlns:a16="http://schemas.microsoft.com/office/drawing/2014/main" id="{1C384B21-AB38-BF36-22E7-C3532A81C31A}"/>
                  </a:ext>
                </a:extLst>
              </p:cNvPr>
              <p:cNvSpPr txBox="1">
                <a:spLocks noRot="1" noChangeAspect="1" noMove="1" noResize="1" noEditPoints="1" noAdjustHandles="1" noChangeArrowheads="1" noChangeShapeType="1" noTextEdit="1"/>
              </p:cNvSpPr>
              <p:nvPr/>
            </p:nvSpPr>
            <p:spPr>
              <a:xfrm>
                <a:off x="214653" y="4359419"/>
                <a:ext cx="5635325" cy="338554"/>
              </a:xfrm>
              <a:prstGeom prst="rect">
                <a:avLst/>
              </a:prstGeom>
              <a:blipFill>
                <a:blip r:embed="rId18"/>
                <a:stretch>
                  <a:fillRect t="-7143" b="-21429"/>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48" name="Textfeld 47">
                <a:extLst>
                  <a:ext uri="{FF2B5EF4-FFF2-40B4-BE49-F238E27FC236}">
                    <a16:creationId xmlns:a16="http://schemas.microsoft.com/office/drawing/2014/main" id="{7CFF4227-A829-46A9-398A-ED1AF8632D0C}"/>
                  </a:ext>
                </a:extLst>
              </p:cNvPr>
              <p:cNvSpPr txBox="1"/>
              <p:nvPr/>
            </p:nvSpPr>
            <p:spPr>
              <a:xfrm>
                <a:off x="5809331" y="4182853"/>
                <a:ext cx="2713099" cy="338554"/>
              </a:xfrm>
              <a:prstGeom prst="rect">
                <a:avLst/>
              </a:prstGeom>
              <a:noFill/>
            </p:spPr>
            <p:txBody>
              <a:bodyPr wrap="square" rtlCol="0">
                <a:spAutoFit/>
              </a:bodyPr>
              <a:lstStyle/>
              <a:p>
                <a:r>
                  <a:rPr lang="de-DE" sz="1600" dirty="0" err="1"/>
                  <a:t>We</a:t>
                </a:r>
                <a:r>
                  <a:rPr lang="de-DE" sz="1600" dirty="0"/>
                  <a:t> </a:t>
                </a:r>
                <a:r>
                  <a:rPr lang="de-DE" sz="1600" dirty="0" err="1"/>
                  <a:t>need</a:t>
                </a:r>
                <a:r>
                  <a:rPr lang="de-DE" sz="1600" dirty="0"/>
                  <a:t> a pole at </a:t>
                </a:r>
                <a14:m>
                  <m:oMath xmlns:m="http://schemas.openxmlformats.org/officeDocument/2006/math">
                    <m:r>
                      <a:rPr lang="de-DE" sz="1600" i="1" dirty="0" smtClean="0">
                        <a:latin typeface="Cambria Math" panose="02040503050406030204" pitchFamily="18" charset="0"/>
                      </a:rPr>
                      <m:t>𝑠</m:t>
                    </m:r>
                    <m:r>
                      <a:rPr lang="de-DE" sz="1600" i="1" dirty="0" smtClean="0">
                        <a:latin typeface="Cambria Math" panose="02040503050406030204" pitchFamily="18" charset="0"/>
                      </a:rPr>
                      <m:t>=0</m:t>
                    </m:r>
                  </m:oMath>
                </a14:m>
                <a:r>
                  <a:rPr lang="de-DE" sz="1600" dirty="0"/>
                  <a:t>!</a:t>
                </a:r>
              </a:p>
            </p:txBody>
          </p:sp>
        </mc:Choice>
        <mc:Fallback>
          <p:sp>
            <p:nvSpPr>
              <p:cNvPr id="48" name="Textfeld 47">
                <a:extLst>
                  <a:ext uri="{FF2B5EF4-FFF2-40B4-BE49-F238E27FC236}">
                    <a16:creationId xmlns:a16="http://schemas.microsoft.com/office/drawing/2014/main" id="{7CFF4227-A829-46A9-398A-ED1AF8632D0C}"/>
                  </a:ext>
                </a:extLst>
              </p:cNvPr>
              <p:cNvSpPr txBox="1">
                <a:spLocks noRot="1" noChangeAspect="1" noMove="1" noResize="1" noEditPoints="1" noAdjustHandles="1" noChangeArrowheads="1" noChangeShapeType="1" noTextEdit="1"/>
              </p:cNvSpPr>
              <p:nvPr/>
            </p:nvSpPr>
            <p:spPr>
              <a:xfrm>
                <a:off x="5809331" y="4182853"/>
                <a:ext cx="2713099" cy="338554"/>
              </a:xfrm>
              <a:prstGeom prst="rect">
                <a:avLst/>
              </a:prstGeom>
              <a:blipFill>
                <a:blip r:embed="rId19"/>
                <a:stretch>
                  <a:fillRect l="-930" t="-7143" b="-21429"/>
                </a:stretch>
              </a:blipFill>
            </p:spPr>
            <p:txBody>
              <a:bodyPr/>
              <a:lstStyle/>
              <a:p>
                <a:r>
                  <a:rPr lang="de-DE">
                    <a:noFill/>
                  </a:rPr>
                  <a:t> </a:t>
                </a:r>
              </a:p>
            </p:txBody>
          </p:sp>
        </mc:Fallback>
      </mc:AlternateContent>
      <p:sp>
        <p:nvSpPr>
          <p:cNvPr id="50" name="Geschweifte Klammer links 49">
            <a:extLst>
              <a:ext uri="{FF2B5EF4-FFF2-40B4-BE49-F238E27FC236}">
                <a16:creationId xmlns:a16="http://schemas.microsoft.com/office/drawing/2014/main" id="{C688ECE7-D3BF-CF35-E9CC-6A63C3490D4C}"/>
              </a:ext>
            </a:extLst>
          </p:cNvPr>
          <p:cNvSpPr/>
          <p:nvPr/>
        </p:nvSpPr>
        <p:spPr>
          <a:xfrm rot="16200000">
            <a:off x="7796996" y="4293917"/>
            <a:ext cx="137116" cy="471017"/>
          </a:xfrm>
          <a:prstGeom prst="leftBrace">
            <a:avLst/>
          </a:prstGeom>
          <a:ln w="254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2" name="Textfeld 51">
            <a:extLst>
              <a:ext uri="{FF2B5EF4-FFF2-40B4-BE49-F238E27FC236}">
                <a16:creationId xmlns:a16="http://schemas.microsoft.com/office/drawing/2014/main" id="{2EC4E995-3E5C-A666-EE4D-48B9242AFF85}"/>
              </a:ext>
            </a:extLst>
          </p:cNvPr>
          <p:cNvSpPr txBox="1"/>
          <p:nvPr/>
        </p:nvSpPr>
        <p:spPr>
          <a:xfrm>
            <a:off x="7383577" y="4577025"/>
            <a:ext cx="1088760" cy="307777"/>
          </a:xfrm>
          <a:prstGeom prst="rect">
            <a:avLst/>
          </a:prstGeom>
          <a:noFill/>
        </p:spPr>
        <p:txBody>
          <a:bodyPr wrap="none" rtlCol="0">
            <a:spAutoFit/>
          </a:bodyPr>
          <a:lstStyle/>
          <a:p>
            <a:r>
              <a:rPr lang="de-DE" dirty="0">
                <a:solidFill>
                  <a:schemeClr val="accent3"/>
                </a:solidFill>
              </a:rPr>
              <a:t>Integrators!</a:t>
            </a:r>
          </a:p>
        </p:txBody>
      </p:sp>
      <p:cxnSp>
        <p:nvCxnSpPr>
          <p:cNvPr id="54" name="Gerade Verbindung mit Pfeil 53">
            <a:extLst>
              <a:ext uri="{FF2B5EF4-FFF2-40B4-BE49-F238E27FC236}">
                <a16:creationId xmlns:a16="http://schemas.microsoft.com/office/drawing/2014/main" id="{A4052F34-E547-1089-7D7A-3ECB9A732C66}"/>
              </a:ext>
            </a:extLst>
          </p:cNvPr>
          <p:cNvCxnSpPr>
            <a:cxnSpLocks/>
          </p:cNvCxnSpPr>
          <p:nvPr/>
        </p:nvCxnSpPr>
        <p:spPr>
          <a:xfrm>
            <a:off x="1732883" y="2473915"/>
            <a:ext cx="0" cy="270898"/>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0" name="Textfeld 59">
            <a:extLst>
              <a:ext uri="{FF2B5EF4-FFF2-40B4-BE49-F238E27FC236}">
                <a16:creationId xmlns:a16="http://schemas.microsoft.com/office/drawing/2014/main" id="{749DC359-EEC6-21C8-0BB9-F68398327936}"/>
              </a:ext>
            </a:extLst>
          </p:cNvPr>
          <p:cNvSpPr txBox="1"/>
          <p:nvPr/>
        </p:nvSpPr>
        <p:spPr>
          <a:xfrm>
            <a:off x="1259297" y="2302128"/>
            <a:ext cx="885179" cy="276999"/>
          </a:xfrm>
          <a:prstGeom prst="rect">
            <a:avLst/>
          </a:prstGeom>
          <a:noFill/>
        </p:spPr>
        <p:txBody>
          <a:bodyPr wrap="none" rtlCol="0">
            <a:spAutoFit/>
          </a:bodyPr>
          <a:lstStyle/>
          <a:p>
            <a:r>
              <a:rPr lang="de-DE" sz="1200" dirty="0" err="1">
                <a:solidFill>
                  <a:schemeClr val="accent3"/>
                </a:solidFill>
              </a:rPr>
              <a:t>using</a:t>
            </a:r>
            <a:r>
              <a:rPr lang="de-DE" sz="1200" dirty="0">
                <a:solidFill>
                  <a:schemeClr val="accent3"/>
                </a:solidFill>
              </a:rPr>
              <a:t> FVT</a:t>
            </a:r>
          </a:p>
        </p:txBody>
      </p:sp>
      <p:cxnSp>
        <p:nvCxnSpPr>
          <p:cNvPr id="62" name="Gerade Verbindung mit Pfeil 61">
            <a:extLst>
              <a:ext uri="{FF2B5EF4-FFF2-40B4-BE49-F238E27FC236}">
                <a16:creationId xmlns:a16="http://schemas.microsoft.com/office/drawing/2014/main" id="{01BF06DE-18BF-9A4E-973E-3F3CF1F02D0A}"/>
              </a:ext>
            </a:extLst>
          </p:cNvPr>
          <p:cNvCxnSpPr>
            <a:cxnSpLocks/>
          </p:cNvCxnSpPr>
          <p:nvPr/>
        </p:nvCxnSpPr>
        <p:spPr>
          <a:xfrm flipV="1">
            <a:off x="1101776" y="3461784"/>
            <a:ext cx="180871" cy="26948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Gerade Verbindung mit Pfeil 66">
            <a:extLst>
              <a:ext uri="{FF2B5EF4-FFF2-40B4-BE49-F238E27FC236}">
                <a16:creationId xmlns:a16="http://schemas.microsoft.com/office/drawing/2014/main" id="{02E5186A-0BB0-9616-1094-250FF5FCE7D5}"/>
              </a:ext>
            </a:extLst>
          </p:cNvPr>
          <p:cNvCxnSpPr>
            <a:cxnSpLocks/>
          </p:cNvCxnSpPr>
          <p:nvPr/>
        </p:nvCxnSpPr>
        <p:spPr>
          <a:xfrm flipV="1">
            <a:off x="2590216" y="3397990"/>
            <a:ext cx="244034" cy="3642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Gerade Verbindung mit Pfeil 72">
            <a:extLst>
              <a:ext uri="{FF2B5EF4-FFF2-40B4-BE49-F238E27FC236}">
                <a16:creationId xmlns:a16="http://schemas.microsoft.com/office/drawing/2014/main" id="{C15AEDFA-EA3B-FCD6-1A8D-8B6195245952}"/>
              </a:ext>
            </a:extLst>
          </p:cNvPr>
          <p:cNvCxnSpPr>
            <a:cxnSpLocks/>
          </p:cNvCxnSpPr>
          <p:nvPr/>
        </p:nvCxnSpPr>
        <p:spPr>
          <a:xfrm flipV="1">
            <a:off x="8515350" y="2767236"/>
            <a:ext cx="0" cy="217481"/>
          </a:xfrm>
          <a:prstGeom prst="straightConnector1">
            <a:avLst/>
          </a:prstGeom>
          <a:ln w="19050">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8" name="Textfeld 77">
                <a:extLst>
                  <a:ext uri="{FF2B5EF4-FFF2-40B4-BE49-F238E27FC236}">
                    <a16:creationId xmlns:a16="http://schemas.microsoft.com/office/drawing/2014/main" id="{0110DF1E-C6C3-0302-9FE2-619D7CB5860D}"/>
                  </a:ext>
                </a:extLst>
              </p:cNvPr>
              <p:cNvSpPr txBox="1"/>
              <p:nvPr/>
            </p:nvSpPr>
            <p:spPr>
              <a:xfrm>
                <a:off x="8489296" y="2692436"/>
                <a:ext cx="472630"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de-CH" b="1" i="1" dirty="0" smtClean="0">
                              <a:solidFill>
                                <a:schemeClr val="accent4"/>
                              </a:solidFill>
                              <a:latin typeface="Cambria Math" panose="02040503050406030204" pitchFamily="18" charset="0"/>
                            </a:rPr>
                          </m:ctrlPr>
                        </m:sSubPr>
                        <m:e>
                          <m:r>
                            <a:rPr lang="de-CH" b="1" i="1" dirty="0">
                              <a:solidFill>
                                <a:schemeClr val="accent4"/>
                              </a:solidFill>
                              <a:latin typeface="Cambria Math" panose="02040503050406030204" pitchFamily="18" charset="0"/>
                            </a:rPr>
                            <m:t>𝒆</m:t>
                          </m:r>
                        </m:e>
                        <m:sub>
                          <m:r>
                            <a:rPr lang="de-CH" b="1" i="1" dirty="0" err="1">
                              <a:solidFill>
                                <a:schemeClr val="accent4"/>
                              </a:solidFill>
                              <a:latin typeface="Cambria Math" panose="02040503050406030204" pitchFamily="18" charset="0"/>
                            </a:rPr>
                            <m:t>𝒔𝒔</m:t>
                          </m:r>
                        </m:sub>
                      </m:sSub>
                    </m:oMath>
                  </m:oMathPara>
                </a14:m>
                <a:endParaRPr lang="de-DE" b="1" dirty="0">
                  <a:solidFill>
                    <a:schemeClr val="accent4"/>
                  </a:solidFill>
                </a:endParaRPr>
              </a:p>
            </p:txBody>
          </p:sp>
        </mc:Choice>
        <mc:Fallback>
          <p:sp>
            <p:nvSpPr>
              <p:cNvPr id="78" name="Textfeld 77">
                <a:extLst>
                  <a:ext uri="{FF2B5EF4-FFF2-40B4-BE49-F238E27FC236}">
                    <a16:creationId xmlns:a16="http://schemas.microsoft.com/office/drawing/2014/main" id="{0110DF1E-C6C3-0302-9FE2-619D7CB5860D}"/>
                  </a:ext>
                </a:extLst>
              </p:cNvPr>
              <p:cNvSpPr txBox="1">
                <a:spLocks noRot="1" noChangeAspect="1" noMove="1" noResize="1" noEditPoints="1" noAdjustHandles="1" noChangeArrowheads="1" noChangeShapeType="1" noTextEdit="1"/>
              </p:cNvSpPr>
              <p:nvPr/>
            </p:nvSpPr>
            <p:spPr>
              <a:xfrm>
                <a:off x="8489296" y="2692436"/>
                <a:ext cx="472630" cy="307777"/>
              </a:xfrm>
              <a:prstGeom prst="rect">
                <a:avLst/>
              </a:prstGeom>
              <a:blipFill>
                <a:blip r:embed="rId20"/>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86521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blinds(horizontal)">
                                      <p:cBhvr>
                                        <p:cTn id="10" dur="500"/>
                                        <p:tgtEl>
                                          <p:spTgt spid="44"/>
                                        </p:tgtEl>
                                      </p:cBhvr>
                                    </p:animEffect>
                                  </p:childTnLst>
                                </p:cTn>
                              </p:par>
                              <p:par>
                                <p:cTn id="11" presetID="3" presetClass="entr" presetSubtype="1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blinds(horizontal)">
                                      <p:cBhvr>
                                        <p:cTn id="13" dur="500"/>
                                        <p:tgtEl>
                                          <p:spTgt spid="67"/>
                                        </p:tgtEl>
                                      </p:cBhvr>
                                    </p:animEffect>
                                  </p:childTnLst>
                                </p:cTn>
                              </p:par>
                              <p:par>
                                <p:cTn id="14" presetID="3" presetClass="entr" presetSubtype="10" fill="hold" nodeType="with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blinds(horizontal)">
                                      <p:cBhvr>
                                        <p:cTn id="16" dur="500"/>
                                        <p:tgtEl>
                                          <p:spTgt spid="6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blinds(horizontal)">
                                      <p:cBhvr>
                                        <p:cTn id="21" dur="500"/>
                                        <p:tgtEl>
                                          <p:spTgt spid="4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blinds(horizontal)">
                                      <p:cBhvr>
                                        <p:cTn id="24" dur="500"/>
                                        <p:tgtEl>
                                          <p:spTgt spid="46"/>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blinds(horizontal)">
                                      <p:cBhvr>
                                        <p:cTn id="29" dur="500"/>
                                        <p:tgtEl>
                                          <p:spTgt spid="5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linds(horizontal)">
                                      <p:cBhvr>
                                        <p:cTn id="32" dur="500"/>
                                        <p:tgtEl>
                                          <p:spTgt spid="48"/>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blinds(horizontal)">
                                      <p:cBhvr>
                                        <p:cTn id="3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8" grpId="0"/>
      <p:bldP spid="50" grpId="0" animBg="1"/>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6761CF-2B5C-00EA-8875-BA3DE3CCFA04}"/>
              </a:ext>
            </a:extLst>
          </p:cNvPr>
          <p:cNvSpPr>
            <a:spLocks noGrp="1"/>
          </p:cNvSpPr>
          <p:nvPr>
            <p:ph type="title"/>
          </p:nvPr>
        </p:nvSpPr>
        <p:spPr/>
        <p:txBody>
          <a:bodyPr/>
          <a:lstStyle/>
          <a:p>
            <a:r>
              <a:rPr lang="de-DE" dirty="0"/>
              <a:t>Integrators</a:t>
            </a:r>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81AC291D-A0A8-6181-4A1A-0A7213703B83}"/>
                  </a:ext>
                </a:extLst>
              </p:cNvPr>
              <p:cNvSpPr>
                <a:spLocks noGrp="1"/>
              </p:cNvSpPr>
              <p:nvPr>
                <p:ph idx="1"/>
              </p:nvPr>
            </p:nvSpPr>
            <p:spPr/>
            <p:txBody>
              <a:bodyPr/>
              <a:lstStyle/>
              <a:p>
                <a:r>
                  <a:rPr lang="de-DE" dirty="0" err="1"/>
                  <a:t>If</a:t>
                </a:r>
                <a:r>
                  <a:rPr lang="de-DE" dirty="0"/>
                  <a:t> </a:t>
                </a:r>
                <a:r>
                  <a:rPr lang="de-DE" dirty="0" err="1"/>
                  <a:t>constant</a:t>
                </a:r>
                <a:r>
                  <a:rPr lang="de-DE" dirty="0"/>
                  <a:t> </a:t>
                </a:r>
                <a:r>
                  <a:rPr lang="de-DE" dirty="0" err="1"/>
                  <a:t>error</a:t>
                </a:r>
                <a:r>
                  <a:rPr lang="de-DE" dirty="0"/>
                  <a:t> </a:t>
                </a:r>
                <a:r>
                  <a:rPr lang="de-DE" dirty="0" err="1"/>
                  <a:t>is</a:t>
                </a:r>
                <a:r>
                  <a:rPr lang="de-DE" dirty="0"/>
                  <a:t> </a:t>
                </a:r>
                <a:r>
                  <a:rPr lang="de-DE" dirty="0" err="1"/>
                  <a:t>integrated</a:t>
                </a:r>
                <a:r>
                  <a:rPr lang="de-DE" dirty="0"/>
                  <a:t>, </a:t>
                </a:r>
                <a:r>
                  <a:rPr lang="de-DE" dirty="0" err="1"/>
                  <a:t>it</a:t>
                </a:r>
                <a:r>
                  <a:rPr lang="de-DE" dirty="0"/>
                  <a:t> </a:t>
                </a:r>
                <a:r>
                  <a:rPr lang="de-DE" dirty="0" err="1"/>
                  <a:t>steadily</a:t>
                </a:r>
                <a:r>
                  <a:rPr lang="de-DE" dirty="0"/>
                  <a:t> </a:t>
                </a:r>
                <a:r>
                  <a:rPr lang="de-DE" dirty="0" err="1"/>
                  <a:t>grows</a:t>
                </a:r>
                <a:endParaRPr lang="de-DE" dirty="0"/>
              </a:p>
              <a:p>
                <a:r>
                  <a:rPr lang="de-DE" dirty="0"/>
                  <a:t>Controller </a:t>
                </a:r>
                <a:r>
                  <a:rPr lang="de-DE" dirty="0" err="1"/>
                  <a:t>tries</a:t>
                </a:r>
                <a:r>
                  <a:rPr lang="de-DE" dirty="0"/>
                  <a:t> </a:t>
                </a:r>
                <a:r>
                  <a:rPr lang="de-DE" dirty="0" err="1"/>
                  <a:t>to</a:t>
                </a:r>
                <a:r>
                  <a:rPr lang="de-DE" dirty="0"/>
                  <a:t> </a:t>
                </a:r>
                <a:r>
                  <a:rPr lang="de-DE" dirty="0" err="1"/>
                  <a:t>minimize</a:t>
                </a:r>
                <a:r>
                  <a:rPr lang="de-DE" dirty="0"/>
                  <a:t> </a:t>
                </a:r>
                <a:r>
                  <a:rPr lang="de-DE" dirty="0" err="1"/>
                  <a:t>this</a:t>
                </a:r>
                <a:r>
                  <a:rPr lang="de-DE" dirty="0"/>
                  <a:t> </a:t>
                </a:r>
                <a:r>
                  <a:rPr lang="de-DE" dirty="0" err="1"/>
                  <a:t>growth</a:t>
                </a:r>
                <a:r>
                  <a:rPr lang="de-DE" dirty="0"/>
                  <a:t> and </a:t>
                </a:r>
                <a:r>
                  <a:rPr lang="de-DE" dirty="0" err="1"/>
                  <a:t>drives</a:t>
                </a:r>
                <a:r>
                  <a:rPr lang="de-DE" dirty="0"/>
                  <a:t> </a:t>
                </a:r>
                <a14:m>
                  <m:oMath xmlns:m="http://schemas.openxmlformats.org/officeDocument/2006/math">
                    <m:r>
                      <a:rPr lang="de-DE" i="1" dirty="0" smtClean="0">
                        <a:latin typeface="Cambria Math" panose="02040503050406030204" pitchFamily="18" charset="0"/>
                      </a:rPr>
                      <m:t>𝑒</m:t>
                    </m:r>
                    <m:r>
                      <a:rPr lang="de-DE" i="1" dirty="0" smtClean="0">
                        <a:latin typeface="Cambria Math" panose="02040503050406030204" pitchFamily="18" charset="0"/>
                      </a:rPr>
                      <m:t>(</m:t>
                    </m:r>
                    <m:r>
                      <a:rPr lang="de-DE" i="1" dirty="0" smtClean="0">
                        <a:latin typeface="Cambria Math" panose="02040503050406030204" pitchFamily="18" charset="0"/>
                      </a:rPr>
                      <m:t>𝑡</m:t>
                    </m:r>
                    <m:r>
                      <a:rPr lang="de-DE" i="1" dirty="0" smtClean="0">
                        <a:latin typeface="Cambria Math" panose="02040503050406030204" pitchFamily="18" charset="0"/>
                      </a:rPr>
                      <m:t>)</m:t>
                    </m:r>
                  </m:oMath>
                </a14:m>
                <a:r>
                  <a:rPr lang="de-DE" dirty="0"/>
                  <a:t> </a:t>
                </a:r>
                <a:r>
                  <a:rPr lang="de-DE" dirty="0" err="1"/>
                  <a:t>to</a:t>
                </a:r>
                <a:r>
                  <a:rPr lang="de-DE" dirty="0"/>
                  <a:t> </a:t>
                </a:r>
                <a:r>
                  <a:rPr lang="de-DE" dirty="0" err="1"/>
                  <a:t>zero</a:t>
                </a:r>
                <a:endParaRPr lang="de-DE" dirty="0"/>
              </a:p>
              <a:p>
                <a:endParaRPr lang="de-DE" dirty="0"/>
              </a:p>
              <a:p>
                <a:endParaRPr lang="de-DE" dirty="0"/>
              </a:p>
            </p:txBody>
          </p:sp>
        </mc:Choice>
        <mc:Fallback>
          <p:sp>
            <p:nvSpPr>
              <p:cNvPr id="3" name="Inhaltsplatzhalter 2">
                <a:extLst>
                  <a:ext uri="{FF2B5EF4-FFF2-40B4-BE49-F238E27FC236}">
                    <a16:creationId xmlns:a16="http://schemas.microsoft.com/office/drawing/2014/main" id="{81AC291D-A0A8-6181-4A1A-0A7213703B83}"/>
                  </a:ext>
                </a:extLst>
              </p:cNvPr>
              <p:cNvSpPr>
                <a:spLocks noGrp="1" noRot="1" noChangeAspect="1" noMove="1" noResize="1" noEditPoints="1" noAdjustHandles="1" noChangeArrowheads="1" noChangeShapeType="1" noTextEdit="1"/>
              </p:cNvSpPr>
              <p:nvPr>
                <p:ph idx="1"/>
              </p:nvPr>
            </p:nvSpPr>
            <p:spPr>
              <a:blipFill>
                <a:blip r:embed="rId2"/>
                <a:stretch>
                  <a:fillRect l="-482"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BC4616DA-F44E-82A0-4E65-7021B9831E7C}"/>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C85001E3-7C0E-D988-24D3-3DB4729391B8}"/>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12</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302953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nhaltsplatzhalter 6" descr="Ein Bild, das Text, Screenshot, Schrift, Zahl enthält.&#10;&#10;KI-generierte Inhalte können fehlerhaft sein.">
            <a:extLst>
              <a:ext uri="{FF2B5EF4-FFF2-40B4-BE49-F238E27FC236}">
                <a16:creationId xmlns:a16="http://schemas.microsoft.com/office/drawing/2014/main" id="{1742A8CD-A7F1-82F1-7110-3AA9AA659B3B}"/>
              </a:ext>
            </a:extLst>
          </p:cNvPr>
          <p:cNvPicPr>
            <a:picLocks noGrp="1" noChangeAspect="1"/>
          </p:cNvPicPr>
          <p:nvPr>
            <p:ph idx="1"/>
          </p:nvPr>
        </p:nvPicPr>
        <p:blipFill>
          <a:blip r:embed="rId2"/>
          <a:srcRect l="1" r="130" b="17402"/>
          <a:stretch>
            <a:fillRect/>
          </a:stretch>
        </p:blipFill>
        <p:spPr>
          <a:xfrm>
            <a:off x="255559" y="623713"/>
            <a:ext cx="8632881" cy="3896074"/>
          </a:xfrm>
        </p:spPr>
      </p:pic>
      <p:sp>
        <p:nvSpPr>
          <p:cNvPr id="4" name="Fußzeilenplatzhalter 3">
            <a:extLst>
              <a:ext uri="{FF2B5EF4-FFF2-40B4-BE49-F238E27FC236}">
                <a16:creationId xmlns:a16="http://schemas.microsoft.com/office/drawing/2014/main" id="{4F801622-48E0-4AC6-4665-527C69CECB76}"/>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F6367F4-2875-0B5C-46BD-CB8D406AAFBE}"/>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13</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3212061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685B63-7EF4-BA82-D763-BD5DFA465172}"/>
              </a:ext>
            </a:extLst>
          </p:cNvPr>
          <p:cNvSpPr>
            <a:spLocks noGrp="1"/>
          </p:cNvSpPr>
          <p:nvPr>
            <p:ph type="ctrTitle"/>
          </p:nvPr>
        </p:nvSpPr>
        <p:spPr/>
        <p:txBody>
          <a:bodyPr/>
          <a:lstStyle/>
          <a:p>
            <a:r>
              <a:rPr lang="de-DE" dirty="0"/>
              <a:t>2. Time-Domain </a:t>
            </a:r>
            <a:r>
              <a:rPr lang="de-DE" dirty="0" err="1"/>
              <a:t>Specifications</a:t>
            </a:r>
            <a:endParaRPr lang="de-DE" dirty="0"/>
          </a:p>
        </p:txBody>
      </p:sp>
      <p:sp>
        <p:nvSpPr>
          <p:cNvPr id="3" name="Untertitel 2">
            <a:extLst>
              <a:ext uri="{FF2B5EF4-FFF2-40B4-BE49-F238E27FC236}">
                <a16:creationId xmlns:a16="http://schemas.microsoft.com/office/drawing/2014/main" id="{20F80FCC-0994-0CF8-479C-575BE43F758C}"/>
              </a:ext>
            </a:extLst>
          </p:cNvPr>
          <p:cNvSpPr>
            <a:spLocks noGrp="1"/>
          </p:cNvSpPr>
          <p:nvPr>
            <p:ph type="subTitle" idx="1"/>
          </p:nvPr>
        </p:nvSpPr>
        <p:spPr/>
        <p:txBody>
          <a:bodyPr/>
          <a:lstStyle/>
          <a:p>
            <a:endParaRPr lang="de-DE"/>
          </a:p>
        </p:txBody>
      </p:sp>
      <p:sp>
        <p:nvSpPr>
          <p:cNvPr id="4" name="Fußzeilenplatzhalter 3">
            <a:extLst>
              <a:ext uri="{FF2B5EF4-FFF2-40B4-BE49-F238E27FC236}">
                <a16:creationId xmlns:a16="http://schemas.microsoft.com/office/drawing/2014/main" id="{BBCF0B9B-9C91-B742-3ED9-54E08A3BA440}"/>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9AD84DE9-BEF8-7F8B-442F-3B7078600DAB}"/>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14</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2428940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F102B2-DB80-AE16-C934-B6BF5D4C7E52}"/>
              </a:ext>
            </a:extLst>
          </p:cNvPr>
          <p:cNvSpPr>
            <a:spLocks noGrp="1"/>
          </p:cNvSpPr>
          <p:nvPr>
            <p:ph type="title"/>
          </p:nvPr>
        </p:nvSpPr>
        <p:spPr/>
        <p:txBody>
          <a:bodyPr/>
          <a:lstStyle/>
          <a:p>
            <a:r>
              <a:rPr lang="de-DE" dirty="0"/>
              <a:t>Time-Domain </a:t>
            </a:r>
            <a:r>
              <a:rPr lang="de-DE" dirty="0" err="1"/>
              <a:t>Specifications</a:t>
            </a:r>
            <a:endParaRPr lang="de-DE" dirty="0"/>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D707D6B2-1345-B71B-ED81-127EC4CB27C4}"/>
                  </a:ext>
                </a:extLst>
              </p:cNvPr>
              <p:cNvSpPr>
                <a:spLocks noGrp="1"/>
              </p:cNvSpPr>
              <p:nvPr>
                <p:ph idx="1"/>
              </p:nvPr>
            </p:nvSpPr>
            <p:spPr>
              <a:xfrm>
                <a:off x="5634407" y="1606152"/>
                <a:ext cx="3495760" cy="3263504"/>
              </a:xfrm>
            </p:spPr>
            <p:txBody>
              <a:bodyPr/>
              <a:lstStyle/>
              <a:p>
                <a:pPr/>
                <a14:m>
                  <m:oMath xmlns:m="http://schemas.openxmlformats.org/officeDocument/2006/math">
                    <m:sSub>
                      <m:sSubPr>
                        <m:ctrlPr>
                          <a:rPr lang="de-DE" i="1" dirty="0" smtClean="0">
                            <a:solidFill>
                              <a:schemeClr val="accent2"/>
                            </a:solidFill>
                            <a:latin typeface="Cambria Math" panose="02040503050406030204" pitchFamily="18" charset="0"/>
                          </a:rPr>
                        </m:ctrlPr>
                      </m:sSubPr>
                      <m:e>
                        <m:r>
                          <a:rPr lang="de-DE" i="1" dirty="0">
                            <a:solidFill>
                              <a:schemeClr val="accent2"/>
                            </a:solidFill>
                            <a:latin typeface="Cambria Math" panose="02040503050406030204" pitchFamily="18" charset="0"/>
                          </a:rPr>
                          <m:t>𝑇</m:t>
                        </m:r>
                      </m:e>
                      <m:sub>
                        <m:r>
                          <a:rPr lang="de-DE" i="1" dirty="0">
                            <a:solidFill>
                              <a:schemeClr val="accent2"/>
                            </a:solidFill>
                            <a:latin typeface="Cambria Math" panose="02040503050406030204" pitchFamily="18" charset="0"/>
                          </a:rPr>
                          <m:t>100%</m:t>
                        </m:r>
                      </m:sub>
                    </m:sSub>
                  </m:oMath>
                </a14:m>
                <a:r>
                  <a:rPr lang="de-DE" dirty="0"/>
                  <a:t>:</a:t>
                </a:r>
                <a:r>
                  <a:rPr lang="de-DE" dirty="0">
                    <a:solidFill>
                      <a:schemeClr val="accent2"/>
                    </a:solidFill>
                  </a:rPr>
                  <a:t>  	</a:t>
                </a:r>
                <a:r>
                  <a:rPr lang="de-DE" dirty="0" err="1"/>
                  <a:t>Rise</a:t>
                </a:r>
                <a:r>
                  <a:rPr lang="de-DE" dirty="0"/>
                  <a:t> Time</a:t>
                </a:r>
              </a:p>
              <a:p>
                <a14:m>
                  <m:oMath xmlns:m="http://schemas.openxmlformats.org/officeDocument/2006/math">
                    <m:sSub>
                      <m:sSubPr>
                        <m:ctrlPr>
                          <a:rPr lang="de-DE" i="1" dirty="0" smtClean="0">
                            <a:solidFill>
                              <a:schemeClr val="accent5"/>
                            </a:solidFill>
                            <a:latin typeface="Cambria Math" panose="02040503050406030204" pitchFamily="18" charset="0"/>
                          </a:rPr>
                        </m:ctrlPr>
                      </m:sSubPr>
                      <m:e>
                        <m:r>
                          <a:rPr lang="de-DE" i="1" dirty="0">
                            <a:solidFill>
                              <a:schemeClr val="accent5"/>
                            </a:solidFill>
                            <a:latin typeface="Cambria Math" panose="02040503050406030204" pitchFamily="18" charset="0"/>
                          </a:rPr>
                          <m:t>𝑇</m:t>
                        </m:r>
                      </m:e>
                      <m:sub>
                        <m:r>
                          <a:rPr lang="de-DE" i="1" dirty="0">
                            <a:solidFill>
                              <a:schemeClr val="accent5"/>
                            </a:solidFill>
                            <a:latin typeface="Cambria Math" panose="02040503050406030204" pitchFamily="18" charset="0"/>
                          </a:rPr>
                          <m:t>𝑝</m:t>
                        </m:r>
                      </m:sub>
                    </m:sSub>
                    <m:r>
                      <a:rPr lang="de-CH" b="0" i="1" dirty="0" smtClean="0">
                        <a:solidFill>
                          <a:schemeClr val="tx1"/>
                        </a:solidFill>
                        <a:latin typeface="Cambria Math" panose="02040503050406030204" pitchFamily="18" charset="0"/>
                      </a:rPr>
                      <m:t>:</m:t>
                    </m:r>
                  </m:oMath>
                </a14:m>
                <a:r>
                  <a:rPr lang="de-DE" dirty="0">
                    <a:solidFill>
                      <a:schemeClr val="accent2"/>
                    </a:solidFill>
                  </a:rPr>
                  <a:t>		</a:t>
                </a:r>
                <a:r>
                  <a:rPr lang="de-DE" dirty="0"/>
                  <a:t>Peak Time</a:t>
                </a:r>
              </a:p>
              <a:p>
                <a:pPr/>
                <a14:m>
                  <m:oMath xmlns:m="http://schemas.openxmlformats.org/officeDocument/2006/math">
                    <m:sSub>
                      <m:sSubPr>
                        <m:ctrlPr>
                          <a:rPr lang="de-DE" i="1" dirty="0">
                            <a:solidFill>
                              <a:schemeClr val="accent4"/>
                            </a:solidFill>
                            <a:latin typeface="Cambria Math" panose="02040503050406030204" pitchFamily="18" charset="0"/>
                          </a:rPr>
                        </m:ctrlPr>
                      </m:sSubPr>
                      <m:e>
                        <m:r>
                          <a:rPr lang="de-DE" i="1" dirty="0">
                            <a:solidFill>
                              <a:schemeClr val="accent4"/>
                            </a:solidFill>
                            <a:latin typeface="Cambria Math" panose="02040503050406030204" pitchFamily="18" charset="0"/>
                          </a:rPr>
                          <m:t>𝑇</m:t>
                        </m:r>
                      </m:e>
                      <m:sub>
                        <m:r>
                          <a:rPr lang="de-DE" i="1" dirty="0">
                            <a:solidFill>
                              <a:schemeClr val="accent4"/>
                            </a:solidFill>
                            <a:latin typeface="Cambria Math" panose="02040503050406030204" pitchFamily="18" charset="0"/>
                          </a:rPr>
                          <m:t>𝑑</m:t>
                        </m:r>
                      </m:sub>
                    </m:sSub>
                    <m:r>
                      <a:rPr lang="de-DE" i="1" dirty="0">
                        <a:solidFill>
                          <a:schemeClr val="accent4"/>
                        </a:solidFill>
                        <a:latin typeface="Cambria Math" panose="02040503050406030204" pitchFamily="18" charset="0"/>
                      </a:rPr>
                      <m:t> </m:t>
                    </m:r>
                  </m:oMath>
                </a14:m>
                <a:r>
                  <a:rPr lang="de-DE" dirty="0"/>
                  <a:t>:</a:t>
                </a:r>
                <a:r>
                  <a:rPr lang="de-DE" dirty="0">
                    <a:solidFill>
                      <a:schemeClr val="accent2"/>
                    </a:solidFill>
                  </a:rPr>
                  <a:t>		</a:t>
                </a:r>
                <a:r>
                  <a:rPr lang="de-DE" dirty="0" err="1"/>
                  <a:t>Settling</a:t>
                </a:r>
                <a:r>
                  <a:rPr lang="de-DE" dirty="0"/>
                  <a:t> Time</a:t>
                </a:r>
              </a:p>
              <a:p>
                <a:pPr/>
                <a14:m>
                  <m:oMath xmlns:m="http://schemas.openxmlformats.org/officeDocument/2006/math">
                    <m:sSub>
                      <m:sSubPr>
                        <m:ctrlPr>
                          <a:rPr lang="de-DE" i="1" dirty="0">
                            <a:solidFill>
                              <a:srgbClr val="0708F5"/>
                            </a:solidFill>
                            <a:latin typeface="Cambria Math" panose="02040503050406030204" pitchFamily="18" charset="0"/>
                          </a:rPr>
                        </m:ctrlPr>
                      </m:sSubPr>
                      <m:e>
                        <m:r>
                          <a:rPr lang="de-DE" i="1" dirty="0">
                            <a:solidFill>
                              <a:srgbClr val="0708F5"/>
                            </a:solidFill>
                            <a:latin typeface="Cambria Math" panose="02040503050406030204" pitchFamily="18" charset="0"/>
                          </a:rPr>
                          <m:t>𝑀</m:t>
                        </m:r>
                      </m:e>
                      <m:sub>
                        <m:r>
                          <a:rPr lang="de-DE" i="1" dirty="0">
                            <a:solidFill>
                              <a:srgbClr val="0708F5"/>
                            </a:solidFill>
                            <a:latin typeface="Cambria Math" panose="02040503050406030204" pitchFamily="18" charset="0"/>
                          </a:rPr>
                          <m:t>𝑝</m:t>
                        </m:r>
                      </m:sub>
                    </m:sSub>
                    <m:r>
                      <a:rPr lang="de-CH" b="0" i="1" dirty="0" smtClean="0">
                        <a:solidFill>
                          <a:schemeClr val="tx1"/>
                        </a:solidFill>
                        <a:latin typeface="Cambria Math" panose="02040503050406030204" pitchFamily="18" charset="0"/>
                      </a:rPr>
                      <m:t>:</m:t>
                    </m:r>
                  </m:oMath>
                </a14:m>
                <a:r>
                  <a:rPr lang="de-DE" dirty="0">
                    <a:solidFill>
                      <a:schemeClr val="accent2"/>
                    </a:solidFill>
                  </a:rPr>
                  <a:t>		</a:t>
                </a:r>
                <a:r>
                  <a:rPr lang="de-DE" dirty="0"/>
                  <a:t>Peak </a:t>
                </a:r>
                <a:r>
                  <a:rPr lang="de-DE" dirty="0" err="1"/>
                  <a:t>Overshoot</a:t>
                </a:r>
                <a:endParaRPr lang="de-DE" dirty="0"/>
              </a:p>
              <a:p>
                <a:pPr/>
                <a:endParaRPr lang="de-DE" dirty="0">
                  <a:solidFill>
                    <a:schemeClr val="accent2"/>
                  </a:solidFill>
                </a:endParaRPr>
              </a:p>
              <a:p>
                <a:pPr/>
                <a:endParaRPr lang="de-DE" dirty="0">
                  <a:solidFill>
                    <a:schemeClr val="accent2"/>
                  </a:solidFill>
                </a:endParaRPr>
              </a:p>
            </p:txBody>
          </p:sp>
        </mc:Choice>
        <mc:Fallback>
          <p:sp>
            <p:nvSpPr>
              <p:cNvPr id="3" name="Inhaltsplatzhalter 2">
                <a:extLst>
                  <a:ext uri="{FF2B5EF4-FFF2-40B4-BE49-F238E27FC236}">
                    <a16:creationId xmlns:a16="http://schemas.microsoft.com/office/drawing/2014/main" id="{D707D6B2-1345-B71B-ED81-127EC4CB27C4}"/>
                  </a:ext>
                </a:extLst>
              </p:cNvPr>
              <p:cNvSpPr>
                <a:spLocks noGrp="1" noRot="1" noChangeAspect="1" noMove="1" noResize="1" noEditPoints="1" noAdjustHandles="1" noChangeArrowheads="1" noChangeShapeType="1" noTextEdit="1"/>
              </p:cNvSpPr>
              <p:nvPr>
                <p:ph idx="1"/>
              </p:nvPr>
            </p:nvSpPr>
            <p:spPr>
              <a:xfrm>
                <a:off x="5634407" y="1606152"/>
                <a:ext cx="3495760" cy="3263504"/>
              </a:xfrm>
              <a:blipFill>
                <a:blip r:embed="rId2"/>
                <a:stretch>
                  <a:fillRect l="-1083" t="-1938"/>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A0BC3AFC-B3BD-3B4F-72AE-42F34D0ED50A}"/>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E6CDCD3-F18A-73BD-BFCA-B47256B733B2}"/>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15</a:t>
            </a:fld>
            <a:endParaRPr lang="en-CH" kern="1200">
              <a:solidFill>
                <a:srgbClr val="101623">
                  <a:tint val="75000"/>
                </a:srgbClr>
              </a:solidFill>
              <a:latin typeface="Calibri" panose="020F0502020204030204"/>
              <a:ea typeface="+mn-ea"/>
              <a:cs typeface="+mn-cs"/>
            </a:endParaRPr>
          </a:p>
        </p:txBody>
      </p:sp>
      <p:cxnSp>
        <p:nvCxnSpPr>
          <p:cNvPr id="6" name="Gewinkelte Verbindung 5">
            <a:extLst>
              <a:ext uri="{FF2B5EF4-FFF2-40B4-BE49-F238E27FC236}">
                <a16:creationId xmlns:a16="http://schemas.microsoft.com/office/drawing/2014/main" id="{59932FD0-3B7E-149F-7CEF-95237F204C69}"/>
              </a:ext>
            </a:extLst>
          </p:cNvPr>
          <p:cNvCxnSpPr>
            <a:cxnSpLocks/>
          </p:cNvCxnSpPr>
          <p:nvPr/>
        </p:nvCxnSpPr>
        <p:spPr>
          <a:xfrm>
            <a:off x="628650" y="1613186"/>
            <a:ext cx="4450618" cy="2775569"/>
          </a:xfrm>
          <a:prstGeom prst="bentConnector3">
            <a:avLst>
              <a:gd name="adj1" fmla="val 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Textfeld 14">
                <a:extLst>
                  <a:ext uri="{FF2B5EF4-FFF2-40B4-BE49-F238E27FC236}">
                    <a16:creationId xmlns:a16="http://schemas.microsoft.com/office/drawing/2014/main" id="{0D496C9F-42F7-2CBA-975A-E12BBAA301FA}"/>
                  </a:ext>
                </a:extLst>
              </p:cNvPr>
              <p:cNvSpPr txBox="1"/>
              <p:nvPr/>
            </p:nvSpPr>
            <p:spPr>
              <a:xfrm>
                <a:off x="195332" y="1305842"/>
                <a:ext cx="605550"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600" i="1" dirty="0" smtClean="0">
                          <a:latin typeface="Cambria Math" panose="02040503050406030204" pitchFamily="18" charset="0"/>
                        </a:rPr>
                        <m:t>𝑦</m:t>
                      </m:r>
                      <m:d>
                        <m:dPr>
                          <m:ctrlPr>
                            <a:rPr lang="de-DE" sz="1600" i="1" dirty="0" smtClean="0">
                              <a:latin typeface="Cambria Math" panose="02040503050406030204" pitchFamily="18" charset="0"/>
                            </a:rPr>
                          </m:ctrlPr>
                        </m:dPr>
                        <m:e>
                          <m:r>
                            <a:rPr lang="de-DE" sz="1600" i="1" dirty="0" smtClean="0">
                              <a:latin typeface="Cambria Math" panose="02040503050406030204" pitchFamily="18" charset="0"/>
                            </a:rPr>
                            <m:t>𝑡</m:t>
                          </m:r>
                        </m:e>
                      </m:d>
                    </m:oMath>
                  </m:oMathPara>
                </a14:m>
              </a:p>
            </p:txBody>
          </p:sp>
        </mc:Choice>
        <mc:Fallback>
          <p:sp>
            <p:nvSpPr>
              <p:cNvPr id="15" name="Textfeld 14">
                <a:extLst>
                  <a:ext uri="{FF2B5EF4-FFF2-40B4-BE49-F238E27FC236}">
                    <a16:creationId xmlns:a16="http://schemas.microsoft.com/office/drawing/2014/main" id="{0D496C9F-42F7-2CBA-975A-E12BBAA301FA}"/>
                  </a:ext>
                </a:extLst>
              </p:cNvPr>
              <p:cNvSpPr txBox="1">
                <a:spLocks noRot="1" noChangeAspect="1" noMove="1" noResize="1" noEditPoints="1" noAdjustHandles="1" noChangeArrowheads="1" noChangeShapeType="1" noTextEdit="1"/>
              </p:cNvSpPr>
              <p:nvPr/>
            </p:nvSpPr>
            <p:spPr>
              <a:xfrm>
                <a:off x="195332" y="1305842"/>
                <a:ext cx="605550" cy="338554"/>
              </a:xfrm>
              <a:prstGeom prst="rect">
                <a:avLst/>
              </a:prstGeom>
              <a:blipFill>
                <a:blip r:embed="rId3"/>
                <a:stretch>
                  <a:fillRect t="-3571" r="-10417" b="-21429"/>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16" name="Textfeld 15">
                <a:extLst>
                  <a:ext uri="{FF2B5EF4-FFF2-40B4-BE49-F238E27FC236}">
                    <a16:creationId xmlns:a16="http://schemas.microsoft.com/office/drawing/2014/main" id="{72B2DB58-BFDB-1C7F-1B2C-0C47733692C6}"/>
                  </a:ext>
                </a:extLst>
              </p:cNvPr>
              <p:cNvSpPr txBox="1"/>
              <p:nvPr/>
            </p:nvSpPr>
            <p:spPr>
              <a:xfrm>
                <a:off x="5079268" y="4215518"/>
                <a:ext cx="329128"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600" i="1" dirty="0" smtClean="0">
                          <a:latin typeface="Cambria Math" panose="02040503050406030204" pitchFamily="18" charset="0"/>
                        </a:rPr>
                        <m:t>𝑡</m:t>
                      </m:r>
                    </m:oMath>
                  </m:oMathPara>
                </a14:m>
                <a:endParaRPr lang="de-DE" sz="1600" dirty="0"/>
              </a:p>
            </p:txBody>
          </p:sp>
        </mc:Choice>
        <mc:Fallback>
          <p:sp>
            <p:nvSpPr>
              <p:cNvPr id="16" name="Textfeld 15">
                <a:extLst>
                  <a:ext uri="{FF2B5EF4-FFF2-40B4-BE49-F238E27FC236}">
                    <a16:creationId xmlns:a16="http://schemas.microsoft.com/office/drawing/2014/main" id="{72B2DB58-BFDB-1C7F-1B2C-0C47733692C6}"/>
                  </a:ext>
                </a:extLst>
              </p:cNvPr>
              <p:cNvSpPr txBox="1">
                <a:spLocks noRot="1" noChangeAspect="1" noMove="1" noResize="1" noEditPoints="1" noAdjustHandles="1" noChangeArrowheads="1" noChangeShapeType="1" noTextEdit="1"/>
              </p:cNvSpPr>
              <p:nvPr/>
            </p:nvSpPr>
            <p:spPr>
              <a:xfrm>
                <a:off x="5079268" y="4215518"/>
                <a:ext cx="329128" cy="338554"/>
              </a:xfrm>
              <a:prstGeom prst="rect">
                <a:avLst/>
              </a:prstGeom>
              <a:blipFill>
                <a:blip r:embed="rId4"/>
                <a:stretch>
                  <a:fillRect/>
                </a:stretch>
              </a:blipFill>
            </p:spPr>
            <p:txBody>
              <a:bodyPr/>
              <a:lstStyle/>
              <a:p>
                <a:r>
                  <a:rPr lang="de-DE">
                    <a:noFill/>
                  </a:rPr>
                  <a:t> </a:t>
                </a:r>
              </a:p>
            </p:txBody>
          </p:sp>
        </mc:Fallback>
      </mc:AlternateContent>
      <p:grpSp>
        <p:nvGrpSpPr>
          <p:cNvPr id="29" name="Gruppieren 28">
            <a:extLst>
              <a:ext uri="{FF2B5EF4-FFF2-40B4-BE49-F238E27FC236}">
                <a16:creationId xmlns:a16="http://schemas.microsoft.com/office/drawing/2014/main" id="{AD32227D-423D-F930-D3D3-047F7F41A904}"/>
              </a:ext>
            </a:extLst>
          </p:cNvPr>
          <p:cNvGrpSpPr/>
          <p:nvPr/>
        </p:nvGrpSpPr>
        <p:grpSpPr>
          <a:xfrm>
            <a:off x="628650" y="2365800"/>
            <a:ext cx="4264761" cy="2018995"/>
            <a:chOff x="1250899" y="2267712"/>
            <a:chExt cx="4264761" cy="2018995"/>
          </a:xfrm>
        </p:grpSpPr>
        <p:cxnSp>
          <p:nvCxnSpPr>
            <p:cNvPr id="18" name="Gerade Verbindung 17">
              <a:extLst>
                <a:ext uri="{FF2B5EF4-FFF2-40B4-BE49-F238E27FC236}">
                  <a16:creationId xmlns:a16="http://schemas.microsoft.com/office/drawing/2014/main" id="{13C5F039-A623-62F8-DC3F-DF17364F532B}"/>
                </a:ext>
              </a:extLst>
            </p:cNvPr>
            <p:cNvCxnSpPr>
              <a:cxnSpLocks/>
            </p:cNvCxnSpPr>
            <p:nvPr/>
          </p:nvCxnSpPr>
          <p:spPr>
            <a:xfrm flipV="1">
              <a:off x="1250899" y="2267712"/>
              <a:ext cx="0" cy="2018995"/>
            </a:xfrm>
            <a:prstGeom prst="line">
              <a:avLst/>
            </a:prstGeom>
            <a:ln w="317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Gerade Verbindung 22">
              <a:extLst>
                <a:ext uri="{FF2B5EF4-FFF2-40B4-BE49-F238E27FC236}">
                  <a16:creationId xmlns:a16="http://schemas.microsoft.com/office/drawing/2014/main" id="{10BD4139-A9C4-E7D1-98F0-5298C2928347}"/>
                </a:ext>
              </a:extLst>
            </p:cNvPr>
            <p:cNvCxnSpPr>
              <a:cxnSpLocks/>
            </p:cNvCxnSpPr>
            <p:nvPr/>
          </p:nvCxnSpPr>
          <p:spPr>
            <a:xfrm flipH="1">
              <a:off x="1250899" y="2267712"/>
              <a:ext cx="4264761" cy="0"/>
            </a:xfrm>
            <a:prstGeom prst="line">
              <a:avLst/>
            </a:prstGeom>
            <a:ln w="317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0" name="Textfeld 29">
                <a:extLst>
                  <a:ext uri="{FF2B5EF4-FFF2-40B4-BE49-F238E27FC236}">
                    <a16:creationId xmlns:a16="http://schemas.microsoft.com/office/drawing/2014/main" id="{6DCC533B-7F5E-70C7-74AD-59A393B71AA2}"/>
                  </a:ext>
                </a:extLst>
              </p:cNvPr>
              <p:cNvSpPr txBox="1"/>
              <p:nvPr/>
            </p:nvSpPr>
            <p:spPr>
              <a:xfrm>
                <a:off x="4893411" y="2158117"/>
                <a:ext cx="344646"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600" i="1" dirty="0" smtClean="0">
                          <a:solidFill>
                            <a:srgbClr val="FF0000"/>
                          </a:solidFill>
                          <a:latin typeface="Cambria Math" panose="02040503050406030204" pitchFamily="18" charset="0"/>
                        </a:rPr>
                        <m:t>𝑟</m:t>
                      </m:r>
                    </m:oMath>
                  </m:oMathPara>
                </a14:m>
                <a:endParaRPr lang="de-DE" sz="1600" dirty="0">
                  <a:solidFill>
                    <a:srgbClr val="FF0000"/>
                  </a:solidFill>
                </a:endParaRPr>
              </a:p>
            </p:txBody>
          </p:sp>
        </mc:Choice>
        <mc:Fallback>
          <p:sp>
            <p:nvSpPr>
              <p:cNvPr id="30" name="Textfeld 29">
                <a:extLst>
                  <a:ext uri="{FF2B5EF4-FFF2-40B4-BE49-F238E27FC236}">
                    <a16:creationId xmlns:a16="http://schemas.microsoft.com/office/drawing/2014/main" id="{6DCC533B-7F5E-70C7-74AD-59A393B71AA2}"/>
                  </a:ext>
                </a:extLst>
              </p:cNvPr>
              <p:cNvSpPr txBox="1">
                <a:spLocks noRot="1" noChangeAspect="1" noMove="1" noResize="1" noEditPoints="1" noAdjustHandles="1" noChangeArrowheads="1" noChangeShapeType="1" noTextEdit="1"/>
              </p:cNvSpPr>
              <p:nvPr/>
            </p:nvSpPr>
            <p:spPr>
              <a:xfrm>
                <a:off x="4893411" y="2158117"/>
                <a:ext cx="344646" cy="338554"/>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31" name="Textfeld 30">
                <a:extLst>
                  <a:ext uri="{FF2B5EF4-FFF2-40B4-BE49-F238E27FC236}">
                    <a16:creationId xmlns:a16="http://schemas.microsoft.com/office/drawing/2014/main" id="{F4C32374-E9FC-CD78-165D-FA71B044FE14}"/>
                  </a:ext>
                </a:extLst>
              </p:cNvPr>
              <p:cNvSpPr txBox="1"/>
              <p:nvPr/>
            </p:nvSpPr>
            <p:spPr>
              <a:xfrm>
                <a:off x="-22741" y="2158117"/>
                <a:ext cx="570989"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600" i="1" dirty="0" smtClean="0">
                          <a:solidFill>
                            <a:srgbClr val="FF0000"/>
                          </a:solidFill>
                          <a:latin typeface="Cambria Math" panose="02040503050406030204" pitchFamily="18" charset="0"/>
                        </a:rPr>
                        <m:t>120</m:t>
                      </m:r>
                    </m:oMath>
                  </m:oMathPara>
                </a14:m>
              </a:p>
            </p:txBody>
          </p:sp>
        </mc:Choice>
        <mc:Fallback>
          <p:sp>
            <p:nvSpPr>
              <p:cNvPr id="31" name="Textfeld 30">
                <a:extLst>
                  <a:ext uri="{FF2B5EF4-FFF2-40B4-BE49-F238E27FC236}">
                    <a16:creationId xmlns:a16="http://schemas.microsoft.com/office/drawing/2014/main" id="{F4C32374-E9FC-CD78-165D-FA71B044FE14}"/>
                  </a:ext>
                </a:extLst>
              </p:cNvPr>
              <p:cNvSpPr txBox="1">
                <a:spLocks noRot="1" noChangeAspect="1" noMove="1" noResize="1" noEditPoints="1" noAdjustHandles="1" noChangeArrowheads="1" noChangeShapeType="1" noTextEdit="1"/>
              </p:cNvSpPr>
              <p:nvPr/>
            </p:nvSpPr>
            <p:spPr>
              <a:xfrm>
                <a:off x="-22741" y="2158117"/>
                <a:ext cx="570989" cy="338554"/>
              </a:xfrm>
              <a:prstGeom prst="rect">
                <a:avLst/>
              </a:prstGeom>
              <a:blipFill>
                <a:blip r:embed="rId6"/>
                <a:stretch>
                  <a:fillRect t="-3571" r="-8696" b="-21429"/>
                </a:stretch>
              </a:blipFill>
            </p:spPr>
            <p:txBody>
              <a:bodyPr/>
              <a:lstStyle/>
              <a:p>
                <a:r>
                  <a:rPr lang="de-DE">
                    <a:noFill/>
                  </a:rPr>
                  <a:t> </a:t>
                </a:r>
              </a:p>
            </p:txBody>
          </p:sp>
        </mc:Fallback>
      </mc:AlternateContent>
      <p:sp>
        <p:nvSpPr>
          <p:cNvPr id="34" name="Freihandform 33">
            <a:extLst>
              <a:ext uri="{FF2B5EF4-FFF2-40B4-BE49-F238E27FC236}">
                <a16:creationId xmlns:a16="http://schemas.microsoft.com/office/drawing/2014/main" id="{86BE9252-22A3-8730-D626-EDB2A6A9B63D}"/>
              </a:ext>
            </a:extLst>
          </p:cNvPr>
          <p:cNvSpPr/>
          <p:nvPr/>
        </p:nvSpPr>
        <p:spPr>
          <a:xfrm>
            <a:off x="643737" y="1686111"/>
            <a:ext cx="4515923" cy="2703009"/>
          </a:xfrm>
          <a:custGeom>
            <a:avLst/>
            <a:gdLst>
              <a:gd name="connsiteX0" fmla="*/ 0 w 4315968"/>
              <a:gd name="connsiteY0" fmla="*/ 2703009 h 2703009"/>
              <a:gd name="connsiteX1" fmla="*/ 453542 w 4315968"/>
              <a:gd name="connsiteY1" fmla="*/ 32961 h 2703009"/>
              <a:gd name="connsiteX2" fmla="*/ 929030 w 4315968"/>
              <a:gd name="connsiteY2" fmla="*/ 1159502 h 2703009"/>
              <a:gd name="connsiteX3" fmla="*/ 1704441 w 4315968"/>
              <a:gd name="connsiteY3" fmla="*/ 347515 h 2703009"/>
              <a:gd name="connsiteX4" fmla="*/ 2523744 w 4315968"/>
              <a:gd name="connsiteY4" fmla="*/ 976622 h 2703009"/>
              <a:gd name="connsiteX5" fmla="*/ 3416198 w 4315968"/>
              <a:gd name="connsiteY5" fmla="*/ 493819 h 2703009"/>
              <a:gd name="connsiteX6" fmla="*/ 4315968 w 4315968"/>
              <a:gd name="connsiteY6" fmla="*/ 559655 h 270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5968" h="2703009">
                <a:moveTo>
                  <a:pt x="0" y="2703009"/>
                </a:moveTo>
                <a:cubicBezTo>
                  <a:pt x="149352" y="1496610"/>
                  <a:pt x="298704" y="290212"/>
                  <a:pt x="453542" y="32961"/>
                </a:cubicBezTo>
                <a:cubicBezTo>
                  <a:pt x="608380" y="-224290"/>
                  <a:pt x="720547" y="1107076"/>
                  <a:pt x="929030" y="1159502"/>
                </a:cubicBezTo>
                <a:cubicBezTo>
                  <a:pt x="1137513" y="1211928"/>
                  <a:pt x="1438655" y="377995"/>
                  <a:pt x="1704441" y="347515"/>
                </a:cubicBezTo>
                <a:cubicBezTo>
                  <a:pt x="1970227" y="317035"/>
                  <a:pt x="2238451" y="952238"/>
                  <a:pt x="2523744" y="976622"/>
                </a:cubicBezTo>
                <a:cubicBezTo>
                  <a:pt x="2809037" y="1001006"/>
                  <a:pt x="3117494" y="563314"/>
                  <a:pt x="3416198" y="493819"/>
                </a:cubicBezTo>
                <a:cubicBezTo>
                  <a:pt x="3714902" y="424324"/>
                  <a:pt x="4015435" y="491989"/>
                  <a:pt x="4315968" y="559655"/>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6" name="Gerade Verbindung 35">
            <a:extLst>
              <a:ext uri="{FF2B5EF4-FFF2-40B4-BE49-F238E27FC236}">
                <a16:creationId xmlns:a16="http://schemas.microsoft.com/office/drawing/2014/main" id="{60025FBB-F970-4393-FCDF-01FBF2909B73}"/>
              </a:ext>
            </a:extLst>
          </p:cNvPr>
          <p:cNvCxnSpPr>
            <a:cxnSpLocks/>
          </p:cNvCxnSpPr>
          <p:nvPr/>
        </p:nvCxnSpPr>
        <p:spPr>
          <a:xfrm>
            <a:off x="945321" y="2365800"/>
            <a:ext cx="0" cy="2018995"/>
          </a:xfrm>
          <a:prstGeom prst="line">
            <a:avLst/>
          </a:prstGeom>
          <a:ln w="25400">
            <a:solidFill>
              <a:schemeClr val="accent2"/>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Textfeld 38">
                <a:extLst>
                  <a:ext uri="{FF2B5EF4-FFF2-40B4-BE49-F238E27FC236}">
                    <a16:creationId xmlns:a16="http://schemas.microsoft.com/office/drawing/2014/main" id="{C0A32107-87F7-EE2D-4492-9AAF2896A468}"/>
                  </a:ext>
                </a:extLst>
              </p:cNvPr>
              <p:cNvSpPr txBox="1"/>
              <p:nvPr/>
            </p:nvSpPr>
            <p:spPr>
              <a:xfrm>
                <a:off x="628649" y="4384795"/>
                <a:ext cx="659155"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de-DE" i="1" dirty="0" smtClean="0">
                              <a:solidFill>
                                <a:schemeClr val="accent2"/>
                              </a:solidFill>
                              <a:latin typeface="Cambria Math" panose="02040503050406030204" pitchFamily="18" charset="0"/>
                            </a:rPr>
                          </m:ctrlPr>
                        </m:sSubPr>
                        <m:e>
                          <m:r>
                            <a:rPr lang="de-DE" i="1" dirty="0" smtClean="0">
                              <a:solidFill>
                                <a:schemeClr val="accent2"/>
                              </a:solidFill>
                              <a:latin typeface="Cambria Math" panose="02040503050406030204" pitchFamily="18" charset="0"/>
                            </a:rPr>
                            <m:t>𝑇</m:t>
                          </m:r>
                        </m:e>
                        <m:sub>
                          <m:r>
                            <a:rPr lang="de-DE" i="1" dirty="0" smtClean="0">
                              <a:solidFill>
                                <a:schemeClr val="accent2"/>
                              </a:solidFill>
                              <a:latin typeface="Cambria Math" panose="02040503050406030204" pitchFamily="18" charset="0"/>
                            </a:rPr>
                            <m:t>100%</m:t>
                          </m:r>
                        </m:sub>
                      </m:sSub>
                    </m:oMath>
                  </m:oMathPara>
                </a14:m>
              </a:p>
            </p:txBody>
          </p:sp>
        </mc:Choice>
        <mc:Fallback>
          <p:sp>
            <p:nvSpPr>
              <p:cNvPr id="39" name="Textfeld 38">
                <a:extLst>
                  <a:ext uri="{FF2B5EF4-FFF2-40B4-BE49-F238E27FC236}">
                    <a16:creationId xmlns:a16="http://schemas.microsoft.com/office/drawing/2014/main" id="{C0A32107-87F7-EE2D-4492-9AAF2896A468}"/>
                  </a:ext>
                </a:extLst>
              </p:cNvPr>
              <p:cNvSpPr txBox="1">
                <a:spLocks noRot="1" noChangeAspect="1" noMove="1" noResize="1" noEditPoints="1" noAdjustHandles="1" noChangeArrowheads="1" noChangeShapeType="1" noTextEdit="1"/>
              </p:cNvSpPr>
              <p:nvPr/>
            </p:nvSpPr>
            <p:spPr>
              <a:xfrm>
                <a:off x="628649" y="4384795"/>
                <a:ext cx="659155" cy="307777"/>
              </a:xfrm>
              <a:prstGeom prst="rect">
                <a:avLst/>
              </a:prstGeom>
              <a:blipFill>
                <a:blip r:embed="rId7"/>
                <a:stretch>
                  <a:fillRect t="-4000" r="-5660" b="-20000"/>
                </a:stretch>
              </a:blipFill>
            </p:spPr>
            <p:txBody>
              <a:bodyPr/>
              <a:lstStyle/>
              <a:p>
                <a:r>
                  <a:rPr lang="de-DE">
                    <a:noFill/>
                  </a:rPr>
                  <a:t> </a:t>
                </a:r>
              </a:p>
            </p:txBody>
          </p:sp>
        </mc:Fallback>
      </mc:AlternateContent>
      <p:cxnSp>
        <p:nvCxnSpPr>
          <p:cNvPr id="40" name="Gerade Verbindung 39">
            <a:extLst>
              <a:ext uri="{FF2B5EF4-FFF2-40B4-BE49-F238E27FC236}">
                <a16:creationId xmlns:a16="http://schemas.microsoft.com/office/drawing/2014/main" id="{3BF649D2-A849-5230-D5F7-A934FF9E14FC}"/>
              </a:ext>
            </a:extLst>
          </p:cNvPr>
          <p:cNvCxnSpPr>
            <a:cxnSpLocks/>
          </p:cNvCxnSpPr>
          <p:nvPr/>
        </p:nvCxnSpPr>
        <p:spPr>
          <a:xfrm>
            <a:off x="1162845" y="1690045"/>
            <a:ext cx="44642" cy="2702134"/>
          </a:xfrm>
          <a:prstGeom prst="line">
            <a:avLst/>
          </a:prstGeom>
          <a:ln w="25400">
            <a:solidFill>
              <a:schemeClr val="accent5"/>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4" name="Textfeld 43">
                <a:extLst>
                  <a:ext uri="{FF2B5EF4-FFF2-40B4-BE49-F238E27FC236}">
                    <a16:creationId xmlns:a16="http://schemas.microsoft.com/office/drawing/2014/main" id="{67004D51-1377-AF5A-84B7-1187EB1E4FC0}"/>
                  </a:ext>
                </a:extLst>
              </p:cNvPr>
              <p:cNvSpPr txBox="1"/>
              <p:nvPr/>
            </p:nvSpPr>
            <p:spPr>
              <a:xfrm>
                <a:off x="1225821" y="3994371"/>
                <a:ext cx="398378" cy="3243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de-DE" i="1" dirty="0" smtClean="0">
                              <a:solidFill>
                                <a:schemeClr val="accent5"/>
                              </a:solidFill>
                              <a:latin typeface="Cambria Math" panose="02040503050406030204" pitchFamily="18" charset="0"/>
                            </a:rPr>
                          </m:ctrlPr>
                        </m:sSubPr>
                        <m:e>
                          <m:r>
                            <a:rPr lang="de-DE" i="1" dirty="0" smtClean="0">
                              <a:solidFill>
                                <a:schemeClr val="accent5"/>
                              </a:solidFill>
                              <a:latin typeface="Cambria Math" panose="02040503050406030204" pitchFamily="18" charset="0"/>
                            </a:rPr>
                            <m:t>𝑇</m:t>
                          </m:r>
                        </m:e>
                        <m:sub>
                          <m:r>
                            <a:rPr lang="de-DE" i="1" dirty="0" smtClean="0">
                              <a:solidFill>
                                <a:schemeClr val="accent5"/>
                              </a:solidFill>
                              <a:latin typeface="Cambria Math" panose="02040503050406030204" pitchFamily="18" charset="0"/>
                            </a:rPr>
                            <m:t>𝑝</m:t>
                          </m:r>
                        </m:sub>
                      </m:sSub>
                    </m:oMath>
                  </m:oMathPara>
                </a14:m>
              </a:p>
            </p:txBody>
          </p:sp>
        </mc:Choice>
        <mc:Fallback>
          <p:sp>
            <p:nvSpPr>
              <p:cNvPr id="44" name="Textfeld 43">
                <a:extLst>
                  <a:ext uri="{FF2B5EF4-FFF2-40B4-BE49-F238E27FC236}">
                    <a16:creationId xmlns:a16="http://schemas.microsoft.com/office/drawing/2014/main" id="{67004D51-1377-AF5A-84B7-1187EB1E4FC0}"/>
                  </a:ext>
                </a:extLst>
              </p:cNvPr>
              <p:cNvSpPr txBox="1">
                <a:spLocks noRot="1" noChangeAspect="1" noMove="1" noResize="1" noEditPoints="1" noAdjustHandles="1" noChangeArrowheads="1" noChangeShapeType="1" noTextEdit="1"/>
              </p:cNvSpPr>
              <p:nvPr/>
            </p:nvSpPr>
            <p:spPr>
              <a:xfrm>
                <a:off x="1225821" y="3994371"/>
                <a:ext cx="398378" cy="324384"/>
              </a:xfrm>
              <a:prstGeom prst="rect">
                <a:avLst/>
              </a:prstGeom>
              <a:blipFill>
                <a:blip r:embed="rId8"/>
                <a:stretch>
                  <a:fillRect t="-3846" r="-9375" b="-15385"/>
                </a:stretch>
              </a:blipFill>
            </p:spPr>
            <p:txBody>
              <a:bodyPr/>
              <a:lstStyle/>
              <a:p>
                <a:r>
                  <a:rPr lang="de-DE">
                    <a:noFill/>
                  </a:rPr>
                  <a:t> </a:t>
                </a:r>
              </a:p>
            </p:txBody>
          </p:sp>
        </mc:Fallback>
      </mc:AlternateContent>
      <p:cxnSp>
        <p:nvCxnSpPr>
          <p:cNvPr id="46" name="Gerade Verbindung mit Pfeil 45">
            <a:extLst>
              <a:ext uri="{FF2B5EF4-FFF2-40B4-BE49-F238E27FC236}">
                <a16:creationId xmlns:a16="http://schemas.microsoft.com/office/drawing/2014/main" id="{B455A67A-6BBF-9E40-8A57-898D5B44BE8A}"/>
              </a:ext>
            </a:extLst>
          </p:cNvPr>
          <p:cNvCxnSpPr>
            <a:cxnSpLocks/>
          </p:cNvCxnSpPr>
          <p:nvPr/>
        </p:nvCxnSpPr>
        <p:spPr>
          <a:xfrm flipV="1">
            <a:off x="1537209" y="1686111"/>
            <a:ext cx="0" cy="679689"/>
          </a:xfrm>
          <a:prstGeom prst="straightConnector1">
            <a:avLst/>
          </a:prstGeom>
          <a:ln w="25400">
            <a:solidFill>
              <a:srgbClr val="0708F5"/>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0" name="Textfeld 49">
                <a:extLst>
                  <a:ext uri="{FF2B5EF4-FFF2-40B4-BE49-F238E27FC236}">
                    <a16:creationId xmlns:a16="http://schemas.microsoft.com/office/drawing/2014/main" id="{3B2EFF06-476D-7C3C-F652-01F363873E0C}"/>
                  </a:ext>
                </a:extLst>
              </p:cNvPr>
              <p:cNvSpPr txBox="1"/>
              <p:nvPr/>
            </p:nvSpPr>
            <p:spPr>
              <a:xfrm>
                <a:off x="1568485" y="1568236"/>
                <a:ext cx="457305" cy="32438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de-DE" i="1" dirty="0" smtClean="0">
                              <a:solidFill>
                                <a:srgbClr val="0708F5"/>
                              </a:solidFill>
                              <a:latin typeface="Cambria Math" panose="02040503050406030204" pitchFamily="18" charset="0"/>
                            </a:rPr>
                          </m:ctrlPr>
                        </m:sSubPr>
                        <m:e>
                          <m:r>
                            <a:rPr lang="de-DE" i="1" dirty="0" smtClean="0">
                              <a:solidFill>
                                <a:srgbClr val="0708F5"/>
                              </a:solidFill>
                              <a:latin typeface="Cambria Math" panose="02040503050406030204" pitchFamily="18" charset="0"/>
                            </a:rPr>
                            <m:t>𝑀</m:t>
                          </m:r>
                        </m:e>
                        <m:sub>
                          <m:r>
                            <a:rPr lang="de-DE" i="1" dirty="0" smtClean="0">
                              <a:solidFill>
                                <a:srgbClr val="0708F5"/>
                              </a:solidFill>
                              <a:latin typeface="Cambria Math" panose="02040503050406030204" pitchFamily="18" charset="0"/>
                            </a:rPr>
                            <m:t>𝑝</m:t>
                          </m:r>
                        </m:sub>
                      </m:sSub>
                    </m:oMath>
                  </m:oMathPara>
                </a14:m>
              </a:p>
            </p:txBody>
          </p:sp>
        </mc:Choice>
        <mc:Fallback>
          <p:sp>
            <p:nvSpPr>
              <p:cNvPr id="50" name="Textfeld 49">
                <a:extLst>
                  <a:ext uri="{FF2B5EF4-FFF2-40B4-BE49-F238E27FC236}">
                    <a16:creationId xmlns:a16="http://schemas.microsoft.com/office/drawing/2014/main" id="{3B2EFF06-476D-7C3C-F652-01F363873E0C}"/>
                  </a:ext>
                </a:extLst>
              </p:cNvPr>
              <p:cNvSpPr txBox="1">
                <a:spLocks noRot="1" noChangeAspect="1" noMove="1" noResize="1" noEditPoints="1" noAdjustHandles="1" noChangeArrowheads="1" noChangeShapeType="1" noTextEdit="1"/>
              </p:cNvSpPr>
              <p:nvPr/>
            </p:nvSpPr>
            <p:spPr>
              <a:xfrm>
                <a:off x="1568485" y="1568236"/>
                <a:ext cx="457305" cy="324384"/>
              </a:xfrm>
              <a:prstGeom prst="rect">
                <a:avLst/>
              </a:prstGeom>
              <a:blipFill>
                <a:blip r:embed="rId9"/>
                <a:stretch>
                  <a:fillRect t="-3846" r="-8108" b="-15385"/>
                </a:stretch>
              </a:blipFill>
            </p:spPr>
            <p:txBody>
              <a:bodyPr/>
              <a:lstStyle/>
              <a:p>
                <a:r>
                  <a:rPr lang="de-DE">
                    <a:noFill/>
                  </a:rPr>
                  <a:t> </a:t>
                </a:r>
              </a:p>
            </p:txBody>
          </p:sp>
        </mc:Fallback>
      </mc:AlternateContent>
      <p:cxnSp>
        <p:nvCxnSpPr>
          <p:cNvPr id="51" name="Gerade Verbindung 50">
            <a:extLst>
              <a:ext uri="{FF2B5EF4-FFF2-40B4-BE49-F238E27FC236}">
                <a16:creationId xmlns:a16="http://schemas.microsoft.com/office/drawing/2014/main" id="{6A013F07-91A0-96F3-6982-1B3CD1226F5B}"/>
              </a:ext>
            </a:extLst>
          </p:cNvPr>
          <p:cNvCxnSpPr>
            <a:cxnSpLocks/>
          </p:cNvCxnSpPr>
          <p:nvPr/>
        </p:nvCxnSpPr>
        <p:spPr>
          <a:xfrm>
            <a:off x="611557" y="2149571"/>
            <a:ext cx="4626500" cy="8546"/>
          </a:xfrm>
          <a:prstGeom prst="line">
            <a:avLst/>
          </a:prstGeom>
          <a:ln w="25400">
            <a:solidFill>
              <a:schemeClr val="accent4"/>
            </a:solidFill>
            <a:prstDash val="lgDash"/>
          </a:ln>
        </p:spPr>
        <p:style>
          <a:lnRef idx="1">
            <a:schemeClr val="accent1"/>
          </a:lnRef>
          <a:fillRef idx="0">
            <a:schemeClr val="accent1"/>
          </a:fillRef>
          <a:effectRef idx="0">
            <a:schemeClr val="accent1"/>
          </a:effectRef>
          <a:fontRef idx="minor">
            <a:schemeClr val="tx1"/>
          </a:fontRef>
        </p:style>
      </p:cxnSp>
      <p:cxnSp>
        <p:nvCxnSpPr>
          <p:cNvPr id="56" name="Gerade Verbindung 55">
            <a:extLst>
              <a:ext uri="{FF2B5EF4-FFF2-40B4-BE49-F238E27FC236}">
                <a16:creationId xmlns:a16="http://schemas.microsoft.com/office/drawing/2014/main" id="{648A09DE-F3CB-743F-781A-7CB032D86D49}"/>
              </a:ext>
            </a:extLst>
          </p:cNvPr>
          <p:cNvCxnSpPr>
            <a:cxnSpLocks/>
          </p:cNvCxnSpPr>
          <p:nvPr/>
        </p:nvCxnSpPr>
        <p:spPr>
          <a:xfrm>
            <a:off x="643737" y="2583448"/>
            <a:ext cx="4594320" cy="0"/>
          </a:xfrm>
          <a:prstGeom prst="line">
            <a:avLst/>
          </a:prstGeom>
          <a:ln w="25400">
            <a:solidFill>
              <a:schemeClr val="accent4"/>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9" name="Textfeld 58">
                <a:extLst>
                  <a:ext uri="{FF2B5EF4-FFF2-40B4-BE49-F238E27FC236}">
                    <a16:creationId xmlns:a16="http://schemas.microsoft.com/office/drawing/2014/main" id="{B99D6233-4B6D-D421-4B45-1E608F52C494}"/>
                  </a:ext>
                </a:extLst>
              </p:cNvPr>
              <p:cNvSpPr txBox="1"/>
              <p:nvPr/>
            </p:nvSpPr>
            <p:spPr>
              <a:xfrm>
                <a:off x="4964925" y="2650126"/>
                <a:ext cx="407804" cy="30777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de-DE" i="1" dirty="0" smtClean="0">
                              <a:solidFill>
                                <a:schemeClr val="accent4"/>
                              </a:solidFill>
                              <a:latin typeface="Cambria Math" panose="02040503050406030204" pitchFamily="18" charset="0"/>
                            </a:rPr>
                          </m:ctrlPr>
                        </m:sSubPr>
                        <m:e>
                          <m:r>
                            <a:rPr lang="de-DE" i="1" dirty="0" smtClean="0">
                              <a:solidFill>
                                <a:schemeClr val="accent4"/>
                              </a:solidFill>
                              <a:latin typeface="Cambria Math" panose="02040503050406030204" pitchFamily="18" charset="0"/>
                            </a:rPr>
                            <m:t>𝑇</m:t>
                          </m:r>
                        </m:e>
                        <m:sub>
                          <m:r>
                            <a:rPr lang="de-DE" i="1" dirty="0" smtClean="0">
                              <a:solidFill>
                                <a:schemeClr val="accent4"/>
                              </a:solidFill>
                              <a:latin typeface="Cambria Math" panose="02040503050406030204" pitchFamily="18" charset="0"/>
                            </a:rPr>
                            <m:t>𝑑</m:t>
                          </m:r>
                        </m:sub>
                      </m:sSub>
                    </m:oMath>
                  </m:oMathPara>
                </a14:m>
              </a:p>
            </p:txBody>
          </p:sp>
        </mc:Choice>
        <mc:Fallback>
          <p:sp>
            <p:nvSpPr>
              <p:cNvPr id="59" name="Textfeld 58">
                <a:extLst>
                  <a:ext uri="{FF2B5EF4-FFF2-40B4-BE49-F238E27FC236}">
                    <a16:creationId xmlns:a16="http://schemas.microsoft.com/office/drawing/2014/main" id="{B99D6233-4B6D-D421-4B45-1E608F52C494}"/>
                  </a:ext>
                </a:extLst>
              </p:cNvPr>
              <p:cNvSpPr txBox="1">
                <a:spLocks noRot="1" noChangeAspect="1" noMove="1" noResize="1" noEditPoints="1" noAdjustHandles="1" noChangeArrowheads="1" noChangeShapeType="1" noTextEdit="1"/>
              </p:cNvSpPr>
              <p:nvPr/>
            </p:nvSpPr>
            <p:spPr>
              <a:xfrm>
                <a:off x="4964925" y="2650126"/>
                <a:ext cx="407804" cy="307777"/>
              </a:xfrm>
              <a:prstGeom prst="rect">
                <a:avLst/>
              </a:prstGeom>
              <a:blipFill>
                <a:blip r:embed="rId10"/>
                <a:stretch>
                  <a:fillRect t="-4000" r="-9091" b="-24000"/>
                </a:stretch>
              </a:blipFill>
            </p:spPr>
            <p:txBody>
              <a:bodyPr/>
              <a:lstStyle/>
              <a:p>
                <a:r>
                  <a:rPr lang="de-DE">
                    <a:noFill/>
                  </a:rPr>
                  <a:t> </a:t>
                </a:r>
              </a:p>
            </p:txBody>
          </p:sp>
        </mc:Fallback>
      </mc:AlternateContent>
    </p:spTree>
    <p:extLst>
      <p:ext uri="{BB962C8B-B14F-4D97-AF65-F5344CB8AC3E}">
        <p14:creationId xmlns:p14="http://schemas.microsoft.com/office/powerpoint/2010/main" val="73046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4" grpId="0"/>
      <p:bldP spid="50" grpId="0"/>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fik 12" descr="Ein Bild, das Reihe, Diagramm, Text, parallel enthält.&#10;&#10;KI-generierte Inhalte können fehlerhaft sein.">
            <a:extLst>
              <a:ext uri="{FF2B5EF4-FFF2-40B4-BE49-F238E27FC236}">
                <a16:creationId xmlns:a16="http://schemas.microsoft.com/office/drawing/2014/main" id="{BFCF665A-CCFC-2967-9EA8-85024D66009F}"/>
              </a:ext>
            </a:extLst>
          </p:cNvPr>
          <p:cNvPicPr>
            <a:picLocks noChangeAspect="1"/>
          </p:cNvPicPr>
          <p:nvPr/>
        </p:nvPicPr>
        <p:blipFill>
          <a:blip r:embed="rId3"/>
          <a:stretch>
            <a:fillRect/>
          </a:stretch>
        </p:blipFill>
        <p:spPr>
          <a:xfrm>
            <a:off x="4056921" y="1997841"/>
            <a:ext cx="4527009" cy="2128642"/>
          </a:xfrm>
          <a:prstGeom prst="rect">
            <a:avLst/>
          </a:prstGeom>
        </p:spPr>
      </p:pic>
      <p:sp>
        <p:nvSpPr>
          <p:cNvPr id="2" name="Titel 1">
            <a:extLst>
              <a:ext uri="{FF2B5EF4-FFF2-40B4-BE49-F238E27FC236}">
                <a16:creationId xmlns:a16="http://schemas.microsoft.com/office/drawing/2014/main" id="{A52B50B3-22FC-98CD-6230-B3839A60DA08}"/>
              </a:ext>
            </a:extLst>
          </p:cNvPr>
          <p:cNvSpPr>
            <a:spLocks noGrp="1"/>
          </p:cNvSpPr>
          <p:nvPr>
            <p:ph type="title"/>
          </p:nvPr>
        </p:nvSpPr>
        <p:spPr>
          <a:xfrm>
            <a:off x="628650" y="199446"/>
            <a:ext cx="7886700" cy="994172"/>
          </a:xfrm>
        </p:spPr>
        <p:txBody>
          <a:bodyPr/>
          <a:lstStyle/>
          <a:p>
            <a:r>
              <a:rPr lang="de-DE" dirty="0" err="1"/>
              <a:t>Step</a:t>
            </a:r>
            <a:r>
              <a:rPr lang="de-DE" dirty="0"/>
              <a:t> Response </a:t>
            </a:r>
            <a:r>
              <a:rPr lang="de-DE" dirty="0" err="1"/>
              <a:t>of</a:t>
            </a:r>
            <a:r>
              <a:rPr lang="de-DE" dirty="0"/>
              <a:t> a 1</a:t>
            </a:r>
            <a:r>
              <a:rPr lang="de-DE" baseline="30000" dirty="0"/>
              <a:t>st</a:t>
            </a:r>
            <a:r>
              <a:rPr lang="de-DE" dirty="0"/>
              <a:t> Order System</a:t>
            </a:r>
          </a:p>
        </p:txBody>
      </p:sp>
      <p:pic>
        <p:nvPicPr>
          <p:cNvPr id="7" name="Inhaltsplatzhalter 6" descr="Ein Bild, das Text, Schrift, Reihe, weiß enthält.&#10;&#10;KI-generierte Inhalte können fehlerhaft sein.">
            <a:extLst>
              <a:ext uri="{FF2B5EF4-FFF2-40B4-BE49-F238E27FC236}">
                <a16:creationId xmlns:a16="http://schemas.microsoft.com/office/drawing/2014/main" id="{7B4893C6-B29D-AC0B-4B69-8F1723B3E809}"/>
              </a:ext>
            </a:extLst>
          </p:cNvPr>
          <p:cNvPicPr>
            <a:picLocks noGrp="1" noChangeAspect="1"/>
          </p:cNvPicPr>
          <p:nvPr>
            <p:ph idx="1"/>
          </p:nvPr>
        </p:nvPicPr>
        <p:blipFill>
          <a:blip r:embed="rId4"/>
          <a:srcRect r="58045"/>
          <a:stretch>
            <a:fillRect/>
          </a:stretch>
        </p:blipFill>
        <p:spPr>
          <a:xfrm>
            <a:off x="628650" y="931243"/>
            <a:ext cx="3308889" cy="1346715"/>
          </a:xfrm>
        </p:spPr>
      </p:pic>
      <p:sp>
        <p:nvSpPr>
          <p:cNvPr id="4" name="Fußzeilenplatzhalter 3">
            <a:extLst>
              <a:ext uri="{FF2B5EF4-FFF2-40B4-BE49-F238E27FC236}">
                <a16:creationId xmlns:a16="http://schemas.microsoft.com/office/drawing/2014/main" id="{BF096947-CD89-71A6-FD22-03FD4ECAEE87}"/>
              </a:ext>
            </a:extLst>
          </p:cNvPr>
          <p:cNvSpPr>
            <a:spLocks noGrp="1"/>
          </p:cNvSpPr>
          <p:nvPr>
            <p:ph type="ftr" sz="quarter" idx="11"/>
          </p:nvPr>
        </p:nvSpPr>
        <p:spPr/>
        <p:txBody>
          <a:bodyPr/>
          <a:lstStyle/>
          <a:p>
            <a:pPr defTabSz="342900">
              <a:buClrTx/>
            </a:pPr>
            <a:r>
              <a:rPr lang="de-CH" kern="1200" dirty="0">
                <a:solidFill>
                  <a:srgbClr val="101623">
                    <a:tint val="75000"/>
                  </a:srgbClr>
                </a:solidFill>
                <a:latin typeface="Calibri" panose="020F0502020204030204"/>
                <a:ea typeface="+mn-ea"/>
                <a:cs typeface="+mn-cs"/>
              </a:rPr>
              <a:t>Kissan Varatharajan - </a:t>
            </a:r>
            <a:r>
              <a:rPr lang="de-CH" kern="1200" dirty="0" err="1">
                <a:solidFill>
                  <a:srgbClr val="101623">
                    <a:tint val="75000"/>
                  </a:srgbClr>
                </a:solidFill>
                <a:latin typeface="Calibri" panose="020F0502020204030204"/>
                <a:ea typeface="+mn-ea"/>
                <a:cs typeface="+mn-cs"/>
              </a:rPr>
              <a:t>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9CD9B42-D5DC-F8F4-63BF-8802FEB54B0A}"/>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16</a:t>
            </a:fld>
            <a:endParaRPr lang="en-CH" kern="1200">
              <a:solidFill>
                <a:srgbClr val="101623">
                  <a:tint val="75000"/>
                </a:srgbClr>
              </a:solidFill>
              <a:latin typeface="Calibri" panose="020F0502020204030204"/>
              <a:ea typeface="+mn-ea"/>
              <a:cs typeface="+mn-cs"/>
            </a:endParaRPr>
          </a:p>
        </p:txBody>
      </p:sp>
      <mc:AlternateContent xmlns:mc="http://schemas.openxmlformats.org/markup-compatibility/2006">
        <mc:Choice xmlns:p14="http://schemas.microsoft.com/office/powerpoint/2010/main" Requires="p14">
          <p:contentPart p14:bwMode="auto" r:id="rId5">
            <p14:nvContentPartPr>
              <p14:cNvPr id="8" name="Freihand 7">
                <a:extLst>
                  <a:ext uri="{FF2B5EF4-FFF2-40B4-BE49-F238E27FC236}">
                    <a16:creationId xmlns:a16="http://schemas.microsoft.com/office/drawing/2014/main" id="{A7CE7871-5A30-B74E-110A-A15C9F57718A}"/>
                  </a:ext>
                </a:extLst>
              </p14:cNvPr>
              <p14:cNvContentPartPr/>
              <p14:nvPr/>
            </p14:nvContentPartPr>
            <p14:xfrm>
              <a:off x="1290913" y="2565105"/>
              <a:ext cx="1440" cy="1440"/>
            </p14:xfrm>
          </p:contentPart>
        </mc:Choice>
        <mc:Fallback>
          <p:pic>
            <p:nvPicPr>
              <p:cNvPr id="8" name="Freihand 7">
                <a:extLst>
                  <a:ext uri="{FF2B5EF4-FFF2-40B4-BE49-F238E27FC236}">
                    <a16:creationId xmlns:a16="http://schemas.microsoft.com/office/drawing/2014/main" id="{A7CE7871-5A30-B74E-110A-A15C9F57718A}"/>
                  </a:ext>
                </a:extLst>
              </p:cNvPr>
              <p:cNvPicPr/>
              <p:nvPr/>
            </p:nvPicPr>
            <p:blipFill>
              <a:blip r:embed="rId6"/>
              <a:stretch>
                <a:fillRect/>
              </a:stretch>
            </p:blipFill>
            <p:spPr>
              <a:xfrm>
                <a:off x="1284793" y="2558985"/>
                <a:ext cx="1368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Freihand 8">
                <a:extLst>
                  <a:ext uri="{FF2B5EF4-FFF2-40B4-BE49-F238E27FC236}">
                    <a16:creationId xmlns:a16="http://schemas.microsoft.com/office/drawing/2014/main" id="{FF95882C-024E-8402-9460-70886D961133}"/>
                  </a:ext>
                </a:extLst>
              </p14:cNvPr>
              <p14:cNvContentPartPr/>
              <p14:nvPr/>
            </p14:nvContentPartPr>
            <p14:xfrm>
              <a:off x="372553" y="2120145"/>
              <a:ext cx="888120" cy="985320"/>
            </p14:xfrm>
          </p:contentPart>
        </mc:Choice>
        <mc:Fallback>
          <p:pic>
            <p:nvPicPr>
              <p:cNvPr id="9" name="Freihand 8">
                <a:extLst>
                  <a:ext uri="{FF2B5EF4-FFF2-40B4-BE49-F238E27FC236}">
                    <a16:creationId xmlns:a16="http://schemas.microsoft.com/office/drawing/2014/main" id="{FF95882C-024E-8402-9460-70886D961133}"/>
                  </a:ext>
                </a:extLst>
              </p:cNvPr>
              <p:cNvPicPr/>
              <p:nvPr/>
            </p:nvPicPr>
            <p:blipFill>
              <a:blip r:embed="rId8"/>
              <a:stretch>
                <a:fillRect/>
              </a:stretch>
            </p:blipFill>
            <p:spPr>
              <a:xfrm>
                <a:off x="366433" y="2114025"/>
                <a:ext cx="900360" cy="997560"/>
              </a:xfrm>
              <a:prstGeom prst="rect">
                <a:avLst/>
              </a:prstGeom>
            </p:spPr>
          </p:pic>
        </mc:Fallback>
      </mc:AlternateContent>
      <p:pic>
        <p:nvPicPr>
          <p:cNvPr id="11" name="Grafik 10" descr="Ein Bild, das weiß, Design enthält.&#10;&#10;KI-generierte Inhalte können fehlerhaft sein.">
            <a:extLst>
              <a:ext uri="{FF2B5EF4-FFF2-40B4-BE49-F238E27FC236}">
                <a16:creationId xmlns:a16="http://schemas.microsoft.com/office/drawing/2014/main" id="{C00903AC-8075-B842-CA99-D8C41D17ADCA}"/>
              </a:ext>
            </a:extLst>
          </p:cNvPr>
          <p:cNvPicPr>
            <a:picLocks noChangeAspect="1"/>
          </p:cNvPicPr>
          <p:nvPr/>
        </p:nvPicPr>
        <p:blipFill>
          <a:blip r:embed="rId9"/>
          <a:stretch>
            <a:fillRect/>
          </a:stretch>
        </p:blipFill>
        <p:spPr>
          <a:xfrm>
            <a:off x="628650" y="1941184"/>
            <a:ext cx="533505" cy="357921"/>
          </a:xfrm>
          <a:prstGeom prst="rect">
            <a:avLst/>
          </a:prstGeom>
        </p:spPr>
      </p:pic>
      <mc:AlternateContent xmlns:mc="http://schemas.openxmlformats.org/markup-compatibility/2006">
        <mc:Choice xmlns:a14="http://schemas.microsoft.com/office/drawing/2010/main" Requires="a14">
          <p:sp>
            <p:nvSpPr>
              <p:cNvPr id="16" name="Textfeld 15">
                <a:extLst>
                  <a:ext uri="{FF2B5EF4-FFF2-40B4-BE49-F238E27FC236}">
                    <a16:creationId xmlns:a16="http://schemas.microsoft.com/office/drawing/2014/main" id="{D6E6799E-CB0A-8CEA-DF52-4BBC0E139A70}"/>
                  </a:ext>
                </a:extLst>
              </p:cNvPr>
              <p:cNvSpPr txBox="1"/>
              <p:nvPr/>
            </p:nvSpPr>
            <p:spPr>
              <a:xfrm>
                <a:off x="4351199" y="2139458"/>
                <a:ext cx="317138" cy="27699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sz="1200" i="1" dirty="0" smtClean="0">
                          <a:latin typeface="Cambria Math" panose="02040503050406030204" pitchFamily="18" charset="0"/>
                        </a:rPr>
                        <m:t>𝑦</m:t>
                      </m:r>
                    </m:oMath>
                  </m:oMathPara>
                </a14:m>
                <a:endParaRPr lang="de-DE" sz="1200" dirty="0"/>
              </a:p>
            </p:txBody>
          </p:sp>
        </mc:Choice>
        <mc:Fallback>
          <p:sp>
            <p:nvSpPr>
              <p:cNvPr id="16" name="Textfeld 15">
                <a:extLst>
                  <a:ext uri="{FF2B5EF4-FFF2-40B4-BE49-F238E27FC236}">
                    <a16:creationId xmlns:a16="http://schemas.microsoft.com/office/drawing/2014/main" id="{D6E6799E-CB0A-8CEA-DF52-4BBC0E139A70}"/>
                  </a:ext>
                </a:extLst>
              </p:cNvPr>
              <p:cNvSpPr txBox="1">
                <a:spLocks noRot="1" noChangeAspect="1" noMove="1" noResize="1" noEditPoints="1" noAdjustHandles="1" noChangeArrowheads="1" noChangeShapeType="1" noTextEdit="1"/>
              </p:cNvSpPr>
              <p:nvPr/>
            </p:nvSpPr>
            <p:spPr>
              <a:xfrm>
                <a:off x="4351199" y="2139458"/>
                <a:ext cx="317138" cy="276999"/>
              </a:xfrm>
              <a:prstGeom prst="rect">
                <a:avLst/>
              </a:prstGeom>
              <a:blipFill>
                <a:blip r:embed="rId10"/>
                <a:stretch>
                  <a:fillRect b="-4348"/>
                </a:stretch>
              </a:blipFill>
            </p:spPr>
            <p:txBody>
              <a:bodyPr/>
              <a:lstStyle/>
              <a:p>
                <a:r>
                  <a:rPr lang="de-DE">
                    <a:noFill/>
                  </a:rPr>
                  <a:t> </a:t>
                </a:r>
              </a:p>
            </p:txBody>
          </p:sp>
        </mc:Fallback>
      </mc:AlternateContent>
      <p:grpSp>
        <p:nvGrpSpPr>
          <p:cNvPr id="20" name="Gruppieren 19">
            <a:extLst>
              <a:ext uri="{FF2B5EF4-FFF2-40B4-BE49-F238E27FC236}">
                <a16:creationId xmlns:a16="http://schemas.microsoft.com/office/drawing/2014/main" id="{AABC0884-5667-BB8C-0D6E-8A2F5AB6CAC7}"/>
              </a:ext>
            </a:extLst>
          </p:cNvPr>
          <p:cNvGrpSpPr/>
          <p:nvPr/>
        </p:nvGrpSpPr>
        <p:grpSpPr>
          <a:xfrm>
            <a:off x="876352" y="1995871"/>
            <a:ext cx="2671311" cy="2130612"/>
            <a:chOff x="876352" y="1995871"/>
            <a:chExt cx="2671311" cy="2130612"/>
          </a:xfrm>
        </p:grpSpPr>
        <p:pic>
          <p:nvPicPr>
            <p:cNvPr id="14" name="Inhaltsplatzhalter 6" descr="Ein Bild, das Reihe, Diagramm enthält.&#10;&#10;KI-generierte Inhalte können fehlerhaft sein.">
              <a:extLst>
                <a:ext uri="{FF2B5EF4-FFF2-40B4-BE49-F238E27FC236}">
                  <a16:creationId xmlns:a16="http://schemas.microsoft.com/office/drawing/2014/main" id="{92581CDC-F88C-9E23-93CD-E0343CE12491}"/>
                </a:ext>
              </a:extLst>
            </p:cNvPr>
            <p:cNvPicPr>
              <a:picLocks noChangeAspect="1"/>
            </p:cNvPicPr>
            <p:nvPr/>
          </p:nvPicPr>
          <p:blipFill>
            <a:blip r:embed="rId11"/>
            <a:stretch>
              <a:fillRect/>
            </a:stretch>
          </p:blipFill>
          <p:spPr>
            <a:xfrm>
              <a:off x="876352" y="1995871"/>
              <a:ext cx="2671311" cy="2130612"/>
            </a:xfrm>
            <a:prstGeom prst="rect">
              <a:avLst/>
            </a:prstGeom>
          </p:spPr>
        </p:pic>
        <p:sp>
          <p:nvSpPr>
            <p:cNvPr id="17" name="Textfeld 16">
              <a:extLst>
                <a:ext uri="{FF2B5EF4-FFF2-40B4-BE49-F238E27FC236}">
                  <a16:creationId xmlns:a16="http://schemas.microsoft.com/office/drawing/2014/main" id="{17BEFB50-CEF8-6664-5321-A76906ADCC7E}"/>
                </a:ext>
              </a:extLst>
            </p:cNvPr>
            <p:cNvSpPr txBox="1"/>
            <p:nvPr/>
          </p:nvSpPr>
          <p:spPr>
            <a:xfrm>
              <a:off x="1464390" y="2865543"/>
              <a:ext cx="300082" cy="369332"/>
            </a:xfrm>
            <a:prstGeom prst="rect">
              <a:avLst/>
            </a:prstGeom>
            <a:noFill/>
          </p:spPr>
          <p:txBody>
            <a:bodyPr wrap="none" rtlCol="0">
              <a:spAutoFit/>
            </a:bodyPr>
            <a:lstStyle/>
            <a:p>
              <a:r>
                <a:rPr lang="de-DE" sz="1800" dirty="0">
                  <a:solidFill>
                    <a:srgbClr val="FF0000"/>
                  </a:solidFill>
                </a:rPr>
                <a:t>x</a:t>
              </a:r>
              <a:endParaRPr lang="de-DE" dirty="0">
                <a:solidFill>
                  <a:srgbClr val="FF0000"/>
                </a:solidFill>
              </a:endParaRPr>
            </a:p>
          </p:txBody>
        </p:sp>
        <mc:AlternateContent xmlns:mc="http://schemas.openxmlformats.org/markup-compatibility/2006">
          <mc:Choice xmlns:a14="http://schemas.microsoft.com/office/drawing/2010/main" Requires="a14">
            <p:sp>
              <p:nvSpPr>
                <p:cNvPr id="19" name="Textfeld 18">
                  <a:extLst>
                    <a:ext uri="{FF2B5EF4-FFF2-40B4-BE49-F238E27FC236}">
                      <a16:creationId xmlns:a16="http://schemas.microsoft.com/office/drawing/2014/main" id="{4814A1EB-A2BF-DD22-C3A8-D2A757454CD5}"/>
                    </a:ext>
                  </a:extLst>
                </p:cNvPr>
                <p:cNvSpPr txBox="1"/>
                <p:nvPr/>
              </p:nvSpPr>
              <p:spPr>
                <a:xfrm>
                  <a:off x="1181417" y="2537495"/>
                  <a:ext cx="488724" cy="49705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CH" b="0" i="1" dirty="0" smtClean="0">
                            <a:solidFill>
                              <a:srgbClr val="FF0000"/>
                            </a:solidFill>
                            <a:latin typeface="Cambria Math" panose="02040503050406030204" pitchFamily="18" charset="0"/>
                          </a:rPr>
                          <m:t>−</m:t>
                        </m:r>
                        <m:f>
                          <m:fPr>
                            <m:ctrlPr>
                              <a:rPr lang="de-CH" b="0" i="1" dirty="0" smtClean="0">
                                <a:solidFill>
                                  <a:srgbClr val="FF0000"/>
                                </a:solidFill>
                                <a:latin typeface="Cambria Math" panose="02040503050406030204" pitchFamily="18" charset="0"/>
                              </a:rPr>
                            </m:ctrlPr>
                          </m:fPr>
                          <m:num>
                            <m:r>
                              <a:rPr lang="de-CH" b="0" i="1" dirty="0" smtClean="0">
                                <a:solidFill>
                                  <a:srgbClr val="FF0000"/>
                                </a:solidFill>
                                <a:latin typeface="Cambria Math" panose="02040503050406030204" pitchFamily="18" charset="0"/>
                              </a:rPr>
                              <m:t>1</m:t>
                            </m:r>
                          </m:num>
                          <m:den>
                            <m:r>
                              <a:rPr lang="de-DE" i="1" dirty="0">
                                <a:solidFill>
                                  <a:srgbClr val="FF0000"/>
                                </a:solidFill>
                                <a:latin typeface="Cambria Math" panose="02040503050406030204" pitchFamily="18" charset="0"/>
                              </a:rPr>
                              <m:t>𝜏</m:t>
                            </m:r>
                          </m:den>
                        </m:f>
                      </m:oMath>
                    </m:oMathPara>
                  </a14:m>
                </a:p>
              </p:txBody>
            </p:sp>
          </mc:Choice>
          <mc:Fallback>
            <p:sp>
              <p:nvSpPr>
                <p:cNvPr id="19" name="Textfeld 18">
                  <a:extLst>
                    <a:ext uri="{FF2B5EF4-FFF2-40B4-BE49-F238E27FC236}">
                      <a16:creationId xmlns:a16="http://schemas.microsoft.com/office/drawing/2014/main" id="{4814A1EB-A2BF-DD22-C3A8-D2A757454CD5}"/>
                    </a:ext>
                  </a:extLst>
                </p:cNvPr>
                <p:cNvSpPr txBox="1">
                  <a:spLocks noRot="1" noChangeAspect="1" noMove="1" noResize="1" noEditPoints="1" noAdjustHandles="1" noChangeArrowheads="1" noChangeShapeType="1" noTextEdit="1"/>
                </p:cNvSpPr>
                <p:nvPr/>
              </p:nvSpPr>
              <p:spPr>
                <a:xfrm>
                  <a:off x="1181417" y="2537495"/>
                  <a:ext cx="488724" cy="497059"/>
                </a:xfrm>
                <a:prstGeom prst="rect">
                  <a:avLst/>
                </a:prstGeom>
                <a:blipFill>
                  <a:blip r:embed="rId12"/>
                  <a:stretch>
                    <a:fillRect r="-7692"/>
                  </a:stretch>
                </a:blipFill>
              </p:spPr>
              <p:txBody>
                <a:bodyPr/>
                <a:lstStyle/>
                <a:p>
                  <a:r>
                    <a:rPr lang="de-DE">
                      <a:noFill/>
                    </a:rPr>
                    <a:t> </a:t>
                  </a:r>
                </a:p>
              </p:txBody>
            </p:sp>
          </mc:Fallback>
        </mc:AlternateContent>
      </p:grpSp>
      <mc:AlternateContent xmlns:mc="http://schemas.openxmlformats.org/markup-compatibility/2006">
        <mc:Choice xmlns:a14="http://schemas.microsoft.com/office/drawing/2010/main" Requires="a14">
          <p:sp>
            <p:nvSpPr>
              <p:cNvPr id="15" name="Textfeld 14">
                <a:extLst>
                  <a:ext uri="{FF2B5EF4-FFF2-40B4-BE49-F238E27FC236}">
                    <a16:creationId xmlns:a16="http://schemas.microsoft.com/office/drawing/2014/main" id="{64B1A575-A0B3-A8B6-E971-2136931E8F54}"/>
                  </a:ext>
                </a:extLst>
              </p:cNvPr>
              <p:cNvSpPr txBox="1"/>
              <p:nvPr/>
            </p:nvSpPr>
            <p:spPr>
              <a:xfrm>
                <a:off x="302677" y="3861998"/>
                <a:ext cx="9266299" cy="953274"/>
              </a:xfrm>
              <a:prstGeom prst="rect">
                <a:avLst/>
              </a:prstGeom>
              <a:noFill/>
            </p:spPr>
            <p:txBody>
              <a:bodyPr wrap="square" rtlCol="0">
                <a:spAutoFit/>
              </a:bodyPr>
              <a:lstStyle/>
              <a:p>
                <a:r>
                  <a:rPr lang="de-DE" sz="1600" dirty="0" err="1"/>
                  <a:t>Specifications</a:t>
                </a:r>
                <a:r>
                  <a:rPr lang="de-DE" sz="1600" dirty="0"/>
                  <a:t>: </a:t>
                </a:r>
                <a:br>
                  <a:rPr lang="de-DE" sz="1600" dirty="0"/>
                </a:br>
                <a:r>
                  <a:rPr lang="de-DE" sz="1600" b="1" dirty="0" err="1">
                    <a:latin typeface="Segoe UI" panose="020B0502040204020203" pitchFamily="34" charset="0"/>
                    <a:cs typeface="Segoe UI" panose="020B0502040204020203" pitchFamily="34" charset="0"/>
                  </a:rPr>
                  <a:t>Settling</a:t>
                </a:r>
                <a:r>
                  <a:rPr lang="de-DE" sz="1600" b="1" dirty="0">
                    <a:latin typeface="Segoe UI" panose="020B0502040204020203" pitchFamily="34" charset="0"/>
                    <a:cs typeface="Segoe UI" panose="020B0502040204020203" pitchFamily="34" charset="0"/>
                  </a:rPr>
                  <a:t> Time:</a:t>
                </a:r>
                <a:r>
                  <a:rPr lang="de-DE" sz="1600" dirty="0"/>
                  <a:t> </a:t>
                </a:r>
                <a14:m/>
              </a:p>
              <a:p>
                <a:r>
                  <a:rPr lang="de-DE" sz="1600" dirty="0"/>
                  <a:t> Time </a:t>
                </a:r>
                <a:r>
                  <a:rPr lang="de-DE" sz="1600" dirty="0" err="1"/>
                  <a:t>to</a:t>
                </a:r>
                <a:r>
                  <a:rPr lang="de-DE" sz="1600" dirty="0"/>
                  <a:t> </a:t>
                </a:r>
                <a:r>
                  <a:rPr lang="de-DE" sz="1600" dirty="0" err="1"/>
                  <a:t>get</a:t>
                </a:r>
                <a:r>
                  <a:rPr lang="de-DE" sz="1600" dirty="0"/>
                  <a:t> </a:t>
                </a:r>
                <a:r>
                  <a:rPr lang="de-DE" sz="1600" dirty="0" err="1"/>
                  <a:t>within</a:t>
                </a:r>
                <a:r>
                  <a:rPr lang="de-DE" sz="1600" dirty="0"/>
                  <a:t> </a:t>
                </a:r>
                <a14:m>
                  <m:oMath xmlns:m="http://schemas.openxmlformats.org/officeDocument/2006/math">
                    <m:r>
                      <a:rPr lang="de-DE" sz="1600" i="1" dirty="0" smtClean="0">
                        <a:latin typeface="Cambria Math" panose="02040503050406030204" pitchFamily="18" charset="0"/>
                      </a:rPr>
                      <m:t>𝑑</m:t>
                    </m:r>
                    <m:r>
                      <a:rPr lang="de-DE" sz="1600" i="1" dirty="0" smtClean="0">
                        <a:latin typeface="Cambria Math" panose="02040503050406030204" pitchFamily="18" charset="0"/>
                      </a:rPr>
                      <m:t>%</m:t>
                    </m:r>
                  </m:oMath>
                </a14:m>
                <a:r>
                  <a:rPr lang="de-DE" sz="1600" dirty="0"/>
                  <a:t> </a:t>
                </a:r>
                <a:r>
                  <a:rPr lang="de-DE" sz="1600" dirty="0" err="1"/>
                  <a:t>of</a:t>
                </a:r>
                <a:r>
                  <a:rPr lang="de-DE" sz="1600" dirty="0"/>
                  <a:t> </a:t>
                </a:r>
                <a:r>
                  <a:rPr lang="de-DE" sz="1600" dirty="0" err="1"/>
                  <a:t>tolerance</a:t>
                </a:r>
                <a:r>
                  <a:rPr lang="de-DE" sz="1600" dirty="0"/>
                  <a:t> </a:t>
                </a:r>
                <a:r>
                  <a:rPr lang="de-DE" sz="1600" dirty="0" err="1"/>
                  <a:t>of</a:t>
                </a:r>
                <a:r>
                  <a:rPr lang="de-DE" sz="1600" dirty="0"/>
                  <a:t> </a:t>
                </a:r>
                <a:r>
                  <a:rPr lang="de-DE" sz="1600" dirty="0" err="1"/>
                  <a:t>the</a:t>
                </a:r>
                <a:r>
                  <a:rPr lang="de-DE" sz="1600" dirty="0"/>
                  <a:t> </a:t>
                </a:r>
                <a:r>
                  <a:rPr lang="de-DE" sz="1600" dirty="0" err="1"/>
                  <a:t>reference</a:t>
                </a:r>
                <a:r>
                  <a:rPr lang="de-DE" sz="1600" dirty="0"/>
                  <a:t> </a:t>
                </a:r>
                <a:r>
                  <a:rPr lang="de-DE" sz="1600" dirty="0" err="1"/>
                  <a:t>signal</a:t>
                </a:r>
                <a:endParaRPr lang="de-DE" sz="1600" dirty="0"/>
              </a:p>
            </p:txBody>
          </p:sp>
        </mc:Choice>
        <mc:Fallback>
          <p:sp>
            <p:nvSpPr>
              <p:cNvPr id="15" name="Textfeld 14">
                <a:extLst>
                  <a:ext uri="{FF2B5EF4-FFF2-40B4-BE49-F238E27FC236}">
                    <a16:creationId xmlns:a16="http://schemas.microsoft.com/office/drawing/2014/main" id="{64B1A575-A0B3-A8B6-E971-2136931E8F54}"/>
                  </a:ext>
                </a:extLst>
              </p:cNvPr>
              <p:cNvSpPr txBox="1">
                <a:spLocks noRot="1" noChangeAspect="1" noMove="1" noResize="1" noEditPoints="1" noAdjustHandles="1" noChangeArrowheads="1" noChangeShapeType="1" noTextEdit="1"/>
              </p:cNvSpPr>
              <p:nvPr/>
            </p:nvSpPr>
            <p:spPr>
              <a:xfrm>
                <a:off x="302677" y="3861998"/>
                <a:ext cx="9266299" cy="953274"/>
              </a:xfrm>
              <a:prstGeom prst="rect">
                <a:avLst/>
              </a:prstGeom>
              <a:blipFill>
                <a:blip r:embed="rId13"/>
                <a:stretch>
                  <a:fillRect l="-411" t="-2632" b="-6579"/>
                </a:stretch>
              </a:blipFill>
            </p:spPr>
            <p:txBody>
              <a:bodyPr/>
              <a:lstStyle/>
              <a:p>
                <a:r>
                  <a:rPr lang="de-DE">
                    <a:noFill/>
                  </a:rPr>
                  <a:t> </a:t>
                </a:r>
              </a:p>
            </p:txBody>
          </p:sp>
        </mc:Fallback>
      </mc:AlternateContent>
      <p:pic>
        <p:nvPicPr>
          <p:cNvPr id="21" name="Inhaltsplatzhalter 6" descr="Ein Bild, das Text, Schrift, Reihe, weiß enthält.&#10;&#10;KI-generierte Inhalte können fehlerhaft sein.">
            <a:extLst>
              <a:ext uri="{FF2B5EF4-FFF2-40B4-BE49-F238E27FC236}">
                <a16:creationId xmlns:a16="http://schemas.microsoft.com/office/drawing/2014/main" id="{E397CB54-0189-F273-3DEC-9BE226DDB8BB}"/>
              </a:ext>
            </a:extLst>
          </p:cNvPr>
          <p:cNvPicPr>
            <a:picLocks noChangeAspect="1"/>
          </p:cNvPicPr>
          <p:nvPr/>
        </p:nvPicPr>
        <p:blipFill>
          <a:blip r:embed="rId4"/>
          <a:srcRect l="41016"/>
          <a:stretch>
            <a:fillRect/>
          </a:stretch>
        </p:blipFill>
        <p:spPr>
          <a:xfrm>
            <a:off x="4051462" y="856476"/>
            <a:ext cx="4651851" cy="1346715"/>
          </a:xfrm>
          <a:prstGeom prst="rect">
            <a:avLst/>
          </a:prstGeom>
        </p:spPr>
      </p:pic>
    </p:spTree>
    <p:extLst>
      <p:ext uri="{BB962C8B-B14F-4D97-AF65-F5344CB8AC3E}">
        <p14:creationId xmlns:p14="http://schemas.microsoft.com/office/powerpoint/2010/main" val="399934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Text, Diagramm, Reihe, Schrift enthält.&#10;&#10;KI-generierte Inhalte können fehlerhaft sein.">
            <a:extLst>
              <a:ext uri="{FF2B5EF4-FFF2-40B4-BE49-F238E27FC236}">
                <a16:creationId xmlns:a16="http://schemas.microsoft.com/office/drawing/2014/main" id="{3C3E0407-E7C9-948F-09C5-2FC40BFFF7A7}"/>
              </a:ext>
            </a:extLst>
          </p:cNvPr>
          <p:cNvPicPr>
            <a:picLocks noChangeAspect="1"/>
          </p:cNvPicPr>
          <p:nvPr/>
        </p:nvPicPr>
        <p:blipFill>
          <a:blip r:embed="rId2"/>
          <a:stretch>
            <a:fillRect/>
          </a:stretch>
        </p:blipFill>
        <p:spPr>
          <a:xfrm>
            <a:off x="4129873" y="845871"/>
            <a:ext cx="1985177" cy="1865382"/>
          </a:xfrm>
          <a:prstGeom prst="rect">
            <a:avLst/>
          </a:prstGeom>
        </p:spPr>
      </p:pic>
      <p:sp>
        <p:nvSpPr>
          <p:cNvPr id="2" name="Titel 1">
            <a:extLst>
              <a:ext uri="{FF2B5EF4-FFF2-40B4-BE49-F238E27FC236}">
                <a16:creationId xmlns:a16="http://schemas.microsoft.com/office/drawing/2014/main" id="{0954B91E-A877-4386-5F45-9E853818DF78}"/>
              </a:ext>
            </a:extLst>
          </p:cNvPr>
          <p:cNvSpPr>
            <a:spLocks noGrp="1"/>
          </p:cNvSpPr>
          <p:nvPr>
            <p:ph type="title"/>
          </p:nvPr>
        </p:nvSpPr>
        <p:spPr>
          <a:xfrm>
            <a:off x="628650" y="157739"/>
            <a:ext cx="7886700" cy="994172"/>
          </a:xfrm>
        </p:spPr>
        <p:txBody>
          <a:bodyPr/>
          <a:lstStyle/>
          <a:p>
            <a:r>
              <a:rPr lang="de-DE" dirty="0" err="1"/>
              <a:t>Step</a:t>
            </a:r>
            <a:r>
              <a:rPr lang="de-DE" dirty="0"/>
              <a:t> Response </a:t>
            </a:r>
            <a:r>
              <a:rPr lang="de-DE" dirty="0" err="1"/>
              <a:t>of</a:t>
            </a:r>
            <a:r>
              <a:rPr lang="de-DE" dirty="0"/>
              <a:t> a 2</a:t>
            </a:r>
            <a:r>
              <a:rPr lang="de-DE" baseline="30000" dirty="0"/>
              <a:t>nd</a:t>
            </a:r>
            <a:r>
              <a:rPr lang="de-DE" dirty="0"/>
              <a:t> Order System</a:t>
            </a:r>
          </a:p>
        </p:txBody>
      </p:sp>
      <p:pic>
        <p:nvPicPr>
          <p:cNvPr id="7" name="Inhaltsplatzhalter 6" descr="Ein Bild, das Text, Schrift, Reihe, Handschrift enthält.&#10;&#10;KI-generierte Inhalte können fehlerhaft sein.">
            <a:extLst>
              <a:ext uri="{FF2B5EF4-FFF2-40B4-BE49-F238E27FC236}">
                <a16:creationId xmlns:a16="http://schemas.microsoft.com/office/drawing/2014/main" id="{C6619698-513C-54D6-456D-95EC20DB9CED}"/>
              </a:ext>
            </a:extLst>
          </p:cNvPr>
          <p:cNvPicPr>
            <a:picLocks noGrp="1" noChangeAspect="1"/>
          </p:cNvPicPr>
          <p:nvPr>
            <p:ph idx="1"/>
          </p:nvPr>
        </p:nvPicPr>
        <p:blipFill>
          <a:blip r:embed="rId3"/>
          <a:stretch>
            <a:fillRect/>
          </a:stretch>
        </p:blipFill>
        <p:spPr>
          <a:xfrm>
            <a:off x="-54789" y="1258591"/>
            <a:ext cx="4255506" cy="902682"/>
          </a:xfrm>
        </p:spPr>
      </p:pic>
      <p:sp>
        <p:nvSpPr>
          <p:cNvPr id="4" name="Fußzeilenplatzhalter 3">
            <a:extLst>
              <a:ext uri="{FF2B5EF4-FFF2-40B4-BE49-F238E27FC236}">
                <a16:creationId xmlns:a16="http://schemas.microsoft.com/office/drawing/2014/main" id="{7938C0C1-9198-83B7-78B8-D44A4F74A107}"/>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47E167FA-E094-58EF-8FF2-58421ED3EA98}"/>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17</a:t>
            </a:fld>
            <a:endParaRPr lang="en-CH" kern="1200">
              <a:solidFill>
                <a:srgbClr val="101623">
                  <a:tint val="75000"/>
                </a:srgbClr>
              </a:solidFill>
              <a:latin typeface="Calibri" panose="020F0502020204030204"/>
              <a:ea typeface="+mn-ea"/>
              <a:cs typeface="+mn-cs"/>
            </a:endParaRPr>
          </a:p>
        </p:txBody>
      </p:sp>
      <p:pic>
        <p:nvPicPr>
          <p:cNvPr id="11" name="Grafik 10" descr="Ein Bild, das Text, Reihe, Screenshot, Diagramm enthält.&#10;&#10;KI-generierte Inhalte können fehlerhaft sein.">
            <a:extLst>
              <a:ext uri="{FF2B5EF4-FFF2-40B4-BE49-F238E27FC236}">
                <a16:creationId xmlns:a16="http://schemas.microsoft.com/office/drawing/2014/main" id="{D0DAC7C8-DE9E-A906-A33C-1E14FEB908A6}"/>
              </a:ext>
            </a:extLst>
          </p:cNvPr>
          <p:cNvPicPr>
            <a:picLocks noChangeAspect="1"/>
          </p:cNvPicPr>
          <p:nvPr/>
        </p:nvPicPr>
        <p:blipFill>
          <a:blip r:embed="rId4"/>
          <a:stretch>
            <a:fillRect/>
          </a:stretch>
        </p:blipFill>
        <p:spPr>
          <a:xfrm>
            <a:off x="6225697" y="1041796"/>
            <a:ext cx="2941163" cy="1214172"/>
          </a:xfrm>
          <a:prstGeom prst="rect">
            <a:avLst/>
          </a:prstGeom>
        </p:spPr>
      </p:pic>
      <p:pic>
        <p:nvPicPr>
          <p:cNvPr id="13" name="Grafik 12" descr="Ein Bild, das Reihe, Diagramm, weiß enthält.&#10;&#10;KI-generierte Inhalte können fehlerhaft sein.">
            <a:extLst>
              <a:ext uri="{FF2B5EF4-FFF2-40B4-BE49-F238E27FC236}">
                <a16:creationId xmlns:a16="http://schemas.microsoft.com/office/drawing/2014/main" id="{9F015A48-56A1-ABD2-34C2-5B4B37331F85}"/>
              </a:ext>
            </a:extLst>
          </p:cNvPr>
          <p:cNvPicPr>
            <a:picLocks noChangeAspect="1"/>
          </p:cNvPicPr>
          <p:nvPr/>
        </p:nvPicPr>
        <p:blipFill>
          <a:blip r:embed="rId5"/>
          <a:stretch>
            <a:fillRect/>
          </a:stretch>
        </p:blipFill>
        <p:spPr>
          <a:xfrm>
            <a:off x="-77298" y="2765322"/>
            <a:ext cx="4649298" cy="1947871"/>
          </a:xfrm>
          <a:prstGeom prst="rect">
            <a:avLst/>
          </a:prstGeom>
        </p:spPr>
      </p:pic>
      <mc:AlternateContent xmlns:mc="http://schemas.openxmlformats.org/markup-compatibility/2006">
        <mc:Choice xmlns:a14="http://schemas.microsoft.com/office/drawing/2010/main" Requires="a14">
          <p:sp>
            <p:nvSpPr>
              <p:cNvPr id="14" name="Textfeld 13">
                <a:extLst>
                  <a:ext uri="{FF2B5EF4-FFF2-40B4-BE49-F238E27FC236}">
                    <a16:creationId xmlns:a16="http://schemas.microsoft.com/office/drawing/2014/main" id="{8F958CAF-87DC-7777-964B-C0F3454D6DB5}"/>
                  </a:ext>
                </a:extLst>
              </p:cNvPr>
              <p:cNvSpPr txBox="1"/>
              <p:nvPr/>
            </p:nvSpPr>
            <p:spPr>
              <a:xfrm>
                <a:off x="53074" y="2354962"/>
                <a:ext cx="3528571" cy="338554"/>
              </a:xfrm>
              <a:prstGeom prst="rect">
                <a:avLst/>
              </a:prstGeom>
              <a:noFill/>
            </p:spPr>
            <p:txBody>
              <a:bodyPr wrap="square" rtlCol="0">
                <a:spAutoFit/>
              </a:bodyPr>
              <a:lstStyle/>
              <a:p>
                <a:r>
                  <a:rPr lang="de-DE" sz="1600" dirty="0" err="1">
                    <a:latin typeface="Segoe UI" panose="020B0502040204020203" pitchFamily="34" charset="0"/>
                    <a:cs typeface="Segoe UI" panose="020B0502040204020203" pitchFamily="34" charset="0"/>
                  </a:rPr>
                  <a:t>For</a:t>
                </a:r>
                <a:r>
                  <a:rPr lang="de-DE" sz="1600" dirty="0">
                    <a:latin typeface="Segoe UI" panose="020B0502040204020203" pitchFamily="34" charset="0"/>
                    <a:cs typeface="Segoe UI" panose="020B0502040204020203" pitchFamily="34" charset="0"/>
                  </a:rPr>
                  <a:t> an </a:t>
                </a:r>
                <a:r>
                  <a:rPr lang="de-DE" sz="1600" dirty="0" err="1">
                    <a:latin typeface="Segoe UI" panose="020B0502040204020203" pitchFamily="34" charset="0"/>
                    <a:cs typeface="Segoe UI" panose="020B0502040204020203" pitchFamily="34" charset="0"/>
                  </a:rPr>
                  <a:t>underdamped</a:t>
                </a:r>
                <a:r>
                  <a:rPr lang="de-DE" sz="1600" dirty="0">
                    <a:latin typeface="Segoe UI" panose="020B0502040204020203" pitchFamily="34" charset="0"/>
                    <a:cs typeface="Segoe UI" panose="020B0502040204020203" pitchFamily="34" charset="0"/>
                  </a:rPr>
                  <a:t> </a:t>
                </a:r>
                <a:r>
                  <a:rPr lang="de-DE" sz="1600" dirty="0" err="1">
                    <a:latin typeface="Segoe UI" panose="020B0502040204020203" pitchFamily="34" charset="0"/>
                    <a:cs typeface="Segoe UI" panose="020B0502040204020203" pitchFamily="34" charset="0"/>
                  </a:rPr>
                  <a:t>system</a:t>
                </a:r>
                <a:r>
                  <a:rPr lang="de-DE" sz="1600" dirty="0">
                    <a:latin typeface="Segoe UI" panose="020B0502040204020203" pitchFamily="34" charset="0"/>
                    <a:cs typeface="Segoe UI" panose="020B0502040204020203" pitchFamily="34" charset="0"/>
                  </a:rPr>
                  <a:t> </a:t>
                </a:r>
                <a14:m>
                  <m:oMath xmlns:m="http://schemas.openxmlformats.org/officeDocument/2006/math">
                    <m:d>
                      <m:dPr>
                        <m:ctrlPr>
                          <a:rPr lang="de-DE" sz="1600" i="1" dirty="0" smtClean="0">
                            <a:latin typeface="Cambria Math" panose="02040503050406030204" pitchFamily="18" charset="0"/>
                            <a:cs typeface="Segoe UI" panose="020B0502040204020203" pitchFamily="34" charset="0"/>
                          </a:rPr>
                        </m:ctrlPr>
                      </m:dPr>
                      <m:e>
                        <m:r>
                          <a:rPr lang="de-DE" sz="1600" i="1" dirty="0" smtClean="0">
                            <a:latin typeface="Cambria Math" panose="02040503050406030204" pitchFamily="18" charset="0"/>
                            <a:cs typeface="Segoe UI" panose="020B0502040204020203" pitchFamily="34" charset="0"/>
                          </a:rPr>
                          <m:t>𝜁</m:t>
                        </m:r>
                        <m:r>
                          <a:rPr lang="de-DE" sz="1600" i="1" dirty="0">
                            <a:latin typeface="Cambria Math" panose="02040503050406030204" pitchFamily="18" charset="0"/>
                            <a:cs typeface="Segoe UI" panose="020B0502040204020203" pitchFamily="34" charset="0"/>
                          </a:rPr>
                          <m:t>&lt;</m:t>
                        </m:r>
                        <m:r>
                          <a:rPr lang="de-DE" sz="1600" i="1" dirty="0" smtClean="0">
                            <a:latin typeface="Cambria Math" panose="02040503050406030204" pitchFamily="18" charset="0"/>
                            <a:cs typeface="Segoe UI" panose="020B0502040204020203" pitchFamily="34" charset="0"/>
                          </a:rPr>
                          <m:t>1</m:t>
                        </m:r>
                      </m:e>
                    </m:d>
                  </m:oMath>
                </a14:m>
                <a:r>
                  <a:rPr lang="de-DE" sz="1600" dirty="0">
                    <a:latin typeface="Segoe UI" panose="020B0502040204020203" pitchFamily="34" charset="0"/>
                    <a:cs typeface="Segoe UI" panose="020B0502040204020203" pitchFamily="34" charset="0"/>
                  </a:rPr>
                  <a:t>:</a:t>
                </a:r>
              </a:p>
            </p:txBody>
          </p:sp>
        </mc:Choice>
        <mc:Fallback>
          <p:sp>
            <p:nvSpPr>
              <p:cNvPr id="14" name="Textfeld 13">
                <a:extLst>
                  <a:ext uri="{FF2B5EF4-FFF2-40B4-BE49-F238E27FC236}">
                    <a16:creationId xmlns:a16="http://schemas.microsoft.com/office/drawing/2014/main" id="{8F958CAF-87DC-7777-964B-C0F3454D6DB5}"/>
                  </a:ext>
                </a:extLst>
              </p:cNvPr>
              <p:cNvSpPr txBox="1">
                <a:spLocks noRot="1" noChangeAspect="1" noMove="1" noResize="1" noEditPoints="1" noAdjustHandles="1" noChangeArrowheads="1" noChangeShapeType="1" noTextEdit="1"/>
              </p:cNvSpPr>
              <p:nvPr/>
            </p:nvSpPr>
            <p:spPr>
              <a:xfrm>
                <a:off x="53074" y="2354962"/>
                <a:ext cx="3528571" cy="338554"/>
              </a:xfrm>
              <a:prstGeom prst="rect">
                <a:avLst/>
              </a:prstGeom>
              <a:blipFill>
                <a:blip r:embed="rId6"/>
                <a:stretch>
                  <a:fillRect l="-1075" t="-7143" b="-21429"/>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15" name="Textfeld 14">
                <a:extLst>
                  <a:ext uri="{FF2B5EF4-FFF2-40B4-BE49-F238E27FC236}">
                    <a16:creationId xmlns:a16="http://schemas.microsoft.com/office/drawing/2014/main" id="{BEA98937-240A-3D0C-5CB8-11D0E1BD6B78}"/>
                  </a:ext>
                </a:extLst>
              </p:cNvPr>
              <p:cNvSpPr txBox="1"/>
              <p:nvPr/>
            </p:nvSpPr>
            <p:spPr>
              <a:xfrm>
                <a:off x="5029200" y="2584013"/>
                <a:ext cx="4572000" cy="2401748"/>
              </a:xfrm>
              <a:prstGeom prst="rect">
                <a:avLst/>
              </a:prstGeom>
              <a:noFill/>
            </p:spPr>
            <p:txBody>
              <a:bodyPr wrap="square" rtlCol="0">
                <a:spAutoFit/>
              </a:bodyPr>
              <a:lstStyle/>
              <a:p>
                <a:r>
                  <a:rPr lang="de-DE" sz="1600" i="1" dirty="0" err="1">
                    <a:latin typeface="Segoe UI" panose="020B0502040204020203" pitchFamily="34" charset="0"/>
                    <a:cs typeface="Segoe UI" panose="020B0502040204020203" pitchFamily="34" charset="0"/>
                  </a:rPr>
                  <a:t>Specifications</a:t>
                </a:r>
                <a:r>
                  <a:rPr lang="de-DE" sz="1600" i="1" dirty="0">
                    <a:latin typeface="Segoe UI" panose="020B0502040204020203" pitchFamily="34" charset="0"/>
                    <a:cs typeface="Segoe UI" panose="020B0502040204020203" pitchFamily="34" charset="0"/>
                  </a:rPr>
                  <a:t>: </a:t>
                </a:r>
              </a:p>
              <a:p>
                <a:r>
                  <a:rPr lang="de-DE" sz="1600" b="1" dirty="0" err="1">
                    <a:latin typeface="Segoe UI" panose="020B0502040204020203" pitchFamily="34" charset="0"/>
                    <a:cs typeface="Segoe UI" panose="020B0502040204020203" pitchFamily="34" charset="0"/>
                  </a:rPr>
                  <a:t>Settling</a:t>
                </a:r>
                <a:r>
                  <a:rPr lang="de-DE" sz="1600" b="1" dirty="0">
                    <a:latin typeface="Segoe UI" panose="020B0502040204020203" pitchFamily="34" charset="0"/>
                    <a:cs typeface="Segoe UI" panose="020B0502040204020203" pitchFamily="34" charset="0"/>
                  </a:rPr>
                  <a:t> Time:</a:t>
                </a:r>
                <a:r>
                  <a:rPr lang="de-DE" sz="1600" dirty="0"/>
                  <a:t>	</a:t>
                </a:r>
                <a14:m>
                  <m:oMath xmlns:m="http://schemas.openxmlformats.org/officeDocument/2006/math">
                    <m:sSub>
                      <m:sSubPr>
                        <m:ctrlPr>
                          <a:rPr lang="de-DE" sz="1600" i="1" dirty="0" smtClean="0">
                            <a:latin typeface="Cambria Math" panose="02040503050406030204" pitchFamily="18" charset="0"/>
                          </a:rPr>
                        </m:ctrlPr>
                      </m:sSubPr>
                      <m:e>
                        <m:r>
                          <a:rPr lang="de-DE" sz="1600" i="1" dirty="0" smtClean="0">
                            <a:latin typeface="Cambria Math" panose="02040503050406030204" pitchFamily="18" charset="0"/>
                          </a:rPr>
                          <m:t>𝑇</m:t>
                        </m:r>
                      </m:e>
                      <m:sub>
                        <m:r>
                          <a:rPr lang="de-DE" sz="1600" i="1" dirty="0" smtClean="0">
                            <a:latin typeface="Cambria Math" panose="02040503050406030204" pitchFamily="18" charset="0"/>
                          </a:rPr>
                          <m:t>𝑑</m:t>
                        </m:r>
                      </m:sub>
                    </m:sSub>
                    <m:r>
                      <a:rPr lang="de-DE" sz="1600" i="1" dirty="0">
                        <a:latin typeface="Cambria Math" panose="02040503050406030204" pitchFamily="18" charset="0"/>
                      </a:rPr>
                      <m:t>=</m:t>
                    </m:r>
                    <m:f>
                      <m:fPr>
                        <m:ctrlPr>
                          <a:rPr lang="de-DE" sz="1600" i="1" dirty="0">
                            <a:latin typeface="Cambria Math" panose="02040503050406030204" pitchFamily="18" charset="0"/>
                          </a:rPr>
                        </m:ctrlPr>
                      </m:fPr>
                      <m:num>
                        <m:r>
                          <a:rPr lang="de-DE" sz="1600" i="1" dirty="0">
                            <a:latin typeface="Cambria Math" panose="02040503050406030204" pitchFamily="18" charset="0"/>
                          </a:rPr>
                          <m:t>1</m:t>
                        </m:r>
                      </m:num>
                      <m:den>
                        <m:d>
                          <m:dPr>
                            <m:begChr m:val="|"/>
                            <m:endChr m:val="|"/>
                            <m:ctrlPr>
                              <a:rPr lang="de-DE" sz="1600" i="1" dirty="0">
                                <a:latin typeface="Cambria Math" panose="02040503050406030204" pitchFamily="18" charset="0"/>
                              </a:rPr>
                            </m:ctrlPr>
                          </m:dPr>
                          <m:e>
                            <m:r>
                              <a:rPr lang="de-DE" sz="1600" i="1" dirty="0">
                                <a:latin typeface="Cambria Math" panose="02040503050406030204" pitchFamily="18" charset="0"/>
                              </a:rPr>
                              <m:t>𝜎</m:t>
                            </m:r>
                          </m:e>
                        </m:d>
                      </m:den>
                    </m:f>
                    <m:r>
                      <m:rPr>
                        <m:sty m:val="p"/>
                      </m:rPr>
                      <a:rPr lang="de-DE" sz="1600" i="1" dirty="0">
                        <a:latin typeface="Cambria Math" panose="02040503050406030204" pitchFamily="18" charset="0"/>
                      </a:rPr>
                      <m:t>log</m:t>
                    </m:r>
                    <m:d>
                      <m:dPr>
                        <m:ctrlPr>
                          <a:rPr lang="de-DE" sz="1600" i="1" dirty="0">
                            <a:latin typeface="Cambria Math" panose="02040503050406030204" pitchFamily="18" charset="0"/>
                          </a:rPr>
                        </m:ctrlPr>
                      </m:dPr>
                      <m:e>
                        <m:f>
                          <m:fPr>
                            <m:ctrlPr>
                              <a:rPr lang="de-DE" sz="1600" i="1" dirty="0">
                                <a:latin typeface="Cambria Math" panose="02040503050406030204" pitchFamily="18" charset="0"/>
                              </a:rPr>
                            </m:ctrlPr>
                          </m:fPr>
                          <m:num>
                            <m:r>
                              <a:rPr lang="de-DE" sz="1600" i="1" dirty="0">
                                <a:latin typeface="Cambria Math" panose="02040503050406030204" pitchFamily="18" charset="0"/>
                              </a:rPr>
                              <m:t>100</m:t>
                            </m:r>
                          </m:num>
                          <m:den>
                            <m:r>
                              <a:rPr lang="de-DE" sz="1600" i="1" dirty="0">
                                <a:latin typeface="Cambria Math" panose="02040503050406030204" pitchFamily="18" charset="0"/>
                              </a:rPr>
                              <m:t>𝑑</m:t>
                            </m:r>
                          </m:den>
                        </m:f>
                      </m:e>
                    </m:d>
                  </m:oMath>
                </a14:m>
                <a:endParaRPr lang="de-DE" sz="1600" dirty="0"/>
              </a:p>
              <a:p>
                <a:r>
                  <a:rPr lang="de-DE" sz="1600" b="1" dirty="0">
                    <a:latin typeface="Segoe UI" panose="020B0502040204020203" pitchFamily="34" charset="0"/>
                    <a:cs typeface="Segoe UI" panose="020B0502040204020203" pitchFamily="34" charset="0"/>
                  </a:rPr>
                  <a:t>Peak Time:</a:t>
                </a:r>
                <a:r>
                  <a:rPr lang="de-DE" sz="1600" dirty="0"/>
                  <a:t>	</a:t>
                </a:r>
                <a14:m>
                  <m:oMath xmlns:m="http://schemas.openxmlformats.org/officeDocument/2006/math">
                    <m:sSub>
                      <m:sSubPr>
                        <m:ctrlPr>
                          <a:rPr lang="de-DE" sz="1600" i="1" dirty="0" smtClean="0">
                            <a:latin typeface="Cambria Math" panose="02040503050406030204" pitchFamily="18" charset="0"/>
                          </a:rPr>
                        </m:ctrlPr>
                      </m:sSubPr>
                      <m:e>
                        <m:r>
                          <a:rPr lang="de-DE" sz="1600" i="1" dirty="0" smtClean="0">
                            <a:latin typeface="Cambria Math" panose="02040503050406030204" pitchFamily="18" charset="0"/>
                          </a:rPr>
                          <m:t>𝑇</m:t>
                        </m:r>
                      </m:e>
                      <m:sub>
                        <m:r>
                          <a:rPr lang="de-DE" sz="1600" i="1" dirty="0" err="1">
                            <a:latin typeface="Cambria Math" panose="02040503050406030204" pitchFamily="18" charset="0"/>
                          </a:rPr>
                          <m:t>𝑝</m:t>
                        </m:r>
                      </m:sub>
                    </m:sSub>
                    <m:r>
                      <a:rPr lang="de-DE" sz="1600" i="1" dirty="0">
                        <a:latin typeface="Cambria Math" panose="02040503050406030204" pitchFamily="18" charset="0"/>
                      </a:rPr>
                      <m:t>=</m:t>
                    </m:r>
                    <m:f>
                      <m:fPr>
                        <m:ctrlPr>
                          <a:rPr lang="de-DE" sz="1600" i="1" dirty="0">
                            <a:latin typeface="Cambria Math" panose="02040503050406030204" pitchFamily="18" charset="0"/>
                          </a:rPr>
                        </m:ctrlPr>
                      </m:fPr>
                      <m:num>
                        <m:r>
                          <a:rPr lang="de-DE" sz="1600" i="1" dirty="0">
                            <a:latin typeface="Cambria Math" panose="02040503050406030204" pitchFamily="18" charset="0"/>
                          </a:rPr>
                          <m:t>𝜋</m:t>
                        </m:r>
                      </m:num>
                      <m:den>
                        <m:r>
                          <a:rPr lang="de-DE" sz="1600" i="1" dirty="0">
                            <a:latin typeface="Cambria Math" panose="02040503050406030204" pitchFamily="18" charset="0"/>
                          </a:rPr>
                          <m:t>𝜔</m:t>
                        </m:r>
                      </m:den>
                    </m:f>
                  </m:oMath>
                </a14:m>
                <a:endParaRPr lang="de-DE" sz="1600" dirty="0"/>
              </a:p>
              <a:p>
                <a:r>
                  <a:rPr lang="de-DE" sz="1600" b="1" dirty="0">
                    <a:latin typeface="Segoe UI" panose="020B0502040204020203" pitchFamily="34" charset="0"/>
                    <a:cs typeface="Segoe UI" panose="020B0502040204020203" pitchFamily="34" charset="0"/>
                  </a:rPr>
                  <a:t>Peak </a:t>
                </a:r>
                <a:r>
                  <a:rPr lang="de-DE" sz="1600" b="1" dirty="0" err="1">
                    <a:latin typeface="Segoe UI" panose="020B0502040204020203" pitchFamily="34" charset="0"/>
                    <a:cs typeface="Segoe UI" panose="020B0502040204020203" pitchFamily="34" charset="0"/>
                  </a:rPr>
                  <a:t>Overshoot</a:t>
                </a:r>
                <a:r>
                  <a:rPr lang="de-DE" sz="1600" b="1" dirty="0">
                    <a:latin typeface="Segoe UI" panose="020B0502040204020203" pitchFamily="34" charset="0"/>
                    <a:cs typeface="Segoe UI" panose="020B0502040204020203" pitchFamily="34" charset="0"/>
                  </a:rPr>
                  <a:t>:</a:t>
                </a:r>
                <a:r>
                  <a:rPr lang="de-DE" sz="1600" dirty="0"/>
                  <a:t>	</a:t>
                </a:r>
                <a14:m>
                  <m:oMath xmlns:m="http://schemas.openxmlformats.org/officeDocument/2006/math">
                    <m:sSub>
                      <m:sSubPr>
                        <m:ctrlPr>
                          <a:rPr lang="de-DE" sz="1600" i="1" dirty="0" smtClean="0">
                            <a:latin typeface="Cambria Math" panose="02040503050406030204" pitchFamily="18" charset="0"/>
                          </a:rPr>
                        </m:ctrlPr>
                      </m:sSubPr>
                      <m:e>
                        <m:r>
                          <a:rPr lang="de-DE" sz="1600" i="1" dirty="0" smtClean="0">
                            <a:latin typeface="Cambria Math" panose="02040503050406030204" pitchFamily="18" charset="0"/>
                          </a:rPr>
                          <m:t>𝑀</m:t>
                        </m:r>
                      </m:e>
                      <m:sub>
                        <m:r>
                          <a:rPr lang="de-DE" sz="1600" i="1" dirty="0" err="1">
                            <a:latin typeface="Cambria Math" panose="02040503050406030204" pitchFamily="18" charset="0"/>
                          </a:rPr>
                          <m:t>𝑝</m:t>
                        </m:r>
                      </m:sub>
                    </m:sSub>
                    <m:r>
                      <a:rPr lang="de-DE" sz="1600" i="1" dirty="0">
                        <a:latin typeface="Cambria Math" panose="02040503050406030204" pitchFamily="18" charset="0"/>
                      </a:rPr>
                      <m:t>=</m:t>
                    </m:r>
                    <m:sSup>
                      <m:sSupPr>
                        <m:ctrlPr>
                          <a:rPr lang="de-DE" sz="1600" i="1" dirty="0">
                            <a:latin typeface="Cambria Math" panose="02040503050406030204" pitchFamily="18" charset="0"/>
                          </a:rPr>
                        </m:ctrlPr>
                      </m:sSupPr>
                      <m:e>
                        <m:r>
                          <a:rPr lang="de-DE" sz="1600" i="1" dirty="0" err="1">
                            <a:latin typeface="Cambria Math" panose="02040503050406030204" pitchFamily="18" charset="0"/>
                          </a:rPr>
                          <m:t>𝑒</m:t>
                        </m:r>
                      </m:e>
                      <m:sup>
                        <m:f>
                          <m:fPr>
                            <m:ctrlPr>
                              <a:rPr lang="de-DE" sz="1600" i="1" dirty="0">
                                <a:latin typeface="Cambria Math" panose="02040503050406030204" pitchFamily="18" charset="0"/>
                              </a:rPr>
                            </m:ctrlPr>
                          </m:fPr>
                          <m:num>
                            <m:r>
                              <a:rPr lang="de-DE" sz="1600" i="1" dirty="0">
                                <a:latin typeface="Cambria Math" panose="02040503050406030204" pitchFamily="18" charset="0"/>
                              </a:rPr>
                              <m:t>𝜎𝜋</m:t>
                            </m:r>
                          </m:num>
                          <m:den>
                            <m:r>
                              <a:rPr lang="de-DE" sz="1600" i="1" dirty="0">
                                <a:latin typeface="Cambria Math" panose="02040503050406030204" pitchFamily="18" charset="0"/>
                              </a:rPr>
                              <m:t>𝜔</m:t>
                            </m:r>
                          </m:den>
                        </m:f>
                      </m:sup>
                    </m:sSup>
                  </m:oMath>
                </a14:m>
                <a:r>
                  <a:rPr lang="de-DE" sz="1600" dirty="0"/>
                  <a:t>	</a:t>
                </a:r>
              </a:p>
              <a:p>
                <a:r>
                  <a:rPr lang="de-DE" sz="1600" b="1" dirty="0" err="1">
                    <a:latin typeface="Segoe UI" panose="020B0502040204020203" pitchFamily="34" charset="0"/>
                    <a:cs typeface="Segoe UI" panose="020B0502040204020203" pitchFamily="34" charset="0"/>
                  </a:rPr>
                  <a:t>Dampening</a:t>
                </a:r>
                <a:r>
                  <a:rPr lang="de-DE" sz="1600" b="1" dirty="0">
                    <a:latin typeface="Segoe UI" panose="020B0502040204020203" pitchFamily="34" charset="0"/>
                    <a:cs typeface="Segoe UI" panose="020B0502040204020203" pitchFamily="34" charset="0"/>
                  </a:rPr>
                  <a:t> Ratio:</a:t>
                </a:r>
                <a:r>
                  <a:rPr lang="de-DE" sz="1600" dirty="0"/>
                  <a:t>	</a:t>
                </a:r>
                <a14:m>
                  <m:oMath xmlns:m="http://schemas.openxmlformats.org/officeDocument/2006/math">
                    <m:sSup>
                      <m:sSupPr>
                        <m:ctrlPr>
                          <a:rPr lang="de-DE" sz="1600" i="1" dirty="0" smtClean="0">
                            <a:latin typeface="Cambria Math" panose="02040503050406030204" pitchFamily="18" charset="0"/>
                          </a:rPr>
                        </m:ctrlPr>
                      </m:sSupPr>
                      <m:e>
                        <m:r>
                          <a:rPr lang="de-DE" sz="1600" i="1" dirty="0" smtClean="0">
                            <a:latin typeface="Cambria Math" panose="02040503050406030204" pitchFamily="18" charset="0"/>
                          </a:rPr>
                          <m:t>𝜁</m:t>
                        </m:r>
                      </m:e>
                      <m:sup>
                        <m:r>
                          <a:rPr lang="de-DE" sz="1600" i="1" dirty="0">
                            <a:latin typeface="Cambria Math" panose="02040503050406030204" pitchFamily="18" charset="0"/>
                          </a:rPr>
                          <m:t>2</m:t>
                        </m:r>
                      </m:sup>
                    </m:sSup>
                    <m:r>
                      <a:rPr lang="de-DE" sz="1600" i="1" dirty="0">
                        <a:latin typeface="Cambria Math" panose="02040503050406030204" pitchFamily="18" charset="0"/>
                      </a:rPr>
                      <m:t>=</m:t>
                    </m:r>
                    <m:f>
                      <m:fPr>
                        <m:ctrlPr>
                          <a:rPr lang="de-DE" sz="1600" i="1" dirty="0">
                            <a:latin typeface="Cambria Math" panose="02040503050406030204" pitchFamily="18" charset="0"/>
                          </a:rPr>
                        </m:ctrlPr>
                      </m:fPr>
                      <m:num>
                        <m:sSup>
                          <m:sSupPr>
                            <m:ctrlPr>
                              <a:rPr lang="de-DE" sz="1600" i="1" dirty="0">
                                <a:latin typeface="Cambria Math" panose="02040503050406030204" pitchFamily="18" charset="0"/>
                              </a:rPr>
                            </m:ctrlPr>
                          </m:sSupPr>
                          <m:e>
                            <m:func>
                              <m:funcPr>
                                <m:ctrlPr>
                                  <a:rPr lang="de-DE" sz="1600" i="1" dirty="0">
                                    <a:latin typeface="Cambria Math" panose="02040503050406030204" pitchFamily="18" charset="0"/>
                                  </a:rPr>
                                </m:ctrlPr>
                              </m:funcPr>
                              <m:fName>
                                <m:r>
                                  <m:rPr>
                                    <m:sty m:val="p"/>
                                  </m:rPr>
                                  <a:rPr lang="de-DE" sz="1600" i="0" dirty="0" err="1">
                                    <a:latin typeface="Cambria Math" panose="02040503050406030204" pitchFamily="18" charset="0"/>
                                  </a:rPr>
                                  <m:t>ln</m:t>
                                </m:r>
                              </m:fName>
                              <m:e>
                                <m:d>
                                  <m:dPr>
                                    <m:ctrlPr>
                                      <a:rPr lang="de-DE" sz="1600" i="1" dirty="0">
                                        <a:latin typeface="Cambria Math" panose="02040503050406030204" pitchFamily="18" charset="0"/>
                                      </a:rPr>
                                    </m:ctrlPr>
                                  </m:dPr>
                                  <m:e>
                                    <m:sSub>
                                      <m:sSubPr>
                                        <m:ctrlPr>
                                          <a:rPr lang="de-DE" sz="1600" i="1" dirty="0" err="1">
                                            <a:latin typeface="Cambria Math" panose="02040503050406030204" pitchFamily="18" charset="0"/>
                                          </a:rPr>
                                        </m:ctrlPr>
                                      </m:sSubPr>
                                      <m:e>
                                        <m:r>
                                          <a:rPr lang="de-DE" sz="1600" i="1" dirty="0" err="1">
                                            <a:latin typeface="Cambria Math" panose="02040503050406030204" pitchFamily="18" charset="0"/>
                                          </a:rPr>
                                          <m:t>𝑀</m:t>
                                        </m:r>
                                      </m:e>
                                      <m:sub>
                                        <m:r>
                                          <a:rPr lang="de-DE" sz="1600" i="1" dirty="0" err="1">
                                            <a:latin typeface="Cambria Math" panose="02040503050406030204" pitchFamily="18" charset="0"/>
                                          </a:rPr>
                                          <m:t>𝑝</m:t>
                                        </m:r>
                                      </m:sub>
                                    </m:sSub>
                                  </m:e>
                                </m:d>
                              </m:e>
                            </m:func>
                          </m:e>
                          <m:sup>
                            <m:r>
                              <a:rPr lang="de-DE" sz="1600" i="1" dirty="0">
                                <a:latin typeface="Cambria Math" panose="02040503050406030204" pitchFamily="18" charset="0"/>
                              </a:rPr>
                              <m:t>2</m:t>
                            </m:r>
                          </m:sup>
                        </m:sSup>
                      </m:num>
                      <m:den>
                        <m:sSup>
                          <m:sSupPr>
                            <m:ctrlPr>
                              <a:rPr lang="de-DE" sz="1600" i="1" dirty="0">
                                <a:latin typeface="Cambria Math" panose="02040503050406030204" pitchFamily="18" charset="0"/>
                              </a:rPr>
                            </m:ctrlPr>
                          </m:sSupPr>
                          <m:e>
                            <m:r>
                              <a:rPr lang="de-DE" sz="1600" i="1" dirty="0">
                                <a:latin typeface="Cambria Math" panose="02040503050406030204" pitchFamily="18" charset="0"/>
                              </a:rPr>
                              <m:t>𝜋</m:t>
                            </m:r>
                          </m:e>
                          <m:sup>
                            <m:r>
                              <a:rPr lang="de-DE" sz="1600" i="1" dirty="0">
                                <a:latin typeface="Cambria Math" panose="02040503050406030204" pitchFamily="18" charset="0"/>
                              </a:rPr>
                              <m:t>2</m:t>
                            </m:r>
                          </m:sup>
                        </m:sSup>
                        <m:r>
                          <a:rPr lang="de-DE" sz="1600" i="1" dirty="0">
                            <a:latin typeface="Cambria Math" panose="02040503050406030204" pitchFamily="18" charset="0"/>
                          </a:rPr>
                          <m:t>+</m:t>
                        </m:r>
                        <m:sSup>
                          <m:sSupPr>
                            <m:ctrlPr>
                              <a:rPr lang="de-DE" sz="1600" i="1" dirty="0">
                                <a:latin typeface="Cambria Math" panose="02040503050406030204" pitchFamily="18" charset="0"/>
                              </a:rPr>
                            </m:ctrlPr>
                          </m:sSupPr>
                          <m:e>
                            <m:func>
                              <m:funcPr>
                                <m:ctrlPr>
                                  <a:rPr lang="de-DE" sz="1600" i="1" dirty="0">
                                    <a:latin typeface="Cambria Math" panose="02040503050406030204" pitchFamily="18" charset="0"/>
                                  </a:rPr>
                                </m:ctrlPr>
                              </m:funcPr>
                              <m:fName>
                                <m:r>
                                  <m:rPr>
                                    <m:sty m:val="p"/>
                                  </m:rPr>
                                  <a:rPr lang="de-DE" sz="1600" i="0" dirty="0" err="1">
                                    <a:latin typeface="Cambria Math" panose="02040503050406030204" pitchFamily="18" charset="0"/>
                                  </a:rPr>
                                  <m:t>ln</m:t>
                                </m:r>
                              </m:fName>
                              <m:e>
                                <m:d>
                                  <m:dPr>
                                    <m:ctrlPr>
                                      <a:rPr lang="de-DE" sz="1600" i="1" dirty="0">
                                        <a:latin typeface="Cambria Math" panose="02040503050406030204" pitchFamily="18" charset="0"/>
                                      </a:rPr>
                                    </m:ctrlPr>
                                  </m:dPr>
                                  <m:e>
                                    <m:sSub>
                                      <m:sSubPr>
                                        <m:ctrlPr>
                                          <a:rPr lang="de-DE" sz="1600" i="1" dirty="0" err="1">
                                            <a:latin typeface="Cambria Math" panose="02040503050406030204" pitchFamily="18" charset="0"/>
                                          </a:rPr>
                                        </m:ctrlPr>
                                      </m:sSubPr>
                                      <m:e>
                                        <m:r>
                                          <a:rPr lang="de-DE" sz="1600" i="1" dirty="0" err="1">
                                            <a:latin typeface="Cambria Math" panose="02040503050406030204" pitchFamily="18" charset="0"/>
                                          </a:rPr>
                                          <m:t>𝑀</m:t>
                                        </m:r>
                                      </m:e>
                                      <m:sub>
                                        <m:r>
                                          <a:rPr lang="de-DE" sz="1600" i="1" dirty="0" err="1">
                                            <a:latin typeface="Cambria Math" panose="02040503050406030204" pitchFamily="18" charset="0"/>
                                          </a:rPr>
                                          <m:t>𝑝</m:t>
                                        </m:r>
                                      </m:sub>
                                    </m:sSub>
                                  </m:e>
                                </m:d>
                              </m:e>
                            </m:func>
                          </m:e>
                          <m:sup>
                            <m:r>
                              <a:rPr lang="de-DE" sz="1600" i="1" dirty="0">
                                <a:latin typeface="Cambria Math" panose="02040503050406030204" pitchFamily="18" charset="0"/>
                              </a:rPr>
                              <m:t>2</m:t>
                            </m:r>
                          </m:sup>
                        </m:sSup>
                      </m:den>
                    </m:f>
                  </m:oMath>
                </a14:m>
                <a:endParaRPr lang="de-DE" sz="1600" dirty="0"/>
              </a:p>
              <a:p>
                <a:r>
                  <a:rPr lang="de-DE" sz="1600" b="1" dirty="0">
                    <a:latin typeface="Segoe UI" panose="020B0502040204020203" pitchFamily="34" charset="0"/>
                    <a:cs typeface="Segoe UI" panose="020B0502040204020203" pitchFamily="34" charset="0"/>
                  </a:rPr>
                  <a:t>Rise Time:</a:t>
                </a:r>
                <a:r>
                  <a:rPr lang="de-DE" sz="1600" dirty="0"/>
                  <a:t>	</a:t>
                </a:r>
                <a14:m>
                  <m:oMath xmlns:m="http://schemas.openxmlformats.org/officeDocument/2006/math">
                    <m:sSub>
                      <m:sSubPr>
                        <m:ctrlPr>
                          <a:rPr lang="de-DE" sz="1600" i="1" dirty="0" smtClean="0">
                            <a:latin typeface="Cambria Math" panose="02040503050406030204" pitchFamily="18" charset="0"/>
                          </a:rPr>
                        </m:ctrlPr>
                      </m:sSubPr>
                      <m:e>
                        <m:r>
                          <a:rPr lang="de-DE" sz="1600" i="1" dirty="0" smtClean="0">
                            <a:latin typeface="Cambria Math" panose="02040503050406030204" pitchFamily="18" charset="0"/>
                          </a:rPr>
                          <m:t>𝑇</m:t>
                        </m:r>
                      </m:e>
                      <m:sub>
                        <m:r>
                          <a:rPr lang="de-DE" sz="1600" i="1" dirty="0">
                            <a:latin typeface="Cambria Math" panose="02040503050406030204" pitchFamily="18" charset="0"/>
                          </a:rPr>
                          <m:t>100%</m:t>
                        </m:r>
                      </m:sub>
                    </m:sSub>
                    <m:r>
                      <a:rPr lang="de-DE" sz="1600" i="1" dirty="0">
                        <a:latin typeface="Cambria Math" panose="02040503050406030204" pitchFamily="18" charset="0"/>
                      </a:rPr>
                      <m:t>=</m:t>
                    </m:r>
                    <m:f>
                      <m:fPr>
                        <m:ctrlPr>
                          <a:rPr lang="de-DE" sz="1600" i="1" dirty="0">
                            <a:latin typeface="Cambria Math" panose="02040503050406030204" pitchFamily="18" charset="0"/>
                          </a:rPr>
                        </m:ctrlPr>
                      </m:fPr>
                      <m:num>
                        <m:f>
                          <m:fPr>
                            <m:ctrlPr>
                              <a:rPr lang="de-DE" sz="1600" i="1" dirty="0">
                                <a:latin typeface="Cambria Math" panose="02040503050406030204" pitchFamily="18" charset="0"/>
                              </a:rPr>
                            </m:ctrlPr>
                          </m:fPr>
                          <m:num>
                            <m:r>
                              <a:rPr lang="de-DE" sz="1600" i="1" dirty="0">
                                <a:latin typeface="Cambria Math" panose="02040503050406030204" pitchFamily="18" charset="0"/>
                              </a:rPr>
                              <m:t>𝜋</m:t>
                            </m:r>
                          </m:num>
                          <m:den>
                            <m:r>
                              <a:rPr lang="de-DE" sz="1600" i="1" dirty="0">
                                <a:latin typeface="Cambria Math" panose="02040503050406030204" pitchFamily="18" charset="0"/>
                              </a:rPr>
                              <m:t>2</m:t>
                            </m:r>
                          </m:den>
                        </m:f>
                        <m:r>
                          <a:rPr lang="de-DE" sz="1600" i="1" dirty="0">
                            <a:latin typeface="Cambria Math" panose="02040503050406030204" pitchFamily="18" charset="0"/>
                          </a:rPr>
                          <m:t>−</m:t>
                        </m:r>
                        <m:r>
                          <a:rPr lang="de-DE" sz="1600" i="1" dirty="0">
                            <a:latin typeface="Cambria Math" panose="02040503050406030204" pitchFamily="18" charset="0"/>
                          </a:rPr>
                          <m:t>𝜑</m:t>
                        </m:r>
                      </m:num>
                      <m:den>
                        <m:r>
                          <a:rPr lang="de-DE" sz="1600" i="1" dirty="0">
                            <a:latin typeface="Cambria Math" panose="02040503050406030204" pitchFamily="18" charset="0"/>
                          </a:rPr>
                          <m:t>𝜔</m:t>
                        </m:r>
                      </m:den>
                    </m:f>
                    <m:r>
                      <a:rPr lang="de-DE" sz="1600" i="1" dirty="0">
                        <a:latin typeface="Cambria Math" panose="02040503050406030204" pitchFamily="18" charset="0"/>
                      </a:rPr>
                      <m:t>≈</m:t>
                    </m:r>
                    <m:f>
                      <m:fPr>
                        <m:ctrlPr>
                          <a:rPr lang="de-DE" sz="1600" i="1" dirty="0">
                            <a:latin typeface="Cambria Math" panose="02040503050406030204" pitchFamily="18" charset="0"/>
                          </a:rPr>
                        </m:ctrlPr>
                      </m:fPr>
                      <m:num>
                        <m:r>
                          <a:rPr lang="de-DE" sz="1600" i="1" dirty="0">
                            <a:latin typeface="Cambria Math" panose="02040503050406030204" pitchFamily="18" charset="0"/>
                          </a:rPr>
                          <m:t>𝜋</m:t>
                        </m:r>
                      </m:num>
                      <m:den>
                        <m:r>
                          <a:rPr lang="de-DE" sz="1600" i="1" dirty="0">
                            <a:latin typeface="Cambria Math" panose="02040503050406030204" pitchFamily="18" charset="0"/>
                          </a:rPr>
                          <m:t>2</m:t>
                        </m:r>
                        <m:sSub>
                          <m:sSubPr>
                            <m:ctrlPr>
                              <a:rPr lang="de-DE" sz="1600" i="1" dirty="0" err="1">
                                <a:latin typeface="Cambria Math" panose="02040503050406030204" pitchFamily="18" charset="0"/>
                              </a:rPr>
                            </m:ctrlPr>
                          </m:sSubPr>
                          <m:e>
                            <m:r>
                              <a:rPr lang="de-DE" sz="1600" i="1" dirty="0">
                                <a:latin typeface="Cambria Math" panose="02040503050406030204" pitchFamily="18" charset="0"/>
                              </a:rPr>
                              <m:t>𝜔</m:t>
                            </m:r>
                          </m:e>
                          <m:sub>
                            <m:r>
                              <a:rPr lang="de-DE" sz="1600" i="1" dirty="0" err="1">
                                <a:latin typeface="Cambria Math" panose="02040503050406030204" pitchFamily="18" charset="0"/>
                              </a:rPr>
                              <m:t>𝑛</m:t>
                            </m:r>
                          </m:sub>
                        </m:sSub>
                      </m:den>
                    </m:f>
                  </m:oMath>
                </a14:m>
                <a:endParaRPr lang="de-DE" sz="1600" dirty="0"/>
              </a:p>
            </p:txBody>
          </p:sp>
        </mc:Choice>
        <mc:Fallback>
          <p:sp>
            <p:nvSpPr>
              <p:cNvPr id="15" name="Textfeld 14">
                <a:extLst>
                  <a:ext uri="{FF2B5EF4-FFF2-40B4-BE49-F238E27FC236}">
                    <a16:creationId xmlns:a16="http://schemas.microsoft.com/office/drawing/2014/main" id="{BEA98937-240A-3D0C-5CB8-11D0E1BD6B78}"/>
                  </a:ext>
                </a:extLst>
              </p:cNvPr>
              <p:cNvSpPr txBox="1">
                <a:spLocks noRot="1" noChangeAspect="1" noMove="1" noResize="1" noEditPoints="1" noAdjustHandles="1" noChangeArrowheads="1" noChangeShapeType="1" noTextEdit="1"/>
              </p:cNvSpPr>
              <p:nvPr/>
            </p:nvSpPr>
            <p:spPr>
              <a:xfrm>
                <a:off x="5029200" y="2584013"/>
                <a:ext cx="4572000" cy="2401748"/>
              </a:xfrm>
              <a:prstGeom prst="rect">
                <a:avLst/>
              </a:prstGeom>
              <a:blipFill>
                <a:blip r:embed="rId7"/>
                <a:stretch>
                  <a:fillRect l="-833" t="-526"/>
                </a:stretch>
              </a:blipFill>
            </p:spPr>
            <p:txBody>
              <a:bodyPr/>
              <a:lstStyle/>
              <a:p>
                <a:r>
                  <a:rPr lang="de-DE">
                    <a:noFill/>
                  </a:rPr>
                  <a:t> </a:t>
                </a:r>
              </a:p>
            </p:txBody>
          </p:sp>
        </mc:Fallback>
      </mc:AlternateContent>
    </p:spTree>
    <p:extLst>
      <p:ext uri="{BB962C8B-B14F-4D97-AF65-F5344CB8AC3E}">
        <p14:creationId xmlns:p14="http://schemas.microsoft.com/office/powerpoint/2010/main" val="351024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F28207-AEFC-E392-20CF-8BAF805C9FDA}"/>
              </a:ext>
            </a:extLst>
          </p:cNvPr>
          <p:cNvSpPr>
            <a:spLocks noGrp="1"/>
          </p:cNvSpPr>
          <p:nvPr>
            <p:ph type="title"/>
          </p:nvPr>
        </p:nvSpPr>
        <p:spPr/>
        <p:txBody>
          <a:bodyPr/>
          <a:lstStyle/>
          <a:p>
            <a:r>
              <a:rPr lang="de-DE" dirty="0"/>
              <a:t>Dominant Poles Approximation</a:t>
            </a:r>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CB8C2013-0074-5771-E3F0-2711C02ACAAF}"/>
                  </a:ext>
                </a:extLst>
              </p:cNvPr>
              <p:cNvSpPr>
                <a:spLocks noGrp="1"/>
              </p:cNvSpPr>
              <p:nvPr>
                <p:ph idx="1"/>
              </p:nvPr>
            </p:nvSpPr>
            <p:spPr/>
            <p:txBody>
              <a:bodyPr>
                <a:normAutofit/>
              </a:bodyPr>
              <a:lstStyle/>
              <a:p>
                <a:pPr marL="0" indent="0">
                  <a:buNone/>
                </a:pPr>
                <a:r>
                  <a:rPr lang="de-DE" dirty="0" err="1"/>
                  <a:t>Thought</a:t>
                </a:r>
                <a:r>
                  <a:rPr lang="de-DE" dirty="0"/>
                  <a:t> </a:t>
                </a:r>
                <a:r>
                  <a:rPr lang="de-DE" dirty="0" err="1"/>
                  <a:t>experiment</a:t>
                </a:r>
                <a:r>
                  <a:rPr lang="de-DE" dirty="0"/>
                  <a:t>:</a:t>
                </a:r>
                <a14:m/>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a:p>
                <a:pPr marL="0" indent="0">
                  <a:buNone/>
                </a:pPr>
                <a:endParaRPr lang="de-DE" dirty="0"/>
              </a:p>
            </p:txBody>
          </p:sp>
        </mc:Choice>
        <mc:Fallback>
          <p:sp>
            <p:nvSpPr>
              <p:cNvPr id="3" name="Inhaltsplatzhalter 2">
                <a:extLst>
                  <a:ext uri="{FF2B5EF4-FFF2-40B4-BE49-F238E27FC236}">
                    <a16:creationId xmlns:a16="http://schemas.microsoft.com/office/drawing/2014/main" id="{CB8C2013-0074-5771-E3F0-2711C02ACAAF}"/>
                  </a:ext>
                </a:extLst>
              </p:cNvPr>
              <p:cNvSpPr>
                <a:spLocks noGrp="1" noRot="1" noChangeAspect="1" noMove="1" noResize="1" noEditPoints="1" noAdjustHandles="1" noChangeArrowheads="1" noChangeShapeType="1" noTextEdit="1"/>
              </p:cNvSpPr>
              <p:nvPr>
                <p:ph idx="1"/>
              </p:nvPr>
            </p:nvSpPr>
            <p:spPr>
              <a:blipFill>
                <a:blip r:embed="rId2"/>
                <a:stretch>
                  <a:fillRect l="-643" t="-233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5832F048-B9A0-1FEC-A476-F2CF005C35D8}"/>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CD86BA56-3BE7-DA97-B5C3-588D3612AB62}"/>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18</a:t>
            </a:fld>
            <a:endParaRPr lang="en-CH" kern="1200">
              <a:solidFill>
                <a:srgbClr val="101623">
                  <a:tint val="75000"/>
                </a:srgbClr>
              </a:solidFill>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6" name="Textfeld 5">
                <a:extLst>
                  <a:ext uri="{FF2B5EF4-FFF2-40B4-BE49-F238E27FC236}">
                    <a16:creationId xmlns:a16="http://schemas.microsoft.com/office/drawing/2014/main" id="{229AC104-A4B3-E857-31D9-547469D60E1C}"/>
                  </a:ext>
                </a:extLst>
              </p:cNvPr>
              <p:cNvSpPr txBox="1"/>
              <p:nvPr/>
            </p:nvSpPr>
            <p:spPr>
              <a:xfrm>
                <a:off x="628650" y="1663745"/>
                <a:ext cx="1668501" cy="1009956"/>
              </a:xfrm>
              <a:prstGeom prst="rect">
                <a:avLst/>
              </a:prstGeom>
              <a:noFill/>
            </p:spPr>
            <p:txBody>
              <a:bodyPr wrap="square" rtlCol="0">
                <a:spAutoFit/>
              </a:bodyPr>
              <a:lstStyle/>
              <a:p>
                <a:r>
                  <a:rPr lang="de-DE" sz="1800" dirty="0"/>
                  <a:t> </a:t>
                </a:r>
                <a14:m>
                  <m:oMath xmlns:m="http://schemas.openxmlformats.org/officeDocument/2006/math">
                    <m:sSub>
                      <m:sSubPr>
                        <m:ctrlPr>
                          <a:rPr lang="de-DE" sz="1800" i="1" dirty="0" smtClean="0">
                            <a:solidFill>
                              <a:srgbClr val="178F55"/>
                            </a:solidFill>
                            <a:latin typeface="Cambria Math" panose="02040503050406030204" pitchFamily="18" charset="0"/>
                          </a:rPr>
                        </m:ctrlPr>
                      </m:sSubPr>
                      <m:e>
                        <m:r>
                          <a:rPr lang="de-DE" sz="1800" i="1" dirty="0">
                            <a:solidFill>
                              <a:srgbClr val="178F55"/>
                            </a:solidFill>
                            <a:latin typeface="Cambria Math" panose="02040503050406030204" pitchFamily="18" charset="0"/>
                          </a:rPr>
                          <m:t>𝐺</m:t>
                        </m:r>
                      </m:e>
                      <m:sub>
                        <m:r>
                          <a:rPr lang="de-DE" sz="1800" i="1" dirty="0">
                            <a:solidFill>
                              <a:srgbClr val="178F55"/>
                            </a:solidFill>
                            <a:latin typeface="Cambria Math" panose="02040503050406030204" pitchFamily="18" charset="0"/>
                          </a:rPr>
                          <m:t>1</m:t>
                        </m:r>
                      </m:sub>
                    </m:sSub>
                    <m:d>
                      <m:dPr>
                        <m:ctrlPr>
                          <a:rPr lang="de-DE" sz="1800" i="1" dirty="0">
                            <a:solidFill>
                              <a:srgbClr val="178F55"/>
                            </a:solidFill>
                            <a:latin typeface="Cambria Math" panose="02040503050406030204" pitchFamily="18" charset="0"/>
                          </a:rPr>
                        </m:ctrlPr>
                      </m:dPr>
                      <m:e>
                        <m:r>
                          <a:rPr lang="de-DE" sz="1800" i="1" dirty="0">
                            <a:solidFill>
                              <a:srgbClr val="178F55"/>
                            </a:solidFill>
                            <a:latin typeface="Cambria Math" panose="02040503050406030204" pitchFamily="18" charset="0"/>
                          </a:rPr>
                          <m:t>𝑠</m:t>
                        </m:r>
                      </m:e>
                    </m:d>
                    <m:r>
                      <a:rPr lang="de-DE" sz="1800" i="1" dirty="0">
                        <a:latin typeface="Cambria Math" panose="02040503050406030204" pitchFamily="18" charset="0"/>
                      </a:rPr>
                      <m:t>=</m:t>
                    </m:r>
                    <m:f>
                      <m:fPr>
                        <m:ctrlPr>
                          <a:rPr lang="de-DE" sz="1800" i="1" dirty="0">
                            <a:latin typeface="Cambria Math" panose="02040503050406030204" pitchFamily="18" charset="0"/>
                          </a:rPr>
                        </m:ctrlPr>
                      </m:fPr>
                      <m:num>
                        <m:r>
                          <a:rPr lang="de-DE" sz="1800" i="1" dirty="0">
                            <a:latin typeface="Cambria Math" panose="02040503050406030204" pitchFamily="18" charset="0"/>
                          </a:rPr>
                          <m:t>1</m:t>
                        </m:r>
                      </m:num>
                      <m:den>
                        <m:r>
                          <a:rPr lang="de-DE" sz="1800" i="1" dirty="0">
                            <a:latin typeface="Cambria Math" panose="02040503050406030204" pitchFamily="18" charset="0"/>
                          </a:rPr>
                          <m:t>𝑠</m:t>
                        </m:r>
                        <m:r>
                          <a:rPr lang="de-DE" sz="1800" i="1" dirty="0">
                            <a:latin typeface="Cambria Math" panose="02040503050406030204" pitchFamily="18" charset="0"/>
                          </a:rPr>
                          <m:t>+1</m:t>
                        </m:r>
                      </m:den>
                    </m:f>
                  </m:oMath>
                </a14:m>
                <a:endParaRPr lang="de-DE" sz="1800" dirty="0"/>
              </a:p>
              <a:p>
                <a14:m>
                  <m:oMathPara xmlns:m="http://schemas.openxmlformats.org/officeDocument/2006/math">
                    <m:oMathParaPr>
                      <m:jc m:val="centerGroup"/>
                    </m:oMathParaPr>
                    <m:oMath xmlns:m="http://schemas.openxmlformats.org/officeDocument/2006/math">
                      <m:sSub>
                        <m:sSubPr>
                          <m:ctrlPr>
                            <a:rPr lang="de-DE" sz="1800" i="1" dirty="0" smtClean="0">
                              <a:solidFill>
                                <a:schemeClr val="accent4"/>
                              </a:solidFill>
                              <a:latin typeface="Cambria Math" panose="02040503050406030204" pitchFamily="18" charset="0"/>
                            </a:rPr>
                          </m:ctrlPr>
                        </m:sSubPr>
                        <m:e>
                          <m:r>
                            <a:rPr lang="de-DE" sz="1800" i="1" dirty="0" smtClean="0">
                              <a:solidFill>
                                <a:schemeClr val="accent4"/>
                              </a:solidFill>
                              <a:latin typeface="Cambria Math" panose="02040503050406030204" pitchFamily="18" charset="0"/>
                            </a:rPr>
                            <m:t>𝐺</m:t>
                          </m:r>
                        </m:e>
                        <m:sub>
                          <m:r>
                            <a:rPr lang="de-DE" sz="1800" i="1" dirty="0" smtClean="0">
                              <a:solidFill>
                                <a:schemeClr val="accent4"/>
                              </a:solidFill>
                              <a:latin typeface="Cambria Math" panose="02040503050406030204" pitchFamily="18" charset="0"/>
                            </a:rPr>
                            <m:t>2</m:t>
                          </m:r>
                        </m:sub>
                      </m:sSub>
                      <m:d>
                        <m:dPr>
                          <m:ctrlPr>
                            <a:rPr lang="de-DE" sz="1800" i="1" dirty="0" smtClean="0">
                              <a:solidFill>
                                <a:schemeClr val="accent4"/>
                              </a:solidFill>
                              <a:latin typeface="Cambria Math" panose="02040503050406030204" pitchFamily="18" charset="0"/>
                            </a:rPr>
                          </m:ctrlPr>
                        </m:dPr>
                        <m:e>
                          <m:r>
                            <a:rPr lang="de-DE" sz="1800" i="1" dirty="0" smtClean="0">
                              <a:solidFill>
                                <a:schemeClr val="accent4"/>
                              </a:solidFill>
                              <a:latin typeface="Cambria Math" panose="02040503050406030204" pitchFamily="18" charset="0"/>
                            </a:rPr>
                            <m:t>𝑠</m:t>
                          </m:r>
                        </m:e>
                      </m:d>
                      <m:r>
                        <a:rPr lang="de-DE" sz="1800" i="1" dirty="0" smtClean="0">
                          <a:latin typeface="Cambria Math" panose="02040503050406030204" pitchFamily="18" charset="0"/>
                        </a:rPr>
                        <m:t>=</m:t>
                      </m:r>
                      <m:f>
                        <m:fPr>
                          <m:ctrlPr>
                            <a:rPr lang="de-DE" sz="1800" i="1" dirty="0" smtClean="0">
                              <a:latin typeface="Cambria Math" panose="02040503050406030204" pitchFamily="18" charset="0"/>
                            </a:rPr>
                          </m:ctrlPr>
                        </m:fPr>
                        <m:num>
                          <m:r>
                            <a:rPr lang="de-DE" sz="1800" i="1" dirty="0">
                              <a:latin typeface="Cambria Math" panose="02040503050406030204" pitchFamily="18" charset="0"/>
                            </a:rPr>
                            <m:t>1</m:t>
                          </m:r>
                        </m:num>
                        <m:den>
                          <m:r>
                            <a:rPr lang="de-DE" sz="1800" i="1" dirty="0">
                              <a:latin typeface="Cambria Math" panose="02040503050406030204" pitchFamily="18" charset="0"/>
                            </a:rPr>
                            <m:t>𝑠</m:t>
                          </m:r>
                          <m:r>
                            <a:rPr lang="de-DE" sz="1800" i="1" dirty="0">
                              <a:latin typeface="Cambria Math" panose="02040503050406030204" pitchFamily="18" charset="0"/>
                            </a:rPr>
                            <m:t>+5</m:t>
                          </m:r>
                        </m:den>
                      </m:f>
                    </m:oMath>
                  </m:oMathPara>
                </a14:m>
              </a:p>
            </p:txBody>
          </p:sp>
        </mc:Choice>
        <mc:Fallback>
          <p:sp>
            <p:nvSpPr>
              <p:cNvPr id="6" name="Textfeld 5">
                <a:extLst>
                  <a:ext uri="{FF2B5EF4-FFF2-40B4-BE49-F238E27FC236}">
                    <a16:creationId xmlns:a16="http://schemas.microsoft.com/office/drawing/2014/main" id="{229AC104-A4B3-E857-31D9-547469D60E1C}"/>
                  </a:ext>
                </a:extLst>
              </p:cNvPr>
              <p:cNvSpPr txBox="1">
                <a:spLocks noRot="1" noChangeAspect="1" noMove="1" noResize="1" noEditPoints="1" noAdjustHandles="1" noChangeArrowheads="1" noChangeShapeType="1" noTextEdit="1"/>
              </p:cNvSpPr>
              <p:nvPr/>
            </p:nvSpPr>
            <p:spPr>
              <a:xfrm>
                <a:off x="628650" y="1663745"/>
                <a:ext cx="1668501" cy="1009956"/>
              </a:xfrm>
              <a:prstGeom prst="rect">
                <a:avLst/>
              </a:prstGeom>
              <a:blipFill>
                <a:blip r:embed="rId3"/>
                <a:stretch>
                  <a:fillRect r="-2273" b="-2500"/>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7" name="Textfeld 6">
                <a:extLst>
                  <a:ext uri="{FF2B5EF4-FFF2-40B4-BE49-F238E27FC236}">
                    <a16:creationId xmlns:a16="http://schemas.microsoft.com/office/drawing/2014/main" id="{84E1010E-6765-B4C5-2593-497C19E36F9E}"/>
                  </a:ext>
                </a:extLst>
              </p:cNvPr>
              <p:cNvSpPr txBox="1"/>
              <p:nvPr/>
            </p:nvSpPr>
            <p:spPr>
              <a:xfrm>
                <a:off x="260196" y="2916694"/>
                <a:ext cx="5274201" cy="928972"/>
              </a:xfrm>
              <a:prstGeom prst="rect">
                <a:avLst/>
              </a:prstGeom>
              <a:noFill/>
            </p:spPr>
            <p:txBody>
              <a:bodyPr wrap="none" rtlCol="0">
                <a:spAutoFit/>
              </a:bodyPr>
              <a:lstStyle/>
              <a:p>
                <a:r>
                  <a:rPr lang="de-DE" sz="1800" dirty="0" err="1">
                    <a:latin typeface="Segoe UI" panose="020B0502040204020203" pitchFamily="34" charset="0"/>
                    <a:cs typeface="Segoe UI" panose="020B0502040204020203" pitchFamily="34" charset="0"/>
                  </a:rPr>
                  <a:t>What</a:t>
                </a:r>
                <a:r>
                  <a:rPr lang="de-DE" sz="1800" dirty="0">
                    <a:latin typeface="Segoe UI" panose="020B0502040204020203" pitchFamily="34" charset="0"/>
                    <a:cs typeface="Segoe UI" panose="020B0502040204020203" pitchFamily="34" charset="0"/>
                  </a:rPr>
                  <a:t> do </a:t>
                </a:r>
                <a:r>
                  <a:rPr lang="de-DE" sz="1800" dirty="0" err="1">
                    <a:latin typeface="Segoe UI" panose="020B0502040204020203" pitchFamily="34" charset="0"/>
                    <a:cs typeface="Segoe UI" panose="020B0502040204020203" pitchFamily="34" charset="0"/>
                  </a:rPr>
                  <a:t>you</a:t>
                </a:r>
                <a:r>
                  <a:rPr lang="de-DE" sz="1800" dirty="0">
                    <a:latin typeface="Segoe UI" panose="020B0502040204020203" pitchFamily="34" charset="0"/>
                    <a:cs typeface="Segoe UI" panose="020B0502040204020203" pitchFamily="34" charset="0"/>
                  </a:rPr>
                  <a:t> </a:t>
                </a:r>
                <a:r>
                  <a:rPr lang="de-DE" sz="1800" dirty="0" err="1">
                    <a:latin typeface="Segoe UI" panose="020B0502040204020203" pitchFamily="34" charset="0"/>
                    <a:cs typeface="Segoe UI" panose="020B0502040204020203" pitchFamily="34" charset="0"/>
                  </a:rPr>
                  <a:t>expect</a:t>
                </a:r>
                <a:r>
                  <a:rPr lang="de-DE" sz="1800" dirty="0">
                    <a:latin typeface="Segoe UI" panose="020B0502040204020203" pitchFamily="34" charset="0"/>
                    <a:cs typeface="Segoe UI" panose="020B0502040204020203" pitchFamily="34" charset="0"/>
                  </a:rPr>
                  <a:t> </a:t>
                </a:r>
                <a:r>
                  <a:rPr lang="de-DE" sz="1800" dirty="0" err="1">
                    <a:latin typeface="Segoe UI" panose="020B0502040204020203" pitchFamily="34" charset="0"/>
                    <a:cs typeface="Segoe UI" panose="020B0502040204020203" pitchFamily="34" charset="0"/>
                  </a:rPr>
                  <a:t>for</a:t>
                </a:r>
                <a:r>
                  <a:rPr lang="de-DE" sz="1800" dirty="0">
                    <a:latin typeface="Segoe UI" panose="020B0502040204020203" pitchFamily="34" charset="0"/>
                    <a:cs typeface="Segoe UI" panose="020B0502040204020203" pitchFamily="34" charset="0"/>
                  </a:rPr>
                  <a:t> a </a:t>
                </a:r>
                <a:r>
                  <a:rPr lang="de-DE" sz="1800" dirty="0" err="1">
                    <a:latin typeface="Segoe UI" panose="020B0502040204020203" pitchFamily="34" charset="0"/>
                    <a:cs typeface="Segoe UI" panose="020B0502040204020203" pitchFamily="34" charset="0"/>
                  </a:rPr>
                  <a:t>system</a:t>
                </a:r>
                <a:r>
                  <a:rPr lang="de-DE" sz="1800" dirty="0">
                    <a:latin typeface="Segoe UI" panose="020B0502040204020203" pitchFamily="34" charset="0"/>
                    <a:cs typeface="Segoe UI" panose="020B0502040204020203" pitchFamily="34" charset="0"/>
                  </a:rPr>
                  <a:t> </a:t>
                </a:r>
                <a:r>
                  <a:rPr lang="de-DE" sz="1800" dirty="0" err="1">
                    <a:latin typeface="Segoe UI" panose="020B0502040204020203" pitchFamily="34" charset="0"/>
                    <a:cs typeface="Segoe UI" panose="020B0502040204020203" pitchFamily="34" charset="0"/>
                  </a:rPr>
                  <a:t>with</a:t>
                </a:r>
                <a:r>
                  <a:rPr lang="de-DE" sz="1800" dirty="0">
                    <a:latin typeface="Segoe UI" panose="020B0502040204020203" pitchFamily="34" charset="0"/>
                    <a:cs typeface="Segoe UI" panose="020B0502040204020203" pitchFamily="34" charset="0"/>
                  </a:rPr>
                  <a:t> </a:t>
                </a:r>
                <a:r>
                  <a:rPr lang="de-DE" sz="1800" dirty="0" err="1">
                    <a:latin typeface="Segoe UI" panose="020B0502040204020203" pitchFamily="34" charset="0"/>
                    <a:cs typeface="Segoe UI" panose="020B0502040204020203" pitchFamily="34" charset="0"/>
                  </a:rPr>
                  <a:t>both</a:t>
                </a:r>
                <a:r>
                  <a:rPr lang="de-DE" sz="1800" dirty="0">
                    <a:latin typeface="Segoe UI" panose="020B0502040204020203" pitchFamily="34" charset="0"/>
                    <a:cs typeface="Segoe UI" panose="020B0502040204020203" pitchFamily="34" charset="0"/>
                  </a:rPr>
                  <a:t> </a:t>
                </a:r>
                <a:r>
                  <a:rPr lang="de-DE" sz="1800" dirty="0" err="1">
                    <a:latin typeface="Segoe UI" panose="020B0502040204020203" pitchFamily="34" charset="0"/>
                    <a:cs typeface="Segoe UI" panose="020B0502040204020203" pitchFamily="34" charset="0"/>
                  </a:rPr>
                  <a:t>poles</a:t>
                </a:r>
                <a:r>
                  <a:rPr lang="de-DE" sz="1800" dirty="0">
                    <a:latin typeface="Segoe UI" panose="020B0502040204020203" pitchFamily="34" charset="0"/>
                    <a:cs typeface="Segoe UI" panose="020B0502040204020203" pitchFamily="34" charset="0"/>
                  </a:rPr>
                  <a:t>?</a:t>
                </a:r>
                <a:endParaRPr lang="de-DE" sz="1800" i="1" dirty="0">
                  <a:solidFill>
                    <a:srgbClr val="7030A0"/>
                  </a:solidFill>
                  <a:latin typeface="Segoe UI" panose="020B0502040204020203" pitchFamily="34" charset="0"/>
                  <a:cs typeface="Segoe UI" panose="020B0502040204020203" pitchFamily="34" charset="0"/>
                </a:endParaRPr>
              </a:p>
              <a:p>
                <a14:m>
                  <m:oMathPara xmlns:m="http://schemas.openxmlformats.org/officeDocument/2006/math">
                    <m:oMathParaPr>
                      <m:jc m:val="centerGroup"/>
                    </m:oMathParaPr>
                    <m:oMath xmlns:m="http://schemas.openxmlformats.org/officeDocument/2006/math">
                      <m:sSub>
                        <m:sSubPr>
                          <m:ctrlPr>
                            <a:rPr lang="de-DE" sz="1800" i="1" dirty="0" smtClean="0">
                              <a:solidFill>
                                <a:srgbClr val="7030A0"/>
                              </a:solidFill>
                              <a:latin typeface="Cambria Math" panose="02040503050406030204" pitchFamily="18" charset="0"/>
                            </a:rPr>
                          </m:ctrlPr>
                        </m:sSubPr>
                        <m:e>
                          <m:r>
                            <a:rPr lang="de-DE" sz="1800" i="1" dirty="0" smtClean="0">
                              <a:solidFill>
                                <a:srgbClr val="7030A0"/>
                              </a:solidFill>
                              <a:latin typeface="Cambria Math" panose="02040503050406030204" pitchFamily="18" charset="0"/>
                            </a:rPr>
                            <m:t>𝐺</m:t>
                          </m:r>
                        </m:e>
                        <m:sub>
                          <m:r>
                            <a:rPr lang="de-DE" sz="1800" i="1" dirty="0" smtClean="0">
                              <a:solidFill>
                                <a:srgbClr val="7030A0"/>
                              </a:solidFill>
                              <a:latin typeface="Cambria Math" panose="02040503050406030204" pitchFamily="18" charset="0"/>
                            </a:rPr>
                            <m:t>3</m:t>
                          </m:r>
                        </m:sub>
                      </m:sSub>
                      <m:d>
                        <m:dPr>
                          <m:ctrlPr>
                            <a:rPr lang="de-DE" sz="1800" i="1" dirty="0" smtClean="0">
                              <a:solidFill>
                                <a:srgbClr val="7030A0"/>
                              </a:solidFill>
                              <a:latin typeface="Cambria Math" panose="02040503050406030204" pitchFamily="18" charset="0"/>
                            </a:rPr>
                          </m:ctrlPr>
                        </m:dPr>
                        <m:e>
                          <m:r>
                            <a:rPr lang="de-DE" sz="1800" i="1" dirty="0" smtClean="0">
                              <a:solidFill>
                                <a:srgbClr val="7030A0"/>
                              </a:solidFill>
                              <a:latin typeface="Cambria Math" panose="02040503050406030204" pitchFamily="18" charset="0"/>
                            </a:rPr>
                            <m:t>𝑠</m:t>
                          </m:r>
                        </m:e>
                      </m:d>
                      <m:r>
                        <a:rPr lang="de-DE" sz="1800" i="1" dirty="0" smtClean="0">
                          <a:latin typeface="Cambria Math" panose="02040503050406030204" pitchFamily="18" charset="0"/>
                        </a:rPr>
                        <m:t>=</m:t>
                      </m:r>
                      <m:f>
                        <m:fPr>
                          <m:ctrlPr>
                            <a:rPr lang="de-DE" sz="1800" i="1" dirty="0" smtClean="0">
                              <a:latin typeface="Cambria Math" panose="02040503050406030204" pitchFamily="18" charset="0"/>
                            </a:rPr>
                          </m:ctrlPr>
                        </m:fPr>
                        <m:num>
                          <m:r>
                            <a:rPr lang="de-DE" sz="1800" i="1" dirty="0">
                              <a:latin typeface="Cambria Math" panose="02040503050406030204" pitchFamily="18" charset="0"/>
                            </a:rPr>
                            <m:t>1</m:t>
                          </m:r>
                        </m:num>
                        <m:den>
                          <m:d>
                            <m:dPr>
                              <m:ctrlPr>
                                <a:rPr lang="de-DE" sz="1800" i="1" dirty="0">
                                  <a:latin typeface="Cambria Math" panose="02040503050406030204" pitchFamily="18" charset="0"/>
                                </a:rPr>
                              </m:ctrlPr>
                            </m:dPr>
                            <m:e>
                              <m:r>
                                <a:rPr lang="de-DE" sz="1800" i="1" dirty="0">
                                  <a:latin typeface="Cambria Math" panose="02040503050406030204" pitchFamily="18" charset="0"/>
                                </a:rPr>
                                <m:t>𝑠</m:t>
                              </m:r>
                              <m:r>
                                <a:rPr lang="de-DE" sz="1800" i="1" dirty="0">
                                  <a:latin typeface="Cambria Math" panose="02040503050406030204" pitchFamily="18" charset="0"/>
                                </a:rPr>
                                <m:t>+1</m:t>
                              </m:r>
                            </m:e>
                          </m:d>
                          <m:d>
                            <m:dPr>
                              <m:ctrlPr>
                                <a:rPr lang="de-DE" sz="1800" i="1" dirty="0">
                                  <a:latin typeface="Cambria Math" panose="02040503050406030204" pitchFamily="18" charset="0"/>
                                </a:rPr>
                              </m:ctrlPr>
                            </m:dPr>
                            <m:e>
                              <m:r>
                                <a:rPr lang="de-DE" sz="1800" i="1" dirty="0">
                                  <a:latin typeface="Cambria Math" panose="02040503050406030204" pitchFamily="18" charset="0"/>
                                </a:rPr>
                                <m:t>𝑠</m:t>
                              </m:r>
                              <m:r>
                                <a:rPr lang="de-DE" sz="1800" i="1" dirty="0">
                                  <a:latin typeface="Cambria Math" panose="02040503050406030204" pitchFamily="18" charset="0"/>
                                </a:rPr>
                                <m:t>+5</m:t>
                              </m:r>
                            </m:e>
                          </m:d>
                        </m:den>
                      </m:f>
                      <m:r>
                        <a:rPr lang="de-DE" sz="1800" i="1" dirty="0">
                          <a:latin typeface="Cambria Math" panose="02040503050406030204" pitchFamily="18" charset="0"/>
                        </a:rPr>
                        <m:t>=</m:t>
                      </m:r>
                      <m:f>
                        <m:fPr>
                          <m:ctrlPr>
                            <a:rPr lang="de-DE" sz="1800" i="1" dirty="0">
                              <a:latin typeface="Cambria Math" panose="02040503050406030204" pitchFamily="18" charset="0"/>
                            </a:rPr>
                          </m:ctrlPr>
                        </m:fPr>
                        <m:num>
                          <m:r>
                            <a:rPr lang="de-DE" sz="1800" i="1" dirty="0">
                              <a:latin typeface="Cambria Math" panose="02040503050406030204" pitchFamily="18" charset="0"/>
                            </a:rPr>
                            <m:t>1</m:t>
                          </m:r>
                        </m:num>
                        <m:den>
                          <m:sSup>
                            <m:sSupPr>
                              <m:ctrlPr>
                                <a:rPr lang="de-DE" sz="1800" i="1" dirty="0">
                                  <a:latin typeface="Cambria Math" panose="02040503050406030204" pitchFamily="18" charset="0"/>
                                </a:rPr>
                              </m:ctrlPr>
                            </m:sSupPr>
                            <m:e>
                              <m:r>
                                <a:rPr lang="de-DE" sz="1800" i="1" dirty="0">
                                  <a:latin typeface="Cambria Math" panose="02040503050406030204" pitchFamily="18" charset="0"/>
                                </a:rPr>
                                <m:t>𝑠</m:t>
                              </m:r>
                            </m:e>
                            <m:sup>
                              <m:r>
                                <a:rPr lang="de-DE" sz="1800" i="1" dirty="0">
                                  <a:latin typeface="Cambria Math" panose="02040503050406030204" pitchFamily="18" charset="0"/>
                                </a:rPr>
                                <m:t>2</m:t>
                              </m:r>
                            </m:sup>
                          </m:sSup>
                          <m:r>
                            <a:rPr lang="de-DE" sz="1800" i="1" dirty="0">
                              <a:latin typeface="Cambria Math" panose="02040503050406030204" pitchFamily="18" charset="0"/>
                            </a:rPr>
                            <m:t>+6</m:t>
                          </m:r>
                          <m:r>
                            <a:rPr lang="de-DE" sz="1800" i="1" dirty="0">
                              <a:latin typeface="Cambria Math" panose="02040503050406030204" pitchFamily="18" charset="0"/>
                            </a:rPr>
                            <m:t>𝑠</m:t>
                          </m:r>
                          <m:r>
                            <a:rPr lang="de-DE" sz="1800" i="1" dirty="0">
                              <a:latin typeface="Cambria Math" panose="02040503050406030204" pitchFamily="18" charset="0"/>
                            </a:rPr>
                            <m:t>+5</m:t>
                          </m:r>
                        </m:den>
                      </m:f>
                    </m:oMath>
                  </m:oMathPara>
                </a14:m>
              </a:p>
            </p:txBody>
          </p:sp>
        </mc:Choice>
        <mc:Fallback>
          <p:sp>
            <p:nvSpPr>
              <p:cNvPr id="7" name="Textfeld 6">
                <a:extLst>
                  <a:ext uri="{FF2B5EF4-FFF2-40B4-BE49-F238E27FC236}">
                    <a16:creationId xmlns:a16="http://schemas.microsoft.com/office/drawing/2014/main" id="{84E1010E-6765-B4C5-2593-497C19E36F9E}"/>
                  </a:ext>
                </a:extLst>
              </p:cNvPr>
              <p:cNvSpPr txBox="1">
                <a:spLocks noRot="1" noChangeAspect="1" noMove="1" noResize="1" noEditPoints="1" noAdjustHandles="1" noChangeArrowheads="1" noChangeShapeType="1" noTextEdit="1"/>
              </p:cNvSpPr>
              <p:nvPr/>
            </p:nvSpPr>
            <p:spPr>
              <a:xfrm>
                <a:off x="260196" y="2916694"/>
                <a:ext cx="5274201" cy="928972"/>
              </a:xfrm>
              <a:prstGeom prst="rect">
                <a:avLst/>
              </a:prstGeom>
              <a:blipFill>
                <a:blip r:embed="rId4"/>
                <a:stretch>
                  <a:fillRect l="-962" t="-2703"/>
                </a:stretch>
              </a:blipFill>
            </p:spPr>
            <p:txBody>
              <a:bodyPr/>
              <a:lstStyle/>
              <a:p>
                <a:r>
                  <a:rPr lang="de-DE">
                    <a:noFill/>
                  </a:rPr>
                  <a:t> </a:t>
                </a:r>
              </a:p>
            </p:txBody>
          </p:sp>
        </mc:Fallback>
      </mc:AlternateContent>
      <p:grpSp>
        <p:nvGrpSpPr>
          <p:cNvPr id="26" name="Gruppieren 25">
            <a:extLst>
              <a:ext uri="{FF2B5EF4-FFF2-40B4-BE49-F238E27FC236}">
                <a16:creationId xmlns:a16="http://schemas.microsoft.com/office/drawing/2014/main" id="{3A12B047-2CAD-B438-506F-7DC82F0ECDC3}"/>
              </a:ext>
            </a:extLst>
          </p:cNvPr>
          <p:cNvGrpSpPr/>
          <p:nvPr/>
        </p:nvGrpSpPr>
        <p:grpSpPr>
          <a:xfrm>
            <a:off x="3383408" y="1173943"/>
            <a:ext cx="2519443" cy="1989560"/>
            <a:chOff x="3854719" y="1168729"/>
            <a:chExt cx="2519443" cy="1989560"/>
          </a:xfrm>
        </p:grpSpPr>
        <p:cxnSp>
          <p:nvCxnSpPr>
            <p:cNvPr id="8" name="Gewinkelte Verbindung 7">
              <a:extLst>
                <a:ext uri="{FF2B5EF4-FFF2-40B4-BE49-F238E27FC236}">
                  <a16:creationId xmlns:a16="http://schemas.microsoft.com/office/drawing/2014/main" id="{0E7F6738-146F-217A-B3E9-2CD7D593B416}"/>
                </a:ext>
              </a:extLst>
            </p:cNvPr>
            <p:cNvCxnSpPr>
              <a:cxnSpLocks/>
            </p:cNvCxnSpPr>
            <p:nvPr/>
          </p:nvCxnSpPr>
          <p:spPr>
            <a:xfrm>
              <a:off x="3854719" y="1402556"/>
              <a:ext cx="2519443" cy="1281901"/>
            </a:xfrm>
            <a:prstGeom prst="bentConnector3">
              <a:avLst>
                <a:gd name="adj1" fmla="val 17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1B96DFA8-61E3-3B53-04FD-34E50BBEBF30}"/>
                </a:ext>
              </a:extLst>
            </p:cNvPr>
            <p:cNvCxnSpPr/>
            <p:nvPr/>
          </p:nvCxnSpPr>
          <p:spPr>
            <a:xfrm flipH="1">
              <a:off x="3854719" y="1641845"/>
              <a:ext cx="251944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Freihandform 16">
              <a:extLst>
                <a:ext uri="{FF2B5EF4-FFF2-40B4-BE49-F238E27FC236}">
                  <a16:creationId xmlns:a16="http://schemas.microsoft.com/office/drawing/2014/main" id="{10A411D9-AEF7-1497-F7C9-3D3EB275F00D}"/>
                </a:ext>
              </a:extLst>
            </p:cNvPr>
            <p:cNvSpPr/>
            <p:nvPr/>
          </p:nvSpPr>
          <p:spPr>
            <a:xfrm rot="6900422">
              <a:off x="4102956" y="1194952"/>
              <a:ext cx="1959833" cy="1907388"/>
            </a:xfrm>
            <a:custGeom>
              <a:avLst/>
              <a:gdLst>
                <a:gd name="connsiteX0" fmla="*/ 0 w 1363980"/>
                <a:gd name="connsiteY0" fmla="*/ 0 h 876300"/>
                <a:gd name="connsiteX1" fmla="*/ 1363980 w 1363980"/>
                <a:gd name="connsiteY1" fmla="*/ 876300 h 876300"/>
                <a:gd name="connsiteX0" fmla="*/ 0 w 2197802"/>
                <a:gd name="connsiteY0" fmla="*/ 0 h 5170897"/>
                <a:gd name="connsiteX1" fmla="*/ 2197802 w 2197802"/>
                <a:gd name="connsiteY1" fmla="*/ 5170897 h 5170897"/>
                <a:gd name="connsiteX0" fmla="*/ 0 w 2197802"/>
                <a:gd name="connsiteY0" fmla="*/ 0 h 5170897"/>
                <a:gd name="connsiteX1" fmla="*/ 2197802 w 2197802"/>
                <a:gd name="connsiteY1" fmla="*/ 5170897 h 5170897"/>
                <a:gd name="connsiteX0" fmla="*/ 0 w 2121095"/>
                <a:gd name="connsiteY0" fmla="*/ -1 h 4861194"/>
                <a:gd name="connsiteX1" fmla="*/ 2121095 w 2121095"/>
                <a:gd name="connsiteY1" fmla="*/ 4861194 h 4861194"/>
                <a:gd name="connsiteX0" fmla="*/ 0 w 2121095"/>
                <a:gd name="connsiteY0" fmla="*/ -1 h 4861194"/>
                <a:gd name="connsiteX1" fmla="*/ 2121095 w 2121095"/>
                <a:gd name="connsiteY1" fmla="*/ 4861194 h 4861194"/>
                <a:gd name="connsiteX0" fmla="*/ -1 w 1940879"/>
                <a:gd name="connsiteY0" fmla="*/ 0 h 3971397"/>
                <a:gd name="connsiteX1" fmla="*/ 1940879 w 1940879"/>
                <a:gd name="connsiteY1" fmla="*/ 3833836 h 3971397"/>
                <a:gd name="connsiteX0" fmla="*/ 0 w 1940880"/>
                <a:gd name="connsiteY0" fmla="*/ 0 h 4038615"/>
                <a:gd name="connsiteX1" fmla="*/ 1940880 w 1940880"/>
                <a:gd name="connsiteY1" fmla="*/ 3833836 h 4038615"/>
                <a:gd name="connsiteX0" fmla="*/ 0 w 1975239"/>
                <a:gd name="connsiteY0" fmla="*/ 0 h 4069094"/>
                <a:gd name="connsiteX1" fmla="*/ 1975239 w 1975239"/>
                <a:gd name="connsiteY1" fmla="*/ 3878413 h 4069094"/>
                <a:gd name="connsiteX0" fmla="*/ 0 w 1975239"/>
                <a:gd name="connsiteY0" fmla="*/ 0 h 4197054"/>
                <a:gd name="connsiteX1" fmla="*/ 1975239 w 1975239"/>
                <a:gd name="connsiteY1" fmla="*/ 3878413 h 4197054"/>
                <a:gd name="connsiteX0" fmla="*/ 0 w 2041233"/>
                <a:gd name="connsiteY0" fmla="*/ 1 h 4582066"/>
                <a:gd name="connsiteX1" fmla="*/ 2041233 w 2041233"/>
                <a:gd name="connsiteY1" fmla="*/ 4395737 h 4582066"/>
                <a:gd name="connsiteX0" fmla="*/ 0 w 2041233"/>
                <a:gd name="connsiteY0" fmla="*/ 1 h 4557165"/>
                <a:gd name="connsiteX1" fmla="*/ 2041233 w 2041233"/>
                <a:gd name="connsiteY1" fmla="*/ 4395737 h 4557165"/>
                <a:gd name="connsiteX0" fmla="*/ 0 w 2044877"/>
                <a:gd name="connsiteY0" fmla="*/ 1 h 4456758"/>
                <a:gd name="connsiteX1" fmla="*/ 2044877 w 2044877"/>
                <a:gd name="connsiteY1" fmla="*/ 4270467 h 4456758"/>
              </a:gdLst>
              <a:ahLst/>
              <a:cxnLst>
                <a:cxn ang="0">
                  <a:pos x="connsiteX0" y="connsiteY0"/>
                </a:cxn>
                <a:cxn ang="0">
                  <a:pos x="connsiteX1" y="connsiteY1"/>
                </a:cxn>
              </a:cxnLst>
              <a:rect l="l" t="t" r="r" b="b"/>
              <a:pathLst>
                <a:path w="2044877" h="4456758">
                  <a:moveTo>
                    <a:pt x="0" y="1"/>
                  </a:moveTo>
                  <a:cubicBezTo>
                    <a:pt x="1041156" y="5348468"/>
                    <a:pt x="1424326" y="4492148"/>
                    <a:pt x="2044877" y="4270467"/>
                  </a:cubicBezTo>
                </a:path>
              </a:pathLst>
            </a:cu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Freihandform 23">
              <a:extLst>
                <a:ext uri="{FF2B5EF4-FFF2-40B4-BE49-F238E27FC236}">
                  <a16:creationId xmlns:a16="http://schemas.microsoft.com/office/drawing/2014/main" id="{5C4CB974-E1E3-81C2-4098-E05F9F5472B4}"/>
                </a:ext>
              </a:extLst>
            </p:cNvPr>
            <p:cNvSpPr/>
            <p:nvPr/>
          </p:nvSpPr>
          <p:spPr>
            <a:xfrm rot="6900422">
              <a:off x="4138374" y="1259596"/>
              <a:ext cx="1945220" cy="1852166"/>
            </a:xfrm>
            <a:custGeom>
              <a:avLst/>
              <a:gdLst>
                <a:gd name="connsiteX0" fmla="*/ 0 w 1363980"/>
                <a:gd name="connsiteY0" fmla="*/ 0 h 876300"/>
                <a:gd name="connsiteX1" fmla="*/ 1363980 w 1363980"/>
                <a:gd name="connsiteY1" fmla="*/ 876300 h 876300"/>
                <a:gd name="connsiteX0" fmla="*/ 0 w 2197802"/>
                <a:gd name="connsiteY0" fmla="*/ 0 h 5170897"/>
                <a:gd name="connsiteX1" fmla="*/ 2197802 w 2197802"/>
                <a:gd name="connsiteY1" fmla="*/ 5170897 h 5170897"/>
                <a:gd name="connsiteX0" fmla="*/ 0 w 2197802"/>
                <a:gd name="connsiteY0" fmla="*/ 0 h 5170897"/>
                <a:gd name="connsiteX1" fmla="*/ 2197802 w 2197802"/>
                <a:gd name="connsiteY1" fmla="*/ 5170897 h 5170897"/>
                <a:gd name="connsiteX0" fmla="*/ 0 w 2121095"/>
                <a:gd name="connsiteY0" fmla="*/ -1 h 4861194"/>
                <a:gd name="connsiteX1" fmla="*/ 2121095 w 2121095"/>
                <a:gd name="connsiteY1" fmla="*/ 4861194 h 4861194"/>
                <a:gd name="connsiteX0" fmla="*/ 0 w 2121095"/>
                <a:gd name="connsiteY0" fmla="*/ -1 h 4861194"/>
                <a:gd name="connsiteX1" fmla="*/ 2121095 w 2121095"/>
                <a:gd name="connsiteY1" fmla="*/ 4861194 h 4861194"/>
                <a:gd name="connsiteX0" fmla="*/ -1 w 1940879"/>
                <a:gd name="connsiteY0" fmla="*/ 0 h 3971397"/>
                <a:gd name="connsiteX1" fmla="*/ 1940879 w 1940879"/>
                <a:gd name="connsiteY1" fmla="*/ 3833836 h 3971397"/>
                <a:gd name="connsiteX0" fmla="*/ 0 w 1940880"/>
                <a:gd name="connsiteY0" fmla="*/ 0 h 4038615"/>
                <a:gd name="connsiteX1" fmla="*/ 1940880 w 1940880"/>
                <a:gd name="connsiteY1" fmla="*/ 3833836 h 4038615"/>
                <a:gd name="connsiteX0" fmla="*/ 0 w 1975239"/>
                <a:gd name="connsiteY0" fmla="*/ 0 h 4069094"/>
                <a:gd name="connsiteX1" fmla="*/ 1975239 w 1975239"/>
                <a:gd name="connsiteY1" fmla="*/ 3878413 h 4069094"/>
                <a:gd name="connsiteX0" fmla="*/ 0 w 1975239"/>
                <a:gd name="connsiteY0" fmla="*/ 0 h 4197054"/>
                <a:gd name="connsiteX1" fmla="*/ 1975239 w 1975239"/>
                <a:gd name="connsiteY1" fmla="*/ 3878413 h 4197054"/>
                <a:gd name="connsiteX0" fmla="*/ 0 w 2041233"/>
                <a:gd name="connsiteY0" fmla="*/ 1 h 4582066"/>
                <a:gd name="connsiteX1" fmla="*/ 2041233 w 2041233"/>
                <a:gd name="connsiteY1" fmla="*/ 4395737 h 4582066"/>
                <a:gd name="connsiteX0" fmla="*/ 0 w 2041233"/>
                <a:gd name="connsiteY0" fmla="*/ 1 h 4557165"/>
                <a:gd name="connsiteX1" fmla="*/ 2041233 w 2041233"/>
                <a:gd name="connsiteY1" fmla="*/ 4395737 h 4557165"/>
                <a:gd name="connsiteX0" fmla="*/ 0 w 2044877"/>
                <a:gd name="connsiteY0" fmla="*/ 1 h 4456758"/>
                <a:gd name="connsiteX1" fmla="*/ 2044877 w 2044877"/>
                <a:gd name="connsiteY1" fmla="*/ 4270467 h 4456758"/>
                <a:gd name="connsiteX0" fmla="*/ 0 w 1979762"/>
                <a:gd name="connsiteY0" fmla="*/ 1 h 4889876"/>
                <a:gd name="connsiteX1" fmla="*/ 1979762 w 1979762"/>
                <a:gd name="connsiteY1" fmla="*/ 4788376 h 4889876"/>
                <a:gd name="connsiteX0" fmla="*/ 0 w 2122343"/>
                <a:gd name="connsiteY0" fmla="*/ 1 h 4875217"/>
                <a:gd name="connsiteX1" fmla="*/ 2122343 w 2122343"/>
                <a:gd name="connsiteY1" fmla="*/ 4771686 h 4875217"/>
                <a:gd name="connsiteX0" fmla="*/ 0 w 2122343"/>
                <a:gd name="connsiteY0" fmla="*/ 1 h 4786722"/>
                <a:gd name="connsiteX1" fmla="*/ 2122343 w 2122343"/>
                <a:gd name="connsiteY1" fmla="*/ 4771686 h 4786722"/>
                <a:gd name="connsiteX0" fmla="*/ 0 w 2142163"/>
                <a:gd name="connsiteY0" fmla="*/ 1 h 4777710"/>
                <a:gd name="connsiteX1" fmla="*/ 2142163 w 2142163"/>
                <a:gd name="connsiteY1" fmla="*/ 4762620 h 4777710"/>
                <a:gd name="connsiteX0" fmla="*/ 0 w 2135359"/>
                <a:gd name="connsiteY0" fmla="*/ 0 h 4797830"/>
                <a:gd name="connsiteX1" fmla="*/ 2135359 w 2135359"/>
                <a:gd name="connsiteY1" fmla="*/ 4782861 h 4797830"/>
              </a:gdLst>
              <a:ahLst/>
              <a:cxnLst>
                <a:cxn ang="0">
                  <a:pos x="connsiteX0" y="connsiteY0"/>
                </a:cxn>
                <a:cxn ang="0">
                  <a:pos x="connsiteX1" y="connsiteY1"/>
                </a:cxn>
              </a:cxnLst>
              <a:rect l="l" t="t" r="r" b="b"/>
              <a:pathLst>
                <a:path w="2135359" h="4797830">
                  <a:moveTo>
                    <a:pt x="0" y="0"/>
                  </a:moveTo>
                  <a:cubicBezTo>
                    <a:pt x="648515" y="2733502"/>
                    <a:pt x="1514808" y="5004542"/>
                    <a:pt x="2135359" y="4782861"/>
                  </a:cubicBezTo>
                </a:path>
              </a:pathLst>
            </a:custGeom>
            <a:noFill/>
            <a:ln w="25400">
              <a:solidFill>
                <a:srgbClr val="178F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5" name="Textfeld 24">
            <a:extLst>
              <a:ext uri="{FF2B5EF4-FFF2-40B4-BE49-F238E27FC236}">
                <a16:creationId xmlns:a16="http://schemas.microsoft.com/office/drawing/2014/main" id="{25D32FA0-1712-3371-8E1A-93A176826DF9}"/>
              </a:ext>
            </a:extLst>
          </p:cNvPr>
          <p:cNvSpPr txBox="1"/>
          <p:nvPr/>
        </p:nvSpPr>
        <p:spPr>
          <a:xfrm>
            <a:off x="260196" y="4342894"/>
            <a:ext cx="8014009" cy="646331"/>
          </a:xfrm>
          <a:prstGeom prst="rect">
            <a:avLst/>
          </a:prstGeom>
          <a:noFill/>
        </p:spPr>
        <p:txBody>
          <a:bodyPr wrap="square" rtlCol="0">
            <a:spAutoFit/>
          </a:bodyPr>
          <a:lstStyle/>
          <a:p>
            <a:r>
              <a:rPr lang="de-DE" sz="1800" dirty="0">
                <a:solidFill>
                  <a:srgbClr val="FF0000"/>
                </a:solidFill>
                <a:latin typeface="Segoe UI" panose="020B0502040204020203" pitchFamily="34" charset="0"/>
                <a:cs typeface="Segoe UI" panose="020B0502040204020203" pitchFamily="34" charset="0"/>
              </a:rPr>
              <a:t>Poles </a:t>
            </a:r>
            <a:r>
              <a:rPr lang="de-DE" sz="1800" dirty="0" err="1">
                <a:solidFill>
                  <a:srgbClr val="FF0000"/>
                </a:solidFill>
                <a:latin typeface="Segoe UI" panose="020B0502040204020203" pitchFamily="34" charset="0"/>
                <a:cs typeface="Segoe UI" panose="020B0502040204020203" pitchFamily="34" charset="0"/>
              </a:rPr>
              <a:t>closer</a:t>
            </a:r>
            <a:r>
              <a:rPr lang="de-DE" sz="1800" dirty="0">
                <a:solidFill>
                  <a:srgbClr val="FF0000"/>
                </a:solidFill>
                <a:latin typeface="Segoe UI" panose="020B0502040204020203" pitchFamily="34" charset="0"/>
                <a:cs typeface="Segoe UI" panose="020B0502040204020203" pitchFamily="34" charset="0"/>
              </a:rPr>
              <a:t> </a:t>
            </a:r>
            <a:r>
              <a:rPr lang="de-DE" sz="1800" dirty="0" err="1">
                <a:solidFill>
                  <a:srgbClr val="FF0000"/>
                </a:solidFill>
                <a:latin typeface="Segoe UI" panose="020B0502040204020203" pitchFamily="34" charset="0"/>
                <a:cs typeface="Segoe UI" panose="020B0502040204020203" pitchFamily="34" charset="0"/>
              </a:rPr>
              <a:t>to</a:t>
            </a:r>
            <a:r>
              <a:rPr lang="de-DE" sz="1800" dirty="0">
                <a:solidFill>
                  <a:srgbClr val="FF0000"/>
                </a:solidFill>
                <a:latin typeface="Segoe UI" panose="020B0502040204020203" pitchFamily="34" charset="0"/>
                <a:cs typeface="Segoe UI" panose="020B0502040204020203" pitchFamily="34" charset="0"/>
              </a:rPr>
              <a:t> </a:t>
            </a:r>
            <a:r>
              <a:rPr lang="de-DE" sz="1800" dirty="0" err="1">
                <a:solidFill>
                  <a:srgbClr val="FF0000"/>
                </a:solidFill>
                <a:latin typeface="Segoe UI" panose="020B0502040204020203" pitchFamily="34" charset="0"/>
                <a:cs typeface="Segoe UI" panose="020B0502040204020203" pitchFamily="34" charset="0"/>
              </a:rPr>
              <a:t>the</a:t>
            </a:r>
            <a:r>
              <a:rPr lang="de-DE" sz="1800" dirty="0">
                <a:solidFill>
                  <a:srgbClr val="FF0000"/>
                </a:solidFill>
                <a:latin typeface="Segoe UI" panose="020B0502040204020203" pitchFamily="34" charset="0"/>
                <a:cs typeface="Segoe UI" panose="020B0502040204020203" pitchFamily="34" charset="0"/>
              </a:rPr>
              <a:t> </a:t>
            </a:r>
            <a:r>
              <a:rPr lang="de-DE" sz="1800" dirty="0" err="1">
                <a:solidFill>
                  <a:srgbClr val="FF0000"/>
                </a:solidFill>
                <a:latin typeface="Segoe UI" panose="020B0502040204020203" pitchFamily="34" charset="0"/>
                <a:cs typeface="Segoe UI" panose="020B0502040204020203" pitchFamily="34" charset="0"/>
              </a:rPr>
              <a:t>origin</a:t>
            </a:r>
            <a:r>
              <a:rPr lang="de-DE" sz="1800" dirty="0">
                <a:solidFill>
                  <a:srgbClr val="FF0000"/>
                </a:solidFill>
                <a:latin typeface="Segoe UI" panose="020B0502040204020203" pitchFamily="34" charset="0"/>
                <a:cs typeface="Segoe UI" panose="020B0502040204020203" pitchFamily="34" charset="0"/>
              </a:rPr>
              <a:t> </a:t>
            </a:r>
            <a:r>
              <a:rPr lang="de-DE" sz="1800" dirty="0" err="1">
                <a:solidFill>
                  <a:srgbClr val="FF0000"/>
                </a:solidFill>
                <a:latin typeface="Segoe UI" panose="020B0502040204020203" pitchFamily="34" charset="0"/>
                <a:cs typeface="Segoe UI" panose="020B0502040204020203" pitchFamily="34" charset="0"/>
              </a:rPr>
              <a:t>have</a:t>
            </a:r>
            <a:r>
              <a:rPr lang="de-DE" sz="1800" dirty="0">
                <a:solidFill>
                  <a:srgbClr val="FF0000"/>
                </a:solidFill>
                <a:latin typeface="Segoe UI" panose="020B0502040204020203" pitchFamily="34" charset="0"/>
                <a:cs typeface="Segoe UI" panose="020B0502040204020203" pitchFamily="34" charset="0"/>
              </a:rPr>
              <a:t> a </a:t>
            </a:r>
            <a:r>
              <a:rPr lang="de-DE" sz="1800" dirty="0" err="1">
                <a:solidFill>
                  <a:srgbClr val="FF0000"/>
                </a:solidFill>
                <a:latin typeface="Segoe UI" panose="020B0502040204020203" pitchFamily="34" charset="0"/>
                <a:cs typeface="Segoe UI" panose="020B0502040204020203" pitchFamily="34" charset="0"/>
              </a:rPr>
              <a:t>higher</a:t>
            </a:r>
            <a:r>
              <a:rPr lang="de-DE" sz="1800" dirty="0">
                <a:solidFill>
                  <a:srgbClr val="FF0000"/>
                </a:solidFill>
                <a:latin typeface="Segoe UI" panose="020B0502040204020203" pitchFamily="34" charset="0"/>
                <a:cs typeface="Segoe UI" panose="020B0502040204020203" pitchFamily="34" charset="0"/>
              </a:rPr>
              <a:t> </a:t>
            </a:r>
            <a:r>
              <a:rPr lang="de-DE" sz="1800" dirty="0" err="1">
                <a:solidFill>
                  <a:srgbClr val="FF0000"/>
                </a:solidFill>
                <a:latin typeface="Segoe UI" panose="020B0502040204020203" pitchFamily="34" charset="0"/>
                <a:cs typeface="Segoe UI" panose="020B0502040204020203" pitchFamily="34" charset="0"/>
              </a:rPr>
              <a:t>influence</a:t>
            </a:r>
            <a:r>
              <a:rPr lang="de-DE" sz="1800" dirty="0">
                <a:solidFill>
                  <a:srgbClr val="FF0000"/>
                </a:solidFill>
                <a:latin typeface="Segoe UI" panose="020B0502040204020203" pitchFamily="34" charset="0"/>
                <a:cs typeface="Segoe UI" panose="020B0502040204020203" pitchFamily="34" charset="0"/>
              </a:rPr>
              <a:t>!! </a:t>
            </a:r>
          </a:p>
          <a:p>
            <a:endParaRPr lang="de-DE" sz="1800" dirty="0">
              <a:solidFill>
                <a:srgbClr val="FF0000"/>
              </a:solidFill>
              <a:latin typeface="Segoe UI" panose="020B0502040204020203" pitchFamily="34" charset="0"/>
              <a:cs typeface="Segoe UI" panose="020B0502040204020203" pitchFamily="34" charset="0"/>
            </a:endParaRPr>
          </a:p>
        </p:txBody>
      </p:sp>
      <p:grpSp>
        <p:nvGrpSpPr>
          <p:cNvPr id="27" name="Gruppieren 26">
            <a:extLst>
              <a:ext uri="{FF2B5EF4-FFF2-40B4-BE49-F238E27FC236}">
                <a16:creationId xmlns:a16="http://schemas.microsoft.com/office/drawing/2014/main" id="{BB4F9464-3B55-202F-59BA-922F1DC8C145}"/>
              </a:ext>
            </a:extLst>
          </p:cNvPr>
          <p:cNvGrpSpPr/>
          <p:nvPr/>
        </p:nvGrpSpPr>
        <p:grpSpPr>
          <a:xfrm>
            <a:off x="5666250" y="2777703"/>
            <a:ext cx="2519443" cy="1989560"/>
            <a:chOff x="3854719" y="1168729"/>
            <a:chExt cx="2519443" cy="1989560"/>
          </a:xfrm>
        </p:grpSpPr>
        <p:cxnSp>
          <p:nvCxnSpPr>
            <p:cNvPr id="28" name="Gewinkelte Verbindung 27">
              <a:extLst>
                <a:ext uri="{FF2B5EF4-FFF2-40B4-BE49-F238E27FC236}">
                  <a16:creationId xmlns:a16="http://schemas.microsoft.com/office/drawing/2014/main" id="{D289BA16-5268-79FA-915E-333E9B52928F}"/>
                </a:ext>
              </a:extLst>
            </p:cNvPr>
            <p:cNvCxnSpPr>
              <a:cxnSpLocks/>
            </p:cNvCxnSpPr>
            <p:nvPr/>
          </p:nvCxnSpPr>
          <p:spPr>
            <a:xfrm>
              <a:off x="3854719" y="1402556"/>
              <a:ext cx="2519443" cy="1281901"/>
            </a:xfrm>
            <a:prstGeom prst="bentConnector3">
              <a:avLst>
                <a:gd name="adj1" fmla="val 173"/>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28">
              <a:extLst>
                <a:ext uri="{FF2B5EF4-FFF2-40B4-BE49-F238E27FC236}">
                  <a16:creationId xmlns:a16="http://schemas.microsoft.com/office/drawing/2014/main" id="{0FD25A39-F0F5-B322-9891-505B3510AA1C}"/>
                </a:ext>
              </a:extLst>
            </p:cNvPr>
            <p:cNvCxnSpPr/>
            <p:nvPr/>
          </p:nvCxnSpPr>
          <p:spPr>
            <a:xfrm flipH="1">
              <a:off x="3854719" y="1641845"/>
              <a:ext cx="251944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Freihandform 29">
              <a:extLst>
                <a:ext uri="{FF2B5EF4-FFF2-40B4-BE49-F238E27FC236}">
                  <a16:creationId xmlns:a16="http://schemas.microsoft.com/office/drawing/2014/main" id="{720C01BF-647D-89D0-4025-6B23D7A8BE5B}"/>
                </a:ext>
              </a:extLst>
            </p:cNvPr>
            <p:cNvSpPr/>
            <p:nvPr/>
          </p:nvSpPr>
          <p:spPr>
            <a:xfrm rot="6900422">
              <a:off x="4102956" y="1194952"/>
              <a:ext cx="1959833" cy="1907388"/>
            </a:xfrm>
            <a:custGeom>
              <a:avLst/>
              <a:gdLst>
                <a:gd name="connsiteX0" fmla="*/ 0 w 1363980"/>
                <a:gd name="connsiteY0" fmla="*/ 0 h 876300"/>
                <a:gd name="connsiteX1" fmla="*/ 1363980 w 1363980"/>
                <a:gd name="connsiteY1" fmla="*/ 876300 h 876300"/>
                <a:gd name="connsiteX0" fmla="*/ 0 w 2197802"/>
                <a:gd name="connsiteY0" fmla="*/ 0 h 5170897"/>
                <a:gd name="connsiteX1" fmla="*/ 2197802 w 2197802"/>
                <a:gd name="connsiteY1" fmla="*/ 5170897 h 5170897"/>
                <a:gd name="connsiteX0" fmla="*/ 0 w 2197802"/>
                <a:gd name="connsiteY0" fmla="*/ 0 h 5170897"/>
                <a:gd name="connsiteX1" fmla="*/ 2197802 w 2197802"/>
                <a:gd name="connsiteY1" fmla="*/ 5170897 h 5170897"/>
                <a:gd name="connsiteX0" fmla="*/ 0 w 2121095"/>
                <a:gd name="connsiteY0" fmla="*/ -1 h 4861194"/>
                <a:gd name="connsiteX1" fmla="*/ 2121095 w 2121095"/>
                <a:gd name="connsiteY1" fmla="*/ 4861194 h 4861194"/>
                <a:gd name="connsiteX0" fmla="*/ 0 w 2121095"/>
                <a:gd name="connsiteY0" fmla="*/ -1 h 4861194"/>
                <a:gd name="connsiteX1" fmla="*/ 2121095 w 2121095"/>
                <a:gd name="connsiteY1" fmla="*/ 4861194 h 4861194"/>
                <a:gd name="connsiteX0" fmla="*/ -1 w 1940879"/>
                <a:gd name="connsiteY0" fmla="*/ 0 h 3971397"/>
                <a:gd name="connsiteX1" fmla="*/ 1940879 w 1940879"/>
                <a:gd name="connsiteY1" fmla="*/ 3833836 h 3971397"/>
                <a:gd name="connsiteX0" fmla="*/ 0 w 1940880"/>
                <a:gd name="connsiteY0" fmla="*/ 0 h 4038615"/>
                <a:gd name="connsiteX1" fmla="*/ 1940880 w 1940880"/>
                <a:gd name="connsiteY1" fmla="*/ 3833836 h 4038615"/>
                <a:gd name="connsiteX0" fmla="*/ 0 w 1975239"/>
                <a:gd name="connsiteY0" fmla="*/ 0 h 4069094"/>
                <a:gd name="connsiteX1" fmla="*/ 1975239 w 1975239"/>
                <a:gd name="connsiteY1" fmla="*/ 3878413 h 4069094"/>
                <a:gd name="connsiteX0" fmla="*/ 0 w 1975239"/>
                <a:gd name="connsiteY0" fmla="*/ 0 h 4197054"/>
                <a:gd name="connsiteX1" fmla="*/ 1975239 w 1975239"/>
                <a:gd name="connsiteY1" fmla="*/ 3878413 h 4197054"/>
                <a:gd name="connsiteX0" fmla="*/ 0 w 2041233"/>
                <a:gd name="connsiteY0" fmla="*/ 1 h 4582066"/>
                <a:gd name="connsiteX1" fmla="*/ 2041233 w 2041233"/>
                <a:gd name="connsiteY1" fmla="*/ 4395737 h 4582066"/>
                <a:gd name="connsiteX0" fmla="*/ 0 w 2041233"/>
                <a:gd name="connsiteY0" fmla="*/ 1 h 4557165"/>
                <a:gd name="connsiteX1" fmla="*/ 2041233 w 2041233"/>
                <a:gd name="connsiteY1" fmla="*/ 4395737 h 4557165"/>
                <a:gd name="connsiteX0" fmla="*/ 0 w 2044877"/>
                <a:gd name="connsiteY0" fmla="*/ 1 h 4456758"/>
                <a:gd name="connsiteX1" fmla="*/ 2044877 w 2044877"/>
                <a:gd name="connsiteY1" fmla="*/ 4270467 h 4456758"/>
              </a:gdLst>
              <a:ahLst/>
              <a:cxnLst>
                <a:cxn ang="0">
                  <a:pos x="connsiteX0" y="connsiteY0"/>
                </a:cxn>
                <a:cxn ang="0">
                  <a:pos x="connsiteX1" y="connsiteY1"/>
                </a:cxn>
              </a:cxnLst>
              <a:rect l="l" t="t" r="r" b="b"/>
              <a:pathLst>
                <a:path w="2044877" h="4456758">
                  <a:moveTo>
                    <a:pt x="0" y="1"/>
                  </a:moveTo>
                  <a:cubicBezTo>
                    <a:pt x="1041156" y="5348468"/>
                    <a:pt x="1424326" y="4492148"/>
                    <a:pt x="2044877" y="4270467"/>
                  </a:cubicBezTo>
                </a:path>
              </a:pathLst>
            </a:cu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ihandform 30">
              <a:extLst>
                <a:ext uri="{FF2B5EF4-FFF2-40B4-BE49-F238E27FC236}">
                  <a16:creationId xmlns:a16="http://schemas.microsoft.com/office/drawing/2014/main" id="{26978D61-9CEA-04BE-7E96-B70216511073}"/>
                </a:ext>
              </a:extLst>
            </p:cNvPr>
            <p:cNvSpPr/>
            <p:nvPr/>
          </p:nvSpPr>
          <p:spPr>
            <a:xfrm rot="6900422">
              <a:off x="4138374" y="1259596"/>
              <a:ext cx="1945220" cy="1852166"/>
            </a:xfrm>
            <a:custGeom>
              <a:avLst/>
              <a:gdLst>
                <a:gd name="connsiteX0" fmla="*/ 0 w 1363980"/>
                <a:gd name="connsiteY0" fmla="*/ 0 h 876300"/>
                <a:gd name="connsiteX1" fmla="*/ 1363980 w 1363980"/>
                <a:gd name="connsiteY1" fmla="*/ 876300 h 876300"/>
                <a:gd name="connsiteX0" fmla="*/ 0 w 2197802"/>
                <a:gd name="connsiteY0" fmla="*/ 0 h 5170897"/>
                <a:gd name="connsiteX1" fmla="*/ 2197802 w 2197802"/>
                <a:gd name="connsiteY1" fmla="*/ 5170897 h 5170897"/>
                <a:gd name="connsiteX0" fmla="*/ 0 w 2197802"/>
                <a:gd name="connsiteY0" fmla="*/ 0 h 5170897"/>
                <a:gd name="connsiteX1" fmla="*/ 2197802 w 2197802"/>
                <a:gd name="connsiteY1" fmla="*/ 5170897 h 5170897"/>
                <a:gd name="connsiteX0" fmla="*/ 0 w 2121095"/>
                <a:gd name="connsiteY0" fmla="*/ -1 h 4861194"/>
                <a:gd name="connsiteX1" fmla="*/ 2121095 w 2121095"/>
                <a:gd name="connsiteY1" fmla="*/ 4861194 h 4861194"/>
                <a:gd name="connsiteX0" fmla="*/ 0 w 2121095"/>
                <a:gd name="connsiteY0" fmla="*/ -1 h 4861194"/>
                <a:gd name="connsiteX1" fmla="*/ 2121095 w 2121095"/>
                <a:gd name="connsiteY1" fmla="*/ 4861194 h 4861194"/>
                <a:gd name="connsiteX0" fmla="*/ -1 w 1940879"/>
                <a:gd name="connsiteY0" fmla="*/ 0 h 3971397"/>
                <a:gd name="connsiteX1" fmla="*/ 1940879 w 1940879"/>
                <a:gd name="connsiteY1" fmla="*/ 3833836 h 3971397"/>
                <a:gd name="connsiteX0" fmla="*/ 0 w 1940880"/>
                <a:gd name="connsiteY0" fmla="*/ 0 h 4038615"/>
                <a:gd name="connsiteX1" fmla="*/ 1940880 w 1940880"/>
                <a:gd name="connsiteY1" fmla="*/ 3833836 h 4038615"/>
                <a:gd name="connsiteX0" fmla="*/ 0 w 1975239"/>
                <a:gd name="connsiteY0" fmla="*/ 0 h 4069094"/>
                <a:gd name="connsiteX1" fmla="*/ 1975239 w 1975239"/>
                <a:gd name="connsiteY1" fmla="*/ 3878413 h 4069094"/>
                <a:gd name="connsiteX0" fmla="*/ 0 w 1975239"/>
                <a:gd name="connsiteY0" fmla="*/ 0 h 4197054"/>
                <a:gd name="connsiteX1" fmla="*/ 1975239 w 1975239"/>
                <a:gd name="connsiteY1" fmla="*/ 3878413 h 4197054"/>
                <a:gd name="connsiteX0" fmla="*/ 0 w 2041233"/>
                <a:gd name="connsiteY0" fmla="*/ 1 h 4582066"/>
                <a:gd name="connsiteX1" fmla="*/ 2041233 w 2041233"/>
                <a:gd name="connsiteY1" fmla="*/ 4395737 h 4582066"/>
                <a:gd name="connsiteX0" fmla="*/ 0 w 2041233"/>
                <a:gd name="connsiteY0" fmla="*/ 1 h 4557165"/>
                <a:gd name="connsiteX1" fmla="*/ 2041233 w 2041233"/>
                <a:gd name="connsiteY1" fmla="*/ 4395737 h 4557165"/>
                <a:gd name="connsiteX0" fmla="*/ 0 w 2044877"/>
                <a:gd name="connsiteY0" fmla="*/ 1 h 4456758"/>
                <a:gd name="connsiteX1" fmla="*/ 2044877 w 2044877"/>
                <a:gd name="connsiteY1" fmla="*/ 4270467 h 4456758"/>
                <a:gd name="connsiteX0" fmla="*/ 0 w 1979762"/>
                <a:gd name="connsiteY0" fmla="*/ 1 h 4889876"/>
                <a:gd name="connsiteX1" fmla="*/ 1979762 w 1979762"/>
                <a:gd name="connsiteY1" fmla="*/ 4788376 h 4889876"/>
                <a:gd name="connsiteX0" fmla="*/ 0 w 2122343"/>
                <a:gd name="connsiteY0" fmla="*/ 1 h 4875217"/>
                <a:gd name="connsiteX1" fmla="*/ 2122343 w 2122343"/>
                <a:gd name="connsiteY1" fmla="*/ 4771686 h 4875217"/>
                <a:gd name="connsiteX0" fmla="*/ 0 w 2122343"/>
                <a:gd name="connsiteY0" fmla="*/ 1 h 4786722"/>
                <a:gd name="connsiteX1" fmla="*/ 2122343 w 2122343"/>
                <a:gd name="connsiteY1" fmla="*/ 4771686 h 4786722"/>
                <a:gd name="connsiteX0" fmla="*/ 0 w 2142163"/>
                <a:gd name="connsiteY0" fmla="*/ 1 h 4777710"/>
                <a:gd name="connsiteX1" fmla="*/ 2142163 w 2142163"/>
                <a:gd name="connsiteY1" fmla="*/ 4762620 h 4777710"/>
                <a:gd name="connsiteX0" fmla="*/ 0 w 2135359"/>
                <a:gd name="connsiteY0" fmla="*/ 0 h 4797830"/>
                <a:gd name="connsiteX1" fmla="*/ 2135359 w 2135359"/>
                <a:gd name="connsiteY1" fmla="*/ 4782861 h 4797830"/>
              </a:gdLst>
              <a:ahLst/>
              <a:cxnLst>
                <a:cxn ang="0">
                  <a:pos x="connsiteX0" y="connsiteY0"/>
                </a:cxn>
                <a:cxn ang="0">
                  <a:pos x="connsiteX1" y="connsiteY1"/>
                </a:cxn>
              </a:cxnLst>
              <a:rect l="l" t="t" r="r" b="b"/>
              <a:pathLst>
                <a:path w="2135359" h="4797830">
                  <a:moveTo>
                    <a:pt x="0" y="0"/>
                  </a:moveTo>
                  <a:cubicBezTo>
                    <a:pt x="648515" y="2733502"/>
                    <a:pt x="1514808" y="5004542"/>
                    <a:pt x="2135359" y="4782861"/>
                  </a:cubicBezTo>
                </a:path>
              </a:pathLst>
            </a:custGeom>
            <a:noFill/>
            <a:ln w="25400">
              <a:solidFill>
                <a:srgbClr val="178F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7" name="Freihandform 36">
            <a:extLst>
              <a:ext uri="{FF2B5EF4-FFF2-40B4-BE49-F238E27FC236}">
                <a16:creationId xmlns:a16="http://schemas.microsoft.com/office/drawing/2014/main" id="{83970997-6742-4E59-5046-FD75F26AF115}"/>
              </a:ext>
            </a:extLst>
          </p:cNvPr>
          <p:cNvSpPr/>
          <p:nvPr/>
        </p:nvSpPr>
        <p:spPr>
          <a:xfrm rot="6900422">
            <a:off x="5940320" y="2853804"/>
            <a:ext cx="1956382" cy="1846809"/>
          </a:xfrm>
          <a:custGeom>
            <a:avLst/>
            <a:gdLst>
              <a:gd name="connsiteX0" fmla="*/ 0 w 1363980"/>
              <a:gd name="connsiteY0" fmla="*/ 0 h 876300"/>
              <a:gd name="connsiteX1" fmla="*/ 1363980 w 1363980"/>
              <a:gd name="connsiteY1" fmla="*/ 876300 h 876300"/>
              <a:gd name="connsiteX0" fmla="*/ 0 w 2197802"/>
              <a:gd name="connsiteY0" fmla="*/ 0 h 5170897"/>
              <a:gd name="connsiteX1" fmla="*/ 2197802 w 2197802"/>
              <a:gd name="connsiteY1" fmla="*/ 5170897 h 5170897"/>
              <a:gd name="connsiteX0" fmla="*/ 0 w 2197802"/>
              <a:gd name="connsiteY0" fmla="*/ 0 h 5170897"/>
              <a:gd name="connsiteX1" fmla="*/ 2197802 w 2197802"/>
              <a:gd name="connsiteY1" fmla="*/ 5170897 h 5170897"/>
              <a:gd name="connsiteX0" fmla="*/ 0 w 2121095"/>
              <a:gd name="connsiteY0" fmla="*/ -1 h 4861194"/>
              <a:gd name="connsiteX1" fmla="*/ 2121095 w 2121095"/>
              <a:gd name="connsiteY1" fmla="*/ 4861194 h 4861194"/>
              <a:gd name="connsiteX0" fmla="*/ 0 w 2121095"/>
              <a:gd name="connsiteY0" fmla="*/ -1 h 4861194"/>
              <a:gd name="connsiteX1" fmla="*/ 2121095 w 2121095"/>
              <a:gd name="connsiteY1" fmla="*/ 4861194 h 4861194"/>
              <a:gd name="connsiteX0" fmla="*/ -1 w 1940879"/>
              <a:gd name="connsiteY0" fmla="*/ 0 h 3971397"/>
              <a:gd name="connsiteX1" fmla="*/ 1940879 w 1940879"/>
              <a:gd name="connsiteY1" fmla="*/ 3833836 h 3971397"/>
              <a:gd name="connsiteX0" fmla="*/ 0 w 1940880"/>
              <a:gd name="connsiteY0" fmla="*/ 0 h 4038615"/>
              <a:gd name="connsiteX1" fmla="*/ 1940880 w 1940880"/>
              <a:gd name="connsiteY1" fmla="*/ 3833836 h 4038615"/>
              <a:gd name="connsiteX0" fmla="*/ 0 w 1975239"/>
              <a:gd name="connsiteY0" fmla="*/ 0 h 4069094"/>
              <a:gd name="connsiteX1" fmla="*/ 1975239 w 1975239"/>
              <a:gd name="connsiteY1" fmla="*/ 3878413 h 4069094"/>
              <a:gd name="connsiteX0" fmla="*/ 0 w 1975239"/>
              <a:gd name="connsiteY0" fmla="*/ 0 h 4197054"/>
              <a:gd name="connsiteX1" fmla="*/ 1975239 w 1975239"/>
              <a:gd name="connsiteY1" fmla="*/ 3878413 h 4197054"/>
              <a:gd name="connsiteX0" fmla="*/ 0 w 2041233"/>
              <a:gd name="connsiteY0" fmla="*/ 1 h 4582066"/>
              <a:gd name="connsiteX1" fmla="*/ 2041233 w 2041233"/>
              <a:gd name="connsiteY1" fmla="*/ 4395737 h 4582066"/>
              <a:gd name="connsiteX0" fmla="*/ 0 w 2041233"/>
              <a:gd name="connsiteY0" fmla="*/ 1 h 4557165"/>
              <a:gd name="connsiteX1" fmla="*/ 2041233 w 2041233"/>
              <a:gd name="connsiteY1" fmla="*/ 4395737 h 4557165"/>
              <a:gd name="connsiteX0" fmla="*/ 0 w 2044877"/>
              <a:gd name="connsiteY0" fmla="*/ 1 h 4456758"/>
              <a:gd name="connsiteX1" fmla="*/ 2044877 w 2044877"/>
              <a:gd name="connsiteY1" fmla="*/ 4270467 h 4456758"/>
              <a:gd name="connsiteX0" fmla="*/ 0 w 1979762"/>
              <a:gd name="connsiteY0" fmla="*/ 1 h 4889876"/>
              <a:gd name="connsiteX1" fmla="*/ 1979762 w 1979762"/>
              <a:gd name="connsiteY1" fmla="*/ 4788376 h 4889876"/>
              <a:gd name="connsiteX0" fmla="*/ 0 w 2122343"/>
              <a:gd name="connsiteY0" fmla="*/ 1 h 4875217"/>
              <a:gd name="connsiteX1" fmla="*/ 2122343 w 2122343"/>
              <a:gd name="connsiteY1" fmla="*/ 4771686 h 4875217"/>
              <a:gd name="connsiteX0" fmla="*/ 0 w 2122343"/>
              <a:gd name="connsiteY0" fmla="*/ 1 h 4786722"/>
              <a:gd name="connsiteX1" fmla="*/ 2122343 w 2122343"/>
              <a:gd name="connsiteY1" fmla="*/ 4771686 h 4786722"/>
              <a:gd name="connsiteX0" fmla="*/ 0 w 2142163"/>
              <a:gd name="connsiteY0" fmla="*/ 1 h 4777710"/>
              <a:gd name="connsiteX1" fmla="*/ 2142163 w 2142163"/>
              <a:gd name="connsiteY1" fmla="*/ 4762620 h 4777710"/>
              <a:gd name="connsiteX0" fmla="*/ 0 w 2135359"/>
              <a:gd name="connsiteY0" fmla="*/ 0 h 4797830"/>
              <a:gd name="connsiteX1" fmla="*/ 2135359 w 2135359"/>
              <a:gd name="connsiteY1" fmla="*/ 4782861 h 4797830"/>
              <a:gd name="connsiteX0" fmla="*/ 0 w 2045098"/>
              <a:gd name="connsiteY0" fmla="*/ 0 h 5340734"/>
              <a:gd name="connsiteX1" fmla="*/ 2045098 w 2045098"/>
              <a:gd name="connsiteY1" fmla="*/ 5328447 h 5340734"/>
              <a:gd name="connsiteX0" fmla="*/ 0 w 2147612"/>
              <a:gd name="connsiteY0" fmla="*/ -1 h 4783412"/>
              <a:gd name="connsiteX1" fmla="*/ 2147612 w 2147612"/>
              <a:gd name="connsiteY1" fmla="*/ 4768356 h 4783412"/>
              <a:gd name="connsiteX0" fmla="*/ 0 w 2147612"/>
              <a:gd name="connsiteY0" fmla="*/ -1 h 4784733"/>
              <a:gd name="connsiteX1" fmla="*/ 2147612 w 2147612"/>
              <a:gd name="connsiteY1" fmla="*/ 4768356 h 4784733"/>
              <a:gd name="connsiteX0" fmla="*/ 0 w 2147612"/>
              <a:gd name="connsiteY0" fmla="*/ -1 h 4783953"/>
              <a:gd name="connsiteX1" fmla="*/ 2147612 w 2147612"/>
              <a:gd name="connsiteY1" fmla="*/ 4768356 h 4783953"/>
            </a:gdLst>
            <a:ahLst/>
            <a:cxnLst>
              <a:cxn ang="0">
                <a:pos x="connsiteX0" y="connsiteY0"/>
              </a:cxn>
              <a:cxn ang="0">
                <a:pos x="connsiteX1" y="connsiteY1"/>
              </a:cxn>
            </a:cxnLst>
            <a:rect l="l" t="t" r="r" b="b"/>
            <a:pathLst>
              <a:path w="2147612" h="4783953">
                <a:moveTo>
                  <a:pt x="0" y="-1"/>
                </a:moveTo>
                <a:cubicBezTo>
                  <a:pt x="606678" y="2821485"/>
                  <a:pt x="1527061" y="4990037"/>
                  <a:pt x="2147612" y="4768356"/>
                </a:cubicBezTo>
              </a:path>
            </a:pathLst>
          </a:custGeom>
          <a:noFill/>
          <a:ln w="254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862955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954201-D577-35DA-F7C8-F5BD6F7A5167}"/>
              </a:ext>
            </a:extLst>
          </p:cNvPr>
          <p:cNvSpPr>
            <a:spLocks noGrp="1"/>
          </p:cNvSpPr>
          <p:nvPr>
            <p:ph type="title"/>
          </p:nvPr>
        </p:nvSpPr>
        <p:spPr/>
        <p:txBody>
          <a:bodyPr/>
          <a:lstStyle/>
          <a:p>
            <a:r>
              <a:rPr lang="de-DE" dirty="0"/>
              <a:t>Dominant Poles Approximation</a:t>
            </a:r>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9D74411C-873B-1ADD-62E2-9D3CFCCEA5CB}"/>
                  </a:ext>
                </a:extLst>
              </p:cNvPr>
              <p:cNvSpPr>
                <a:spLocks noGrp="1"/>
              </p:cNvSpPr>
              <p:nvPr>
                <p:ph idx="1"/>
              </p:nvPr>
            </p:nvSpPr>
            <p:spPr>
              <a:xfrm>
                <a:off x="628650" y="1191194"/>
                <a:ext cx="4501699" cy="3263504"/>
              </a:xfrm>
            </p:spPr>
            <p:txBody>
              <a:bodyPr>
                <a:normAutofit/>
              </a:bodyPr>
              <a:lstStyle/>
              <a:p>
                <a:r>
                  <a:rPr lang="de-DE" dirty="0"/>
                  <a:t>Idea: Given a </a:t>
                </a:r>
                <a:r>
                  <a:rPr lang="de-DE" dirty="0" err="1"/>
                  <a:t>higher</a:t>
                </a:r>
                <a:r>
                  <a:rPr lang="de-DE" dirty="0"/>
                  <a:t> </a:t>
                </a:r>
                <a:r>
                  <a:rPr lang="de-DE" dirty="0" err="1"/>
                  <a:t>order</a:t>
                </a:r>
                <a:r>
                  <a:rPr lang="de-DE" dirty="0"/>
                  <a:t> </a:t>
                </a:r>
                <a:r>
                  <a:rPr lang="de-DE" dirty="0" err="1"/>
                  <a:t>system</a:t>
                </a:r>
                <a:r>
                  <a:rPr lang="de-DE" dirty="0"/>
                  <a:t>, </a:t>
                </a:r>
                <a:r>
                  <a:rPr lang="de-DE" dirty="0" err="1"/>
                  <a:t>approximate</a:t>
                </a:r>
                <a:r>
                  <a:rPr lang="de-DE" dirty="0"/>
                  <a:t> </a:t>
                </a:r>
                <a:r>
                  <a:rPr lang="de-DE" dirty="0" err="1"/>
                  <a:t>as</a:t>
                </a:r>
                <a:r>
                  <a:rPr lang="de-DE" dirty="0"/>
                  <a:t> a 1</a:t>
                </a:r>
                <a:r>
                  <a:rPr lang="de-DE" baseline="30000" dirty="0"/>
                  <a:t>st</a:t>
                </a:r>
                <a:r>
                  <a:rPr lang="de-DE" dirty="0"/>
                  <a:t> </a:t>
                </a:r>
                <a:r>
                  <a:rPr lang="de-DE" dirty="0" err="1"/>
                  <a:t>order</a:t>
                </a:r>
                <a:r>
                  <a:rPr lang="de-DE" dirty="0"/>
                  <a:t> 2</a:t>
                </a:r>
                <a:r>
                  <a:rPr lang="de-DE" baseline="30000" dirty="0"/>
                  <a:t>nd</a:t>
                </a:r>
                <a:r>
                  <a:rPr lang="de-DE" dirty="0"/>
                  <a:t> </a:t>
                </a:r>
                <a:r>
                  <a:rPr lang="de-DE" dirty="0" err="1"/>
                  <a:t>order</a:t>
                </a:r>
                <a:r>
                  <a:rPr lang="de-DE" dirty="0"/>
                  <a:t> </a:t>
                </a:r>
                <a:r>
                  <a:rPr lang="de-DE" dirty="0" err="1"/>
                  <a:t>system</a:t>
                </a:r>
                <a:r>
                  <a:rPr lang="de-DE" dirty="0"/>
                  <a:t>, </a:t>
                </a:r>
                <a:r>
                  <a:rPr lang="de-DE" dirty="0" err="1"/>
                  <a:t>for</a:t>
                </a:r>
                <a:r>
                  <a:rPr lang="de-DE" dirty="0"/>
                  <a:t> </a:t>
                </a:r>
                <a:r>
                  <a:rPr lang="de-DE" dirty="0" err="1"/>
                  <a:t>which</a:t>
                </a:r>
                <a:r>
                  <a:rPr lang="de-DE" dirty="0"/>
                  <a:t> </a:t>
                </a:r>
                <a:r>
                  <a:rPr lang="de-DE" dirty="0" err="1"/>
                  <a:t>we</a:t>
                </a:r>
                <a:r>
                  <a:rPr lang="de-DE" dirty="0"/>
                  <a:t> </a:t>
                </a:r>
                <a:r>
                  <a:rPr lang="de-DE" dirty="0" err="1"/>
                  <a:t>have</a:t>
                </a:r>
                <a:r>
                  <a:rPr lang="de-DE" dirty="0"/>
                  <a:t> </a:t>
                </a:r>
                <a:r>
                  <a:rPr lang="de-DE" dirty="0" err="1"/>
                  <a:t>system</a:t>
                </a:r>
                <a:r>
                  <a:rPr lang="de-DE" dirty="0"/>
                  <a:t> </a:t>
                </a:r>
                <a:r>
                  <a:rPr lang="de-DE" dirty="0" err="1"/>
                  <a:t>specifications</a:t>
                </a:r>
                <a:endParaRPr lang="de-DE" dirty="0"/>
              </a:p>
              <a:p>
                <a:r>
                  <a:rPr lang="de-DE" dirty="0"/>
                  <a:t>Recall Impulse </a:t>
                </a:r>
                <a:r>
                  <a:rPr lang="de-DE" dirty="0" err="1"/>
                  <a:t>Reponse</a:t>
                </a:r>
                <a:r>
                  <a:rPr lang="de-DE" dirty="0"/>
                  <a:t>:</a:t>
                </a:r>
              </a:p>
              <a:p>
                <a:pPr marL="0" indent="0">
                  <a:buNone/>
                </a:pPr>
                <a14:m>
                  <m:oMath xmlns:m="http://schemas.openxmlformats.org/officeDocument/2006/math">
                    <m:sSub>
                      <m:sSubPr>
                        <m:ctrlPr>
                          <a:rPr lang="de-CH" i="1" dirty="0" smtClean="0">
                            <a:latin typeface="Cambria Math" panose="02040503050406030204" pitchFamily="18" charset="0"/>
                          </a:rPr>
                        </m:ctrlPr>
                      </m:sSubPr>
                      <m:e>
                        <m:r>
                          <a:rPr lang="de-CH" i="1" dirty="0" smtClean="0">
                            <a:latin typeface="Cambria Math" panose="02040503050406030204" pitchFamily="18" charset="0"/>
                          </a:rPr>
                          <m:t>𝑦</m:t>
                        </m:r>
                      </m:e>
                      <m:sub>
                        <m:r>
                          <a:rPr lang="de-CH" i="1" dirty="0" err="1">
                            <a:latin typeface="Cambria Math" panose="02040503050406030204" pitchFamily="18" charset="0"/>
                          </a:rPr>
                          <m:t>𝑖𝑚𝑝</m:t>
                        </m:r>
                      </m:sub>
                    </m:sSub>
                    <m:d>
                      <m:dPr>
                        <m:ctrlPr>
                          <a:rPr lang="de-CH" i="1" dirty="0">
                            <a:latin typeface="Cambria Math" panose="02040503050406030204" pitchFamily="18" charset="0"/>
                          </a:rPr>
                        </m:ctrlPr>
                      </m:dPr>
                      <m:e>
                        <m:r>
                          <a:rPr lang="de-CH" i="1" dirty="0">
                            <a:latin typeface="Cambria Math" panose="02040503050406030204" pitchFamily="18" charset="0"/>
                          </a:rPr>
                          <m:t>𝑡</m:t>
                        </m:r>
                      </m:e>
                    </m:d>
                    <m:r>
                      <a:rPr lang="de-CH" i="1" dirty="0">
                        <a:latin typeface="Cambria Math" panose="02040503050406030204" pitchFamily="18" charset="0"/>
                      </a:rPr>
                      <m:t>=</m:t>
                    </m:r>
                    <m:sSup>
                      <m:sSupPr>
                        <m:ctrlPr>
                          <a:rPr lang="de-CH" i="1" dirty="0">
                            <a:latin typeface="Cambria Math" panose="02040503050406030204" pitchFamily="18" charset="0"/>
                          </a:rPr>
                        </m:ctrlPr>
                      </m:sSupPr>
                      <m:e>
                        <m:r>
                          <a:rPr lang="de-CH" i="1" dirty="0">
                            <a:latin typeface="Cambria Math" panose="02040503050406030204" pitchFamily="18" charset="0"/>
                          </a:rPr>
                          <m:t>ℒ</m:t>
                        </m:r>
                      </m:e>
                      <m:sup>
                        <m:r>
                          <a:rPr lang="de-CH" i="1" dirty="0">
                            <a:latin typeface="Cambria Math" panose="02040503050406030204" pitchFamily="18" charset="0"/>
                          </a:rPr>
                          <m:t>−1</m:t>
                        </m:r>
                      </m:sup>
                    </m:sSup>
                    <m:d>
                      <m:dPr>
                        <m:ctrlPr>
                          <a:rPr lang="de-CH" i="1" dirty="0">
                            <a:latin typeface="Cambria Math" panose="02040503050406030204" pitchFamily="18" charset="0"/>
                          </a:rPr>
                        </m:ctrlPr>
                      </m:dPr>
                      <m:e>
                        <m:r>
                          <a:rPr lang="de-CH" i="1" dirty="0">
                            <a:latin typeface="Cambria Math" panose="02040503050406030204" pitchFamily="18" charset="0"/>
                          </a:rPr>
                          <m:t>𝐺</m:t>
                        </m:r>
                        <m:d>
                          <m:dPr>
                            <m:ctrlPr>
                              <a:rPr lang="de-CH" i="1" dirty="0">
                                <a:latin typeface="Cambria Math" panose="02040503050406030204" pitchFamily="18" charset="0"/>
                              </a:rPr>
                            </m:ctrlPr>
                          </m:dPr>
                          <m:e>
                            <m:r>
                              <a:rPr lang="de-CH" i="1" dirty="0">
                                <a:latin typeface="Cambria Math" panose="02040503050406030204" pitchFamily="18" charset="0"/>
                              </a:rPr>
                              <m:t>𝑠</m:t>
                            </m:r>
                          </m:e>
                        </m:d>
                      </m:e>
                    </m:d>
                    <m:r>
                      <a:rPr lang="de-CH" i="1" dirty="0">
                        <a:latin typeface="Cambria Math" panose="02040503050406030204" pitchFamily="18" charset="0"/>
                      </a:rPr>
                      <m:t>=</m:t>
                    </m:r>
                    <m:sSub>
                      <m:sSubPr>
                        <m:ctrlPr>
                          <a:rPr lang="de-CH" i="1" dirty="0">
                            <a:latin typeface="Cambria Math" panose="02040503050406030204" pitchFamily="18" charset="0"/>
                          </a:rPr>
                        </m:ctrlPr>
                      </m:sSubPr>
                      <m:e>
                        <m:r>
                          <a:rPr lang="de-CH" i="1" dirty="0">
                            <a:latin typeface="Cambria Math" panose="02040503050406030204" pitchFamily="18" charset="0"/>
                          </a:rPr>
                          <m:t>𝑟</m:t>
                        </m:r>
                      </m:e>
                      <m:sub>
                        <m:r>
                          <a:rPr lang="de-CH" i="1" dirty="0">
                            <a:latin typeface="Cambria Math" panose="02040503050406030204" pitchFamily="18" charset="0"/>
                          </a:rPr>
                          <m:t>1</m:t>
                        </m:r>
                      </m:sub>
                    </m:sSub>
                    <m:sSup>
                      <m:sSupPr>
                        <m:ctrlPr>
                          <a:rPr lang="de-CH" i="1" dirty="0">
                            <a:latin typeface="Cambria Math" panose="02040503050406030204" pitchFamily="18" charset="0"/>
                          </a:rPr>
                        </m:ctrlPr>
                      </m:sSupPr>
                      <m:e>
                        <m:r>
                          <a:rPr lang="de-CH" i="1" dirty="0" err="1">
                            <a:latin typeface="Cambria Math" panose="02040503050406030204" pitchFamily="18" charset="0"/>
                          </a:rPr>
                          <m:t>𝑒</m:t>
                        </m:r>
                      </m:e>
                      <m:sup>
                        <m:sSub>
                          <m:sSubPr>
                            <m:ctrlPr>
                              <a:rPr lang="de-CH" i="1" dirty="0">
                                <a:latin typeface="Cambria Math" panose="02040503050406030204" pitchFamily="18" charset="0"/>
                              </a:rPr>
                            </m:ctrlPr>
                          </m:sSubPr>
                          <m:e>
                            <m:r>
                              <a:rPr lang="de-CH" i="1" dirty="0">
                                <a:latin typeface="Cambria Math" panose="02040503050406030204" pitchFamily="18" charset="0"/>
                              </a:rPr>
                              <m:t>𝑝</m:t>
                            </m:r>
                          </m:e>
                          <m:sub>
                            <m:r>
                              <a:rPr lang="de-CH" i="1" dirty="0">
                                <a:latin typeface="Cambria Math" panose="02040503050406030204" pitchFamily="18" charset="0"/>
                              </a:rPr>
                              <m:t>1</m:t>
                            </m:r>
                          </m:sub>
                        </m:sSub>
                        <m:r>
                          <a:rPr lang="de-CH" i="1" dirty="0">
                            <a:latin typeface="Cambria Math" panose="02040503050406030204" pitchFamily="18" charset="0"/>
                          </a:rPr>
                          <m:t>𝑡</m:t>
                        </m:r>
                      </m:sup>
                    </m:sSup>
                    <m:r>
                      <a:rPr lang="de-CH" i="1" dirty="0">
                        <a:latin typeface="Cambria Math" panose="02040503050406030204" pitchFamily="18" charset="0"/>
                      </a:rPr>
                      <m:t>+…+</m:t>
                    </m:r>
                    <m:sSub>
                      <m:sSubPr>
                        <m:ctrlPr>
                          <a:rPr lang="de-CH" i="1" dirty="0" err="1">
                            <a:latin typeface="Cambria Math" panose="02040503050406030204" pitchFamily="18" charset="0"/>
                          </a:rPr>
                        </m:ctrlPr>
                      </m:sSubPr>
                      <m:e>
                        <m:r>
                          <a:rPr lang="de-CH" i="1" dirty="0" err="1">
                            <a:latin typeface="Cambria Math" panose="02040503050406030204" pitchFamily="18" charset="0"/>
                          </a:rPr>
                          <m:t>𝑟</m:t>
                        </m:r>
                      </m:e>
                      <m:sub>
                        <m:r>
                          <a:rPr lang="de-CH" i="1" dirty="0" err="1">
                            <a:latin typeface="Cambria Math" panose="02040503050406030204" pitchFamily="18" charset="0"/>
                          </a:rPr>
                          <m:t>𝑛</m:t>
                        </m:r>
                      </m:sub>
                    </m:sSub>
                    <m:sSup>
                      <m:sSupPr>
                        <m:ctrlPr>
                          <a:rPr lang="de-CH" i="1" dirty="0">
                            <a:latin typeface="Cambria Math" panose="02040503050406030204" pitchFamily="18" charset="0"/>
                          </a:rPr>
                        </m:ctrlPr>
                      </m:sSupPr>
                      <m:e>
                        <m:r>
                          <a:rPr lang="de-CH" i="1" dirty="0" err="1">
                            <a:latin typeface="Cambria Math" panose="02040503050406030204" pitchFamily="18" charset="0"/>
                          </a:rPr>
                          <m:t>𝑒</m:t>
                        </m:r>
                      </m:e>
                      <m:sup>
                        <m:sSub>
                          <m:sSubPr>
                            <m:ctrlPr>
                              <a:rPr lang="de-CH" i="1" dirty="0" err="1">
                                <a:latin typeface="Cambria Math" panose="02040503050406030204" pitchFamily="18" charset="0"/>
                              </a:rPr>
                            </m:ctrlPr>
                          </m:sSubPr>
                          <m:e>
                            <m:r>
                              <a:rPr lang="de-CH" i="1" dirty="0" err="1">
                                <a:latin typeface="Cambria Math" panose="02040503050406030204" pitchFamily="18" charset="0"/>
                              </a:rPr>
                              <m:t>𝑝</m:t>
                            </m:r>
                          </m:e>
                          <m:sub>
                            <m:r>
                              <a:rPr lang="de-CH" i="1" dirty="0" err="1">
                                <a:latin typeface="Cambria Math" panose="02040503050406030204" pitchFamily="18" charset="0"/>
                              </a:rPr>
                              <m:t>𝑛</m:t>
                            </m:r>
                          </m:sub>
                        </m:sSub>
                        <m:r>
                          <a:rPr lang="de-CH" i="1" dirty="0">
                            <a:latin typeface="Cambria Math" panose="02040503050406030204" pitchFamily="18" charset="0"/>
                          </a:rPr>
                          <m:t>𝑡</m:t>
                        </m:r>
                      </m:sup>
                    </m:sSup>
                  </m:oMath>
                </a14:m>
              </a:p>
              <a:p>
                <a:r>
                  <a:rPr lang="de-DE" dirty="0"/>
                  <a:t>Poles </a:t>
                </a:r>
                <a:r>
                  <a:rPr lang="de-DE" dirty="0" err="1"/>
                  <a:t>close</a:t>
                </a:r>
                <a:r>
                  <a:rPr lang="de-DE" dirty="0"/>
                  <a:t> </a:t>
                </a:r>
                <a:r>
                  <a:rPr lang="de-DE" dirty="0" err="1"/>
                  <a:t>to</a:t>
                </a:r>
                <a:r>
                  <a:rPr lang="de-DE" dirty="0"/>
                  <a:t> </a:t>
                </a:r>
                <a:r>
                  <a:rPr lang="de-DE" dirty="0" err="1"/>
                  <a:t>imaginary</a:t>
                </a:r>
                <a:r>
                  <a:rPr lang="de-DE" dirty="0"/>
                  <a:t> </a:t>
                </a:r>
                <a:r>
                  <a:rPr lang="de-DE" dirty="0" err="1"/>
                  <a:t>axis</a:t>
                </a:r>
                <a:r>
                  <a:rPr lang="de-DE" dirty="0"/>
                  <a:t> </a:t>
                </a:r>
                <a:r>
                  <a:rPr lang="de-DE" dirty="0" err="1"/>
                  <a:t>decay</a:t>
                </a:r>
                <a:r>
                  <a:rPr lang="de-DE" dirty="0"/>
                  <a:t> </a:t>
                </a:r>
                <a:r>
                  <a:rPr lang="de-DE" dirty="0" err="1"/>
                  <a:t>the</a:t>
                </a:r>
                <a:r>
                  <a:rPr lang="de-DE" dirty="0"/>
                  <a:t> </a:t>
                </a:r>
                <a:r>
                  <a:rPr lang="de-DE" dirty="0" err="1"/>
                  <a:t>slowest</a:t>
                </a:r>
                <a:r>
                  <a:rPr lang="de-DE" dirty="0"/>
                  <a:t> </a:t>
                </a:r>
                <a14:m>
                  <m:oMath xmlns:m="http://schemas.openxmlformats.org/officeDocument/2006/math">
                    <m:r>
                      <a:rPr lang="de-DE" i="1" dirty="0" smtClean="0">
                        <a:latin typeface="Cambria Math" panose="02040503050406030204" pitchFamily="18" charset="0"/>
                      </a:rPr>
                      <m:t>⟶</m:t>
                    </m:r>
                  </m:oMath>
                </a14:m>
                <a:r>
                  <a:rPr lang="de-DE" dirty="0"/>
                  <a:t> </a:t>
                </a:r>
                <a:r>
                  <a:rPr lang="de-DE" dirty="0" err="1"/>
                  <a:t>most</a:t>
                </a:r>
                <a:r>
                  <a:rPr lang="de-DE" dirty="0"/>
                  <a:t> dominant</a:t>
                </a:r>
              </a:p>
              <a:p>
                <a:r>
                  <a:rPr lang="de-DE" b="1" dirty="0" err="1"/>
                  <a:t>Exception</a:t>
                </a:r>
                <a:r>
                  <a:rPr lang="de-DE" dirty="0"/>
                  <a:t>: </a:t>
                </a:r>
                <a:r>
                  <a:rPr lang="de-DE" dirty="0" err="1"/>
                  <a:t>If</a:t>
                </a:r>
                <a:r>
                  <a:rPr lang="de-DE" dirty="0"/>
                  <a:t> </a:t>
                </a:r>
                <a:r>
                  <a:rPr lang="de-DE" dirty="0" err="1"/>
                  <a:t>those</a:t>
                </a:r>
                <a:r>
                  <a:rPr lang="de-DE" dirty="0"/>
                  <a:t> </a:t>
                </a:r>
                <a:r>
                  <a:rPr lang="de-DE" dirty="0" err="1"/>
                  <a:t>poles</a:t>
                </a:r>
                <a:r>
                  <a:rPr lang="de-DE" dirty="0"/>
                  <a:t> </a:t>
                </a:r>
                <a:r>
                  <a:rPr lang="de-DE" dirty="0" err="1"/>
                  <a:t>have</a:t>
                </a:r>
                <a:r>
                  <a:rPr lang="de-DE" dirty="0"/>
                  <a:t> </a:t>
                </a:r>
                <a:r>
                  <a:rPr lang="de-DE" dirty="0" err="1"/>
                  <a:t>small</a:t>
                </a:r>
                <a:r>
                  <a:rPr lang="de-DE" dirty="0"/>
                  <a:t> </a:t>
                </a:r>
                <a:r>
                  <a:rPr lang="de-DE" dirty="0" err="1"/>
                  <a:t>residues</a:t>
                </a:r>
                <a:r>
                  <a:rPr lang="de-DE" dirty="0"/>
                  <a:t> </a:t>
                </a:r>
                <a14:m>
                  <m:oMath xmlns:m="http://schemas.openxmlformats.org/officeDocument/2006/math">
                    <m:sSub>
                      <m:sSubPr>
                        <m:ctrlPr>
                          <a:rPr lang="de-DE" i="1" dirty="0" smtClean="0">
                            <a:latin typeface="Cambria Math" panose="02040503050406030204" pitchFamily="18" charset="0"/>
                          </a:rPr>
                        </m:ctrlPr>
                      </m:sSubPr>
                      <m:e>
                        <m:r>
                          <a:rPr lang="de-DE" i="1" dirty="0" smtClean="0">
                            <a:latin typeface="Cambria Math" panose="02040503050406030204" pitchFamily="18" charset="0"/>
                          </a:rPr>
                          <m:t>𝑟</m:t>
                        </m:r>
                      </m:e>
                      <m:sub>
                        <m:r>
                          <a:rPr lang="de-DE" i="1" dirty="0" smtClean="0">
                            <a:latin typeface="Cambria Math" panose="02040503050406030204" pitchFamily="18" charset="0"/>
                          </a:rPr>
                          <m:t>𝑖</m:t>
                        </m:r>
                      </m:sub>
                    </m:sSub>
                  </m:oMath>
                </a14:m>
                <a:r>
                  <a:rPr lang="de-DE" dirty="0"/>
                  <a:t> due </a:t>
                </a:r>
                <a:r>
                  <a:rPr lang="de-DE" dirty="0" err="1"/>
                  <a:t>to</a:t>
                </a:r>
                <a:r>
                  <a:rPr lang="de-DE" dirty="0"/>
                  <a:t> </a:t>
                </a:r>
                <a:r>
                  <a:rPr lang="de-DE" dirty="0" err="1"/>
                  <a:t>zeros</a:t>
                </a:r>
                <a:r>
                  <a:rPr lang="de-DE" dirty="0"/>
                  <a:t> </a:t>
                </a:r>
                <a:r>
                  <a:rPr lang="de-DE" dirty="0" err="1"/>
                  <a:t>lying</a:t>
                </a:r>
                <a:r>
                  <a:rPr lang="de-DE" dirty="0"/>
                  <a:t> </a:t>
                </a:r>
                <a:r>
                  <a:rPr lang="de-DE" dirty="0" err="1"/>
                  <a:t>close</a:t>
                </a:r>
                <a:r>
                  <a:rPr lang="de-DE" dirty="0"/>
                  <a:t> </a:t>
                </a:r>
                <a:r>
                  <a:rPr lang="de-DE" dirty="0" err="1"/>
                  <a:t>to</a:t>
                </a:r>
                <a:r>
                  <a:rPr lang="de-DE" dirty="0"/>
                  <a:t> </a:t>
                </a:r>
                <a:r>
                  <a:rPr lang="de-DE" dirty="0" err="1"/>
                  <a:t>the</a:t>
                </a:r>
                <a:r>
                  <a:rPr lang="de-DE" dirty="0"/>
                  <a:t> </a:t>
                </a:r>
                <a:r>
                  <a:rPr lang="de-DE" dirty="0" err="1"/>
                  <a:t>poles</a:t>
                </a:r>
                <a:r>
                  <a:rPr lang="de-DE" dirty="0"/>
                  <a:t> (pole-zero </a:t>
                </a:r>
                <a:r>
                  <a:rPr lang="de-DE" dirty="0" err="1"/>
                  <a:t>cancellation</a:t>
                </a:r>
                <a:r>
                  <a:rPr lang="de-DE" dirty="0"/>
                  <a:t>)</a:t>
                </a:r>
              </a:p>
            </p:txBody>
          </p:sp>
        </mc:Choice>
        <mc:Fallback>
          <p:sp>
            <p:nvSpPr>
              <p:cNvPr id="3" name="Inhaltsplatzhalter 2">
                <a:extLst>
                  <a:ext uri="{FF2B5EF4-FFF2-40B4-BE49-F238E27FC236}">
                    <a16:creationId xmlns:a16="http://schemas.microsoft.com/office/drawing/2014/main" id="{9D74411C-873B-1ADD-62E2-9D3CFCCEA5CB}"/>
                  </a:ext>
                </a:extLst>
              </p:cNvPr>
              <p:cNvSpPr>
                <a:spLocks noGrp="1" noRot="1" noChangeAspect="1" noMove="1" noResize="1" noEditPoints="1" noAdjustHandles="1" noChangeArrowheads="1" noChangeShapeType="1" noTextEdit="1"/>
              </p:cNvSpPr>
              <p:nvPr>
                <p:ph idx="1"/>
              </p:nvPr>
            </p:nvSpPr>
            <p:spPr>
              <a:xfrm>
                <a:off x="628650" y="1191194"/>
                <a:ext cx="4501699" cy="3263504"/>
              </a:xfrm>
              <a:blipFill>
                <a:blip r:embed="rId2"/>
                <a:stretch>
                  <a:fillRect l="-843" t="-1938" r="-1685"/>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ACBCB9B6-19C3-027C-4BFD-4805D059F2B6}"/>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F769E9CD-E88E-2505-B087-53B115F58748}"/>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19</a:t>
            </a:fld>
            <a:endParaRPr lang="en-CH" kern="1200">
              <a:solidFill>
                <a:srgbClr val="101623">
                  <a:tint val="75000"/>
                </a:srgbClr>
              </a:solidFill>
              <a:latin typeface="Calibri" panose="020F0502020204030204"/>
              <a:ea typeface="+mn-ea"/>
              <a:cs typeface="+mn-cs"/>
            </a:endParaRPr>
          </a:p>
        </p:txBody>
      </p:sp>
      <p:grpSp>
        <p:nvGrpSpPr>
          <p:cNvPr id="18" name="Gruppieren 17">
            <a:extLst>
              <a:ext uri="{FF2B5EF4-FFF2-40B4-BE49-F238E27FC236}">
                <a16:creationId xmlns:a16="http://schemas.microsoft.com/office/drawing/2014/main" id="{28E0E911-C7DB-DF37-FC4B-E7EB718601DF}"/>
              </a:ext>
            </a:extLst>
          </p:cNvPr>
          <p:cNvGrpSpPr/>
          <p:nvPr/>
        </p:nvGrpSpPr>
        <p:grpSpPr>
          <a:xfrm>
            <a:off x="6179204" y="957577"/>
            <a:ext cx="2386913" cy="1903779"/>
            <a:chOff x="6179204" y="957577"/>
            <a:chExt cx="2386913" cy="1903779"/>
          </a:xfrm>
        </p:grpSpPr>
        <p:pic>
          <p:nvPicPr>
            <p:cNvPr id="7" name="Inhaltsplatzhalter 6" descr="Ein Bild, das Reihe, Diagramm enthält.&#10;&#10;KI-generierte Inhalte können fehlerhaft sein.">
              <a:extLst>
                <a:ext uri="{FF2B5EF4-FFF2-40B4-BE49-F238E27FC236}">
                  <a16:creationId xmlns:a16="http://schemas.microsoft.com/office/drawing/2014/main" id="{D670E74C-EF25-8509-8A0F-440CEED5D597}"/>
                </a:ext>
              </a:extLst>
            </p:cNvPr>
            <p:cNvPicPr>
              <a:picLocks noChangeAspect="1"/>
            </p:cNvPicPr>
            <p:nvPr/>
          </p:nvPicPr>
          <p:blipFill>
            <a:blip r:embed="rId3"/>
            <a:stretch>
              <a:fillRect/>
            </a:stretch>
          </p:blipFill>
          <p:spPr>
            <a:xfrm>
              <a:off x="6179204" y="957577"/>
              <a:ext cx="2386913" cy="1903779"/>
            </a:xfrm>
            <a:prstGeom prst="rect">
              <a:avLst/>
            </a:prstGeom>
          </p:spPr>
        </p:pic>
        <p:sp>
          <p:nvSpPr>
            <p:cNvPr id="11" name="Textfeld 10">
              <a:extLst>
                <a:ext uri="{FF2B5EF4-FFF2-40B4-BE49-F238E27FC236}">
                  <a16:creationId xmlns:a16="http://schemas.microsoft.com/office/drawing/2014/main" id="{AB38EA22-A74A-132D-44FD-EF369E6BF10B}"/>
                </a:ext>
              </a:extLst>
            </p:cNvPr>
            <p:cNvSpPr txBox="1"/>
            <p:nvPr/>
          </p:nvSpPr>
          <p:spPr>
            <a:xfrm>
              <a:off x="6985638" y="1472683"/>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12" name="Textfeld 11">
              <a:extLst>
                <a:ext uri="{FF2B5EF4-FFF2-40B4-BE49-F238E27FC236}">
                  <a16:creationId xmlns:a16="http://schemas.microsoft.com/office/drawing/2014/main" id="{2AEC9232-9CAA-E7B4-F1C1-C87B985A0D88}"/>
                </a:ext>
              </a:extLst>
            </p:cNvPr>
            <p:cNvSpPr txBox="1"/>
            <p:nvPr/>
          </p:nvSpPr>
          <p:spPr>
            <a:xfrm>
              <a:off x="6985638" y="2076345"/>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13" name="Textfeld 12">
              <a:extLst>
                <a:ext uri="{FF2B5EF4-FFF2-40B4-BE49-F238E27FC236}">
                  <a16:creationId xmlns:a16="http://schemas.microsoft.com/office/drawing/2014/main" id="{5E7E709F-A3B1-CD61-BCCD-D9A9094C5841}"/>
                </a:ext>
              </a:extLst>
            </p:cNvPr>
            <p:cNvSpPr txBox="1"/>
            <p:nvPr/>
          </p:nvSpPr>
          <p:spPr>
            <a:xfrm>
              <a:off x="6706394" y="1762579"/>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14" name="Textfeld 13">
              <a:extLst>
                <a:ext uri="{FF2B5EF4-FFF2-40B4-BE49-F238E27FC236}">
                  <a16:creationId xmlns:a16="http://schemas.microsoft.com/office/drawing/2014/main" id="{10F45FE2-36A3-67E3-40C3-02AE4F6DC1F4}"/>
                </a:ext>
              </a:extLst>
            </p:cNvPr>
            <p:cNvSpPr txBox="1"/>
            <p:nvPr/>
          </p:nvSpPr>
          <p:spPr>
            <a:xfrm>
              <a:off x="6343423" y="1191265"/>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15" name="Textfeld 14">
              <a:extLst>
                <a:ext uri="{FF2B5EF4-FFF2-40B4-BE49-F238E27FC236}">
                  <a16:creationId xmlns:a16="http://schemas.microsoft.com/office/drawing/2014/main" id="{7852F0F3-47D7-EB36-3D9A-70C81CFD0CAE}"/>
                </a:ext>
              </a:extLst>
            </p:cNvPr>
            <p:cNvSpPr txBox="1"/>
            <p:nvPr/>
          </p:nvSpPr>
          <p:spPr>
            <a:xfrm>
              <a:off x="6343423" y="2353526"/>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16" name="Oval 15">
              <a:extLst>
                <a:ext uri="{FF2B5EF4-FFF2-40B4-BE49-F238E27FC236}">
                  <a16:creationId xmlns:a16="http://schemas.microsoft.com/office/drawing/2014/main" id="{D092B21B-47B7-51F1-2F80-BA3F60994BC8}"/>
                </a:ext>
              </a:extLst>
            </p:cNvPr>
            <p:cNvSpPr/>
            <p:nvPr/>
          </p:nvSpPr>
          <p:spPr>
            <a:xfrm>
              <a:off x="6973762" y="1472683"/>
              <a:ext cx="279244" cy="985509"/>
            </a:xfrm>
            <a:prstGeom prst="ellipse">
              <a:avLst/>
            </a:prstGeom>
            <a:noFill/>
            <a:ln w="254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B858875E-1977-52F2-EED6-A797C7B38FE4}"/>
                </a:ext>
              </a:extLst>
            </p:cNvPr>
            <p:cNvSpPr txBox="1"/>
            <p:nvPr/>
          </p:nvSpPr>
          <p:spPr>
            <a:xfrm>
              <a:off x="7276758" y="1384492"/>
              <a:ext cx="787395" cy="261610"/>
            </a:xfrm>
            <a:prstGeom prst="rect">
              <a:avLst/>
            </a:prstGeom>
            <a:noFill/>
          </p:spPr>
          <p:txBody>
            <a:bodyPr wrap="none" rtlCol="0">
              <a:spAutoFit/>
            </a:bodyPr>
            <a:lstStyle/>
            <a:p>
              <a:r>
                <a:rPr lang="de-DE" sz="1100" dirty="0">
                  <a:solidFill>
                    <a:schemeClr val="accent2"/>
                  </a:solidFill>
                  <a:latin typeface="Segoe UI" panose="020B0502040204020203" pitchFamily="34" charset="0"/>
                  <a:cs typeface="Segoe UI" panose="020B0502040204020203" pitchFamily="34" charset="0"/>
                </a:rPr>
                <a:t>dominant</a:t>
              </a:r>
            </a:p>
          </p:txBody>
        </p:sp>
      </p:grpSp>
      <p:grpSp>
        <p:nvGrpSpPr>
          <p:cNvPr id="32" name="Gruppieren 31">
            <a:extLst>
              <a:ext uri="{FF2B5EF4-FFF2-40B4-BE49-F238E27FC236}">
                <a16:creationId xmlns:a16="http://schemas.microsoft.com/office/drawing/2014/main" id="{5D6D21F0-7950-D420-6D00-745FE519A048}"/>
              </a:ext>
            </a:extLst>
          </p:cNvPr>
          <p:cNvGrpSpPr/>
          <p:nvPr/>
        </p:nvGrpSpPr>
        <p:grpSpPr>
          <a:xfrm>
            <a:off x="6186824" y="2861356"/>
            <a:ext cx="2386913" cy="1903779"/>
            <a:chOff x="6186824" y="2861356"/>
            <a:chExt cx="2386913" cy="1903779"/>
          </a:xfrm>
        </p:grpSpPr>
        <p:grpSp>
          <p:nvGrpSpPr>
            <p:cNvPr id="19" name="Gruppieren 18">
              <a:extLst>
                <a:ext uri="{FF2B5EF4-FFF2-40B4-BE49-F238E27FC236}">
                  <a16:creationId xmlns:a16="http://schemas.microsoft.com/office/drawing/2014/main" id="{1927DE9E-4110-BC71-BE60-B35EB3F26691}"/>
                </a:ext>
              </a:extLst>
            </p:cNvPr>
            <p:cNvGrpSpPr/>
            <p:nvPr/>
          </p:nvGrpSpPr>
          <p:grpSpPr>
            <a:xfrm>
              <a:off x="6186824" y="2861356"/>
              <a:ext cx="2386913" cy="1903779"/>
              <a:chOff x="6179204" y="957577"/>
              <a:chExt cx="2386913" cy="1903779"/>
            </a:xfrm>
          </p:grpSpPr>
          <p:pic>
            <p:nvPicPr>
              <p:cNvPr id="20" name="Inhaltsplatzhalter 6" descr="Ein Bild, das Reihe, Diagramm enthält.&#10;&#10;KI-generierte Inhalte können fehlerhaft sein.">
                <a:extLst>
                  <a:ext uri="{FF2B5EF4-FFF2-40B4-BE49-F238E27FC236}">
                    <a16:creationId xmlns:a16="http://schemas.microsoft.com/office/drawing/2014/main" id="{D8B3FD63-C716-6C27-9007-515465851C9A}"/>
                  </a:ext>
                </a:extLst>
              </p:cNvPr>
              <p:cNvPicPr>
                <a:picLocks noChangeAspect="1"/>
              </p:cNvPicPr>
              <p:nvPr/>
            </p:nvPicPr>
            <p:blipFill>
              <a:blip r:embed="rId3"/>
              <a:stretch>
                <a:fillRect/>
              </a:stretch>
            </p:blipFill>
            <p:spPr>
              <a:xfrm>
                <a:off x="6179204" y="957577"/>
                <a:ext cx="2386913" cy="1903779"/>
              </a:xfrm>
              <a:prstGeom prst="rect">
                <a:avLst/>
              </a:prstGeom>
            </p:spPr>
          </p:pic>
          <p:sp>
            <p:nvSpPr>
              <p:cNvPr id="21" name="Textfeld 20">
                <a:extLst>
                  <a:ext uri="{FF2B5EF4-FFF2-40B4-BE49-F238E27FC236}">
                    <a16:creationId xmlns:a16="http://schemas.microsoft.com/office/drawing/2014/main" id="{63ED6E66-B5A4-84FF-18F1-B36D47ADD65C}"/>
                  </a:ext>
                </a:extLst>
              </p:cNvPr>
              <p:cNvSpPr txBox="1"/>
              <p:nvPr/>
            </p:nvSpPr>
            <p:spPr>
              <a:xfrm>
                <a:off x="6985638" y="1472683"/>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22" name="Textfeld 21">
                <a:extLst>
                  <a:ext uri="{FF2B5EF4-FFF2-40B4-BE49-F238E27FC236}">
                    <a16:creationId xmlns:a16="http://schemas.microsoft.com/office/drawing/2014/main" id="{32C88D93-40FA-3C80-D10B-62205DD98F39}"/>
                  </a:ext>
                </a:extLst>
              </p:cNvPr>
              <p:cNvSpPr txBox="1"/>
              <p:nvPr/>
            </p:nvSpPr>
            <p:spPr>
              <a:xfrm>
                <a:off x="6985638" y="2076345"/>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23" name="Textfeld 22">
                <a:extLst>
                  <a:ext uri="{FF2B5EF4-FFF2-40B4-BE49-F238E27FC236}">
                    <a16:creationId xmlns:a16="http://schemas.microsoft.com/office/drawing/2014/main" id="{FD4A94E3-3F9E-FEB2-143B-2BB0EE189335}"/>
                  </a:ext>
                </a:extLst>
              </p:cNvPr>
              <p:cNvSpPr txBox="1"/>
              <p:nvPr/>
            </p:nvSpPr>
            <p:spPr>
              <a:xfrm>
                <a:off x="6706394" y="1762579"/>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24" name="Textfeld 23">
                <a:extLst>
                  <a:ext uri="{FF2B5EF4-FFF2-40B4-BE49-F238E27FC236}">
                    <a16:creationId xmlns:a16="http://schemas.microsoft.com/office/drawing/2014/main" id="{1A75EEB7-7851-34D6-D524-7976F3E79117}"/>
                  </a:ext>
                </a:extLst>
              </p:cNvPr>
              <p:cNvSpPr txBox="1"/>
              <p:nvPr/>
            </p:nvSpPr>
            <p:spPr>
              <a:xfrm>
                <a:off x="6343423" y="1191265"/>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25" name="Textfeld 24">
                <a:extLst>
                  <a:ext uri="{FF2B5EF4-FFF2-40B4-BE49-F238E27FC236}">
                    <a16:creationId xmlns:a16="http://schemas.microsoft.com/office/drawing/2014/main" id="{34E48F19-5348-0669-83B8-14C6C1BBD7C8}"/>
                  </a:ext>
                </a:extLst>
              </p:cNvPr>
              <p:cNvSpPr txBox="1"/>
              <p:nvPr/>
            </p:nvSpPr>
            <p:spPr>
              <a:xfrm>
                <a:off x="6343423" y="2353526"/>
                <a:ext cx="279244" cy="338554"/>
              </a:xfrm>
              <a:prstGeom prst="rect">
                <a:avLst/>
              </a:prstGeom>
              <a:noFill/>
            </p:spPr>
            <p:txBody>
              <a:bodyPr wrap="none" rtlCol="0">
                <a:spAutoFit/>
              </a:bodyPr>
              <a:lstStyle/>
              <a:p>
                <a:r>
                  <a:rPr lang="en-US" sz="1600" noProof="0" dirty="0">
                    <a:solidFill>
                      <a:srgbClr val="FF0000"/>
                    </a:solidFill>
                    <a:latin typeface="Segoe UI" panose="020B0502040204020203" pitchFamily="34" charset="0"/>
                    <a:cs typeface="Segoe UI" panose="020B0502040204020203" pitchFamily="34" charset="0"/>
                  </a:rPr>
                  <a:t>x</a:t>
                </a:r>
              </a:p>
            </p:txBody>
          </p:sp>
          <p:sp>
            <p:nvSpPr>
              <p:cNvPr id="26" name="Oval 25">
                <a:extLst>
                  <a:ext uri="{FF2B5EF4-FFF2-40B4-BE49-F238E27FC236}">
                    <a16:creationId xmlns:a16="http://schemas.microsoft.com/office/drawing/2014/main" id="{8F8B9D8B-9F66-6736-3B96-E2312A07788E}"/>
                  </a:ext>
                </a:extLst>
              </p:cNvPr>
              <p:cNvSpPr/>
              <p:nvPr/>
            </p:nvSpPr>
            <p:spPr>
              <a:xfrm>
                <a:off x="6706671" y="1684247"/>
                <a:ext cx="263450" cy="547890"/>
              </a:xfrm>
              <a:prstGeom prst="ellipse">
                <a:avLst/>
              </a:prstGeom>
              <a:noFill/>
              <a:ln w="254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7" name="Textfeld 26">
                <a:extLst>
                  <a:ext uri="{FF2B5EF4-FFF2-40B4-BE49-F238E27FC236}">
                    <a16:creationId xmlns:a16="http://schemas.microsoft.com/office/drawing/2014/main" id="{D64856CC-54DC-68A2-7257-27A0812740BB}"/>
                  </a:ext>
                </a:extLst>
              </p:cNvPr>
              <p:cNvSpPr txBox="1"/>
              <p:nvPr/>
            </p:nvSpPr>
            <p:spPr>
              <a:xfrm>
                <a:off x="6312696" y="2196582"/>
                <a:ext cx="787395" cy="261610"/>
              </a:xfrm>
              <a:prstGeom prst="rect">
                <a:avLst/>
              </a:prstGeom>
              <a:noFill/>
            </p:spPr>
            <p:txBody>
              <a:bodyPr wrap="none" rtlCol="0">
                <a:spAutoFit/>
              </a:bodyPr>
              <a:lstStyle/>
              <a:p>
                <a:r>
                  <a:rPr lang="de-DE" sz="1100" dirty="0">
                    <a:solidFill>
                      <a:schemeClr val="accent2"/>
                    </a:solidFill>
                    <a:latin typeface="Segoe UI" panose="020B0502040204020203" pitchFamily="34" charset="0"/>
                    <a:cs typeface="Segoe UI" panose="020B0502040204020203" pitchFamily="34" charset="0"/>
                  </a:rPr>
                  <a:t>dominant</a:t>
                </a:r>
              </a:p>
            </p:txBody>
          </p:sp>
        </p:grpSp>
        <p:sp>
          <p:nvSpPr>
            <p:cNvPr id="28" name="Textfeld 27">
              <a:extLst>
                <a:ext uri="{FF2B5EF4-FFF2-40B4-BE49-F238E27FC236}">
                  <a16:creationId xmlns:a16="http://schemas.microsoft.com/office/drawing/2014/main" id="{81334224-A931-0E67-937E-CEF31105DFF6}"/>
                </a:ext>
              </a:extLst>
            </p:cNvPr>
            <p:cNvSpPr txBox="1"/>
            <p:nvPr/>
          </p:nvSpPr>
          <p:spPr>
            <a:xfrm>
              <a:off x="7024144" y="3430413"/>
              <a:ext cx="304892" cy="338554"/>
            </a:xfrm>
            <a:prstGeom prst="rect">
              <a:avLst/>
            </a:prstGeom>
            <a:noFill/>
          </p:spPr>
          <p:txBody>
            <a:bodyPr wrap="none" rtlCol="0">
              <a:spAutoFit/>
            </a:bodyPr>
            <a:lstStyle/>
            <a:p>
              <a:r>
                <a:rPr lang="de-DE" sz="1600" dirty="0">
                  <a:solidFill>
                    <a:schemeClr val="accent5"/>
                  </a:solidFill>
                  <a:latin typeface="Segoe UI" panose="020B0502040204020203" pitchFamily="34" charset="0"/>
                  <a:cs typeface="Segoe UI" panose="020B0502040204020203" pitchFamily="34" charset="0"/>
                </a:rPr>
                <a:t>o</a:t>
              </a:r>
              <a:endParaRPr lang="de-DE" dirty="0">
                <a:solidFill>
                  <a:schemeClr val="accent5"/>
                </a:solidFill>
                <a:latin typeface="Segoe UI" panose="020B0502040204020203" pitchFamily="34" charset="0"/>
                <a:cs typeface="Segoe UI" panose="020B0502040204020203" pitchFamily="34" charset="0"/>
              </a:endParaRPr>
            </a:p>
          </p:txBody>
        </p:sp>
        <p:sp>
          <p:nvSpPr>
            <p:cNvPr id="29" name="Textfeld 28">
              <a:extLst>
                <a:ext uri="{FF2B5EF4-FFF2-40B4-BE49-F238E27FC236}">
                  <a16:creationId xmlns:a16="http://schemas.microsoft.com/office/drawing/2014/main" id="{6753A610-C83A-D9FD-5D2E-4B6CAF2C213C}"/>
                </a:ext>
              </a:extLst>
            </p:cNvPr>
            <p:cNvSpPr txBox="1"/>
            <p:nvPr/>
          </p:nvSpPr>
          <p:spPr>
            <a:xfrm>
              <a:off x="7024144" y="3935046"/>
              <a:ext cx="304892" cy="338554"/>
            </a:xfrm>
            <a:prstGeom prst="rect">
              <a:avLst/>
            </a:prstGeom>
            <a:noFill/>
          </p:spPr>
          <p:txBody>
            <a:bodyPr wrap="none" rtlCol="0">
              <a:spAutoFit/>
            </a:bodyPr>
            <a:lstStyle/>
            <a:p>
              <a:r>
                <a:rPr lang="de-DE" sz="1600" dirty="0">
                  <a:solidFill>
                    <a:schemeClr val="accent5"/>
                  </a:solidFill>
                  <a:latin typeface="Segoe UI" panose="020B0502040204020203" pitchFamily="34" charset="0"/>
                  <a:cs typeface="Segoe UI" panose="020B0502040204020203" pitchFamily="34" charset="0"/>
                </a:rPr>
                <a:t>o</a:t>
              </a:r>
              <a:endParaRPr lang="de-DE" dirty="0">
                <a:solidFill>
                  <a:schemeClr val="accent5"/>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346011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E85D75-542B-5635-E457-2C119EA5D635}"/>
              </a:ext>
            </a:extLst>
          </p:cNvPr>
          <p:cNvSpPr>
            <a:spLocks noGrp="1"/>
          </p:cNvSpPr>
          <p:nvPr>
            <p:ph type="title"/>
          </p:nvPr>
        </p:nvSpPr>
        <p:spPr>
          <a:xfrm>
            <a:off x="628650" y="102393"/>
            <a:ext cx="7886700" cy="994172"/>
          </a:xfrm>
        </p:spPr>
        <p:txBody>
          <a:bodyPr/>
          <a:lstStyle/>
          <a:p>
            <a:r>
              <a:rPr lang="de-DE" dirty="0"/>
              <a:t>Dominant Poles Approximation</a:t>
            </a:r>
          </a:p>
        </p:txBody>
      </p:sp>
      <p:pic>
        <p:nvPicPr>
          <p:cNvPr id="7" name="Inhaltsplatzhalter 6" descr="Ein Bild, das Reihe, Text, Diagramm, Zahl enthält.&#10;&#10;KI-generierte Inhalte können fehlerhaft sein.">
            <a:extLst>
              <a:ext uri="{FF2B5EF4-FFF2-40B4-BE49-F238E27FC236}">
                <a16:creationId xmlns:a16="http://schemas.microsoft.com/office/drawing/2014/main" id="{BB78A213-0790-1FE9-0755-A3C78476B059}"/>
              </a:ext>
            </a:extLst>
          </p:cNvPr>
          <p:cNvPicPr>
            <a:picLocks noGrp="1" noChangeAspect="1"/>
          </p:cNvPicPr>
          <p:nvPr>
            <p:ph idx="1"/>
          </p:nvPr>
        </p:nvPicPr>
        <p:blipFill>
          <a:blip r:embed="rId2"/>
          <a:srcRect t="3876"/>
          <a:stretch>
            <a:fillRect/>
          </a:stretch>
        </p:blipFill>
        <p:spPr>
          <a:xfrm>
            <a:off x="824262" y="964448"/>
            <a:ext cx="3436576" cy="2379939"/>
          </a:xfrm>
        </p:spPr>
      </p:pic>
      <p:sp>
        <p:nvSpPr>
          <p:cNvPr id="4" name="Fußzeilenplatzhalter 3">
            <a:extLst>
              <a:ext uri="{FF2B5EF4-FFF2-40B4-BE49-F238E27FC236}">
                <a16:creationId xmlns:a16="http://schemas.microsoft.com/office/drawing/2014/main" id="{88B22CDD-389A-7579-8300-53C03DAD27F6}"/>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9CD17861-5723-25E8-FEB1-2C8C4FDAEE3A}"/>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20</a:t>
            </a:fld>
            <a:endParaRPr lang="en-CH" kern="1200">
              <a:solidFill>
                <a:srgbClr val="101623">
                  <a:tint val="75000"/>
                </a:srgbClr>
              </a:solidFill>
              <a:latin typeface="Calibri" panose="020F0502020204030204"/>
              <a:ea typeface="+mn-ea"/>
              <a:cs typeface="+mn-cs"/>
            </a:endParaRPr>
          </a:p>
        </p:txBody>
      </p:sp>
      <p:pic>
        <p:nvPicPr>
          <p:cNvPr id="9" name="Grafik 8" descr="Ein Bild, das Text, Reihe, Diagramm, Quittung enthält.&#10;&#10;KI-generierte Inhalte können fehlerhaft sein.">
            <a:extLst>
              <a:ext uri="{FF2B5EF4-FFF2-40B4-BE49-F238E27FC236}">
                <a16:creationId xmlns:a16="http://schemas.microsoft.com/office/drawing/2014/main" id="{D50CE5A4-EDDD-7DB8-3D19-FC81EF50B269}"/>
              </a:ext>
            </a:extLst>
          </p:cNvPr>
          <p:cNvPicPr>
            <a:picLocks noChangeAspect="1"/>
          </p:cNvPicPr>
          <p:nvPr/>
        </p:nvPicPr>
        <p:blipFill>
          <a:blip r:embed="rId3"/>
          <a:srcRect t="2634"/>
          <a:stretch>
            <a:fillRect/>
          </a:stretch>
        </p:blipFill>
        <p:spPr>
          <a:xfrm>
            <a:off x="4572000" y="909526"/>
            <a:ext cx="3436576" cy="2434861"/>
          </a:xfrm>
          <a:prstGeom prst="rect">
            <a:avLst/>
          </a:prstGeom>
        </p:spPr>
      </p:pic>
      <p:pic>
        <p:nvPicPr>
          <p:cNvPr id="11" name="Grafik 10" descr="Ein Bild, das Text, Schrift, Reihe, weiß enthält.&#10;&#10;KI-generierte Inhalte können fehlerhaft sein.">
            <a:extLst>
              <a:ext uri="{FF2B5EF4-FFF2-40B4-BE49-F238E27FC236}">
                <a16:creationId xmlns:a16="http://schemas.microsoft.com/office/drawing/2014/main" id="{60964BDA-B62F-7F29-25CA-2BD6AF498E60}"/>
              </a:ext>
            </a:extLst>
          </p:cNvPr>
          <p:cNvPicPr>
            <a:picLocks noChangeAspect="1"/>
          </p:cNvPicPr>
          <p:nvPr/>
        </p:nvPicPr>
        <p:blipFill>
          <a:blip r:embed="rId4"/>
          <a:srcRect t="7010" b="3090"/>
          <a:stretch>
            <a:fillRect/>
          </a:stretch>
        </p:blipFill>
        <p:spPr>
          <a:xfrm>
            <a:off x="1070650" y="3492588"/>
            <a:ext cx="2641952" cy="360854"/>
          </a:xfrm>
          <a:prstGeom prst="rect">
            <a:avLst/>
          </a:prstGeom>
        </p:spPr>
      </p:pic>
      <p:pic>
        <p:nvPicPr>
          <p:cNvPr id="13" name="Grafik 12" descr="Ein Bild, das Text, Schrift, Reihe, weiß enthält.&#10;&#10;KI-generierte Inhalte können fehlerhaft sein.">
            <a:extLst>
              <a:ext uri="{FF2B5EF4-FFF2-40B4-BE49-F238E27FC236}">
                <a16:creationId xmlns:a16="http://schemas.microsoft.com/office/drawing/2014/main" id="{4AC8452E-21F2-2A55-2BA1-891116FDE476}"/>
              </a:ext>
            </a:extLst>
          </p:cNvPr>
          <p:cNvPicPr>
            <a:picLocks noChangeAspect="1"/>
          </p:cNvPicPr>
          <p:nvPr/>
        </p:nvPicPr>
        <p:blipFill>
          <a:blip r:embed="rId5"/>
          <a:srcRect t="5639"/>
          <a:stretch>
            <a:fillRect/>
          </a:stretch>
        </p:blipFill>
        <p:spPr>
          <a:xfrm>
            <a:off x="1139364" y="3994212"/>
            <a:ext cx="2426087" cy="424459"/>
          </a:xfrm>
          <a:prstGeom prst="rect">
            <a:avLst/>
          </a:prstGeom>
        </p:spPr>
      </p:pic>
      <p:pic>
        <p:nvPicPr>
          <p:cNvPr id="15" name="Grafik 14" descr="Ein Bild, das Text, Schrift, Reihe, Zahl enthält.&#10;&#10;KI-generierte Inhalte können fehlerhaft sein.">
            <a:extLst>
              <a:ext uri="{FF2B5EF4-FFF2-40B4-BE49-F238E27FC236}">
                <a16:creationId xmlns:a16="http://schemas.microsoft.com/office/drawing/2014/main" id="{F790E4D2-3E25-C797-86B6-6DAB184F5346}"/>
              </a:ext>
            </a:extLst>
          </p:cNvPr>
          <p:cNvPicPr>
            <a:picLocks noChangeAspect="1"/>
          </p:cNvPicPr>
          <p:nvPr/>
        </p:nvPicPr>
        <p:blipFill>
          <a:blip r:embed="rId6"/>
          <a:srcRect t="6543" b="6850"/>
          <a:stretch>
            <a:fillRect/>
          </a:stretch>
        </p:blipFill>
        <p:spPr>
          <a:xfrm>
            <a:off x="4848104" y="3524597"/>
            <a:ext cx="2711464" cy="341683"/>
          </a:xfrm>
          <a:prstGeom prst="rect">
            <a:avLst/>
          </a:prstGeom>
        </p:spPr>
      </p:pic>
      <p:pic>
        <p:nvPicPr>
          <p:cNvPr id="17" name="Grafik 16" descr="Ein Bild, das Schrift, weiß, Reihe, Zahl enthält.&#10;&#10;KI-generierte Inhalte können fehlerhaft sein.">
            <a:extLst>
              <a:ext uri="{FF2B5EF4-FFF2-40B4-BE49-F238E27FC236}">
                <a16:creationId xmlns:a16="http://schemas.microsoft.com/office/drawing/2014/main" id="{F9856D00-17B6-52E3-25DE-63B6DFF22DFE}"/>
              </a:ext>
            </a:extLst>
          </p:cNvPr>
          <p:cNvPicPr>
            <a:picLocks noChangeAspect="1"/>
          </p:cNvPicPr>
          <p:nvPr/>
        </p:nvPicPr>
        <p:blipFill>
          <a:blip r:embed="rId7"/>
          <a:srcRect t="4393" b="1"/>
          <a:stretch>
            <a:fillRect/>
          </a:stretch>
        </p:blipFill>
        <p:spPr>
          <a:xfrm>
            <a:off x="5632820" y="3986734"/>
            <a:ext cx="1483906" cy="431937"/>
          </a:xfrm>
          <a:prstGeom prst="rect">
            <a:avLst/>
          </a:prstGeom>
        </p:spPr>
      </p:pic>
    </p:spTree>
    <p:extLst>
      <p:ext uri="{BB962C8B-B14F-4D97-AF65-F5344CB8AC3E}">
        <p14:creationId xmlns:p14="http://schemas.microsoft.com/office/powerpoint/2010/main" val="248155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nhaltsplatzhalter 6" descr="Ein Bild, das Reihe, Diagramm enthält.&#10;&#10;KI-generierte Inhalte können fehlerhaft sein.">
            <a:extLst>
              <a:ext uri="{FF2B5EF4-FFF2-40B4-BE49-F238E27FC236}">
                <a16:creationId xmlns:a16="http://schemas.microsoft.com/office/drawing/2014/main" id="{7E988372-D84F-E492-4A71-3C1833157BC0}"/>
              </a:ext>
            </a:extLst>
          </p:cNvPr>
          <p:cNvPicPr>
            <a:picLocks noChangeAspect="1"/>
          </p:cNvPicPr>
          <p:nvPr/>
        </p:nvPicPr>
        <p:blipFill>
          <a:blip r:embed="rId2"/>
          <a:stretch>
            <a:fillRect/>
          </a:stretch>
        </p:blipFill>
        <p:spPr>
          <a:xfrm>
            <a:off x="4281532" y="1209367"/>
            <a:ext cx="4632474" cy="3694817"/>
          </a:xfrm>
          <a:prstGeom prst="rect">
            <a:avLst/>
          </a:prstGeom>
        </p:spPr>
      </p:pic>
      <p:sp>
        <p:nvSpPr>
          <p:cNvPr id="2" name="Titel 1">
            <a:extLst>
              <a:ext uri="{FF2B5EF4-FFF2-40B4-BE49-F238E27FC236}">
                <a16:creationId xmlns:a16="http://schemas.microsoft.com/office/drawing/2014/main" id="{7908A679-8839-5FCB-131C-570C94E70B38}"/>
              </a:ext>
            </a:extLst>
          </p:cNvPr>
          <p:cNvSpPr>
            <a:spLocks noGrp="1"/>
          </p:cNvSpPr>
          <p:nvPr>
            <p:ph type="title"/>
          </p:nvPr>
        </p:nvSpPr>
        <p:spPr>
          <a:xfrm>
            <a:off x="628650" y="273844"/>
            <a:ext cx="8113906" cy="994172"/>
          </a:xfrm>
        </p:spPr>
        <p:txBody>
          <a:bodyPr>
            <a:normAutofit/>
          </a:bodyPr>
          <a:lstStyle/>
          <a:p>
            <a:r>
              <a:rPr lang="de-DE" dirty="0"/>
              <a:t>Time-Domain </a:t>
            </a:r>
            <a:r>
              <a:rPr lang="de-DE" dirty="0" err="1"/>
              <a:t>Specifications</a:t>
            </a:r>
            <a:r>
              <a:rPr lang="de-DE" dirty="0"/>
              <a:t> </a:t>
            </a:r>
            <a:r>
              <a:rPr lang="de-DE" dirty="0" err="1"/>
              <a:t>Visualization</a:t>
            </a:r>
            <a:endParaRPr lang="de-DE" dirty="0"/>
          </a:p>
        </p:txBody>
      </p:sp>
      <mc:AlternateContent xmlns:mc="http://schemas.openxmlformats.org/markup-compatibility/2006">
        <mc:Choice xmlns:a14="http://schemas.microsoft.com/office/drawing/2010/main" Requires="a14">
          <p:sp>
            <p:nvSpPr>
              <p:cNvPr id="3" name="Inhaltsplatzhalter 2">
                <a:extLst>
                  <a:ext uri="{FF2B5EF4-FFF2-40B4-BE49-F238E27FC236}">
                    <a16:creationId xmlns:a16="http://schemas.microsoft.com/office/drawing/2014/main" id="{A4691A69-4FC5-8C26-5872-616B7B09823E}"/>
                  </a:ext>
                </a:extLst>
              </p:cNvPr>
              <p:cNvSpPr>
                <a:spLocks noGrp="1"/>
              </p:cNvSpPr>
              <p:nvPr>
                <p:ph idx="1"/>
              </p:nvPr>
            </p:nvSpPr>
            <p:spPr>
              <a:xfrm>
                <a:off x="345315" y="1366836"/>
                <a:ext cx="4226685" cy="3263504"/>
              </a:xfrm>
            </p:spPr>
            <p:txBody>
              <a:bodyPr/>
              <a:lstStyle/>
              <a:p>
                <a:pPr marL="0" indent="0">
                  <a:buNone/>
                </a:pPr>
                <a:r>
                  <a:rPr lang="de-DE" dirty="0" err="1"/>
                  <a:t>Specifications</a:t>
                </a:r>
                <a:r>
                  <a:rPr lang="de-DE" dirty="0"/>
                  <a:t> </a:t>
                </a:r>
                <a:r>
                  <a:rPr lang="de-DE" dirty="0" err="1"/>
                  <a:t>for</a:t>
                </a:r>
                <a:r>
                  <a:rPr lang="de-DE" dirty="0"/>
                  <a:t> 2nd </a:t>
                </a:r>
                <a:r>
                  <a:rPr lang="de-DE" dirty="0" err="1"/>
                  <a:t>order</a:t>
                </a:r>
                <a:r>
                  <a:rPr lang="de-DE" dirty="0"/>
                  <a:t> </a:t>
                </a:r>
                <a:r>
                  <a:rPr lang="de-DE" dirty="0" err="1"/>
                  <a:t>systems</a:t>
                </a:r>
                <a:r>
                  <a:rPr lang="de-DE" dirty="0"/>
                  <a:t>:</a:t>
                </a:r>
              </a:p>
              <a:p>
                <a:pPr marL="0" indent="0">
                  <a:buNone/>
                </a:pPr>
                <a:endParaRPr lang="de-DE" dirty="0"/>
              </a:p>
              <a:p>
                <a:pPr marL="0" indent="0">
                  <a:buNone/>
                </a:pPr>
                <a:r>
                  <a:rPr lang="de-DE" b="1" dirty="0">
                    <a:solidFill>
                      <a:schemeClr val="accent4"/>
                    </a:solidFill>
                    <a:latin typeface="Segoe UI" panose="020B0502040204020203" pitchFamily="34" charset="0"/>
                    <a:cs typeface="Segoe UI" panose="020B0502040204020203" pitchFamily="34" charset="0"/>
                  </a:rPr>
                  <a:t>Settling Time:</a:t>
                </a:r>
                <a:r>
                  <a:rPr lang="de-DE" dirty="0">
                    <a:solidFill>
                      <a:schemeClr val="accent4"/>
                    </a:solidFill>
                  </a:rPr>
                  <a:t>	</a:t>
                </a:r>
                <a14:m>
                  <m:oMath xmlns:m="http://schemas.openxmlformats.org/officeDocument/2006/math">
                    <m:sSub>
                      <m:sSubPr>
                        <m:ctrlPr>
                          <a:rPr lang="de-DE" i="1" dirty="0">
                            <a:solidFill>
                              <a:schemeClr val="accent4"/>
                            </a:solidFill>
                            <a:latin typeface="Cambria Math" panose="02040503050406030204" pitchFamily="18" charset="0"/>
                          </a:rPr>
                        </m:ctrlPr>
                      </m:sSubPr>
                      <m:e>
                        <m:r>
                          <a:rPr lang="de-DE" i="1" dirty="0">
                            <a:solidFill>
                              <a:schemeClr val="accent4"/>
                            </a:solidFill>
                            <a:latin typeface="Cambria Math" panose="02040503050406030204" pitchFamily="18" charset="0"/>
                          </a:rPr>
                          <m:t>𝑇</m:t>
                        </m:r>
                      </m:e>
                      <m:sub>
                        <m:r>
                          <a:rPr lang="de-DE" i="1" dirty="0">
                            <a:solidFill>
                              <a:schemeClr val="accent4"/>
                            </a:solidFill>
                            <a:latin typeface="Cambria Math" panose="02040503050406030204" pitchFamily="18" charset="0"/>
                          </a:rPr>
                          <m:t>𝑑</m:t>
                        </m:r>
                      </m:sub>
                    </m:sSub>
                    <m:r>
                      <a:rPr lang="de-DE" i="1" dirty="0">
                        <a:solidFill>
                          <a:schemeClr val="accent4"/>
                        </a:solidFill>
                        <a:latin typeface="Cambria Math" panose="02040503050406030204" pitchFamily="18" charset="0"/>
                      </a:rPr>
                      <m:t>=</m:t>
                    </m:r>
                    <m:f>
                      <m:fPr>
                        <m:ctrlPr>
                          <a:rPr lang="de-DE" i="1" dirty="0">
                            <a:solidFill>
                              <a:schemeClr val="accent4"/>
                            </a:solidFill>
                            <a:latin typeface="Cambria Math" panose="02040503050406030204" pitchFamily="18" charset="0"/>
                          </a:rPr>
                        </m:ctrlPr>
                      </m:fPr>
                      <m:num>
                        <m:r>
                          <a:rPr lang="de-DE" i="1" dirty="0">
                            <a:solidFill>
                              <a:schemeClr val="accent4"/>
                            </a:solidFill>
                            <a:latin typeface="Cambria Math" panose="02040503050406030204" pitchFamily="18" charset="0"/>
                          </a:rPr>
                          <m:t>1</m:t>
                        </m:r>
                      </m:num>
                      <m:den>
                        <m:d>
                          <m:dPr>
                            <m:begChr m:val="|"/>
                            <m:endChr m:val="|"/>
                            <m:ctrlPr>
                              <a:rPr lang="de-DE" i="1" dirty="0">
                                <a:solidFill>
                                  <a:schemeClr val="accent4"/>
                                </a:solidFill>
                                <a:latin typeface="Cambria Math" panose="02040503050406030204" pitchFamily="18" charset="0"/>
                              </a:rPr>
                            </m:ctrlPr>
                          </m:dPr>
                          <m:e>
                            <m:r>
                              <a:rPr lang="de-DE" i="1" dirty="0">
                                <a:solidFill>
                                  <a:schemeClr val="accent4"/>
                                </a:solidFill>
                                <a:latin typeface="Cambria Math" panose="02040503050406030204" pitchFamily="18" charset="0"/>
                              </a:rPr>
                              <m:t>𝜎</m:t>
                            </m:r>
                          </m:e>
                        </m:d>
                      </m:den>
                    </m:f>
                    <m:r>
                      <m:rPr>
                        <m:sty m:val="p"/>
                      </m:rPr>
                      <a:rPr lang="de-DE" i="1" dirty="0">
                        <a:solidFill>
                          <a:schemeClr val="accent4"/>
                        </a:solidFill>
                        <a:latin typeface="Cambria Math" panose="02040503050406030204" pitchFamily="18" charset="0"/>
                      </a:rPr>
                      <m:t>log</m:t>
                    </m:r>
                    <m:d>
                      <m:dPr>
                        <m:ctrlPr>
                          <a:rPr lang="de-DE" i="1" dirty="0">
                            <a:solidFill>
                              <a:schemeClr val="accent4"/>
                            </a:solidFill>
                            <a:latin typeface="Cambria Math" panose="02040503050406030204" pitchFamily="18" charset="0"/>
                          </a:rPr>
                        </m:ctrlPr>
                      </m:dPr>
                      <m:e>
                        <m:f>
                          <m:fPr>
                            <m:ctrlPr>
                              <a:rPr lang="de-DE" i="1" dirty="0">
                                <a:solidFill>
                                  <a:schemeClr val="accent4"/>
                                </a:solidFill>
                                <a:latin typeface="Cambria Math" panose="02040503050406030204" pitchFamily="18" charset="0"/>
                              </a:rPr>
                            </m:ctrlPr>
                          </m:fPr>
                          <m:num>
                            <m:r>
                              <a:rPr lang="de-DE" i="1" dirty="0">
                                <a:solidFill>
                                  <a:schemeClr val="accent4"/>
                                </a:solidFill>
                                <a:latin typeface="Cambria Math" panose="02040503050406030204" pitchFamily="18" charset="0"/>
                              </a:rPr>
                              <m:t>100</m:t>
                            </m:r>
                          </m:num>
                          <m:den>
                            <m:r>
                              <a:rPr lang="de-DE" i="1" dirty="0">
                                <a:solidFill>
                                  <a:schemeClr val="accent4"/>
                                </a:solidFill>
                                <a:latin typeface="Cambria Math" panose="02040503050406030204" pitchFamily="18" charset="0"/>
                              </a:rPr>
                              <m:t>𝑑</m:t>
                            </m:r>
                          </m:den>
                        </m:f>
                      </m:e>
                    </m:d>
                  </m:oMath>
                </a14:m>
                <a:endParaRPr lang="de-DE" dirty="0"/>
              </a:p>
              <a:p>
                <a:pPr marL="0" indent="0">
                  <a:buNone/>
                </a:pPr>
                <a:r>
                  <a:rPr lang="de-DE" b="1" dirty="0">
                    <a:solidFill>
                      <a:srgbClr val="0708F5"/>
                    </a:solidFill>
                    <a:latin typeface="Segoe UI" panose="020B0502040204020203" pitchFamily="34" charset="0"/>
                    <a:cs typeface="Segoe UI" panose="020B0502040204020203" pitchFamily="34" charset="0"/>
                  </a:rPr>
                  <a:t>Peak </a:t>
                </a:r>
                <a:r>
                  <a:rPr lang="de-DE" b="1" dirty="0" err="1">
                    <a:solidFill>
                      <a:srgbClr val="0708F5"/>
                    </a:solidFill>
                    <a:latin typeface="Segoe UI" panose="020B0502040204020203" pitchFamily="34" charset="0"/>
                    <a:cs typeface="Segoe UI" panose="020B0502040204020203" pitchFamily="34" charset="0"/>
                  </a:rPr>
                  <a:t>Overshoot</a:t>
                </a:r>
                <a:r>
                  <a:rPr lang="de-DE" b="1" dirty="0">
                    <a:solidFill>
                      <a:srgbClr val="0708F5"/>
                    </a:solidFill>
                    <a:latin typeface="Segoe UI" panose="020B0502040204020203" pitchFamily="34" charset="0"/>
                    <a:cs typeface="Segoe UI" panose="020B0502040204020203" pitchFamily="34" charset="0"/>
                  </a:rPr>
                  <a:t>:</a:t>
                </a:r>
                <a:r>
                  <a:rPr lang="de-DE" dirty="0">
                    <a:solidFill>
                      <a:srgbClr val="0708F5"/>
                    </a:solidFill>
                  </a:rPr>
                  <a:t>	</a:t>
                </a:r>
                <a14:m>
                  <m:oMath xmlns:m="http://schemas.openxmlformats.org/officeDocument/2006/math">
                    <m:sSub>
                      <m:sSubPr>
                        <m:ctrlPr>
                          <a:rPr lang="de-DE" i="1" dirty="0">
                            <a:solidFill>
                              <a:srgbClr val="0708F5"/>
                            </a:solidFill>
                            <a:latin typeface="Cambria Math" panose="02040503050406030204" pitchFamily="18" charset="0"/>
                          </a:rPr>
                        </m:ctrlPr>
                      </m:sSubPr>
                      <m:e>
                        <m:r>
                          <a:rPr lang="de-DE" i="1" dirty="0">
                            <a:solidFill>
                              <a:srgbClr val="0708F5"/>
                            </a:solidFill>
                            <a:latin typeface="Cambria Math" panose="02040503050406030204" pitchFamily="18" charset="0"/>
                          </a:rPr>
                          <m:t>𝑀</m:t>
                        </m:r>
                      </m:e>
                      <m:sub>
                        <m:r>
                          <a:rPr lang="de-DE" i="1" dirty="0" err="1">
                            <a:solidFill>
                              <a:srgbClr val="0708F5"/>
                            </a:solidFill>
                            <a:latin typeface="Cambria Math" panose="02040503050406030204" pitchFamily="18" charset="0"/>
                          </a:rPr>
                          <m:t>𝑝</m:t>
                        </m:r>
                      </m:sub>
                    </m:sSub>
                    <m:r>
                      <a:rPr lang="de-DE" i="1" dirty="0">
                        <a:solidFill>
                          <a:srgbClr val="0708F5"/>
                        </a:solidFill>
                        <a:latin typeface="Cambria Math" panose="02040503050406030204" pitchFamily="18" charset="0"/>
                      </a:rPr>
                      <m:t>=</m:t>
                    </m:r>
                    <m:sSup>
                      <m:sSupPr>
                        <m:ctrlPr>
                          <a:rPr lang="de-DE" i="1" dirty="0">
                            <a:solidFill>
                              <a:srgbClr val="0708F5"/>
                            </a:solidFill>
                            <a:latin typeface="Cambria Math" panose="02040503050406030204" pitchFamily="18" charset="0"/>
                          </a:rPr>
                        </m:ctrlPr>
                      </m:sSupPr>
                      <m:e>
                        <m:r>
                          <a:rPr lang="de-DE" i="1" dirty="0" err="1">
                            <a:solidFill>
                              <a:srgbClr val="0708F5"/>
                            </a:solidFill>
                            <a:latin typeface="Cambria Math" panose="02040503050406030204" pitchFamily="18" charset="0"/>
                          </a:rPr>
                          <m:t>𝑒</m:t>
                        </m:r>
                      </m:e>
                      <m:sup>
                        <m:f>
                          <m:fPr>
                            <m:ctrlPr>
                              <a:rPr lang="de-DE" i="1" dirty="0">
                                <a:solidFill>
                                  <a:srgbClr val="0708F5"/>
                                </a:solidFill>
                                <a:latin typeface="Cambria Math" panose="02040503050406030204" pitchFamily="18" charset="0"/>
                              </a:rPr>
                            </m:ctrlPr>
                          </m:fPr>
                          <m:num>
                            <m:r>
                              <a:rPr lang="de-DE" i="1" dirty="0">
                                <a:solidFill>
                                  <a:srgbClr val="0708F5"/>
                                </a:solidFill>
                                <a:latin typeface="Cambria Math" panose="02040503050406030204" pitchFamily="18" charset="0"/>
                              </a:rPr>
                              <m:t>𝜎𝜋</m:t>
                            </m:r>
                          </m:num>
                          <m:den>
                            <m:r>
                              <a:rPr lang="de-DE" i="1" dirty="0">
                                <a:solidFill>
                                  <a:srgbClr val="0708F5"/>
                                </a:solidFill>
                                <a:latin typeface="Cambria Math" panose="02040503050406030204" pitchFamily="18" charset="0"/>
                              </a:rPr>
                              <m:t>𝜔</m:t>
                            </m:r>
                          </m:den>
                        </m:f>
                      </m:sup>
                    </m:sSup>
                  </m:oMath>
                </a14:m>
                <a:endParaRPr lang="de-DE" dirty="0"/>
              </a:p>
              <a:p>
                <a:pPr marL="0" indent="0">
                  <a:buNone/>
                </a:pPr>
                <a:r>
                  <a:rPr lang="de-DE" b="1" dirty="0">
                    <a:solidFill>
                      <a:schemeClr val="accent2"/>
                    </a:solidFill>
                    <a:latin typeface="Segoe UI" panose="020B0502040204020203" pitchFamily="34" charset="0"/>
                    <a:cs typeface="Segoe UI" panose="020B0502040204020203" pitchFamily="34" charset="0"/>
                  </a:rPr>
                  <a:t>Rise Time:</a:t>
                </a:r>
                <a:r>
                  <a:rPr lang="de-DE" dirty="0">
                    <a:solidFill>
                      <a:schemeClr val="accent2"/>
                    </a:solidFill>
                  </a:rPr>
                  <a:t>		</a:t>
                </a:r>
                <a14:m>
                  <m:oMath xmlns:m="http://schemas.openxmlformats.org/officeDocument/2006/math">
                    <m:sSub>
                      <m:sSubPr>
                        <m:ctrlPr>
                          <a:rPr lang="de-DE" i="1" dirty="0">
                            <a:solidFill>
                              <a:schemeClr val="accent2"/>
                            </a:solidFill>
                            <a:latin typeface="Cambria Math" panose="02040503050406030204" pitchFamily="18" charset="0"/>
                          </a:rPr>
                        </m:ctrlPr>
                      </m:sSubPr>
                      <m:e>
                        <m:r>
                          <a:rPr lang="de-DE" i="1" dirty="0">
                            <a:solidFill>
                              <a:schemeClr val="accent2"/>
                            </a:solidFill>
                            <a:latin typeface="Cambria Math" panose="02040503050406030204" pitchFamily="18" charset="0"/>
                          </a:rPr>
                          <m:t>𝑇</m:t>
                        </m:r>
                      </m:e>
                      <m:sub>
                        <m:r>
                          <a:rPr lang="de-DE" i="1" dirty="0">
                            <a:solidFill>
                              <a:schemeClr val="accent2"/>
                            </a:solidFill>
                            <a:latin typeface="Cambria Math" panose="02040503050406030204" pitchFamily="18" charset="0"/>
                          </a:rPr>
                          <m:t>100%</m:t>
                        </m:r>
                      </m:sub>
                    </m:sSub>
                    <m:r>
                      <a:rPr lang="de-DE" i="1" dirty="0">
                        <a:solidFill>
                          <a:schemeClr val="accent2"/>
                        </a:solidFill>
                        <a:latin typeface="Cambria Math" panose="02040503050406030204" pitchFamily="18" charset="0"/>
                      </a:rPr>
                      <m:t>=</m:t>
                    </m:r>
                    <m:f>
                      <m:fPr>
                        <m:ctrlPr>
                          <a:rPr lang="de-DE" i="1" dirty="0">
                            <a:solidFill>
                              <a:schemeClr val="accent2"/>
                            </a:solidFill>
                            <a:latin typeface="Cambria Math" panose="02040503050406030204" pitchFamily="18" charset="0"/>
                          </a:rPr>
                        </m:ctrlPr>
                      </m:fPr>
                      <m:num>
                        <m:f>
                          <m:fPr>
                            <m:ctrlPr>
                              <a:rPr lang="de-DE" i="1" dirty="0">
                                <a:solidFill>
                                  <a:schemeClr val="accent2"/>
                                </a:solidFill>
                                <a:latin typeface="Cambria Math" panose="02040503050406030204" pitchFamily="18" charset="0"/>
                              </a:rPr>
                            </m:ctrlPr>
                          </m:fPr>
                          <m:num>
                            <m:r>
                              <a:rPr lang="de-DE" i="1" dirty="0">
                                <a:solidFill>
                                  <a:schemeClr val="accent2"/>
                                </a:solidFill>
                                <a:latin typeface="Cambria Math" panose="02040503050406030204" pitchFamily="18" charset="0"/>
                              </a:rPr>
                              <m:t>𝜋</m:t>
                            </m:r>
                          </m:num>
                          <m:den>
                            <m:r>
                              <a:rPr lang="de-DE" i="1" dirty="0">
                                <a:solidFill>
                                  <a:schemeClr val="accent2"/>
                                </a:solidFill>
                                <a:latin typeface="Cambria Math" panose="02040503050406030204" pitchFamily="18" charset="0"/>
                              </a:rPr>
                              <m:t>2</m:t>
                            </m:r>
                          </m:den>
                        </m:f>
                        <m:r>
                          <a:rPr lang="de-DE" i="1" dirty="0">
                            <a:solidFill>
                              <a:schemeClr val="accent2"/>
                            </a:solidFill>
                            <a:latin typeface="Cambria Math" panose="02040503050406030204" pitchFamily="18" charset="0"/>
                          </a:rPr>
                          <m:t>−</m:t>
                        </m:r>
                        <m:r>
                          <a:rPr lang="de-DE" i="1" dirty="0">
                            <a:solidFill>
                              <a:schemeClr val="accent2"/>
                            </a:solidFill>
                            <a:latin typeface="Cambria Math" panose="02040503050406030204" pitchFamily="18" charset="0"/>
                          </a:rPr>
                          <m:t>𝜑</m:t>
                        </m:r>
                      </m:num>
                      <m:den>
                        <m:r>
                          <a:rPr lang="de-DE" i="1" dirty="0">
                            <a:solidFill>
                              <a:schemeClr val="accent2"/>
                            </a:solidFill>
                            <a:latin typeface="Cambria Math" panose="02040503050406030204" pitchFamily="18" charset="0"/>
                          </a:rPr>
                          <m:t>𝜔</m:t>
                        </m:r>
                      </m:den>
                    </m:f>
                    <m:r>
                      <a:rPr lang="de-DE" i="1" dirty="0">
                        <a:solidFill>
                          <a:schemeClr val="accent2"/>
                        </a:solidFill>
                        <a:latin typeface="Cambria Math" panose="02040503050406030204" pitchFamily="18" charset="0"/>
                      </a:rPr>
                      <m:t>≈</m:t>
                    </m:r>
                    <m:f>
                      <m:fPr>
                        <m:ctrlPr>
                          <a:rPr lang="de-DE" i="1" dirty="0">
                            <a:solidFill>
                              <a:schemeClr val="accent2"/>
                            </a:solidFill>
                            <a:latin typeface="Cambria Math" panose="02040503050406030204" pitchFamily="18" charset="0"/>
                          </a:rPr>
                        </m:ctrlPr>
                      </m:fPr>
                      <m:num>
                        <m:r>
                          <a:rPr lang="de-DE" i="1" dirty="0">
                            <a:solidFill>
                              <a:schemeClr val="accent2"/>
                            </a:solidFill>
                            <a:latin typeface="Cambria Math" panose="02040503050406030204" pitchFamily="18" charset="0"/>
                          </a:rPr>
                          <m:t>𝜋</m:t>
                        </m:r>
                      </m:num>
                      <m:den>
                        <m:r>
                          <a:rPr lang="de-DE" i="1" dirty="0">
                            <a:solidFill>
                              <a:schemeClr val="accent2"/>
                            </a:solidFill>
                            <a:latin typeface="Cambria Math" panose="02040503050406030204" pitchFamily="18" charset="0"/>
                          </a:rPr>
                          <m:t>2</m:t>
                        </m:r>
                        <m:sSub>
                          <m:sSubPr>
                            <m:ctrlPr>
                              <a:rPr lang="de-DE" i="1" dirty="0" err="1">
                                <a:solidFill>
                                  <a:schemeClr val="accent2"/>
                                </a:solidFill>
                                <a:latin typeface="Cambria Math" panose="02040503050406030204" pitchFamily="18" charset="0"/>
                              </a:rPr>
                            </m:ctrlPr>
                          </m:sSubPr>
                          <m:e>
                            <m:r>
                              <a:rPr lang="de-DE" i="1" dirty="0">
                                <a:solidFill>
                                  <a:schemeClr val="accent2"/>
                                </a:solidFill>
                                <a:latin typeface="Cambria Math" panose="02040503050406030204" pitchFamily="18" charset="0"/>
                              </a:rPr>
                              <m:t>𝜔</m:t>
                            </m:r>
                          </m:e>
                          <m:sub>
                            <m:r>
                              <a:rPr lang="de-DE" i="1" dirty="0" err="1">
                                <a:solidFill>
                                  <a:schemeClr val="accent2"/>
                                </a:solidFill>
                                <a:latin typeface="Cambria Math" panose="02040503050406030204" pitchFamily="18" charset="0"/>
                              </a:rPr>
                              <m:t>𝑛</m:t>
                            </m:r>
                          </m:sub>
                        </m:sSub>
                      </m:den>
                    </m:f>
                  </m:oMath>
                </a14:m>
                <a:endParaRPr lang="de-DE" dirty="0">
                  <a:solidFill>
                    <a:schemeClr val="accent2"/>
                  </a:solidFill>
                </a:endParaRPr>
              </a:p>
              <a:p>
                <a:pPr marL="0" indent="0">
                  <a:buNone/>
                </a:pPr>
                <a:endParaRPr lang="de-DE" dirty="0"/>
              </a:p>
            </p:txBody>
          </p:sp>
        </mc:Choice>
        <mc:Fallback>
          <p:sp>
            <p:nvSpPr>
              <p:cNvPr id="3" name="Inhaltsplatzhalter 2">
                <a:extLst>
                  <a:ext uri="{FF2B5EF4-FFF2-40B4-BE49-F238E27FC236}">
                    <a16:creationId xmlns:a16="http://schemas.microsoft.com/office/drawing/2014/main" id="{A4691A69-4FC5-8C26-5872-616B7B09823E}"/>
                  </a:ext>
                </a:extLst>
              </p:cNvPr>
              <p:cNvSpPr>
                <a:spLocks noGrp="1" noRot="1" noChangeAspect="1" noMove="1" noResize="1" noEditPoints="1" noAdjustHandles="1" noChangeArrowheads="1" noChangeShapeType="1" noTextEdit="1"/>
              </p:cNvSpPr>
              <p:nvPr>
                <p:ph idx="1"/>
              </p:nvPr>
            </p:nvSpPr>
            <p:spPr>
              <a:xfrm>
                <a:off x="345315" y="1366836"/>
                <a:ext cx="4226685" cy="3263504"/>
              </a:xfrm>
              <a:blipFill>
                <a:blip r:embed="rId3"/>
                <a:stretch>
                  <a:fillRect l="-1201" t="-1938"/>
                </a:stretch>
              </a:blipFill>
            </p:spPr>
            <p:txBody>
              <a:bodyPr/>
              <a:lstStyle/>
              <a:p>
                <a:r>
                  <a:rPr lang="de-DE">
                    <a:noFill/>
                  </a:rPr>
                  <a:t> </a:t>
                </a:r>
              </a:p>
            </p:txBody>
          </p:sp>
        </mc:Fallback>
      </mc:AlternateContent>
      <p:sp>
        <p:nvSpPr>
          <p:cNvPr id="4" name="Fußzeilenplatzhalter 3">
            <a:extLst>
              <a:ext uri="{FF2B5EF4-FFF2-40B4-BE49-F238E27FC236}">
                <a16:creationId xmlns:a16="http://schemas.microsoft.com/office/drawing/2014/main" id="{C72F7608-DC94-4258-8785-26D187A879A3}"/>
              </a:ext>
            </a:extLst>
          </p:cNvPr>
          <p:cNvSpPr>
            <a:spLocks noGrp="1"/>
          </p:cNvSpPr>
          <p:nvPr>
            <p:ph type="ftr" sz="quarter" idx="11"/>
          </p:nvPr>
        </p:nvSpPr>
        <p:spPr/>
        <p:txBody>
          <a:bodyPr/>
          <a:lstStyle/>
          <a:p>
            <a:pPr defTabSz="342900">
              <a:buClrTx/>
            </a:pPr>
            <a:r>
              <a:rPr lang="de-CH" kern="1200" dirty="0">
                <a:solidFill>
                  <a:srgbClr val="101623">
                    <a:tint val="75000"/>
                  </a:srgbClr>
                </a:solidFill>
                <a:latin typeface="Calibri" panose="020F0502020204030204"/>
                <a:ea typeface="+mn-ea"/>
                <a:cs typeface="+mn-cs"/>
              </a:rPr>
              <a:t>Kissan Varatharajan - </a:t>
            </a:r>
            <a:r>
              <a:rPr lang="de-CH" kern="1200" dirty="0" err="1">
                <a:solidFill>
                  <a:srgbClr val="101623">
                    <a:tint val="75000"/>
                  </a:srgbClr>
                </a:solidFill>
                <a:latin typeface="Calibri" panose="020F0502020204030204"/>
                <a:ea typeface="+mn-ea"/>
                <a:cs typeface="+mn-cs"/>
              </a:rPr>
              <a:t>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D705FFFA-047A-F4BB-F3B3-D017B24F7B26}"/>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21</a:t>
            </a:fld>
            <a:endParaRPr lang="en-CH" kern="1200">
              <a:solidFill>
                <a:srgbClr val="101623">
                  <a:tint val="75000"/>
                </a:srgbClr>
              </a:solidFill>
              <a:latin typeface="Calibri" panose="020F0502020204030204"/>
              <a:ea typeface="+mn-ea"/>
              <a:cs typeface="+mn-cs"/>
            </a:endParaRPr>
          </a:p>
        </p:txBody>
      </p:sp>
      <p:sp>
        <p:nvSpPr>
          <p:cNvPr id="7" name="Textfeld 6">
            <a:extLst>
              <a:ext uri="{FF2B5EF4-FFF2-40B4-BE49-F238E27FC236}">
                <a16:creationId xmlns:a16="http://schemas.microsoft.com/office/drawing/2014/main" id="{AA3B47D1-99F2-ACAD-F792-8184EF4FCBB8}"/>
              </a:ext>
            </a:extLst>
          </p:cNvPr>
          <p:cNvSpPr txBox="1"/>
          <p:nvPr/>
        </p:nvSpPr>
        <p:spPr>
          <a:xfrm>
            <a:off x="5964206" y="2371695"/>
            <a:ext cx="301686" cy="400110"/>
          </a:xfrm>
          <a:prstGeom prst="rect">
            <a:avLst/>
          </a:prstGeom>
          <a:noFill/>
        </p:spPr>
        <p:txBody>
          <a:bodyPr wrap="none" rtlCol="0">
            <a:spAutoFit/>
          </a:bodyPr>
          <a:lstStyle/>
          <a:p>
            <a:r>
              <a:rPr lang="en-US" sz="2000" noProof="0" dirty="0">
                <a:solidFill>
                  <a:srgbClr val="FF0000"/>
                </a:solidFill>
                <a:latin typeface="Segoe UI" panose="020B0502040204020203" pitchFamily="34" charset="0"/>
                <a:cs typeface="Segoe UI" panose="020B0502040204020203" pitchFamily="34" charset="0"/>
              </a:rPr>
              <a:t>x</a:t>
            </a:r>
          </a:p>
        </p:txBody>
      </p:sp>
      <p:sp>
        <p:nvSpPr>
          <p:cNvPr id="8" name="Textfeld 7">
            <a:extLst>
              <a:ext uri="{FF2B5EF4-FFF2-40B4-BE49-F238E27FC236}">
                <a16:creationId xmlns:a16="http://schemas.microsoft.com/office/drawing/2014/main" id="{DAE25E39-F9D0-3094-3306-9F9C6F2EC517}"/>
              </a:ext>
            </a:extLst>
          </p:cNvPr>
          <p:cNvSpPr txBox="1"/>
          <p:nvPr/>
        </p:nvSpPr>
        <p:spPr>
          <a:xfrm>
            <a:off x="5991494" y="3441920"/>
            <a:ext cx="290464" cy="369332"/>
          </a:xfrm>
          <a:prstGeom prst="rect">
            <a:avLst/>
          </a:prstGeom>
          <a:noFill/>
        </p:spPr>
        <p:txBody>
          <a:bodyPr wrap="none" rtlCol="0">
            <a:spAutoFit/>
          </a:bodyPr>
          <a:lstStyle/>
          <a:p>
            <a:r>
              <a:rPr lang="en-US" sz="1800" noProof="0" dirty="0">
                <a:solidFill>
                  <a:srgbClr val="FF0000"/>
                </a:solidFill>
                <a:latin typeface="Segoe UI" panose="020B0502040204020203" pitchFamily="34" charset="0"/>
                <a:cs typeface="Segoe UI" panose="020B0502040204020203" pitchFamily="34" charset="0"/>
              </a:rPr>
              <a:t>x</a:t>
            </a:r>
          </a:p>
        </p:txBody>
      </p:sp>
      <p:sp>
        <p:nvSpPr>
          <p:cNvPr id="9" name="Textfeld 8">
            <a:extLst>
              <a:ext uri="{FF2B5EF4-FFF2-40B4-BE49-F238E27FC236}">
                <a16:creationId xmlns:a16="http://schemas.microsoft.com/office/drawing/2014/main" id="{A1DE2FE3-3DEE-38A1-90AC-E2600A38C59B}"/>
              </a:ext>
            </a:extLst>
          </p:cNvPr>
          <p:cNvSpPr txBox="1"/>
          <p:nvPr/>
        </p:nvSpPr>
        <p:spPr>
          <a:xfrm>
            <a:off x="5674142" y="2904115"/>
            <a:ext cx="304892" cy="338554"/>
          </a:xfrm>
          <a:prstGeom prst="rect">
            <a:avLst/>
          </a:prstGeom>
          <a:noFill/>
        </p:spPr>
        <p:txBody>
          <a:bodyPr wrap="none" rtlCol="0">
            <a:spAutoFit/>
          </a:bodyPr>
          <a:lstStyle/>
          <a:p>
            <a:r>
              <a:rPr lang="de-DE" sz="1600" dirty="0">
                <a:solidFill>
                  <a:schemeClr val="accent5"/>
                </a:solidFill>
                <a:latin typeface="Segoe UI" panose="020B0502040204020203" pitchFamily="34" charset="0"/>
                <a:cs typeface="Segoe UI" panose="020B0502040204020203" pitchFamily="34" charset="0"/>
              </a:rPr>
              <a:t>o</a:t>
            </a:r>
            <a:endParaRPr lang="de-DE" dirty="0">
              <a:solidFill>
                <a:schemeClr val="accent5"/>
              </a:solidFill>
              <a:latin typeface="Segoe UI" panose="020B0502040204020203" pitchFamily="34" charset="0"/>
              <a:cs typeface="Segoe UI" panose="020B0502040204020203" pitchFamily="34" charset="0"/>
            </a:endParaRPr>
          </a:p>
        </p:txBody>
      </p:sp>
      <p:sp>
        <p:nvSpPr>
          <p:cNvPr id="10" name="Bogen 9">
            <a:extLst>
              <a:ext uri="{FF2B5EF4-FFF2-40B4-BE49-F238E27FC236}">
                <a16:creationId xmlns:a16="http://schemas.microsoft.com/office/drawing/2014/main" id="{1A4C0B0B-5315-4094-01AF-E6B7A212A791}"/>
              </a:ext>
            </a:extLst>
          </p:cNvPr>
          <p:cNvSpPr/>
          <p:nvPr/>
        </p:nvSpPr>
        <p:spPr>
          <a:xfrm rot="18039400">
            <a:off x="4940296" y="2119880"/>
            <a:ext cx="1063865" cy="1056380"/>
          </a:xfrm>
          <a:custGeom>
            <a:avLst/>
            <a:gdLst>
              <a:gd name="connsiteX0" fmla="*/ 916759 w 1833518"/>
              <a:gd name="connsiteY0" fmla="*/ 0 h 874113"/>
              <a:gd name="connsiteX1" fmla="*/ 1832186 w 1833518"/>
              <a:gd name="connsiteY1" fmla="*/ 413509 h 874113"/>
              <a:gd name="connsiteX2" fmla="*/ 916759 w 1833518"/>
              <a:gd name="connsiteY2" fmla="*/ 437057 h 874113"/>
              <a:gd name="connsiteX3" fmla="*/ 916759 w 1833518"/>
              <a:gd name="connsiteY3" fmla="*/ 0 h 874113"/>
              <a:gd name="connsiteX0" fmla="*/ 916759 w 1833518"/>
              <a:gd name="connsiteY0" fmla="*/ 0 h 874113"/>
              <a:gd name="connsiteX1" fmla="*/ 1832186 w 1833518"/>
              <a:gd name="connsiteY1" fmla="*/ 413509 h 874113"/>
              <a:gd name="connsiteX0" fmla="*/ 0 w 915427"/>
              <a:gd name="connsiteY0" fmla="*/ 0 h 1056380"/>
              <a:gd name="connsiteX1" fmla="*/ 915427 w 915427"/>
              <a:gd name="connsiteY1" fmla="*/ 413509 h 1056380"/>
              <a:gd name="connsiteX2" fmla="*/ 0 w 915427"/>
              <a:gd name="connsiteY2" fmla="*/ 437057 h 1056380"/>
              <a:gd name="connsiteX3" fmla="*/ 0 w 915427"/>
              <a:gd name="connsiteY3" fmla="*/ 0 h 1056380"/>
              <a:gd name="connsiteX0" fmla="*/ 0 w 915427"/>
              <a:gd name="connsiteY0" fmla="*/ 0 h 1056380"/>
              <a:gd name="connsiteX1" fmla="*/ 756425 w 915427"/>
              <a:gd name="connsiteY1" fmla="*/ 1056380 h 1056380"/>
              <a:gd name="connsiteX0" fmla="*/ 126593 w 1042020"/>
              <a:gd name="connsiteY0" fmla="*/ 0 h 1056380"/>
              <a:gd name="connsiteX1" fmla="*/ 1042020 w 1042020"/>
              <a:gd name="connsiteY1" fmla="*/ 413509 h 1056380"/>
              <a:gd name="connsiteX2" fmla="*/ 126593 w 1042020"/>
              <a:gd name="connsiteY2" fmla="*/ 437057 h 1056380"/>
              <a:gd name="connsiteX3" fmla="*/ 126593 w 1042020"/>
              <a:gd name="connsiteY3" fmla="*/ 0 h 1056380"/>
              <a:gd name="connsiteX0" fmla="*/ 0 w 1042020"/>
              <a:gd name="connsiteY0" fmla="*/ 495077 h 1056380"/>
              <a:gd name="connsiteX1" fmla="*/ 883018 w 1042020"/>
              <a:gd name="connsiteY1" fmla="*/ 1056380 h 1056380"/>
              <a:gd name="connsiteX0" fmla="*/ 148438 w 1063865"/>
              <a:gd name="connsiteY0" fmla="*/ 0 h 1056380"/>
              <a:gd name="connsiteX1" fmla="*/ 1063865 w 1063865"/>
              <a:gd name="connsiteY1" fmla="*/ 413509 h 1056380"/>
              <a:gd name="connsiteX2" fmla="*/ 148438 w 1063865"/>
              <a:gd name="connsiteY2" fmla="*/ 437057 h 1056380"/>
              <a:gd name="connsiteX3" fmla="*/ 148438 w 1063865"/>
              <a:gd name="connsiteY3" fmla="*/ 0 h 1056380"/>
              <a:gd name="connsiteX0" fmla="*/ 0 w 1063865"/>
              <a:gd name="connsiteY0" fmla="*/ 559459 h 1056380"/>
              <a:gd name="connsiteX1" fmla="*/ 904863 w 1063865"/>
              <a:gd name="connsiteY1" fmla="*/ 1056380 h 1056380"/>
              <a:gd name="connsiteX0" fmla="*/ 148438 w 1063865"/>
              <a:gd name="connsiteY0" fmla="*/ 0 h 1056380"/>
              <a:gd name="connsiteX1" fmla="*/ 1063865 w 1063865"/>
              <a:gd name="connsiteY1" fmla="*/ 413509 h 1056380"/>
              <a:gd name="connsiteX2" fmla="*/ 148438 w 1063865"/>
              <a:gd name="connsiteY2" fmla="*/ 437057 h 1056380"/>
              <a:gd name="connsiteX3" fmla="*/ 148438 w 1063865"/>
              <a:gd name="connsiteY3" fmla="*/ 0 h 1056380"/>
              <a:gd name="connsiteX0" fmla="*/ 0 w 1063865"/>
              <a:gd name="connsiteY0" fmla="*/ 559459 h 1056380"/>
              <a:gd name="connsiteX1" fmla="*/ 904863 w 1063865"/>
              <a:gd name="connsiteY1" fmla="*/ 1056380 h 1056380"/>
            </a:gdLst>
            <a:ahLst/>
            <a:cxnLst>
              <a:cxn ang="0">
                <a:pos x="connsiteX0" y="connsiteY0"/>
              </a:cxn>
              <a:cxn ang="0">
                <a:pos x="connsiteX1" y="connsiteY1"/>
              </a:cxn>
            </a:cxnLst>
            <a:rect l="l" t="t" r="r" b="b"/>
            <a:pathLst>
              <a:path w="1063865" h="1056380" stroke="0" extrusionOk="0">
                <a:moveTo>
                  <a:pt x="148438" y="0"/>
                </a:moveTo>
                <a:cubicBezTo>
                  <a:pt x="635557" y="0"/>
                  <a:pt x="1037620" y="181616"/>
                  <a:pt x="1063865" y="413509"/>
                </a:cubicBezTo>
                <a:lnTo>
                  <a:pt x="148438" y="437057"/>
                </a:lnTo>
                <a:lnTo>
                  <a:pt x="148438" y="0"/>
                </a:lnTo>
                <a:close/>
              </a:path>
              <a:path w="1063865" h="1056380" fill="none">
                <a:moveTo>
                  <a:pt x="0" y="559459"/>
                </a:moveTo>
                <a:cubicBezTo>
                  <a:pt x="418953" y="299833"/>
                  <a:pt x="878618" y="824487"/>
                  <a:pt x="904863" y="1056380"/>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cxnSp>
        <p:nvCxnSpPr>
          <p:cNvPr id="15" name="Gerade Verbindung 14">
            <a:extLst>
              <a:ext uri="{FF2B5EF4-FFF2-40B4-BE49-F238E27FC236}">
                <a16:creationId xmlns:a16="http://schemas.microsoft.com/office/drawing/2014/main" id="{9320DA1C-6CF4-8E17-3DB3-42320587F804}"/>
              </a:ext>
            </a:extLst>
          </p:cNvPr>
          <p:cNvCxnSpPr>
            <a:cxnSpLocks/>
          </p:cNvCxnSpPr>
          <p:nvPr/>
        </p:nvCxnSpPr>
        <p:spPr>
          <a:xfrm>
            <a:off x="4445454" y="3103723"/>
            <a:ext cx="778757"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Bogen 9">
            <a:extLst>
              <a:ext uri="{FF2B5EF4-FFF2-40B4-BE49-F238E27FC236}">
                <a16:creationId xmlns:a16="http://schemas.microsoft.com/office/drawing/2014/main" id="{27C25B47-4601-DDC9-195D-2FFD1271CC5B}"/>
              </a:ext>
            </a:extLst>
          </p:cNvPr>
          <p:cNvSpPr/>
          <p:nvPr/>
        </p:nvSpPr>
        <p:spPr>
          <a:xfrm rot="10800000">
            <a:off x="5072861" y="3120583"/>
            <a:ext cx="1063865" cy="1056380"/>
          </a:xfrm>
          <a:custGeom>
            <a:avLst/>
            <a:gdLst>
              <a:gd name="connsiteX0" fmla="*/ 916759 w 1833518"/>
              <a:gd name="connsiteY0" fmla="*/ 0 h 874113"/>
              <a:gd name="connsiteX1" fmla="*/ 1832186 w 1833518"/>
              <a:gd name="connsiteY1" fmla="*/ 413509 h 874113"/>
              <a:gd name="connsiteX2" fmla="*/ 916759 w 1833518"/>
              <a:gd name="connsiteY2" fmla="*/ 437057 h 874113"/>
              <a:gd name="connsiteX3" fmla="*/ 916759 w 1833518"/>
              <a:gd name="connsiteY3" fmla="*/ 0 h 874113"/>
              <a:gd name="connsiteX0" fmla="*/ 916759 w 1833518"/>
              <a:gd name="connsiteY0" fmla="*/ 0 h 874113"/>
              <a:gd name="connsiteX1" fmla="*/ 1832186 w 1833518"/>
              <a:gd name="connsiteY1" fmla="*/ 413509 h 874113"/>
              <a:gd name="connsiteX0" fmla="*/ 0 w 915427"/>
              <a:gd name="connsiteY0" fmla="*/ 0 h 1056380"/>
              <a:gd name="connsiteX1" fmla="*/ 915427 w 915427"/>
              <a:gd name="connsiteY1" fmla="*/ 413509 h 1056380"/>
              <a:gd name="connsiteX2" fmla="*/ 0 w 915427"/>
              <a:gd name="connsiteY2" fmla="*/ 437057 h 1056380"/>
              <a:gd name="connsiteX3" fmla="*/ 0 w 915427"/>
              <a:gd name="connsiteY3" fmla="*/ 0 h 1056380"/>
              <a:gd name="connsiteX0" fmla="*/ 0 w 915427"/>
              <a:gd name="connsiteY0" fmla="*/ 0 h 1056380"/>
              <a:gd name="connsiteX1" fmla="*/ 756425 w 915427"/>
              <a:gd name="connsiteY1" fmla="*/ 1056380 h 1056380"/>
              <a:gd name="connsiteX0" fmla="*/ 126593 w 1042020"/>
              <a:gd name="connsiteY0" fmla="*/ 0 h 1056380"/>
              <a:gd name="connsiteX1" fmla="*/ 1042020 w 1042020"/>
              <a:gd name="connsiteY1" fmla="*/ 413509 h 1056380"/>
              <a:gd name="connsiteX2" fmla="*/ 126593 w 1042020"/>
              <a:gd name="connsiteY2" fmla="*/ 437057 h 1056380"/>
              <a:gd name="connsiteX3" fmla="*/ 126593 w 1042020"/>
              <a:gd name="connsiteY3" fmla="*/ 0 h 1056380"/>
              <a:gd name="connsiteX0" fmla="*/ 0 w 1042020"/>
              <a:gd name="connsiteY0" fmla="*/ 495077 h 1056380"/>
              <a:gd name="connsiteX1" fmla="*/ 883018 w 1042020"/>
              <a:gd name="connsiteY1" fmla="*/ 1056380 h 1056380"/>
              <a:gd name="connsiteX0" fmla="*/ 148438 w 1063865"/>
              <a:gd name="connsiteY0" fmla="*/ 0 h 1056380"/>
              <a:gd name="connsiteX1" fmla="*/ 1063865 w 1063865"/>
              <a:gd name="connsiteY1" fmla="*/ 413509 h 1056380"/>
              <a:gd name="connsiteX2" fmla="*/ 148438 w 1063865"/>
              <a:gd name="connsiteY2" fmla="*/ 437057 h 1056380"/>
              <a:gd name="connsiteX3" fmla="*/ 148438 w 1063865"/>
              <a:gd name="connsiteY3" fmla="*/ 0 h 1056380"/>
              <a:gd name="connsiteX0" fmla="*/ 0 w 1063865"/>
              <a:gd name="connsiteY0" fmla="*/ 559459 h 1056380"/>
              <a:gd name="connsiteX1" fmla="*/ 904863 w 1063865"/>
              <a:gd name="connsiteY1" fmla="*/ 1056380 h 1056380"/>
              <a:gd name="connsiteX0" fmla="*/ 148438 w 1063865"/>
              <a:gd name="connsiteY0" fmla="*/ 0 h 1056380"/>
              <a:gd name="connsiteX1" fmla="*/ 1063865 w 1063865"/>
              <a:gd name="connsiteY1" fmla="*/ 413509 h 1056380"/>
              <a:gd name="connsiteX2" fmla="*/ 148438 w 1063865"/>
              <a:gd name="connsiteY2" fmla="*/ 437057 h 1056380"/>
              <a:gd name="connsiteX3" fmla="*/ 148438 w 1063865"/>
              <a:gd name="connsiteY3" fmla="*/ 0 h 1056380"/>
              <a:gd name="connsiteX0" fmla="*/ 0 w 1063865"/>
              <a:gd name="connsiteY0" fmla="*/ 559459 h 1056380"/>
              <a:gd name="connsiteX1" fmla="*/ 904863 w 1063865"/>
              <a:gd name="connsiteY1" fmla="*/ 1056380 h 1056380"/>
            </a:gdLst>
            <a:ahLst/>
            <a:cxnLst>
              <a:cxn ang="0">
                <a:pos x="connsiteX0" y="connsiteY0"/>
              </a:cxn>
              <a:cxn ang="0">
                <a:pos x="connsiteX1" y="connsiteY1"/>
              </a:cxn>
            </a:cxnLst>
            <a:rect l="l" t="t" r="r" b="b"/>
            <a:pathLst>
              <a:path w="1063865" h="1056380" stroke="0" extrusionOk="0">
                <a:moveTo>
                  <a:pt x="148438" y="0"/>
                </a:moveTo>
                <a:cubicBezTo>
                  <a:pt x="635557" y="0"/>
                  <a:pt x="1037620" y="181616"/>
                  <a:pt x="1063865" y="413509"/>
                </a:cubicBezTo>
                <a:lnTo>
                  <a:pt x="148438" y="437057"/>
                </a:lnTo>
                <a:lnTo>
                  <a:pt x="148438" y="0"/>
                </a:lnTo>
                <a:close/>
              </a:path>
              <a:path w="1063865" h="1056380" fill="none">
                <a:moveTo>
                  <a:pt x="0" y="559459"/>
                </a:moveTo>
                <a:cubicBezTo>
                  <a:pt x="418953" y="299833"/>
                  <a:pt x="878618" y="824487"/>
                  <a:pt x="904863" y="1056380"/>
                </a:cubicBez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Tree>
    <p:extLst>
      <p:ext uri="{BB962C8B-B14F-4D97-AF65-F5344CB8AC3E}">
        <p14:creationId xmlns:p14="http://schemas.microsoft.com/office/powerpoint/2010/main" val="665046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760478-D289-316F-5959-77CF814E3286}"/>
              </a:ext>
            </a:extLst>
          </p:cNvPr>
          <p:cNvSpPr>
            <a:spLocks noGrp="1"/>
          </p:cNvSpPr>
          <p:nvPr>
            <p:ph type="ctrTitle"/>
          </p:nvPr>
        </p:nvSpPr>
        <p:spPr/>
        <p:txBody>
          <a:bodyPr/>
          <a:lstStyle/>
          <a:p>
            <a:r>
              <a:rPr lang="de-DE" dirty="0"/>
              <a:t>3. PID-Control</a:t>
            </a:r>
          </a:p>
        </p:txBody>
      </p:sp>
      <p:sp>
        <p:nvSpPr>
          <p:cNvPr id="3" name="Untertitel 2">
            <a:extLst>
              <a:ext uri="{FF2B5EF4-FFF2-40B4-BE49-F238E27FC236}">
                <a16:creationId xmlns:a16="http://schemas.microsoft.com/office/drawing/2014/main" id="{138EEFD3-8A51-E6D5-04B4-AE30D5A2ED21}"/>
              </a:ext>
            </a:extLst>
          </p:cNvPr>
          <p:cNvSpPr>
            <a:spLocks noGrp="1"/>
          </p:cNvSpPr>
          <p:nvPr>
            <p:ph type="subTitle" idx="1"/>
          </p:nvPr>
        </p:nvSpPr>
        <p:spPr/>
        <p:txBody>
          <a:bodyPr/>
          <a:lstStyle/>
          <a:p>
            <a:endParaRPr lang="de-DE"/>
          </a:p>
        </p:txBody>
      </p:sp>
      <p:sp>
        <p:nvSpPr>
          <p:cNvPr id="4" name="Fußzeilenplatzhalter 3">
            <a:extLst>
              <a:ext uri="{FF2B5EF4-FFF2-40B4-BE49-F238E27FC236}">
                <a16:creationId xmlns:a16="http://schemas.microsoft.com/office/drawing/2014/main" id="{48A6B7A4-A7DD-A31F-8F0C-6DBA572BB2E7}"/>
              </a:ext>
            </a:extLst>
          </p:cNvPr>
          <p:cNvSpPr>
            <a:spLocks noGrp="1"/>
          </p:cNvSpPr>
          <p:nvPr>
            <p:ph type="ftr" sz="quarter" idx="11"/>
          </p:nvPr>
        </p:nvSpPr>
        <p:spPr/>
        <p:txBody>
          <a:bodyPr/>
          <a:lstStyle/>
          <a:p>
            <a:pPr defTabSz="342900">
              <a:buClrTx/>
            </a:pPr>
            <a:r>
              <a:rPr lang="de-CH" kern="1200">
                <a:solidFill>
                  <a:srgbClr val="101623">
                    <a:tint val="75000"/>
                  </a:srgbClr>
                </a:solidFill>
                <a:latin typeface="Calibri" panose="020F0502020204030204"/>
                <a:ea typeface="+mn-ea"/>
                <a:cs typeface="+mn-cs"/>
              </a:rPr>
              <a:t>Kissan Varatharajan - kissanv.github.io</a:t>
            </a:r>
            <a:endParaRPr lang="en-CH" kern="120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AE653057-0297-E987-CFAF-6AABA167E95C}"/>
              </a:ext>
            </a:extLst>
          </p:cNvPr>
          <p:cNvSpPr>
            <a:spLocks noGrp="1"/>
          </p:cNvSpPr>
          <p:nvPr>
            <p:ph type="sldNum" sz="quarter" idx="12"/>
          </p:nvPr>
        </p:nvSpPr>
        <p:spPr/>
        <p:txBody>
          <a:bodyPr/>
          <a:lstStyle/>
          <a:p>
            <a:pPr defTabSz="342900">
              <a:buClrTx/>
            </a:pPr>
            <a:fld id="{36EAFFE7-40E2-CA47-82C0-73D0FC591208}" type="slidenum">
              <a:rPr lang="en-CH" kern="1200" smtClean="0">
                <a:solidFill>
                  <a:srgbClr val="101623">
                    <a:tint val="75000"/>
                  </a:srgbClr>
                </a:solidFill>
                <a:latin typeface="Calibri" panose="020F0502020204030204"/>
                <a:ea typeface="+mn-ea"/>
                <a:cs typeface="+mn-cs"/>
              </a:rPr>
              <a:pPr defTabSz="342900">
                <a:buClrTx/>
              </a:pPr>
              <a:t>22</a:t>
            </a:fld>
            <a:endParaRPr lang="en-CH" kern="120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4051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AAD27D-8A89-0C85-0D2E-09677A32ED67}"/>
              </a:ext>
            </a:extLst>
          </p:cNvPr>
          <p:cNvSpPr>
            <a:spLocks noGrp="1"/>
          </p:cNvSpPr>
          <p:nvPr>
            <p:ph type="title"/>
          </p:nvPr>
        </p:nvSpPr>
        <p:spPr>
          <a:xfrm>
            <a:off x="628650" y="239315"/>
            <a:ext cx="7886700" cy="994172"/>
          </a:xfrm>
        </p:spPr>
        <p:txBody>
          <a:bodyPr/>
          <a:lstStyle/>
          <a:p>
            <a:r>
              <a:rPr lang="en-US" noProof="0"/>
              <a:t>Tips for Problem Set 6</a:t>
            </a:r>
          </a:p>
        </p:txBody>
      </p:sp>
      <mc:AlternateContent xmlns:mc="http://schemas.openxmlformats.org/markup-compatibility/2006" xmlns:a14="http://schemas.microsoft.com/office/drawing/2010/main">
        <mc:Choice Requires="a14">
          <p:graphicFrame>
            <p:nvGraphicFramePr>
              <p:cNvPr id="6" name="Inhaltsplatzhalter 5">
                <a:extLst>
                  <a:ext uri="{FF2B5EF4-FFF2-40B4-BE49-F238E27FC236}">
                    <a16:creationId xmlns:a16="http://schemas.microsoft.com/office/drawing/2014/main" id="{93899BAA-8742-D882-B584-EDA0E722F3F2}"/>
                  </a:ext>
                </a:extLst>
              </p:cNvPr>
              <p:cNvGraphicFramePr>
                <a:graphicFrameLocks noGrp="1"/>
              </p:cNvGraphicFramePr>
              <p:nvPr>
                <p:ph idx="1"/>
                <p:extLst>
                  <p:ext uri="{D42A27DB-BD31-4B8C-83A1-F6EECF244321}">
                    <p14:modId xmlns:p14="http://schemas.microsoft.com/office/powerpoint/2010/main" val="1849936277"/>
                  </p:ext>
                </p:extLst>
              </p:nvPr>
            </p:nvGraphicFramePr>
            <p:xfrm>
              <a:off x="628650" y="963383"/>
              <a:ext cx="7886700" cy="994174"/>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3962552202"/>
                        </a:ext>
                      </a:extLst>
                    </a:gridCol>
                    <a:gridCol w="2628900">
                      <a:extLst>
                        <a:ext uri="{9D8B030D-6E8A-4147-A177-3AD203B41FA5}">
                          <a16:colId xmlns:a16="http://schemas.microsoft.com/office/drawing/2014/main" val="149204568"/>
                        </a:ext>
                      </a:extLst>
                    </a:gridCol>
                    <a:gridCol w="2628900">
                      <a:extLst>
                        <a:ext uri="{9D8B030D-6E8A-4147-A177-3AD203B41FA5}">
                          <a16:colId xmlns:a16="http://schemas.microsoft.com/office/drawing/2014/main" val="1278263022"/>
                        </a:ext>
                      </a:extLst>
                    </a:gridCol>
                  </a:tblGrid>
                  <a:tr h="497087">
                    <a:tc>
                      <a:txBody>
                        <a:bodyPr/>
                        <a:lstStyle/>
                        <a:p>
                          <a:pPr algn="ctr"/>
                          <a:r>
                            <a:rPr lang="en-US" sz="2200" noProof="0">
                              <a:latin typeface="Segoe UI" panose="020B0502040204020203" pitchFamily="34" charset="0"/>
                              <a:cs typeface="Segoe UI" panose="020B0502040204020203" pitchFamily="34" charset="0"/>
                            </a:rPr>
                            <a:t>Easy</a:t>
                          </a:r>
                        </a:p>
                      </a:txBody>
                      <a:tcPr anchor="ctr"/>
                    </a:tc>
                    <a:tc>
                      <a:txBody>
                        <a:bodyPr/>
                        <a:lstStyle/>
                        <a:p>
                          <a:pPr algn="ctr"/>
                          <a:r>
                            <a:rPr lang="en-US" sz="2200" noProof="0">
                              <a:latin typeface="Segoe UI" panose="020B0502040204020203" pitchFamily="34" charset="0"/>
                              <a:cs typeface="Segoe UI" panose="020B0502040204020203" pitchFamily="34" charset="0"/>
                            </a:rPr>
                            <a:t>Medium</a:t>
                          </a:r>
                        </a:p>
                      </a:txBody>
                      <a:tcPr anchor="ctr"/>
                    </a:tc>
                    <a:tc>
                      <a:txBody>
                        <a:bodyPr/>
                        <a:lstStyle/>
                        <a:p>
                          <a:pPr algn="ctr"/>
                          <a:r>
                            <a:rPr lang="en-US" sz="2200" noProof="0">
                              <a:latin typeface="Segoe UI" panose="020B0502040204020203" pitchFamily="34" charset="0"/>
                              <a:cs typeface="Segoe UI" panose="020B0502040204020203" pitchFamily="34" charset="0"/>
                            </a:rPr>
                            <a:t>Hard</a:t>
                          </a:r>
                        </a:p>
                      </a:txBody>
                      <a:tcPr anchor="ctr"/>
                    </a:tc>
                    <a:extLst>
                      <a:ext uri="{0D108BD9-81ED-4DB2-BD59-A6C34878D82A}">
                        <a16:rowId xmlns:a16="http://schemas.microsoft.com/office/drawing/2014/main" val="1566955868"/>
                      </a:ext>
                    </a:extLst>
                  </a:tr>
                  <a:tr h="497087">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cs typeface="Segoe UI" panose="020B0502040204020203" pitchFamily="34" charset="0"/>
                                  </a:rPr>
                                  <m:t>𝟑</m:t>
                                </m:r>
                              </m:oMath>
                            </m:oMathPara>
                          </a14:m>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rPr>
                                  <m:t>𝟏</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𝟐</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𝟓</m:t>
                                </m:r>
                              </m:oMath>
                            </m:oMathPara>
                          </a14:m>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1" i="1" noProof="0" smtClean="0">
                                    <a:latin typeface="Cambria Math" panose="02040503050406030204" pitchFamily="18" charset="0"/>
                                  </a:rPr>
                                  <m:t>𝟒</m:t>
                                </m:r>
                                <m:r>
                                  <a:rPr lang="en-US" sz="1800" b="1" i="1" noProof="0" smtClean="0">
                                    <a:latin typeface="Cambria Math" panose="02040503050406030204" pitchFamily="18" charset="0"/>
                                  </a:rPr>
                                  <m:t>,</m:t>
                                </m:r>
                                <m:r>
                                  <a:rPr lang="en-US" sz="1800" b="1" i="1" noProof="0" smtClean="0">
                                    <a:latin typeface="Cambria Math" panose="02040503050406030204" pitchFamily="18" charset="0"/>
                                  </a:rPr>
                                  <m:t>𝟔</m:t>
                                </m:r>
                              </m:oMath>
                            </m:oMathPara>
                          </a14:m>
                          <a:endParaRPr lang="en-US" sz="2000" b="1" noProof="0"/>
                        </a:p>
                      </a:txBody>
                      <a:tcPr anchor="ctr"/>
                    </a:tc>
                    <a:extLst>
                      <a:ext uri="{0D108BD9-81ED-4DB2-BD59-A6C34878D82A}">
                        <a16:rowId xmlns:a16="http://schemas.microsoft.com/office/drawing/2014/main" val="3527601718"/>
                      </a:ext>
                    </a:extLst>
                  </a:tr>
                </a:tbl>
              </a:graphicData>
            </a:graphic>
          </p:graphicFrame>
        </mc:Choice>
        <mc:Fallback xmlns="">
          <p:graphicFrame>
            <p:nvGraphicFramePr>
              <p:cNvPr id="6" name="Inhaltsplatzhalter 5">
                <a:extLst>
                  <a:ext uri="{FF2B5EF4-FFF2-40B4-BE49-F238E27FC236}">
                    <a16:creationId xmlns:a16="http://schemas.microsoft.com/office/drawing/2014/main" id="{93899BAA-8742-D882-B584-EDA0E722F3F2}"/>
                  </a:ext>
                </a:extLst>
              </p:cNvPr>
              <p:cNvGraphicFramePr>
                <a:graphicFrameLocks noGrp="1"/>
              </p:cNvGraphicFramePr>
              <p:nvPr>
                <p:ph idx="1"/>
                <p:extLst>
                  <p:ext uri="{D42A27DB-BD31-4B8C-83A1-F6EECF244321}">
                    <p14:modId xmlns:p14="http://schemas.microsoft.com/office/powerpoint/2010/main" val="1849936277"/>
                  </p:ext>
                </p:extLst>
              </p:nvPr>
            </p:nvGraphicFramePr>
            <p:xfrm>
              <a:off x="628650" y="963383"/>
              <a:ext cx="7886700" cy="994174"/>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3962552202"/>
                        </a:ext>
                      </a:extLst>
                    </a:gridCol>
                    <a:gridCol w="2628900">
                      <a:extLst>
                        <a:ext uri="{9D8B030D-6E8A-4147-A177-3AD203B41FA5}">
                          <a16:colId xmlns:a16="http://schemas.microsoft.com/office/drawing/2014/main" val="149204568"/>
                        </a:ext>
                      </a:extLst>
                    </a:gridCol>
                    <a:gridCol w="2628900">
                      <a:extLst>
                        <a:ext uri="{9D8B030D-6E8A-4147-A177-3AD203B41FA5}">
                          <a16:colId xmlns:a16="http://schemas.microsoft.com/office/drawing/2014/main" val="1278263022"/>
                        </a:ext>
                      </a:extLst>
                    </a:gridCol>
                  </a:tblGrid>
                  <a:tr h="497087">
                    <a:tc>
                      <a:txBody>
                        <a:bodyPr/>
                        <a:lstStyle/>
                        <a:p>
                          <a:pPr algn="ctr"/>
                          <a:r>
                            <a:rPr lang="en-US" sz="2200" noProof="0">
                              <a:latin typeface="Segoe UI" panose="020B0502040204020203" pitchFamily="34" charset="0"/>
                              <a:cs typeface="Segoe UI" panose="020B0502040204020203" pitchFamily="34" charset="0"/>
                            </a:rPr>
                            <a:t>Easy</a:t>
                          </a:r>
                        </a:p>
                      </a:txBody>
                      <a:tcPr anchor="ctr"/>
                    </a:tc>
                    <a:tc>
                      <a:txBody>
                        <a:bodyPr/>
                        <a:lstStyle/>
                        <a:p>
                          <a:pPr algn="ctr"/>
                          <a:r>
                            <a:rPr lang="en-US" sz="2200" noProof="0">
                              <a:latin typeface="Segoe UI" panose="020B0502040204020203" pitchFamily="34" charset="0"/>
                              <a:cs typeface="Segoe UI" panose="020B0502040204020203" pitchFamily="34" charset="0"/>
                            </a:rPr>
                            <a:t>Medium</a:t>
                          </a:r>
                        </a:p>
                      </a:txBody>
                      <a:tcPr anchor="ctr"/>
                    </a:tc>
                    <a:tc>
                      <a:txBody>
                        <a:bodyPr/>
                        <a:lstStyle/>
                        <a:p>
                          <a:pPr algn="ctr"/>
                          <a:r>
                            <a:rPr lang="en-US" sz="2200" noProof="0">
                              <a:latin typeface="Segoe UI" panose="020B0502040204020203" pitchFamily="34" charset="0"/>
                              <a:cs typeface="Segoe UI" panose="020B0502040204020203" pitchFamily="34" charset="0"/>
                            </a:rPr>
                            <a:t>Hard</a:t>
                          </a:r>
                        </a:p>
                      </a:txBody>
                      <a:tcPr anchor="ctr"/>
                    </a:tc>
                    <a:extLst>
                      <a:ext uri="{0D108BD9-81ED-4DB2-BD59-A6C34878D82A}">
                        <a16:rowId xmlns:a16="http://schemas.microsoft.com/office/drawing/2014/main" val="1566955868"/>
                      </a:ext>
                    </a:extLst>
                  </a:tr>
                  <a:tr h="497087">
                    <a:tc>
                      <a:txBody>
                        <a:bodyPr/>
                        <a:lstStyle/>
                        <a:p>
                          <a:endParaRPr lang="en-US"/>
                        </a:p>
                      </a:txBody>
                      <a:tcPr anchor="ctr">
                        <a:blipFill>
                          <a:blip r:embed="rId2"/>
                          <a:stretch>
                            <a:fillRect l="-232" t="-102439" r="-201392" b="-2439"/>
                          </a:stretch>
                        </a:blipFill>
                      </a:tcPr>
                    </a:tc>
                    <a:tc>
                      <a:txBody>
                        <a:bodyPr/>
                        <a:lstStyle/>
                        <a:p>
                          <a:endParaRPr lang="en-US"/>
                        </a:p>
                      </a:txBody>
                      <a:tcPr anchor="ctr">
                        <a:blipFill>
                          <a:blip r:embed="rId2"/>
                          <a:stretch>
                            <a:fillRect l="-100000" t="-102439" r="-100926" b="-2439"/>
                          </a:stretch>
                        </a:blipFill>
                      </a:tcPr>
                    </a:tc>
                    <a:tc>
                      <a:txBody>
                        <a:bodyPr/>
                        <a:lstStyle/>
                        <a:p>
                          <a:endParaRPr lang="en-US"/>
                        </a:p>
                      </a:txBody>
                      <a:tcPr anchor="ctr">
                        <a:blipFill>
                          <a:blip r:embed="rId2"/>
                          <a:stretch>
                            <a:fillRect l="-200464" t="-102439" r="-1160" b="-2439"/>
                          </a:stretch>
                        </a:blipFill>
                      </a:tcPr>
                    </a:tc>
                    <a:extLst>
                      <a:ext uri="{0D108BD9-81ED-4DB2-BD59-A6C34878D82A}">
                        <a16:rowId xmlns:a16="http://schemas.microsoft.com/office/drawing/2014/main" val="3527601718"/>
                      </a:ext>
                    </a:extLst>
                  </a:tr>
                </a:tbl>
              </a:graphicData>
            </a:graphic>
          </p:graphicFrame>
        </mc:Fallback>
      </mc:AlternateContent>
      <p:sp>
        <p:nvSpPr>
          <p:cNvPr id="4" name="Fußzeilenplatzhalter 3">
            <a:extLst>
              <a:ext uri="{FF2B5EF4-FFF2-40B4-BE49-F238E27FC236}">
                <a16:creationId xmlns:a16="http://schemas.microsoft.com/office/drawing/2014/main" id="{BB8B719D-70FB-7DAE-35F1-4131F7F4058D}"/>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0458931-4B41-5370-0EFE-FCA313A39116}"/>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23</a:t>
            </a:fld>
            <a:endParaRPr lang="en-US" kern="1200" noProof="0">
              <a:solidFill>
                <a:srgbClr val="101623">
                  <a:tint val="75000"/>
                </a:srgbClr>
              </a:solidFill>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B999B5A6-5CE1-678B-600B-D8284012A26E}"/>
                  </a:ext>
                </a:extLst>
              </p:cNvPr>
              <p:cNvSpPr txBox="1"/>
              <p:nvPr/>
            </p:nvSpPr>
            <p:spPr>
              <a:xfrm>
                <a:off x="226979" y="1957555"/>
                <a:ext cx="8709498" cy="2862322"/>
              </a:xfrm>
              <a:prstGeom prst="rect">
                <a:avLst/>
              </a:prstGeom>
              <a:noFill/>
            </p:spPr>
            <p:txBody>
              <a:bodyPr wrap="square" rtlCol="0">
                <a:spAutoFit/>
              </a:bodyPr>
              <a:lstStyle/>
              <a:p>
                <a:pPr marL="285750" indent="-285750">
                  <a:buFont typeface="Arial" panose="020B0604020202020204" pitchFamily="34" charset="0"/>
                  <a:buChar char="•"/>
                </a:pPr>
                <a:r>
                  <a:rPr lang="en-US" sz="1800" b="1" noProof="0">
                    <a:solidFill>
                      <a:srgbClr val="FF0000"/>
                    </a:solidFill>
                    <a:latin typeface="Segoe UI" panose="020B0502040204020203" pitchFamily="34" charset="0"/>
                    <a:cs typeface="Segoe UI" panose="020B0502040204020203" pitchFamily="34" charset="0"/>
                  </a:rPr>
                  <a:t>Nr. 1: </a:t>
                </a:r>
                <a:r>
                  <a:rPr lang="en-US" sz="1800" noProof="0">
                    <a:latin typeface="Segoe UI" panose="020B0502040204020203" pitchFamily="34" charset="0"/>
                    <a:cs typeface="Segoe UI" panose="020B0502040204020203" pitchFamily="34" charset="0"/>
                  </a:rPr>
                  <a:t>plug in </a:t>
                </a:r>
                <a14:m>
                  <m:oMath xmlns:m="http://schemas.openxmlformats.org/officeDocument/2006/math">
                    <m:r>
                      <a:rPr lang="en-US" sz="1800" i="1" noProof="0" smtClean="0">
                        <a:latin typeface="Cambria Math" panose="02040503050406030204" pitchFamily="18" charset="0"/>
                        <a:cs typeface="Segoe UI" panose="020B0502040204020203" pitchFamily="34" charset="0"/>
                      </a:rPr>
                      <m:t>𝑢</m:t>
                    </m:r>
                    <m:r>
                      <a:rPr lang="en-US" sz="1800" i="1" noProof="0" smtClean="0">
                        <a:latin typeface="Cambria Math" panose="02040503050406030204" pitchFamily="18" charset="0"/>
                        <a:cs typeface="Segoe UI" panose="020B0502040204020203" pitchFamily="34" charset="0"/>
                      </a:rPr>
                      <m:t>=−</m:t>
                    </m:r>
                    <m:r>
                      <a:rPr lang="en-US" sz="1800" i="1" noProof="0" smtClean="0">
                        <a:latin typeface="Cambria Math" panose="02040503050406030204" pitchFamily="18" charset="0"/>
                        <a:cs typeface="Segoe UI" panose="020B0502040204020203" pitchFamily="34" charset="0"/>
                      </a:rPr>
                      <m:t>𝑘𝑦</m:t>
                    </m:r>
                  </m:oMath>
                </a14:m>
                <a:r>
                  <a:rPr lang="en-US" sz="1800" noProof="0">
                    <a:latin typeface="Segoe UI" panose="020B0502040204020203" pitchFamily="34" charset="0"/>
                    <a:cs typeface="Segoe UI" panose="020B0502040204020203" pitchFamily="34" charset="0"/>
                  </a:rPr>
                  <a:t> in the state-space form and reorder it to find </a:t>
                </a:r>
                <a14:m>
                  <m:oMath xmlns:m="http://schemas.openxmlformats.org/officeDocument/2006/math">
                    <m:acc>
                      <m:accPr>
                        <m:chr m:val="̇"/>
                        <m:ctrlPr>
                          <a:rPr lang="en-US" sz="1800" i="1" noProof="0" smtClean="0">
                            <a:latin typeface="Cambria Math" panose="02040503050406030204" pitchFamily="18" charset="0"/>
                            <a:cs typeface="Segoe UI" panose="020B0502040204020203" pitchFamily="34" charset="0"/>
                          </a:rPr>
                        </m:ctrlPr>
                      </m:accPr>
                      <m:e>
                        <m:r>
                          <a:rPr lang="en-US" sz="1800" i="1" noProof="0" smtClean="0">
                            <a:latin typeface="Cambria Math" panose="02040503050406030204" pitchFamily="18" charset="0"/>
                            <a:cs typeface="Segoe UI" panose="020B0502040204020203" pitchFamily="34" charset="0"/>
                          </a:rPr>
                          <m:t>𝑥</m:t>
                        </m:r>
                      </m:e>
                    </m:acc>
                    <m:r>
                      <a:rPr lang="en-US" sz="1800" i="1" noProof="0" smtClean="0">
                        <a:latin typeface="Cambria Math" panose="02040503050406030204" pitchFamily="18" charset="0"/>
                        <a:cs typeface="Segoe UI" panose="020B0502040204020203" pitchFamily="34" charset="0"/>
                      </a:rPr>
                      <m:t>=</m:t>
                    </m:r>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𝐴</m:t>
                        </m:r>
                      </m:e>
                      <m:sub>
                        <m:r>
                          <a:rPr lang="en-US" sz="1800" i="1" noProof="0">
                            <a:latin typeface="Cambria Math" panose="02040503050406030204" pitchFamily="18" charset="0"/>
                            <a:cs typeface="Segoe UI" panose="020B0502040204020203" pitchFamily="34" charset="0"/>
                          </a:rPr>
                          <m:t>𝑐𝑙</m:t>
                        </m:r>
                      </m:sub>
                    </m:sSub>
                    <m:r>
                      <a:rPr lang="en-US" sz="1800" i="1" noProof="0" smtClean="0">
                        <a:latin typeface="Cambria Math" panose="02040503050406030204" pitchFamily="18" charset="0"/>
                        <a:cs typeface="Segoe UI" panose="020B0502040204020203" pitchFamily="34" charset="0"/>
                      </a:rPr>
                      <m:t>𝑥</m:t>
                    </m:r>
                  </m:oMath>
                </a14:m>
                <a:r>
                  <a:rPr lang="en-US" sz="1800" noProof="0">
                    <a:latin typeface="Segoe UI" panose="020B0502040204020203" pitchFamily="34" charset="0"/>
                    <a:cs typeface="Segoe UI" panose="020B0502040204020203" pitchFamily="34" charset="0"/>
                  </a:rPr>
                  <a:t> </a:t>
                </a:r>
              </a:p>
              <a:p>
                <a:pPr marL="285750" indent="-285750">
                  <a:buFont typeface="Arial" panose="020B0604020202020204" pitchFamily="34" charset="0"/>
                  <a:buChar char="•"/>
                </a:pPr>
                <a:r>
                  <a:rPr lang="en-US" sz="1800" b="1" noProof="0">
                    <a:solidFill>
                      <a:srgbClr val="FF0000"/>
                    </a:solidFill>
                    <a:latin typeface="Segoe UI" panose="020B0502040204020203" pitchFamily="34" charset="0"/>
                    <a:cs typeface="Segoe UI" panose="020B0502040204020203" pitchFamily="34" charset="0"/>
                  </a:rPr>
                  <a:t>Nr. 2:</a:t>
                </a:r>
                <a:r>
                  <a:rPr lang="en-US" sz="1800" noProof="0">
                    <a:solidFill>
                      <a:srgbClr val="FF0000"/>
                    </a:solidFill>
                    <a:latin typeface="Segoe UI" panose="020B0502040204020203" pitchFamily="34" charset="0"/>
                    <a:cs typeface="Segoe UI" panose="020B0502040204020203" pitchFamily="34" charset="0"/>
                  </a:rPr>
                  <a:t> </a:t>
                </a:r>
                <a:r>
                  <a:rPr lang="en-US" sz="1800" noProof="0">
                    <a:solidFill>
                      <a:schemeClr val="tx1"/>
                    </a:solidFill>
                    <a:latin typeface="Segoe UI" panose="020B0502040204020203" pitchFamily="34" charset="0"/>
                    <a:cs typeface="Segoe UI" panose="020B0502040204020203" pitchFamily="34" charset="0"/>
                  </a:rPr>
                  <a:t>Especially try to solve a) and d), e). Try understanding the solutions for b) and c) if you don’t want to solve it on your own. Focus more on the form of the root locus, instead of the exact breakaway points</a:t>
                </a:r>
              </a:p>
              <a:p>
                <a:pPr marL="285750" indent="-285750">
                  <a:buFont typeface="Arial" panose="020B0604020202020204" pitchFamily="34" charset="0"/>
                  <a:buChar char="•"/>
                </a:pPr>
                <a:r>
                  <a:rPr lang="en-US" sz="1800" b="1" noProof="0">
                    <a:solidFill>
                      <a:srgbClr val="FF0000"/>
                    </a:solidFill>
                    <a:latin typeface="Segoe UI" panose="020B0502040204020203" pitchFamily="34" charset="0"/>
                    <a:cs typeface="Segoe UI" panose="020B0502040204020203" pitchFamily="34" charset="0"/>
                  </a:rPr>
                  <a:t>Nr. 3:</a:t>
                </a:r>
                <a:r>
                  <a:rPr lang="en-US" sz="1800" noProof="0">
                    <a:latin typeface="Segoe UI" panose="020B0502040204020203" pitchFamily="34" charset="0"/>
                    <a:cs typeface="Segoe UI" panose="020B0502040204020203" pitchFamily="34" charset="0"/>
                  </a:rPr>
                  <a:t> Use magnitude &amp; phase rule</a:t>
                </a:r>
              </a:p>
              <a:p>
                <a:pPr marL="285750" indent="-285750">
                  <a:buFont typeface="Arial" panose="020B0604020202020204" pitchFamily="34" charset="0"/>
                  <a:buChar char="•"/>
                </a:pPr>
                <a:r>
                  <a:rPr lang="en-US" sz="1800" noProof="0">
                    <a:latin typeface="Segoe UI" panose="020B0502040204020203" pitchFamily="34" charset="0"/>
                    <a:cs typeface="Segoe UI" panose="020B0502040204020203" pitchFamily="34" charset="0"/>
                  </a:rPr>
                  <a:t>Nr. 4: Calculations get messy, try to understand solutions</a:t>
                </a:r>
              </a:p>
              <a:p>
                <a:pPr marL="285750" indent="-285750">
                  <a:buFont typeface="Arial" panose="020B0604020202020204" pitchFamily="34" charset="0"/>
                  <a:buChar char="•"/>
                </a:pPr>
                <a:r>
                  <a:rPr lang="en-US" sz="1800" b="1" noProof="0">
                    <a:solidFill>
                      <a:srgbClr val="FF0000"/>
                    </a:solidFill>
                    <a:latin typeface="Segoe UI" panose="020B0502040204020203" pitchFamily="34" charset="0"/>
                    <a:cs typeface="Segoe UI" panose="020B0502040204020203" pitchFamily="34" charset="0"/>
                  </a:rPr>
                  <a:t>Nr. 5:</a:t>
                </a:r>
                <a:r>
                  <a:rPr lang="en-US" sz="1800" noProof="0">
                    <a:latin typeface="Segoe UI" panose="020B0502040204020203" pitchFamily="34" charset="0"/>
                    <a:cs typeface="Segoe UI" panose="020B0502040204020203" pitchFamily="34" charset="0"/>
                  </a:rPr>
                  <a:t> for a) remember to be Lyapunov Stable: </a:t>
                </a:r>
                <a14:m>
                  <m:oMath xmlns:m="http://schemas.openxmlformats.org/officeDocument/2006/math">
                    <m:r>
                      <a:rPr lang="en-US" sz="1800" i="1" noProof="0">
                        <a:latin typeface="Cambria Math" panose="02040503050406030204" pitchFamily="18" charset="0"/>
                      </a:rPr>
                      <m:t>𝑅𝑒</m:t>
                    </m:r>
                    <m:d>
                      <m:dPr>
                        <m:ctrlPr>
                          <a:rPr lang="en-US" sz="1800" i="1" noProof="0">
                            <a:latin typeface="Cambria Math" panose="02040503050406030204" pitchFamily="18" charset="0"/>
                          </a:rPr>
                        </m:ctrlPr>
                      </m:dPr>
                      <m:e>
                        <m:sSub>
                          <m:sSubPr>
                            <m:ctrlPr>
                              <a:rPr lang="en-US" sz="1800" i="1" noProof="0">
                                <a:latin typeface="Cambria Math" panose="02040503050406030204" pitchFamily="18" charset="0"/>
                              </a:rPr>
                            </m:ctrlPr>
                          </m:sSubPr>
                          <m:e>
                            <m:r>
                              <a:rPr lang="en-US" sz="1800" i="1" noProof="0">
                                <a:latin typeface="Cambria Math" panose="02040503050406030204" pitchFamily="18" charset="0"/>
                              </a:rPr>
                              <m:t>𝜆</m:t>
                            </m:r>
                          </m:e>
                          <m:sub>
                            <m:r>
                              <a:rPr lang="en-US" sz="1800" i="1" noProof="0">
                                <a:latin typeface="Cambria Math" panose="02040503050406030204" pitchFamily="18" charset="0"/>
                              </a:rPr>
                              <m:t>𝑖</m:t>
                            </m:r>
                          </m:sub>
                        </m:sSub>
                      </m:e>
                    </m:d>
                    <m:r>
                      <a:rPr lang="en-US" sz="1800" i="1" noProof="0">
                        <a:latin typeface="Cambria Math" panose="02040503050406030204" pitchFamily="18" charset="0"/>
                      </a:rPr>
                      <m:t>≤0 ∀</m:t>
                    </m:r>
                    <m:r>
                      <a:rPr lang="en-US" sz="1800" i="1" noProof="0">
                        <a:latin typeface="Cambria Math" panose="02040503050406030204" pitchFamily="18" charset="0"/>
                      </a:rPr>
                      <m:t>𝑖</m:t>
                    </m:r>
                  </m:oMath>
                </a14:m>
                <a:r>
                  <a:rPr lang="en-US" sz="1800" noProof="0"/>
                  <a:t> </a:t>
                </a:r>
              </a:p>
              <a:p>
                <a:r>
                  <a:rPr lang="en-US" sz="1800" noProof="0">
                    <a:latin typeface="Segoe UI" panose="020B0502040204020203" pitchFamily="34" charset="0"/>
                    <a:cs typeface="Segoe UI" panose="020B0502040204020203" pitchFamily="34" charset="0"/>
                  </a:rPr>
                  <a:t>for b) you can solve the whole exercise only looking at open loop </a:t>
                </a:r>
                <a14:m>
                  <m:oMath xmlns:m="http://schemas.openxmlformats.org/officeDocument/2006/math">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𝑝</m:t>
                        </m:r>
                      </m:e>
                      <m:sub>
                        <m:r>
                          <a:rPr lang="en-US" sz="1800" i="1" noProof="0" smtClean="0">
                            <a:latin typeface="Cambria Math" panose="02040503050406030204" pitchFamily="18" charset="0"/>
                            <a:cs typeface="Segoe UI" panose="020B0502040204020203" pitchFamily="34" charset="0"/>
                          </a:rPr>
                          <m:t>𝑖</m:t>
                        </m:r>
                      </m:sub>
                    </m:sSub>
                    <m:r>
                      <a:rPr lang="en-US" sz="1800" i="1" noProof="0" smtClean="0">
                        <a:latin typeface="Cambria Math" panose="02040503050406030204" pitchFamily="18" charset="0"/>
                        <a:cs typeface="Segoe UI" panose="020B0502040204020203" pitchFamily="34" charset="0"/>
                      </a:rPr>
                      <m:t> &amp; </m:t>
                    </m:r>
                    <m:sSub>
                      <m:sSubPr>
                        <m:ctrlPr>
                          <a:rPr lang="en-US" sz="1800" i="1" noProof="0" smtClean="0">
                            <a:latin typeface="Cambria Math" panose="02040503050406030204" pitchFamily="18" charset="0"/>
                            <a:cs typeface="Segoe UI" panose="020B0502040204020203" pitchFamily="34" charset="0"/>
                          </a:rPr>
                        </m:ctrlPr>
                      </m:sSubPr>
                      <m:e>
                        <m:r>
                          <a:rPr lang="en-US" sz="1800" i="1" noProof="0" smtClean="0">
                            <a:latin typeface="Cambria Math" panose="02040503050406030204" pitchFamily="18" charset="0"/>
                            <a:cs typeface="Segoe UI" panose="020B0502040204020203" pitchFamily="34" charset="0"/>
                          </a:rPr>
                          <m:t>𝑧</m:t>
                        </m:r>
                      </m:e>
                      <m:sub>
                        <m:r>
                          <a:rPr lang="en-US" sz="1800" i="1" noProof="0" smtClean="0">
                            <a:latin typeface="Cambria Math" panose="02040503050406030204" pitchFamily="18" charset="0"/>
                            <a:cs typeface="Segoe UI" panose="020B0502040204020203" pitchFamily="34" charset="0"/>
                          </a:rPr>
                          <m:t>𝑖</m:t>
                        </m:r>
                      </m:sub>
                    </m:sSub>
                  </m:oMath>
                </a14:m>
                <a:endParaRPr lang="en-US" sz="1800" noProof="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noProof="0">
                    <a:latin typeface="Segoe UI" panose="020B0502040204020203" pitchFamily="34" charset="0"/>
                    <a:cs typeface="Segoe UI" panose="020B0502040204020203" pitchFamily="34" charset="0"/>
                  </a:rPr>
                  <a:t>Nr.6: look at the slides for the derivation of </a:t>
                </a:r>
                <a14:m>
                  <m:oMath xmlns:m="http://schemas.openxmlformats.org/officeDocument/2006/math">
                    <m:r>
                      <a:rPr lang="en-US" sz="1800" i="1" noProof="0" smtClean="0">
                        <a:latin typeface="Cambria Math" panose="02040503050406030204" pitchFamily="18" charset="0"/>
                        <a:cs typeface="Segoe UI" panose="020B0502040204020203" pitchFamily="34" charset="0"/>
                      </a:rPr>
                      <m:t>𝑇</m:t>
                    </m:r>
                    <m:r>
                      <a:rPr lang="en-US" sz="1800" i="1" noProof="0" smtClean="0">
                        <a:latin typeface="Cambria Math" panose="02040503050406030204" pitchFamily="18" charset="0"/>
                        <a:cs typeface="Segoe UI" panose="020B0502040204020203" pitchFamily="34" charset="0"/>
                      </a:rPr>
                      <m:t>(</m:t>
                    </m:r>
                    <m:r>
                      <a:rPr lang="en-US" sz="1800" i="1" noProof="0" smtClean="0">
                        <a:latin typeface="Cambria Math" panose="02040503050406030204" pitchFamily="18" charset="0"/>
                        <a:cs typeface="Segoe UI" panose="020B0502040204020203" pitchFamily="34" charset="0"/>
                      </a:rPr>
                      <m:t>𝑠</m:t>
                    </m:r>
                    <m:r>
                      <a:rPr lang="en-US" sz="1800" i="1" noProof="0" smtClean="0">
                        <a:latin typeface="Cambria Math" panose="02040503050406030204" pitchFamily="18" charset="0"/>
                        <a:cs typeface="Segoe UI" panose="020B0502040204020203" pitchFamily="34" charset="0"/>
                      </a:rPr>
                      <m:t>) </m:t>
                    </m:r>
                  </m:oMath>
                </a14:m>
                <a:r>
                  <a:rPr lang="en-US" sz="1800" noProof="0">
                    <a:latin typeface="Segoe UI" panose="020B0502040204020203" pitchFamily="34" charset="0"/>
                    <a:cs typeface="Segoe UI" panose="020B0502040204020203" pitchFamily="34" charset="0"/>
                  </a:rPr>
                  <a:t>and apply it, can give you a good understanding for deriving various transfer functions</a:t>
                </a:r>
              </a:p>
            </p:txBody>
          </p:sp>
        </mc:Choice>
        <mc:Fallback xmlns="">
          <p:sp>
            <p:nvSpPr>
              <p:cNvPr id="7" name="Textfeld 6">
                <a:extLst>
                  <a:ext uri="{FF2B5EF4-FFF2-40B4-BE49-F238E27FC236}">
                    <a16:creationId xmlns:a16="http://schemas.microsoft.com/office/drawing/2014/main" id="{B999B5A6-5CE1-678B-600B-D8284012A26E}"/>
                  </a:ext>
                </a:extLst>
              </p:cNvPr>
              <p:cNvSpPr txBox="1">
                <a:spLocks noRot="1" noChangeAspect="1" noMove="1" noResize="1" noEditPoints="1" noAdjustHandles="1" noChangeArrowheads="1" noChangeShapeType="1" noTextEdit="1"/>
              </p:cNvSpPr>
              <p:nvPr/>
            </p:nvSpPr>
            <p:spPr>
              <a:xfrm>
                <a:off x="226979" y="1957555"/>
                <a:ext cx="8709498" cy="2862322"/>
              </a:xfrm>
              <a:prstGeom prst="rect">
                <a:avLst/>
              </a:prstGeom>
              <a:blipFill>
                <a:blip r:embed="rId3"/>
                <a:stretch>
                  <a:fillRect l="-560" t="-851" r="-910" b="-2553"/>
                </a:stretch>
              </a:blipFill>
            </p:spPr>
            <p:txBody>
              <a:bodyPr/>
              <a:lstStyle/>
              <a:p>
                <a:r>
                  <a:rPr lang="en-US">
                    <a:noFill/>
                  </a:rPr>
                  <a:t> </a:t>
                </a:r>
              </a:p>
            </p:txBody>
          </p:sp>
        </mc:Fallback>
      </mc:AlternateContent>
      <p:sp>
        <p:nvSpPr>
          <p:cNvPr id="3" name="Rectangle: Rounded Corners 17">
            <a:extLst>
              <a:ext uri="{FF2B5EF4-FFF2-40B4-BE49-F238E27FC236}">
                <a16:creationId xmlns:a16="http://schemas.microsoft.com/office/drawing/2014/main" id="{2393670F-C058-9152-541B-F75E93C8FDAF}"/>
              </a:ext>
            </a:extLst>
          </p:cNvPr>
          <p:cNvSpPr/>
          <p:nvPr/>
        </p:nvSpPr>
        <p:spPr>
          <a:xfrm>
            <a:off x="5557737" y="29241"/>
            <a:ext cx="3586264" cy="733834"/>
          </a:xfrm>
          <a:prstGeom prst="roundRect">
            <a:avLst>
              <a:gd name="adj" fmla="val 12642"/>
            </a:avLst>
          </a:prstGeom>
          <a:solidFill>
            <a:schemeClr val="tx1">
              <a:lumMod val="90000"/>
              <a:lumOff val="10000"/>
            </a:schemeClr>
          </a:solidFill>
          <a:ln>
            <a:noFill/>
          </a:ln>
        </p:spPr>
        <p:style>
          <a:lnRef idx="2">
            <a:schemeClr val="dk1">
              <a:shade val="50000"/>
            </a:schemeClr>
          </a:lnRef>
          <a:fillRef idx="1">
            <a:schemeClr val="dk1"/>
          </a:fillRef>
          <a:effectRef idx="0">
            <a:schemeClr val="dk1"/>
          </a:effectRef>
          <a:fontRef idx="minor">
            <a:schemeClr val="lt1"/>
          </a:fontRef>
        </p:style>
        <p:txBody>
          <a:bodyPr lIns="360000" rtlCol="0" anchor="ctr"/>
          <a:lstStyle/>
          <a:p>
            <a:r>
              <a:rPr lang="en-US" noProof="0">
                <a:latin typeface="Segoe UI" panose="020B0502040204020203" pitchFamily="34" charset="0"/>
                <a:cs typeface="Segoe UI" panose="020B0502040204020203" pitchFamily="34" charset="0"/>
              </a:rPr>
              <a:t>I personally would recommend solving at least the problems marked red</a:t>
            </a:r>
          </a:p>
        </p:txBody>
      </p:sp>
    </p:spTree>
    <p:extLst>
      <p:ext uri="{BB962C8B-B14F-4D97-AF65-F5344CB8AC3E}">
        <p14:creationId xmlns:p14="http://schemas.microsoft.com/office/powerpoint/2010/main" val="2037288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E65319-C120-C099-FB22-07576EC8CCDC}"/>
              </a:ext>
            </a:extLst>
          </p:cNvPr>
          <p:cNvSpPr>
            <a:spLocks noGrp="1"/>
          </p:cNvSpPr>
          <p:nvPr>
            <p:ph type="ctrTitle"/>
          </p:nvPr>
        </p:nvSpPr>
        <p:spPr/>
        <p:txBody>
          <a:bodyPr/>
          <a:lstStyle/>
          <a:p>
            <a:r>
              <a:rPr lang="en-US" noProof="0"/>
              <a:t>Questions?</a:t>
            </a:r>
          </a:p>
        </p:txBody>
      </p:sp>
      <p:sp>
        <p:nvSpPr>
          <p:cNvPr id="3" name="Untertitel 2">
            <a:extLst>
              <a:ext uri="{FF2B5EF4-FFF2-40B4-BE49-F238E27FC236}">
                <a16:creationId xmlns:a16="http://schemas.microsoft.com/office/drawing/2014/main" id="{8CABF65E-A2BE-C5A3-A238-B2C34F5C372C}"/>
              </a:ext>
            </a:extLst>
          </p:cNvPr>
          <p:cNvSpPr>
            <a:spLocks noGrp="1"/>
          </p:cNvSpPr>
          <p:nvPr>
            <p:ph type="subTitle" idx="1"/>
          </p:nvPr>
        </p:nvSpPr>
        <p:spPr/>
        <p:txBody>
          <a:bodyPr/>
          <a:lstStyle/>
          <a:p>
            <a:endParaRPr lang="en-US" noProof="0"/>
          </a:p>
        </p:txBody>
      </p:sp>
      <p:sp>
        <p:nvSpPr>
          <p:cNvPr id="4" name="Fußzeilenplatzhalter 3">
            <a:extLst>
              <a:ext uri="{FF2B5EF4-FFF2-40B4-BE49-F238E27FC236}">
                <a16:creationId xmlns:a16="http://schemas.microsoft.com/office/drawing/2014/main" id="{CEF77125-0866-A1E0-1A75-FABC1474E211}"/>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18004AFB-473A-87EE-195F-BED0DD24BB2A}"/>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24</a:t>
            </a:fld>
            <a:endParaRPr lang="en-US" kern="1200" noProof="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1242721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62236-C78D-1583-548D-CDC22CC086D8}"/>
              </a:ext>
            </a:extLst>
          </p:cNvPr>
          <p:cNvSpPr>
            <a:spLocks noGrp="1"/>
          </p:cNvSpPr>
          <p:nvPr>
            <p:ph type="ctrTitle"/>
          </p:nvPr>
        </p:nvSpPr>
        <p:spPr>
          <a:xfrm>
            <a:off x="1143000" y="599514"/>
            <a:ext cx="6858000" cy="1790700"/>
          </a:xfrm>
        </p:spPr>
        <p:txBody>
          <a:bodyPr/>
          <a:lstStyle/>
          <a:p>
            <a:r>
              <a:rPr lang="en-US" noProof="0"/>
              <a:t>Feedback? </a:t>
            </a:r>
          </a:p>
        </p:txBody>
      </p:sp>
      <p:sp>
        <p:nvSpPr>
          <p:cNvPr id="3" name="Untertitel 2">
            <a:extLst>
              <a:ext uri="{FF2B5EF4-FFF2-40B4-BE49-F238E27FC236}">
                <a16:creationId xmlns:a16="http://schemas.microsoft.com/office/drawing/2014/main" id="{CB38DF9A-4CB3-2931-74A1-D2FC05310A1B}"/>
              </a:ext>
            </a:extLst>
          </p:cNvPr>
          <p:cNvSpPr>
            <a:spLocks noGrp="1"/>
          </p:cNvSpPr>
          <p:nvPr>
            <p:ph type="subTitle" idx="1"/>
          </p:nvPr>
        </p:nvSpPr>
        <p:spPr>
          <a:xfrm>
            <a:off x="400589" y="2494113"/>
            <a:ext cx="8342822" cy="1241822"/>
          </a:xfrm>
        </p:spPr>
        <p:txBody>
          <a:bodyPr>
            <a:normAutofit lnSpcReduction="10000"/>
          </a:bodyPr>
          <a:lstStyle/>
          <a:p>
            <a:r>
              <a:rPr lang="en-US" noProof="0"/>
              <a:t>Too fast? Too slow? Less theory, more exercises?</a:t>
            </a:r>
          </a:p>
          <a:p>
            <a:r>
              <a:rPr lang="en-US" noProof="0"/>
              <a:t>I would appreciate your feedback. Please let me know.</a:t>
            </a:r>
          </a:p>
          <a:p>
            <a:r>
              <a:rPr lang="en-US" noProof="0">
                <a:hlinkClick r:id="rId2"/>
              </a:rPr>
              <a:t>https://docs.google.com/forms/d/e/1FAIpQLSdHl0kjWo63aNzDkAV0cnmQadCAj5L0D7v7aSh0BK7BBdEgpA/viewform?usp=header</a:t>
            </a:r>
            <a:endParaRPr lang="en-US" noProof="0"/>
          </a:p>
          <a:p>
            <a:endParaRPr lang="en-US" noProof="0"/>
          </a:p>
        </p:txBody>
      </p:sp>
      <p:sp>
        <p:nvSpPr>
          <p:cNvPr id="4" name="Fußzeilenplatzhalter 3">
            <a:extLst>
              <a:ext uri="{FF2B5EF4-FFF2-40B4-BE49-F238E27FC236}">
                <a16:creationId xmlns:a16="http://schemas.microsoft.com/office/drawing/2014/main" id="{D0382365-2B79-A2DC-45B8-AA3C069F09F9}"/>
              </a:ext>
            </a:extLst>
          </p:cNvPr>
          <p:cNvSpPr>
            <a:spLocks noGrp="1"/>
          </p:cNvSpPr>
          <p:nvPr>
            <p:ph type="ftr" sz="quarter" idx="11"/>
          </p:nvPr>
        </p:nvSpPr>
        <p:spPr/>
        <p:txBody>
          <a:bodyPr/>
          <a:lstStyle/>
          <a:p>
            <a:pPr defTabSz="342900">
              <a:buClrTx/>
            </a:pPr>
            <a:r>
              <a:rPr lang="en-US" kern="1200" noProof="0">
                <a:solidFill>
                  <a:srgbClr val="101623">
                    <a:tint val="75000"/>
                  </a:srgbClr>
                </a:solidFill>
                <a:latin typeface="Calibri" panose="020F0502020204030204"/>
                <a:ea typeface="+mn-ea"/>
                <a:cs typeface="+mn-cs"/>
              </a:rPr>
              <a:t>Kissan Varatharajan - </a:t>
            </a:r>
            <a:r>
              <a:rPr lang="en-US" kern="1200" noProof="0" err="1">
                <a:solidFill>
                  <a:srgbClr val="101623">
                    <a:tint val="75000"/>
                  </a:srgbClr>
                </a:solidFill>
                <a:latin typeface="Calibri" panose="020F0502020204030204"/>
                <a:ea typeface="+mn-ea"/>
                <a:cs typeface="+mn-cs"/>
              </a:rPr>
              <a:t>kissanv.github.io</a:t>
            </a:r>
            <a:endParaRPr lang="en-US" kern="1200" noProof="0">
              <a:solidFill>
                <a:srgbClr val="101623">
                  <a:tint val="75000"/>
                </a:srgbClr>
              </a:solidFill>
              <a:latin typeface="Calibri" panose="020F0502020204030204"/>
              <a:ea typeface="+mn-ea"/>
              <a:cs typeface="+mn-cs"/>
            </a:endParaRPr>
          </a:p>
        </p:txBody>
      </p:sp>
      <p:sp>
        <p:nvSpPr>
          <p:cNvPr id="5" name="Foliennummernplatzhalter 4">
            <a:extLst>
              <a:ext uri="{FF2B5EF4-FFF2-40B4-BE49-F238E27FC236}">
                <a16:creationId xmlns:a16="http://schemas.microsoft.com/office/drawing/2014/main" id="{374564F6-4B5F-BBD9-45BC-F1FCCD4F698F}"/>
              </a:ext>
            </a:extLst>
          </p:cNvPr>
          <p:cNvSpPr>
            <a:spLocks noGrp="1"/>
          </p:cNvSpPr>
          <p:nvPr>
            <p:ph type="sldNum" sz="quarter" idx="12"/>
          </p:nvPr>
        </p:nvSpPr>
        <p:spPr/>
        <p:txBody>
          <a:bodyPr/>
          <a:lstStyle/>
          <a:p>
            <a:pPr defTabSz="342900">
              <a:buClrTx/>
            </a:pPr>
            <a:fld id="{36EAFFE7-40E2-CA47-82C0-73D0FC591208}" type="slidenum">
              <a:rPr lang="en-US" kern="1200" noProof="0" smtClean="0">
                <a:solidFill>
                  <a:srgbClr val="101623">
                    <a:tint val="75000"/>
                  </a:srgbClr>
                </a:solidFill>
                <a:latin typeface="Calibri" panose="020F0502020204030204"/>
                <a:ea typeface="+mn-ea"/>
                <a:cs typeface="+mn-cs"/>
              </a:rPr>
              <a:pPr defTabSz="342900">
                <a:buClrTx/>
              </a:pPr>
              <a:t>25</a:t>
            </a:fld>
            <a:endParaRPr lang="en-US" kern="1200" noProof="0">
              <a:solidFill>
                <a:srgbClr val="101623">
                  <a:tint val="75000"/>
                </a:srgbClr>
              </a:solidFill>
              <a:latin typeface="Calibri" panose="020F0502020204030204"/>
              <a:ea typeface="+mn-ea"/>
              <a:cs typeface="+mn-cs"/>
            </a:endParaRPr>
          </a:p>
        </p:txBody>
      </p:sp>
    </p:spTree>
    <p:extLst>
      <p:ext uri="{BB962C8B-B14F-4D97-AF65-F5344CB8AC3E}">
        <p14:creationId xmlns:p14="http://schemas.microsoft.com/office/powerpoint/2010/main" val="4182598170"/>
      </p:ext>
    </p:extLst>
  </p:cSld>
  <p:clrMapOvr>
    <a:masterClrMapping/>
  </p:clrMapOvr>
</p:sld>
</file>

<file path=ppt/theme/theme1.xml><?xml version="1.0" encoding="utf-8"?>
<a:theme xmlns:a="http://schemas.openxmlformats.org/drawingml/2006/main" name="Office">
  <a:themeElements>
    <a:clrScheme name="Custom 1">
      <a:dk1>
        <a:srgbClr val="101623"/>
      </a:dk1>
      <a:lt1>
        <a:srgbClr val="FFFFFF"/>
      </a:lt1>
      <a:dk2>
        <a:srgbClr val="44546A"/>
      </a:dk2>
      <a:lt2>
        <a:srgbClr val="E7E6E6"/>
      </a:lt2>
      <a:accent1>
        <a:srgbClr val="4472C4"/>
      </a:accent1>
      <a:accent2>
        <a:srgbClr val="ED7DEA"/>
      </a:accent2>
      <a:accent3>
        <a:srgbClr val="47DE13"/>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1_Week5_kvaratharaja_annotated" id="{1325B490-456F-614D-BFB2-E826360AF242}" vid="{3DDC5642-7B7C-754C-809D-713C14150B8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Template>
  <TotalTime>0</TotalTime>
  <Words>1239</Words>
  <Application>Microsoft Macintosh PowerPoint</Application>
  <PresentationFormat>Bildschirmpräsentation (16:9)</PresentationFormat>
  <Paragraphs>259</Paragraphs>
  <Slides>25</Slides>
  <Notes>5</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25</vt:i4>
      </vt:variant>
    </vt:vector>
  </HeadingPairs>
  <TitlesOfParts>
    <vt:vector size="34" baseType="lpstr">
      <vt:lpstr>Arial</vt:lpstr>
      <vt:lpstr>Calibri</vt:lpstr>
      <vt:lpstr>Cambria Math</vt:lpstr>
      <vt:lpstr>Segoe UI Semibold</vt:lpstr>
      <vt:lpstr>Segoe UI Black</vt:lpstr>
      <vt:lpstr>Segoe UI</vt:lpstr>
      <vt:lpstr>Segoe UI Light</vt:lpstr>
      <vt:lpstr>Quattrocento Sans</vt:lpstr>
      <vt:lpstr>Office</vt:lpstr>
      <vt:lpstr>CS1 Week 8</vt:lpstr>
      <vt:lpstr>Recap Last Week</vt:lpstr>
      <vt:lpstr>Quiz 1</vt:lpstr>
      <vt:lpstr>Quiz 1</vt:lpstr>
      <vt:lpstr>Quiz 2</vt:lpstr>
      <vt:lpstr>Quiz 2</vt:lpstr>
      <vt:lpstr>Course Schedule</vt:lpstr>
      <vt:lpstr>Today</vt:lpstr>
      <vt:lpstr>1. System Specifications</vt:lpstr>
      <vt:lpstr>Introduction</vt:lpstr>
      <vt:lpstr>Steady-State Error</vt:lpstr>
      <vt:lpstr>Integrators</vt:lpstr>
      <vt:lpstr>PowerPoint-Präsentation</vt:lpstr>
      <vt:lpstr>2. Time-Domain Specifications</vt:lpstr>
      <vt:lpstr>Time-Domain Specifications</vt:lpstr>
      <vt:lpstr>Step Response of a 1st Order System</vt:lpstr>
      <vt:lpstr>Step Response of a 2nd Order System</vt:lpstr>
      <vt:lpstr>Dominant Poles Approximation</vt:lpstr>
      <vt:lpstr>Dominant Poles Approximation</vt:lpstr>
      <vt:lpstr>Dominant Poles Approximation</vt:lpstr>
      <vt:lpstr>Time-Domain Specifications Visualization</vt:lpstr>
      <vt:lpstr>3. PID-Control</vt:lpstr>
      <vt:lpstr>Tips for Problem Set 6</vt:lpstr>
      <vt:lpstr>Questions?</vt:lpstr>
      <vt:lpstr>Feedback?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 Week 6 Annotated</dc:title>
  <dc:creator>Varatharajan  Kissan</dc:creator>
  <cp:lastModifiedBy>Varatharajan  Kissan</cp:lastModifiedBy>
  <cp:revision>5</cp:revision>
  <dcterms:created xsi:type="dcterms:W3CDTF">2025-10-18T14:01:04Z</dcterms:created>
  <dcterms:modified xsi:type="dcterms:W3CDTF">2025-11-05T07:44:55Z</dcterms:modified>
</cp:coreProperties>
</file>