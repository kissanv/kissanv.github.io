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Lst>
  <p:notesMasterIdLst>
    <p:notesMasterId r:id="rId35"/>
  </p:notesMasterIdLst>
  <p:handoutMasterIdLst>
    <p:handoutMasterId r:id="rId36"/>
  </p:handoutMasterIdLst>
  <p:sldIdLst>
    <p:sldId id="256" r:id="rId2"/>
    <p:sldId id="1052" r:id="rId3"/>
    <p:sldId id="1189" r:id="rId4"/>
    <p:sldId id="1217" r:id="rId5"/>
    <p:sldId id="1214" r:id="rId6"/>
    <p:sldId id="1221" r:id="rId7"/>
    <p:sldId id="1222" r:id="rId8"/>
    <p:sldId id="1139" r:id="rId9"/>
    <p:sldId id="1070" r:id="rId10"/>
    <p:sldId id="257" r:id="rId11"/>
    <p:sldId id="1097" r:id="rId12"/>
    <p:sldId id="1215" r:id="rId13"/>
    <p:sldId id="1225" r:id="rId14"/>
    <p:sldId id="1227" r:id="rId15"/>
    <p:sldId id="1228" r:id="rId16"/>
    <p:sldId id="1198" r:id="rId17"/>
    <p:sldId id="1229" r:id="rId18"/>
    <p:sldId id="1232" r:id="rId19"/>
    <p:sldId id="1233" r:id="rId20"/>
    <p:sldId id="1231" r:id="rId21"/>
    <p:sldId id="1234" r:id="rId22"/>
    <p:sldId id="1235" r:id="rId23"/>
    <p:sldId id="1238" r:id="rId24"/>
    <p:sldId id="1239" r:id="rId25"/>
    <p:sldId id="1247" r:id="rId26"/>
    <p:sldId id="1243" r:id="rId27"/>
    <p:sldId id="1245" r:id="rId28"/>
    <p:sldId id="1240" r:id="rId29"/>
    <p:sldId id="1244" r:id="rId30"/>
    <p:sldId id="1246" r:id="rId31"/>
    <p:sldId id="1171" r:id="rId32"/>
    <p:sldId id="1118" r:id="rId33"/>
    <p:sldId id="1067" r:id="rId34"/>
  </p:sldIdLst>
  <p:sldSz cx="9144000" cy="5143500" type="screen16x9"/>
  <p:notesSz cx="6858000" cy="9144000"/>
  <p:embeddedFontLst>
    <p:embeddedFont>
      <p:font typeface="Cambria Math" panose="02040503050406030204" pitchFamily="18" charset="0"/>
      <p:regular r:id="rId37"/>
    </p:embeddedFont>
    <p:embeddedFont>
      <p:font typeface="Quattrocento Sans" panose="020B0502050000020003" pitchFamily="34" charset="0"/>
      <p:regular r:id="rId38"/>
      <p:bold r:id="rId39"/>
      <p:italic r:id="rId40"/>
      <p:boldItalic r:id="rId41"/>
    </p:embeddedFont>
    <p:embeddedFont>
      <p:font typeface="Segoe UI" panose="020B0502040204020203" pitchFamily="34" charset="0"/>
      <p:regular r:id="rId42"/>
      <p:bold r:id="rId43"/>
      <p:italic r:id="rId44"/>
      <p:boldItalic r:id="rId45"/>
    </p:embeddedFont>
    <p:embeddedFont>
      <p:font typeface="Segoe UI Black" panose="020B0502040204020203" pitchFamily="34" charset="0"/>
      <p:bold r:id="rId46"/>
      <p:italic r:id="rId47"/>
      <p:boldItalic r:id="rId48"/>
    </p:embeddedFont>
    <p:embeddedFont>
      <p:font typeface="Segoe UI Light" panose="020B0502040204020203" pitchFamily="34" charset="0"/>
      <p:regular r:id="rId49"/>
      <p:italic r:id="rId50"/>
    </p:embeddedFont>
    <p:embeddedFont>
      <p:font typeface="Segoe UI Semibold" panose="020B0502040204020203" pitchFamily="34" charset="0"/>
      <p:regular r:id="rId51"/>
      <p:bold r:id="rId52"/>
      <p:italic r:id="rId53"/>
      <p:boldItalic r:id="rId5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Standardabschnitt" id="{C6295B93-5FFC-9442-A817-245B0E7A1F78}">
          <p14:sldIdLst>
            <p14:sldId id="256"/>
            <p14:sldId id="1052"/>
            <p14:sldId id="1189"/>
            <p14:sldId id="1217"/>
            <p14:sldId id="1214"/>
            <p14:sldId id="1221"/>
            <p14:sldId id="1222"/>
            <p14:sldId id="1139"/>
            <p14:sldId id="1070"/>
            <p14:sldId id="257"/>
          </p14:sldIdLst>
        </p14:section>
        <p14:section name="Time response" id="{1FBDD870-616A-2043-9AB2-93A2A117B0C5}">
          <p14:sldIdLst>
            <p14:sldId id="1097"/>
            <p14:sldId id="1215"/>
            <p14:sldId id="1225"/>
            <p14:sldId id="1227"/>
            <p14:sldId id="1228"/>
          </p14:sldIdLst>
        </p14:section>
        <p14:section name="System Response" id="{99F6F273-773A-6046-92C4-2E3701EFB2E9}">
          <p14:sldIdLst>
            <p14:sldId id="1198"/>
            <p14:sldId id="1229"/>
            <p14:sldId id="1232"/>
            <p14:sldId id="1233"/>
            <p14:sldId id="1231"/>
            <p14:sldId id="1234"/>
            <p14:sldId id="1235"/>
            <p14:sldId id="1238"/>
            <p14:sldId id="1239"/>
            <p14:sldId id="1247"/>
            <p14:sldId id="1243"/>
            <p14:sldId id="1245"/>
            <p14:sldId id="1240"/>
            <p14:sldId id="1244"/>
            <p14:sldId id="1246"/>
          </p14:sldIdLst>
        </p14:section>
        <p14:section name="Poles &amp; Zeros" id="{AB066B52-7B3D-FD40-BEC1-580AB52DEF13}">
          <p14:sldIdLst/>
        </p14:section>
        <p14:section name="Summary &amp; Problem Sets" id="{BCE4D2BE-C8A5-E54A-85DF-74588FB6A961}">
          <p14:sldIdLst>
            <p14:sldId id="1171"/>
          </p14:sldIdLst>
        </p14:section>
        <p14:section name="Ende" id="{FDF356B0-7B14-AF44-83A9-6B143533D1BA}">
          <p14:sldIdLst>
            <p14:sldId id="1118"/>
            <p14:sldId id="1067"/>
          </p14:sldIdLst>
        </p14:section>
      </p14:sectionLst>
    </p:ext>
    <p:ext uri="{EFAFB233-063F-42B5-8137-9DF3F51BA10A}">
      <p15:sldGuideLst xmlns:p15="http://schemas.microsoft.com/office/powerpoint/2012/main">
        <p15:guide id="1" orient="horz" pos="1620">
          <p15:clr>
            <a:srgbClr val="747775"/>
          </p15:clr>
        </p15:guide>
        <p15:guide id="2" pos="2880">
          <p15:clr>
            <a:srgbClr val="747775"/>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7E7E8"/>
    <a:srgbClr val="CCCCCC"/>
    <a:srgbClr val="E99460"/>
    <a:srgbClr val="FE7606"/>
    <a:srgbClr val="37CB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ittlere Formatvorlag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671"/>
    <p:restoredTop sz="94759"/>
  </p:normalViewPr>
  <p:slideViewPr>
    <p:cSldViewPr snapToGrid="0">
      <p:cViewPr>
        <p:scale>
          <a:sx n="168" d="100"/>
          <a:sy n="168" d="100"/>
        </p:scale>
        <p:origin x="568" y="144"/>
      </p:cViewPr>
      <p:guideLst>
        <p:guide orient="horz" pos="1620"/>
        <p:guide pos="288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3.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6.fntdata"/><Relationship Id="rId47" Type="http://schemas.openxmlformats.org/officeDocument/2006/relationships/font" Target="fonts/font11.fntdata"/><Relationship Id="rId50" Type="http://schemas.openxmlformats.org/officeDocument/2006/relationships/font" Target="fonts/font14.fntdata"/><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1.fntdata"/><Relationship Id="rId40" Type="http://schemas.openxmlformats.org/officeDocument/2006/relationships/font" Target="fonts/font4.fntdata"/><Relationship Id="rId45" Type="http://schemas.openxmlformats.org/officeDocument/2006/relationships/font" Target="fonts/font9.fntdata"/><Relationship Id="rId53" Type="http://schemas.openxmlformats.org/officeDocument/2006/relationships/font" Target="fonts/font17.fntdata"/><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43" Type="http://schemas.openxmlformats.org/officeDocument/2006/relationships/font" Target="fonts/font7.fntdata"/><Relationship Id="rId48" Type="http://schemas.openxmlformats.org/officeDocument/2006/relationships/font" Target="fonts/font12.fntdata"/><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font" Target="fonts/font15.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2.fntdata"/><Relationship Id="rId46" Type="http://schemas.openxmlformats.org/officeDocument/2006/relationships/font" Target="fonts/font10.fntdata"/><Relationship Id="rId20" Type="http://schemas.openxmlformats.org/officeDocument/2006/relationships/slide" Target="slides/slide19.xml"/><Relationship Id="rId41" Type="http://schemas.openxmlformats.org/officeDocument/2006/relationships/font" Target="fonts/font5.fntdata"/><Relationship Id="rId54" Type="http://schemas.openxmlformats.org/officeDocument/2006/relationships/font" Target="fonts/font18.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49" Type="http://schemas.openxmlformats.org/officeDocument/2006/relationships/font" Target="fonts/font13.fntdata"/><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8.fntdata"/><Relationship Id="rId52" Type="http://schemas.openxmlformats.org/officeDocument/2006/relationships/font" Target="fonts/font16.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6AB46D-7F9A-1F62-1FF7-AC60624C6E3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DD83487-D0BB-A389-B60D-19960FD2D2A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DD98D86-3ADD-8640-A1CB-F3A8CF3A4024}" type="datetimeFigureOut">
              <a:rPr lang="en-US" smtClean="0"/>
              <a:t>10/30/25</a:t>
            </a:fld>
            <a:endParaRPr lang="en-US"/>
          </a:p>
        </p:txBody>
      </p:sp>
      <p:sp>
        <p:nvSpPr>
          <p:cNvPr id="4" name="Footer Placeholder 3">
            <a:extLst>
              <a:ext uri="{FF2B5EF4-FFF2-40B4-BE49-F238E27FC236}">
                <a16:creationId xmlns:a16="http://schemas.microsoft.com/office/drawing/2014/main" id="{34F38B08-6768-38E3-58F8-47B150F727A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Rabe</a:t>
            </a:r>
          </a:p>
        </p:txBody>
      </p:sp>
      <p:sp>
        <p:nvSpPr>
          <p:cNvPr id="5" name="Slide Number Placeholder 4">
            <a:extLst>
              <a:ext uri="{FF2B5EF4-FFF2-40B4-BE49-F238E27FC236}">
                <a16:creationId xmlns:a16="http://schemas.microsoft.com/office/drawing/2014/main" id="{E527F451-074A-21A5-21F5-9B26F232EA3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E8363B5-5A7D-854B-843E-EB2CC41E3B6F}" type="slidenum">
              <a:rPr lang="en-US" smtClean="0"/>
              <a:t>‹Nr.›</a:t>
            </a:fld>
            <a:endParaRPr lang="en-US"/>
          </a:p>
        </p:txBody>
      </p:sp>
    </p:spTree>
    <p:extLst>
      <p:ext uri="{BB962C8B-B14F-4D97-AF65-F5344CB8AC3E}">
        <p14:creationId xmlns:p14="http://schemas.microsoft.com/office/powerpoint/2010/main" val="1823553715"/>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hf hdr="0" dt="0"/>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g2ccbe504443_1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2" name="Google Shape;62;g2ccbe504443_1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a:p>
        </p:txBody>
      </p:sp>
    </p:spTree>
    <p:extLst>
      <p:ext uri="{BB962C8B-B14F-4D97-AF65-F5344CB8AC3E}">
        <p14:creationId xmlns:p14="http://schemas.microsoft.com/office/powerpoint/2010/main" val="6501352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16612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dirty="0"/>
          </a:p>
        </p:txBody>
      </p:sp>
    </p:spTree>
    <p:extLst>
      <p:ext uri="{BB962C8B-B14F-4D97-AF65-F5344CB8AC3E}">
        <p14:creationId xmlns:p14="http://schemas.microsoft.com/office/powerpoint/2010/main" val="252629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2ccbe504443_1_184: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9" name="Google Shape;69;g2ccbe504443_1_18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762978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en-US"/>
          </a:p>
        </p:txBody>
      </p:sp>
    </p:spTree>
    <p:extLst>
      <p:ext uri="{BB962C8B-B14F-4D97-AF65-F5344CB8AC3E}">
        <p14:creationId xmlns:p14="http://schemas.microsoft.com/office/powerpoint/2010/main" val="20501541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r>
              <a:rPr lang="de-DE" dirty="0" err="1"/>
              <a:t>always</a:t>
            </a:r>
            <a:r>
              <a:rPr lang="de-DE" dirty="0"/>
              <a:t> an </a:t>
            </a:r>
            <a:r>
              <a:rPr lang="de-DE" dirty="0" err="1"/>
              <a:t>exam</a:t>
            </a:r>
            <a:r>
              <a:rPr lang="de-DE" dirty="0"/>
              <a:t> </a:t>
            </a:r>
            <a:r>
              <a:rPr lang="de-DE" dirty="0" err="1"/>
              <a:t>question</a:t>
            </a:r>
            <a:r>
              <a:rPr lang="de-DE" dirty="0"/>
              <a:t> </a:t>
            </a:r>
            <a:r>
              <a:rPr lang="de-DE" dirty="0" err="1"/>
              <a:t>about</a:t>
            </a:r>
            <a:r>
              <a:rPr lang="de-DE" dirty="0"/>
              <a:t> </a:t>
            </a:r>
            <a:r>
              <a:rPr lang="de-DE" dirty="0" err="1"/>
              <a:t>this</a:t>
            </a:r>
            <a:endParaRPr lang="de-DE" dirty="0"/>
          </a:p>
        </p:txBody>
      </p:sp>
    </p:spTree>
    <p:extLst>
      <p:ext uri="{BB962C8B-B14F-4D97-AF65-F5344CB8AC3E}">
        <p14:creationId xmlns:p14="http://schemas.microsoft.com/office/powerpoint/2010/main" val="1136001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b="1" i="0">
                <a:latin typeface="Segoe UI" panose="020B0502040204020203" pitchFamily="34" charset="0"/>
                <a:cs typeface="Segoe UI" panose="020B0502040204020203" pitchFamily="34" charset="0"/>
              </a:defRPr>
            </a:lvl1pPr>
          </a:lstStyle>
          <a:p>
            <a:r>
              <a:rPr lang="de-DE"/>
              <a:t>Mastertitelformat bearbeiten</a:t>
            </a:r>
            <a:endParaRPr lang="en-US"/>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b="0" i="0">
                <a:latin typeface="Segoe UI Light" panose="020B0402040204020203" pitchFamily="34" charset="0"/>
                <a:cs typeface="Segoe UI Light" panose="020B0402040204020203"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de-DE"/>
              <a:t>Master-Untertitelformat bearbeiten</a:t>
            </a:r>
            <a:endParaRPr lang="en-US"/>
          </a:p>
        </p:txBody>
      </p:sp>
      <p:sp>
        <p:nvSpPr>
          <p:cNvPr id="4" name="Date Placeholder 3"/>
          <p:cNvSpPr>
            <a:spLocks noGrp="1"/>
          </p:cNvSpPr>
          <p:nvPr>
            <p:ph type="dt" sz="half" idx="10"/>
          </p:nvPr>
        </p:nvSpPr>
        <p:spPr>
          <a:xfrm>
            <a:off x="628650" y="4767263"/>
            <a:ext cx="2057400" cy="273844"/>
          </a:xfrm>
          <a:prstGeom prst="rect">
            <a:avLst/>
          </a:prstGeom>
        </p:spPr>
        <p:txBody>
          <a:bodyPr/>
          <a:lstStyle/>
          <a:p>
            <a:pPr defTabSz="342900">
              <a:buClrTx/>
            </a:pPr>
            <a:fld id="{5790DAB1-6132-8E49-950C-7A4598C8BD5E}" type="datetime1">
              <a:rPr lang="de-CH" sz="1350" kern="1200" smtClean="0">
                <a:solidFill>
                  <a:srgbClr val="101623"/>
                </a:solidFill>
                <a:latin typeface="Calibri" panose="020F0502020204030204"/>
                <a:ea typeface="+mn-ea"/>
                <a:cs typeface="+mn-cs"/>
              </a:rPr>
              <a:t>30.10.25</a:t>
            </a:fld>
            <a:endParaRPr lang="en-CH" sz="1350" kern="1200">
              <a:solidFill>
                <a:srgbClr val="101623"/>
              </a:solidFill>
              <a:latin typeface="Calibri" panose="020F0502020204030204"/>
              <a:ea typeface="+mn-ea"/>
              <a:cs typeface="+mn-cs"/>
            </a:endParaRPr>
          </a:p>
        </p:txBody>
      </p:sp>
      <p:sp>
        <p:nvSpPr>
          <p:cNvPr id="5" name="Footer Placeholder 4"/>
          <p:cNvSpPr>
            <a:spLocks noGrp="1"/>
          </p:cNvSpPr>
          <p:nvPr>
            <p:ph type="ftr" sz="quarter" idx="11"/>
          </p:nvPr>
        </p:nvSpPr>
        <p:spPr/>
        <p:txBody>
          <a:bodyPr/>
          <a:lstStyle/>
          <a:p>
            <a:pPr defTabSz="342900">
              <a:buClrTx/>
            </a:pPr>
            <a:r>
              <a:rPr lang="de-CH" kern="1200">
                <a:solidFill>
                  <a:srgbClr val="101623">
                    <a:tint val="75000"/>
                  </a:srgbClr>
                </a:solidFill>
                <a:latin typeface="Calibri" panose="020F0502020204030204"/>
                <a:ea typeface="+mn-ea"/>
                <a:cs typeface="+mn-cs"/>
              </a:rPr>
              <a:t>Kissan Varatharajan - kissanv.github.io</a:t>
            </a:r>
            <a:endParaRPr lang="en-CH" kern="1200">
              <a:solidFill>
                <a:srgbClr val="101623">
                  <a:tint val="75000"/>
                </a:srgbClr>
              </a:solidFill>
              <a:latin typeface="Calibri" panose="020F0502020204030204"/>
              <a:ea typeface="+mn-ea"/>
              <a:cs typeface="+mn-cs"/>
            </a:endParaRPr>
          </a:p>
        </p:txBody>
      </p:sp>
      <p:sp>
        <p:nvSpPr>
          <p:cNvPr id="6" name="Slide Number Placeholder 5"/>
          <p:cNvSpPr>
            <a:spLocks noGrp="1"/>
          </p:cNvSpPr>
          <p:nvPr>
            <p:ph type="sldNum" sz="quarter" idx="12"/>
          </p:nvPr>
        </p:nvSpPr>
        <p:spPr/>
        <p:txBody>
          <a:bodyPr/>
          <a:lstStyle/>
          <a:p>
            <a:pPr defTabSz="342900">
              <a:buClrTx/>
            </a:pPr>
            <a:fld id="{36EAFFE7-40E2-CA47-82C0-73D0FC591208}" type="slidenum">
              <a:rPr lang="en-CH" kern="1200" smtClean="0">
                <a:solidFill>
                  <a:srgbClr val="101623">
                    <a:tint val="75000"/>
                  </a:srgbClr>
                </a:solidFill>
                <a:latin typeface="Calibri" panose="020F0502020204030204"/>
                <a:ea typeface="+mn-ea"/>
                <a:cs typeface="+mn-cs"/>
              </a:rPr>
              <a:pPr defTabSz="342900">
                <a:buClrTx/>
              </a:pPr>
              <a:t>‹Nr.›</a:t>
            </a:fld>
            <a:endParaRPr lang="en-CH" kern="1200">
              <a:solidFill>
                <a:srgbClr val="101623">
                  <a:tint val="75000"/>
                </a:srgbClr>
              </a:solidFill>
              <a:latin typeface="Calibri" panose="020F0502020204030204"/>
              <a:ea typeface="+mn-ea"/>
              <a:cs typeface="+mn-cs"/>
            </a:endParaRPr>
          </a:p>
        </p:txBody>
      </p:sp>
    </p:spTree>
    <p:extLst>
      <p:ext uri="{BB962C8B-B14F-4D97-AF65-F5344CB8AC3E}">
        <p14:creationId xmlns:p14="http://schemas.microsoft.com/office/powerpoint/2010/main" val="10721798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i="0">
                <a:latin typeface="Segoe UI Semibold" panose="020B0502040204020203" pitchFamily="34" charset="0"/>
                <a:cs typeface="Segoe UI Semibold" panose="020B0502040204020203" pitchFamily="34" charset="0"/>
              </a:defRPr>
            </a:lvl1pPr>
          </a:lstStyle>
          <a:p>
            <a:r>
              <a:rPr lang="de-DE"/>
              <a:t>Mastertitelformat bearbeiten</a:t>
            </a:r>
            <a:endParaRPr lang="en-US"/>
          </a:p>
        </p:txBody>
      </p:sp>
      <p:sp>
        <p:nvSpPr>
          <p:cNvPr id="3" name="Content Placeholder 2"/>
          <p:cNvSpPr>
            <a:spLocks noGrp="1"/>
          </p:cNvSpPr>
          <p:nvPr>
            <p:ph idx="1"/>
          </p:nvPr>
        </p:nvSpPr>
        <p:spPr/>
        <p:txBody>
          <a:bodyPr/>
          <a:lstStyle>
            <a:lvl1pPr>
              <a:defRPr sz="1800"/>
            </a:lvl1pPr>
            <a:lvl2pPr>
              <a:defRPr sz="1500"/>
            </a:lvl2pPr>
            <a:lvl3pPr>
              <a:defRPr sz="1200"/>
            </a:lvl3pPr>
            <a:lvl4pPr>
              <a:defRPr sz="1050"/>
            </a:lvl4pPr>
            <a:lvl5pPr>
              <a:defRPr sz="9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Date Placeholder 3"/>
          <p:cNvSpPr>
            <a:spLocks noGrp="1"/>
          </p:cNvSpPr>
          <p:nvPr>
            <p:ph type="dt" sz="half" idx="10"/>
          </p:nvPr>
        </p:nvSpPr>
        <p:spPr>
          <a:xfrm>
            <a:off x="628650" y="4767263"/>
            <a:ext cx="2057400" cy="273844"/>
          </a:xfrm>
          <a:prstGeom prst="rect">
            <a:avLst/>
          </a:prstGeom>
        </p:spPr>
        <p:txBody>
          <a:bodyPr/>
          <a:lstStyle/>
          <a:p>
            <a:pPr defTabSz="342900">
              <a:buClrTx/>
            </a:pPr>
            <a:fld id="{B0CD05D9-D09D-3D4F-ABB6-B8CE6E32BC22}" type="datetime1">
              <a:rPr lang="de-CH" sz="1350" kern="1200" smtClean="0">
                <a:solidFill>
                  <a:srgbClr val="101623"/>
                </a:solidFill>
                <a:latin typeface="Calibri" panose="020F0502020204030204"/>
                <a:ea typeface="+mn-ea"/>
                <a:cs typeface="+mn-cs"/>
              </a:rPr>
              <a:t>30.10.25</a:t>
            </a:fld>
            <a:endParaRPr lang="en-CH" sz="1350" kern="1200">
              <a:solidFill>
                <a:srgbClr val="101623"/>
              </a:solidFill>
              <a:latin typeface="Calibri" panose="020F0502020204030204"/>
              <a:ea typeface="+mn-ea"/>
              <a:cs typeface="+mn-cs"/>
            </a:endParaRPr>
          </a:p>
        </p:txBody>
      </p:sp>
      <p:sp>
        <p:nvSpPr>
          <p:cNvPr id="5" name="Footer Placeholder 4"/>
          <p:cNvSpPr>
            <a:spLocks noGrp="1"/>
          </p:cNvSpPr>
          <p:nvPr>
            <p:ph type="ftr" sz="quarter" idx="11"/>
          </p:nvPr>
        </p:nvSpPr>
        <p:spPr/>
        <p:txBody>
          <a:bodyPr/>
          <a:lstStyle/>
          <a:p>
            <a:pPr defTabSz="342900">
              <a:buClrTx/>
            </a:pPr>
            <a:r>
              <a:rPr lang="de-CH" kern="1200">
                <a:solidFill>
                  <a:srgbClr val="101623">
                    <a:tint val="75000"/>
                  </a:srgbClr>
                </a:solidFill>
                <a:latin typeface="Calibri" panose="020F0502020204030204"/>
                <a:ea typeface="+mn-ea"/>
                <a:cs typeface="+mn-cs"/>
              </a:rPr>
              <a:t>Kissan Varatharajan - kissanv.github.io</a:t>
            </a:r>
            <a:endParaRPr lang="en-CH" kern="1200">
              <a:solidFill>
                <a:srgbClr val="101623">
                  <a:tint val="75000"/>
                </a:srgbClr>
              </a:solidFill>
              <a:latin typeface="Calibri" panose="020F0502020204030204"/>
              <a:ea typeface="+mn-ea"/>
              <a:cs typeface="+mn-cs"/>
            </a:endParaRPr>
          </a:p>
        </p:txBody>
      </p:sp>
      <p:sp>
        <p:nvSpPr>
          <p:cNvPr id="6" name="Slide Number Placeholder 5"/>
          <p:cNvSpPr>
            <a:spLocks noGrp="1"/>
          </p:cNvSpPr>
          <p:nvPr>
            <p:ph type="sldNum" sz="quarter" idx="12"/>
          </p:nvPr>
        </p:nvSpPr>
        <p:spPr/>
        <p:txBody>
          <a:bodyPr/>
          <a:lstStyle/>
          <a:p>
            <a:pPr defTabSz="342900">
              <a:buClrTx/>
            </a:pPr>
            <a:fld id="{36EAFFE7-40E2-CA47-82C0-73D0FC591208}" type="slidenum">
              <a:rPr lang="en-CH" kern="1200" smtClean="0">
                <a:solidFill>
                  <a:srgbClr val="101623">
                    <a:tint val="75000"/>
                  </a:srgbClr>
                </a:solidFill>
                <a:latin typeface="Calibri" panose="020F0502020204030204"/>
                <a:ea typeface="+mn-ea"/>
                <a:cs typeface="+mn-cs"/>
              </a:rPr>
              <a:pPr defTabSz="342900">
                <a:buClrTx/>
              </a:pPr>
              <a:t>‹Nr.›</a:t>
            </a:fld>
            <a:endParaRPr lang="en-CH" kern="1200">
              <a:solidFill>
                <a:srgbClr val="101623">
                  <a:tint val="75000"/>
                </a:srgbClr>
              </a:solidFill>
              <a:latin typeface="Calibri" panose="020F0502020204030204"/>
              <a:ea typeface="+mn-ea"/>
              <a:cs typeface="+mn-cs"/>
            </a:endParaRPr>
          </a:p>
        </p:txBody>
      </p:sp>
    </p:spTree>
    <p:extLst>
      <p:ext uri="{BB962C8B-B14F-4D97-AF65-F5344CB8AC3E}">
        <p14:creationId xmlns:p14="http://schemas.microsoft.com/office/powerpoint/2010/main" val="19956539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de-DE"/>
              <a:t>Mastertitelformat bearbeiten</a:t>
            </a:r>
            <a:endParaRPr lang="en-US"/>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de-DE"/>
              <a:t>Mastertextformat bearbeiten</a:t>
            </a:r>
          </a:p>
        </p:txBody>
      </p:sp>
      <p:sp>
        <p:nvSpPr>
          <p:cNvPr id="4" name="Date Placeholder 3"/>
          <p:cNvSpPr>
            <a:spLocks noGrp="1"/>
          </p:cNvSpPr>
          <p:nvPr>
            <p:ph type="dt" sz="half" idx="10"/>
          </p:nvPr>
        </p:nvSpPr>
        <p:spPr>
          <a:xfrm>
            <a:off x="628650" y="4767263"/>
            <a:ext cx="2057400" cy="273844"/>
          </a:xfrm>
          <a:prstGeom prst="rect">
            <a:avLst/>
          </a:prstGeom>
        </p:spPr>
        <p:txBody>
          <a:bodyPr/>
          <a:lstStyle/>
          <a:p>
            <a:pPr defTabSz="342900">
              <a:buClrTx/>
            </a:pPr>
            <a:fld id="{6185C12D-6E52-F241-A7F7-3B7AD5C9557C}" type="datetime1">
              <a:rPr lang="de-CH" sz="1350" kern="1200" smtClean="0">
                <a:solidFill>
                  <a:srgbClr val="101623"/>
                </a:solidFill>
                <a:latin typeface="Calibri" panose="020F0502020204030204"/>
                <a:ea typeface="+mn-ea"/>
                <a:cs typeface="+mn-cs"/>
              </a:rPr>
              <a:t>30.10.25</a:t>
            </a:fld>
            <a:endParaRPr lang="en-CH" sz="1350" kern="1200">
              <a:solidFill>
                <a:srgbClr val="101623"/>
              </a:solidFill>
              <a:latin typeface="Calibri" panose="020F0502020204030204"/>
              <a:ea typeface="+mn-ea"/>
              <a:cs typeface="+mn-cs"/>
            </a:endParaRPr>
          </a:p>
        </p:txBody>
      </p:sp>
      <p:sp>
        <p:nvSpPr>
          <p:cNvPr id="5" name="Footer Placeholder 4"/>
          <p:cNvSpPr>
            <a:spLocks noGrp="1"/>
          </p:cNvSpPr>
          <p:nvPr>
            <p:ph type="ftr" sz="quarter" idx="11"/>
          </p:nvPr>
        </p:nvSpPr>
        <p:spPr/>
        <p:txBody>
          <a:bodyPr/>
          <a:lstStyle/>
          <a:p>
            <a:pPr defTabSz="342900">
              <a:buClrTx/>
            </a:pPr>
            <a:r>
              <a:rPr lang="de-CH" kern="1200">
                <a:solidFill>
                  <a:srgbClr val="101623">
                    <a:tint val="75000"/>
                  </a:srgbClr>
                </a:solidFill>
                <a:latin typeface="Calibri" panose="020F0502020204030204"/>
                <a:ea typeface="+mn-ea"/>
                <a:cs typeface="+mn-cs"/>
              </a:rPr>
              <a:t>Kissan Varatharajan - kissanv.github.io</a:t>
            </a:r>
            <a:endParaRPr lang="en-CH" kern="1200">
              <a:solidFill>
                <a:srgbClr val="101623">
                  <a:tint val="75000"/>
                </a:srgbClr>
              </a:solidFill>
              <a:latin typeface="Calibri" panose="020F0502020204030204"/>
              <a:ea typeface="+mn-ea"/>
              <a:cs typeface="+mn-cs"/>
            </a:endParaRPr>
          </a:p>
        </p:txBody>
      </p:sp>
      <p:sp>
        <p:nvSpPr>
          <p:cNvPr id="6" name="Slide Number Placeholder 5"/>
          <p:cNvSpPr>
            <a:spLocks noGrp="1"/>
          </p:cNvSpPr>
          <p:nvPr>
            <p:ph type="sldNum" sz="quarter" idx="12"/>
          </p:nvPr>
        </p:nvSpPr>
        <p:spPr/>
        <p:txBody>
          <a:bodyPr/>
          <a:lstStyle/>
          <a:p>
            <a:pPr defTabSz="342900">
              <a:buClrTx/>
            </a:pPr>
            <a:fld id="{36EAFFE7-40E2-CA47-82C0-73D0FC591208}" type="slidenum">
              <a:rPr lang="en-CH" kern="1200" smtClean="0">
                <a:solidFill>
                  <a:srgbClr val="101623">
                    <a:tint val="75000"/>
                  </a:srgbClr>
                </a:solidFill>
                <a:latin typeface="Calibri" panose="020F0502020204030204"/>
                <a:ea typeface="+mn-ea"/>
                <a:cs typeface="+mn-cs"/>
              </a:rPr>
              <a:pPr defTabSz="342900">
                <a:buClrTx/>
              </a:pPr>
              <a:t>‹Nr.›</a:t>
            </a:fld>
            <a:endParaRPr lang="en-CH" kern="1200">
              <a:solidFill>
                <a:srgbClr val="101623">
                  <a:tint val="75000"/>
                </a:srgbClr>
              </a:solidFill>
              <a:latin typeface="Calibri" panose="020F0502020204030204"/>
              <a:ea typeface="+mn-ea"/>
              <a:cs typeface="+mn-cs"/>
            </a:endParaRPr>
          </a:p>
        </p:txBody>
      </p:sp>
    </p:spTree>
    <p:extLst>
      <p:ext uri="{BB962C8B-B14F-4D97-AF65-F5344CB8AC3E}">
        <p14:creationId xmlns:p14="http://schemas.microsoft.com/office/powerpoint/2010/main" val="31021635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a:p>
        </p:txBody>
      </p:sp>
      <p:sp>
        <p:nvSpPr>
          <p:cNvPr id="3" name="Content Placeholder 2"/>
          <p:cNvSpPr>
            <a:spLocks noGrp="1"/>
          </p:cNvSpPr>
          <p:nvPr>
            <p:ph sz="half" idx="1"/>
          </p:nvPr>
        </p:nvSpPr>
        <p:spPr>
          <a:xfrm>
            <a:off x="628650" y="1369219"/>
            <a:ext cx="3886200" cy="3263504"/>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Content Placeholder 3"/>
          <p:cNvSpPr>
            <a:spLocks noGrp="1"/>
          </p:cNvSpPr>
          <p:nvPr>
            <p:ph sz="half" idx="2"/>
          </p:nvPr>
        </p:nvSpPr>
        <p:spPr>
          <a:xfrm>
            <a:off x="4629150" y="1369219"/>
            <a:ext cx="3886200" cy="3263504"/>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5" name="Date Placeholder 4"/>
          <p:cNvSpPr>
            <a:spLocks noGrp="1"/>
          </p:cNvSpPr>
          <p:nvPr>
            <p:ph type="dt" sz="half" idx="10"/>
          </p:nvPr>
        </p:nvSpPr>
        <p:spPr>
          <a:xfrm>
            <a:off x="628650" y="4767263"/>
            <a:ext cx="2057400" cy="273844"/>
          </a:xfrm>
          <a:prstGeom prst="rect">
            <a:avLst/>
          </a:prstGeom>
        </p:spPr>
        <p:txBody>
          <a:bodyPr/>
          <a:lstStyle/>
          <a:p>
            <a:pPr defTabSz="342900">
              <a:buClrTx/>
            </a:pPr>
            <a:fld id="{2EF7524D-3A07-A34A-9723-8DF210E9AD9A}" type="datetime1">
              <a:rPr lang="de-CH" sz="1350" kern="1200" smtClean="0">
                <a:solidFill>
                  <a:srgbClr val="101623"/>
                </a:solidFill>
                <a:latin typeface="Calibri" panose="020F0502020204030204"/>
                <a:ea typeface="+mn-ea"/>
                <a:cs typeface="+mn-cs"/>
              </a:rPr>
              <a:t>30.10.25</a:t>
            </a:fld>
            <a:endParaRPr lang="en-CH" sz="1350" kern="1200">
              <a:solidFill>
                <a:srgbClr val="101623"/>
              </a:solidFill>
              <a:latin typeface="Calibri" panose="020F0502020204030204"/>
              <a:ea typeface="+mn-ea"/>
              <a:cs typeface="+mn-cs"/>
            </a:endParaRPr>
          </a:p>
        </p:txBody>
      </p:sp>
      <p:sp>
        <p:nvSpPr>
          <p:cNvPr id="6" name="Footer Placeholder 5"/>
          <p:cNvSpPr>
            <a:spLocks noGrp="1"/>
          </p:cNvSpPr>
          <p:nvPr>
            <p:ph type="ftr" sz="quarter" idx="11"/>
          </p:nvPr>
        </p:nvSpPr>
        <p:spPr/>
        <p:txBody>
          <a:bodyPr/>
          <a:lstStyle/>
          <a:p>
            <a:pPr defTabSz="342900">
              <a:buClrTx/>
            </a:pPr>
            <a:r>
              <a:rPr lang="de-CH" kern="1200">
                <a:solidFill>
                  <a:srgbClr val="101623">
                    <a:tint val="75000"/>
                  </a:srgbClr>
                </a:solidFill>
                <a:latin typeface="Calibri" panose="020F0502020204030204"/>
                <a:ea typeface="+mn-ea"/>
                <a:cs typeface="+mn-cs"/>
              </a:rPr>
              <a:t>Kissan Varatharajan - kissanv.github.io</a:t>
            </a:r>
            <a:endParaRPr lang="en-CH" kern="1200">
              <a:solidFill>
                <a:srgbClr val="101623">
                  <a:tint val="75000"/>
                </a:srgbClr>
              </a:solidFill>
              <a:latin typeface="Calibri" panose="020F0502020204030204"/>
              <a:ea typeface="+mn-ea"/>
              <a:cs typeface="+mn-cs"/>
            </a:endParaRPr>
          </a:p>
        </p:txBody>
      </p:sp>
      <p:sp>
        <p:nvSpPr>
          <p:cNvPr id="7" name="Slide Number Placeholder 6"/>
          <p:cNvSpPr>
            <a:spLocks noGrp="1"/>
          </p:cNvSpPr>
          <p:nvPr>
            <p:ph type="sldNum" sz="quarter" idx="12"/>
          </p:nvPr>
        </p:nvSpPr>
        <p:spPr/>
        <p:txBody>
          <a:bodyPr/>
          <a:lstStyle/>
          <a:p>
            <a:pPr defTabSz="342900">
              <a:buClrTx/>
            </a:pPr>
            <a:fld id="{36EAFFE7-40E2-CA47-82C0-73D0FC591208}" type="slidenum">
              <a:rPr lang="en-CH" kern="1200" smtClean="0">
                <a:solidFill>
                  <a:srgbClr val="101623">
                    <a:tint val="75000"/>
                  </a:srgbClr>
                </a:solidFill>
                <a:latin typeface="Calibri" panose="020F0502020204030204"/>
                <a:ea typeface="+mn-ea"/>
                <a:cs typeface="+mn-cs"/>
              </a:rPr>
              <a:pPr defTabSz="342900">
                <a:buClrTx/>
              </a:pPr>
              <a:t>‹Nr.›</a:t>
            </a:fld>
            <a:endParaRPr lang="en-CH" kern="1200">
              <a:solidFill>
                <a:srgbClr val="101623">
                  <a:tint val="75000"/>
                </a:srgbClr>
              </a:solidFill>
              <a:latin typeface="Calibri" panose="020F0502020204030204"/>
              <a:ea typeface="+mn-ea"/>
              <a:cs typeface="+mn-cs"/>
            </a:endParaRPr>
          </a:p>
        </p:txBody>
      </p:sp>
    </p:spTree>
    <p:extLst>
      <p:ext uri="{BB962C8B-B14F-4D97-AF65-F5344CB8AC3E}">
        <p14:creationId xmlns:p14="http://schemas.microsoft.com/office/powerpoint/2010/main" val="39834781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de-DE"/>
              <a:t>Mastertitelformat bearbeiten</a:t>
            </a:r>
            <a:endParaRPr lang="en-US"/>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de-DE"/>
              <a:t>Mastertextformat bearbeiten</a:t>
            </a:r>
          </a:p>
        </p:txBody>
      </p:sp>
      <p:sp>
        <p:nvSpPr>
          <p:cNvPr id="4" name="Content Placeholder 3"/>
          <p:cNvSpPr>
            <a:spLocks noGrp="1"/>
          </p:cNvSpPr>
          <p:nvPr>
            <p:ph sz="half" idx="2"/>
          </p:nvPr>
        </p:nvSpPr>
        <p:spPr>
          <a:xfrm>
            <a:off x="629842" y="1878806"/>
            <a:ext cx="3868340" cy="2763441"/>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de-DE"/>
              <a:t>Mastertextformat bearbeiten</a:t>
            </a:r>
          </a:p>
        </p:txBody>
      </p:sp>
      <p:sp>
        <p:nvSpPr>
          <p:cNvPr id="6" name="Content Placeholder 5"/>
          <p:cNvSpPr>
            <a:spLocks noGrp="1"/>
          </p:cNvSpPr>
          <p:nvPr>
            <p:ph sz="quarter" idx="4"/>
          </p:nvPr>
        </p:nvSpPr>
        <p:spPr>
          <a:xfrm>
            <a:off x="4629150" y="1878806"/>
            <a:ext cx="3887391" cy="2763441"/>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7" name="Date Placeholder 6"/>
          <p:cNvSpPr>
            <a:spLocks noGrp="1"/>
          </p:cNvSpPr>
          <p:nvPr>
            <p:ph type="dt" sz="half" idx="10"/>
          </p:nvPr>
        </p:nvSpPr>
        <p:spPr>
          <a:xfrm>
            <a:off x="628650" y="4767263"/>
            <a:ext cx="2057400" cy="273844"/>
          </a:xfrm>
          <a:prstGeom prst="rect">
            <a:avLst/>
          </a:prstGeom>
        </p:spPr>
        <p:txBody>
          <a:bodyPr/>
          <a:lstStyle/>
          <a:p>
            <a:pPr defTabSz="342900">
              <a:buClrTx/>
            </a:pPr>
            <a:fld id="{980C7E59-597D-B54B-A9E3-7D29B1447A10}" type="datetime1">
              <a:rPr lang="de-CH" sz="1350" kern="1200" smtClean="0">
                <a:solidFill>
                  <a:srgbClr val="101623"/>
                </a:solidFill>
                <a:latin typeface="Calibri" panose="020F0502020204030204"/>
                <a:ea typeface="+mn-ea"/>
                <a:cs typeface="+mn-cs"/>
              </a:rPr>
              <a:t>30.10.25</a:t>
            </a:fld>
            <a:endParaRPr lang="en-CH" sz="1350" kern="1200">
              <a:solidFill>
                <a:srgbClr val="101623"/>
              </a:solidFill>
              <a:latin typeface="Calibri" panose="020F0502020204030204"/>
              <a:ea typeface="+mn-ea"/>
              <a:cs typeface="+mn-cs"/>
            </a:endParaRPr>
          </a:p>
        </p:txBody>
      </p:sp>
      <p:sp>
        <p:nvSpPr>
          <p:cNvPr id="8" name="Footer Placeholder 7"/>
          <p:cNvSpPr>
            <a:spLocks noGrp="1"/>
          </p:cNvSpPr>
          <p:nvPr>
            <p:ph type="ftr" sz="quarter" idx="11"/>
          </p:nvPr>
        </p:nvSpPr>
        <p:spPr/>
        <p:txBody>
          <a:bodyPr/>
          <a:lstStyle/>
          <a:p>
            <a:pPr defTabSz="342900">
              <a:buClrTx/>
            </a:pPr>
            <a:r>
              <a:rPr lang="de-CH" kern="1200">
                <a:solidFill>
                  <a:srgbClr val="101623">
                    <a:tint val="75000"/>
                  </a:srgbClr>
                </a:solidFill>
                <a:latin typeface="Calibri" panose="020F0502020204030204"/>
                <a:ea typeface="+mn-ea"/>
                <a:cs typeface="+mn-cs"/>
              </a:rPr>
              <a:t>Kissan Varatharajan - kissanv.github.io</a:t>
            </a:r>
            <a:endParaRPr lang="en-CH" kern="1200">
              <a:solidFill>
                <a:srgbClr val="101623">
                  <a:tint val="75000"/>
                </a:srgbClr>
              </a:solidFill>
              <a:latin typeface="Calibri" panose="020F0502020204030204"/>
              <a:ea typeface="+mn-ea"/>
              <a:cs typeface="+mn-cs"/>
            </a:endParaRPr>
          </a:p>
        </p:txBody>
      </p:sp>
      <p:sp>
        <p:nvSpPr>
          <p:cNvPr id="9" name="Slide Number Placeholder 8"/>
          <p:cNvSpPr>
            <a:spLocks noGrp="1"/>
          </p:cNvSpPr>
          <p:nvPr>
            <p:ph type="sldNum" sz="quarter" idx="12"/>
          </p:nvPr>
        </p:nvSpPr>
        <p:spPr/>
        <p:txBody>
          <a:bodyPr/>
          <a:lstStyle/>
          <a:p>
            <a:pPr defTabSz="342900">
              <a:buClrTx/>
            </a:pPr>
            <a:fld id="{36EAFFE7-40E2-CA47-82C0-73D0FC591208}" type="slidenum">
              <a:rPr lang="en-CH" kern="1200" smtClean="0">
                <a:solidFill>
                  <a:srgbClr val="101623">
                    <a:tint val="75000"/>
                  </a:srgbClr>
                </a:solidFill>
                <a:latin typeface="Calibri" panose="020F0502020204030204"/>
                <a:ea typeface="+mn-ea"/>
                <a:cs typeface="+mn-cs"/>
              </a:rPr>
              <a:pPr defTabSz="342900">
                <a:buClrTx/>
              </a:pPr>
              <a:t>‹Nr.›</a:t>
            </a:fld>
            <a:endParaRPr lang="en-CH" kern="1200">
              <a:solidFill>
                <a:srgbClr val="101623">
                  <a:tint val="75000"/>
                </a:srgbClr>
              </a:solidFill>
              <a:latin typeface="Calibri" panose="020F0502020204030204"/>
              <a:ea typeface="+mn-ea"/>
              <a:cs typeface="+mn-cs"/>
            </a:endParaRPr>
          </a:p>
        </p:txBody>
      </p:sp>
    </p:spTree>
    <p:extLst>
      <p:ext uri="{BB962C8B-B14F-4D97-AF65-F5344CB8AC3E}">
        <p14:creationId xmlns:p14="http://schemas.microsoft.com/office/powerpoint/2010/main" val="24764173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a:p>
        </p:txBody>
      </p:sp>
      <p:sp>
        <p:nvSpPr>
          <p:cNvPr id="3" name="Date Placeholder 2"/>
          <p:cNvSpPr>
            <a:spLocks noGrp="1"/>
          </p:cNvSpPr>
          <p:nvPr>
            <p:ph type="dt" sz="half" idx="10"/>
          </p:nvPr>
        </p:nvSpPr>
        <p:spPr>
          <a:xfrm>
            <a:off x="628650" y="4767263"/>
            <a:ext cx="2057400" cy="273844"/>
          </a:xfrm>
          <a:prstGeom prst="rect">
            <a:avLst/>
          </a:prstGeom>
        </p:spPr>
        <p:txBody>
          <a:bodyPr/>
          <a:lstStyle/>
          <a:p>
            <a:pPr defTabSz="342900">
              <a:buClrTx/>
            </a:pPr>
            <a:fld id="{AE2E1015-23F4-4B40-A11E-C001C2B9BC01}" type="datetime1">
              <a:rPr lang="de-CH" sz="1350" kern="1200" smtClean="0">
                <a:solidFill>
                  <a:srgbClr val="101623"/>
                </a:solidFill>
                <a:latin typeface="Calibri" panose="020F0502020204030204"/>
                <a:ea typeface="+mn-ea"/>
                <a:cs typeface="+mn-cs"/>
              </a:rPr>
              <a:t>30.10.25</a:t>
            </a:fld>
            <a:endParaRPr lang="en-CH" sz="1350" kern="1200">
              <a:solidFill>
                <a:srgbClr val="101623"/>
              </a:solidFill>
              <a:latin typeface="Calibri" panose="020F0502020204030204"/>
              <a:ea typeface="+mn-ea"/>
              <a:cs typeface="+mn-cs"/>
            </a:endParaRPr>
          </a:p>
        </p:txBody>
      </p:sp>
      <p:sp>
        <p:nvSpPr>
          <p:cNvPr id="4" name="Footer Placeholder 3"/>
          <p:cNvSpPr>
            <a:spLocks noGrp="1"/>
          </p:cNvSpPr>
          <p:nvPr>
            <p:ph type="ftr" sz="quarter" idx="11"/>
          </p:nvPr>
        </p:nvSpPr>
        <p:spPr/>
        <p:txBody>
          <a:bodyPr/>
          <a:lstStyle/>
          <a:p>
            <a:pPr defTabSz="342900">
              <a:buClrTx/>
            </a:pPr>
            <a:r>
              <a:rPr lang="de-CH" kern="1200">
                <a:solidFill>
                  <a:srgbClr val="101623">
                    <a:tint val="75000"/>
                  </a:srgbClr>
                </a:solidFill>
                <a:latin typeface="Calibri" panose="020F0502020204030204"/>
                <a:ea typeface="+mn-ea"/>
                <a:cs typeface="+mn-cs"/>
              </a:rPr>
              <a:t>Kissan Varatharajan - kissanv.github.io</a:t>
            </a:r>
            <a:endParaRPr lang="en-CH" kern="1200">
              <a:solidFill>
                <a:srgbClr val="101623">
                  <a:tint val="75000"/>
                </a:srgbClr>
              </a:solidFill>
              <a:latin typeface="Calibri" panose="020F0502020204030204"/>
              <a:ea typeface="+mn-ea"/>
              <a:cs typeface="+mn-cs"/>
            </a:endParaRPr>
          </a:p>
        </p:txBody>
      </p:sp>
      <p:sp>
        <p:nvSpPr>
          <p:cNvPr id="5" name="Slide Number Placeholder 4"/>
          <p:cNvSpPr>
            <a:spLocks noGrp="1"/>
          </p:cNvSpPr>
          <p:nvPr>
            <p:ph type="sldNum" sz="quarter" idx="12"/>
          </p:nvPr>
        </p:nvSpPr>
        <p:spPr/>
        <p:txBody>
          <a:bodyPr/>
          <a:lstStyle/>
          <a:p>
            <a:pPr defTabSz="342900">
              <a:buClrTx/>
            </a:pPr>
            <a:fld id="{36EAFFE7-40E2-CA47-82C0-73D0FC591208}" type="slidenum">
              <a:rPr lang="en-CH" kern="1200" smtClean="0">
                <a:solidFill>
                  <a:srgbClr val="101623">
                    <a:tint val="75000"/>
                  </a:srgbClr>
                </a:solidFill>
                <a:latin typeface="Calibri" panose="020F0502020204030204"/>
                <a:ea typeface="+mn-ea"/>
                <a:cs typeface="+mn-cs"/>
              </a:rPr>
              <a:pPr defTabSz="342900">
                <a:buClrTx/>
              </a:pPr>
              <a:t>‹Nr.›</a:t>
            </a:fld>
            <a:endParaRPr lang="en-CH" kern="1200">
              <a:solidFill>
                <a:srgbClr val="101623">
                  <a:tint val="75000"/>
                </a:srgbClr>
              </a:solidFill>
              <a:latin typeface="Calibri" panose="020F0502020204030204"/>
              <a:ea typeface="+mn-ea"/>
              <a:cs typeface="+mn-cs"/>
            </a:endParaRPr>
          </a:p>
        </p:txBody>
      </p:sp>
    </p:spTree>
    <p:extLst>
      <p:ext uri="{BB962C8B-B14F-4D97-AF65-F5344CB8AC3E}">
        <p14:creationId xmlns:p14="http://schemas.microsoft.com/office/powerpoint/2010/main" val="35015781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28650" y="4767263"/>
            <a:ext cx="2057400" cy="273844"/>
          </a:xfrm>
          <a:prstGeom prst="rect">
            <a:avLst/>
          </a:prstGeom>
        </p:spPr>
        <p:txBody>
          <a:bodyPr/>
          <a:lstStyle/>
          <a:p>
            <a:pPr defTabSz="342900">
              <a:buClrTx/>
            </a:pPr>
            <a:fld id="{2D306621-6DD1-614E-A652-AE9A8EB2D1AB}" type="datetime1">
              <a:rPr lang="de-CH" sz="1350" kern="1200" smtClean="0">
                <a:solidFill>
                  <a:srgbClr val="101623"/>
                </a:solidFill>
                <a:latin typeface="Calibri" panose="020F0502020204030204"/>
                <a:ea typeface="+mn-ea"/>
                <a:cs typeface="+mn-cs"/>
              </a:rPr>
              <a:t>30.10.25</a:t>
            </a:fld>
            <a:endParaRPr lang="en-CH" sz="1350" kern="1200">
              <a:solidFill>
                <a:srgbClr val="101623"/>
              </a:solidFill>
              <a:latin typeface="Calibri" panose="020F0502020204030204"/>
              <a:ea typeface="+mn-ea"/>
              <a:cs typeface="+mn-cs"/>
            </a:endParaRPr>
          </a:p>
        </p:txBody>
      </p:sp>
      <p:sp>
        <p:nvSpPr>
          <p:cNvPr id="3" name="Footer Placeholder 2"/>
          <p:cNvSpPr>
            <a:spLocks noGrp="1"/>
          </p:cNvSpPr>
          <p:nvPr>
            <p:ph type="ftr" sz="quarter" idx="11"/>
          </p:nvPr>
        </p:nvSpPr>
        <p:spPr/>
        <p:txBody>
          <a:bodyPr/>
          <a:lstStyle/>
          <a:p>
            <a:pPr defTabSz="342900">
              <a:buClrTx/>
            </a:pPr>
            <a:r>
              <a:rPr lang="de-CH" kern="1200">
                <a:solidFill>
                  <a:srgbClr val="101623">
                    <a:tint val="75000"/>
                  </a:srgbClr>
                </a:solidFill>
                <a:latin typeface="Calibri" panose="020F0502020204030204"/>
                <a:ea typeface="+mn-ea"/>
                <a:cs typeface="+mn-cs"/>
              </a:rPr>
              <a:t>Kissan Varatharajan - kissanv.github.io</a:t>
            </a:r>
            <a:endParaRPr lang="en-CH" kern="1200">
              <a:solidFill>
                <a:srgbClr val="101623">
                  <a:tint val="75000"/>
                </a:srgbClr>
              </a:solidFill>
              <a:latin typeface="Calibri" panose="020F0502020204030204"/>
              <a:ea typeface="+mn-ea"/>
              <a:cs typeface="+mn-cs"/>
            </a:endParaRPr>
          </a:p>
        </p:txBody>
      </p:sp>
      <p:sp>
        <p:nvSpPr>
          <p:cNvPr id="4" name="Slide Number Placeholder 3"/>
          <p:cNvSpPr>
            <a:spLocks noGrp="1"/>
          </p:cNvSpPr>
          <p:nvPr>
            <p:ph type="sldNum" sz="quarter" idx="12"/>
          </p:nvPr>
        </p:nvSpPr>
        <p:spPr/>
        <p:txBody>
          <a:bodyPr/>
          <a:lstStyle/>
          <a:p>
            <a:pPr defTabSz="342900">
              <a:buClrTx/>
            </a:pPr>
            <a:fld id="{36EAFFE7-40E2-CA47-82C0-73D0FC591208}" type="slidenum">
              <a:rPr lang="en-CH" kern="1200" smtClean="0">
                <a:solidFill>
                  <a:srgbClr val="101623">
                    <a:tint val="75000"/>
                  </a:srgbClr>
                </a:solidFill>
                <a:latin typeface="Calibri" panose="020F0502020204030204"/>
                <a:ea typeface="+mn-ea"/>
                <a:cs typeface="+mn-cs"/>
              </a:rPr>
              <a:pPr defTabSz="342900">
                <a:buClrTx/>
              </a:pPr>
              <a:t>‹Nr.›</a:t>
            </a:fld>
            <a:endParaRPr lang="en-CH" kern="1200">
              <a:solidFill>
                <a:srgbClr val="101623">
                  <a:tint val="75000"/>
                </a:srgbClr>
              </a:solidFill>
              <a:latin typeface="Calibri" panose="020F0502020204030204"/>
              <a:ea typeface="+mn-ea"/>
              <a:cs typeface="+mn-cs"/>
            </a:endParaRPr>
          </a:p>
        </p:txBody>
      </p:sp>
    </p:spTree>
    <p:extLst>
      <p:ext uri="{BB962C8B-B14F-4D97-AF65-F5344CB8AC3E}">
        <p14:creationId xmlns:p14="http://schemas.microsoft.com/office/powerpoint/2010/main" val="18545138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de-DE"/>
              <a:t>Mastertitelformat bearbeiten</a:t>
            </a:r>
            <a:endParaRPr lang="en-US"/>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de-DE"/>
              <a:t>Mastertextformat bearbeiten</a:t>
            </a:r>
          </a:p>
        </p:txBody>
      </p:sp>
      <p:sp>
        <p:nvSpPr>
          <p:cNvPr id="5" name="Date Placeholder 4"/>
          <p:cNvSpPr>
            <a:spLocks noGrp="1"/>
          </p:cNvSpPr>
          <p:nvPr>
            <p:ph type="dt" sz="half" idx="10"/>
          </p:nvPr>
        </p:nvSpPr>
        <p:spPr>
          <a:xfrm>
            <a:off x="628650" y="4767263"/>
            <a:ext cx="2057400" cy="273844"/>
          </a:xfrm>
          <a:prstGeom prst="rect">
            <a:avLst/>
          </a:prstGeom>
        </p:spPr>
        <p:txBody>
          <a:bodyPr/>
          <a:lstStyle/>
          <a:p>
            <a:pPr defTabSz="342900">
              <a:buClrTx/>
            </a:pPr>
            <a:fld id="{7C8DF265-596D-3D4F-8B95-AA2651B4D46A}" type="datetime1">
              <a:rPr lang="de-CH" sz="1350" kern="1200" smtClean="0">
                <a:solidFill>
                  <a:srgbClr val="101623"/>
                </a:solidFill>
                <a:latin typeface="Calibri" panose="020F0502020204030204"/>
                <a:ea typeface="+mn-ea"/>
                <a:cs typeface="+mn-cs"/>
              </a:rPr>
              <a:t>30.10.25</a:t>
            </a:fld>
            <a:endParaRPr lang="en-CH" sz="1350" kern="1200">
              <a:solidFill>
                <a:srgbClr val="101623"/>
              </a:solidFill>
              <a:latin typeface="Calibri" panose="020F0502020204030204"/>
              <a:ea typeface="+mn-ea"/>
              <a:cs typeface="+mn-cs"/>
            </a:endParaRPr>
          </a:p>
        </p:txBody>
      </p:sp>
      <p:sp>
        <p:nvSpPr>
          <p:cNvPr id="6" name="Footer Placeholder 5"/>
          <p:cNvSpPr>
            <a:spLocks noGrp="1"/>
          </p:cNvSpPr>
          <p:nvPr>
            <p:ph type="ftr" sz="quarter" idx="11"/>
          </p:nvPr>
        </p:nvSpPr>
        <p:spPr/>
        <p:txBody>
          <a:bodyPr/>
          <a:lstStyle/>
          <a:p>
            <a:pPr defTabSz="342900">
              <a:buClrTx/>
            </a:pPr>
            <a:r>
              <a:rPr lang="de-CH" kern="1200">
                <a:solidFill>
                  <a:srgbClr val="101623">
                    <a:tint val="75000"/>
                  </a:srgbClr>
                </a:solidFill>
                <a:latin typeface="Calibri" panose="020F0502020204030204"/>
                <a:ea typeface="+mn-ea"/>
                <a:cs typeface="+mn-cs"/>
              </a:rPr>
              <a:t>Kissan Varatharajan - kissanv.github.io</a:t>
            </a:r>
            <a:endParaRPr lang="en-CH" kern="1200">
              <a:solidFill>
                <a:srgbClr val="101623">
                  <a:tint val="75000"/>
                </a:srgbClr>
              </a:solidFill>
              <a:latin typeface="Calibri" panose="020F0502020204030204"/>
              <a:ea typeface="+mn-ea"/>
              <a:cs typeface="+mn-cs"/>
            </a:endParaRPr>
          </a:p>
        </p:txBody>
      </p:sp>
      <p:sp>
        <p:nvSpPr>
          <p:cNvPr id="7" name="Slide Number Placeholder 6"/>
          <p:cNvSpPr>
            <a:spLocks noGrp="1"/>
          </p:cNvSpPr>
          <p:nvPr>
            <p:ph type="sldNum" sz="quarter" idx="12"/>
          </p:nvPr>
        </p:nvSpPr>
        <p:spPr/>
        <p:txBody>
          <a:bodyPr/>
          <a:lstStyle/>
          <a:p>
            <a:pPr defTabSz="342900">
              <a:buClrTx/>
            </a:pPr>
            <a:fld id="{36EAFFE7-40E2-CA47-82C0-73D0FC591208}" type="slidenum">
              <a:rPr lang="en-CH" kern="1200" smtClean="0">
                <a:solidFill>
                  <a:srgbClr val="101623">
                    <a:tint val="75000"/>
                  </a:srgbClr>
                </a:solidFill>
                <a:latin typeface="Calibri" panose="020F0502020204030204"/>
                <a:ea typeface="+mn-ea"/>
                <a:cs typeface="+mn-cs"/>
              </a:rPr>
              <a:pPr defTabSz="342900">
                <a:buClrTx/>
              </a:pPr>
              <a:t>‹Nr.›</a:t>
            </a:fld>
            <a:endParaRPr lang="en-CH" kern="1200">
              <a:solidFill>
                <a:srgbClr val="101623">
                  <a:tint val="75000"/>
                </a:srgbClr>
              </a:solidFill>
              <a:latin typeface="Calibri" panose="020F0502020204030204"/>
              <a:ea typeface="+mn-ea"/>
              <a:cs typeface="+mn-cs"/>
            </a:endParaRPr>
          </a:p>
        </p:txBody>
      </p:sp>
    </p:spTree>
    <p:extLst>
      <p:ext uri="{BB962C8B-B14F-4D97-AF65-F5344CB8AC3E}">
        <p14:creationId xmlns:p14="http://schemas.microsoft.com/office/powerpoint/2010/main" val="8311441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de-DE"/>
              <a:t>Mastertitelformat bearbeiten</a:t>
            </a:r>
            <a:endParaRPr lang="en-US"/>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de-DE"/>
              <a:t>Bild durch Klicken auf Symbol hinzufügen</a:t>
            </a:r>
            <a:endParaRPr lang="en-US"/>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de-DE"/>
              <a:t>Mastertextformat bearbeiten</a:t>
            </a:r>
          </a:p>
        </p:txBody>
      </p:sp>
      <p:sp>
        <p:nvSpPr>
          <p:cNvPr id="5" name="Date Placeholder 4"/>
          <p:cNvSpPr>
            <a:spLocks noGrp="1"/>
          </p:cNvSpPr>
          <p:nvPr>
            <p:ph type="dt" sz="half" idx="10"/>
          </p:nvPr>
        </p:nvSpPr>
        <p:spPr>
          <a:xfrm>
            <a:off x="628650" y="4767263"/>
            <a:ext cx="2057400" cy="273844"/>
          </a:xfrm>
          <a:prstGeom prst="rect">
            <a:avLst/>
          </a:prstGeom>
        </p:spPr>
        <p:txBody>
          <a:bodyPr/>
          <a:lstStyle/>
          <a:p>
            <a:pPr defTabSz="342900">
              <a:buClrTx/>
            </a:pPr>
            <a:fld id="{4EBA4EB2-964C-114D-A560-441B6A376279}" type="datetime1">
              <a:rPr lang="de-CH" sz="1350" kern="1200" smtClean="0">
                <a:solidFill>
                  <a:srgbClr val="101623"/>
                </a:solidFill>
                <a:latin typeface="Calibri" panose="020F0502020204030204"/>
                <a:ea typeface="+mn-ea"/>
                <a:cs typeface="+mn-cs"/>
              </a:rPr>
              <a:t>30.10.25</a:t>
            </a:fld>
            <a:endParaRPr lang="en-CH" sz="1350" kern="1200">
              <a:solidFill>
                <a:srgbClr val="101623"/>
              </a:solidFill>
              <a:latin typeface="Calibri" panose="020F0502020204030204"/>
              <a:ea typeface="+mn-ea"/>
              <a:cs typeface="+mn-cs"/>
            </a:endParaRPr>
          </a:p>
        </p:txBody>
      </p:sp>
      <p:sp>
        <p:nvSpPr>
          <p:cNvPr id="6" name="Footer Placeholder 5"/>
          <p:cNvSpPr>
            <a:spLocks noGrp="1"/>
          </p:cNvSpPr>
          <p:nvPr>
            <p:ph type="ftr" sz="quarter" idx="11"/>
          </p:nvPr>
        </p:nvSpPr>
        <p:spPr/>
        <p:txBody>
          <a:bodyPr/>
          <a:lstStyle/>
          <a:p>
            <a:pPr defTabSz="342900">
              <a:buClrTx/>
            </a:pPr>
            <a:r>
              <a:rPr lang="de-CH" kern="1200">
                <a:solidFill>
                  <a:srgbClr val="101623">
                    <a:tint val="75000"/>
                  </a:srgbClr>
                </a:solidFill>
                <a:latin typeface="Calibri" panose="020F0502020204030204"/>
                <a:ea typeface="+mn-ea"/>
                <a:cs typeface="+mn-cs"/>
              </a:rPr>
              <a:t>Kissan Varatharajan - kissanv.github.io</a:t>
            </a:r>
            <a:endParaRPr lang="en-CH" kern="1200">
              <a:solidFill>
                <a:srgbClr val="101623">
                  <a:tint val="75000"/>
                </a:srgbClr>
              </a:solidFill>
              <a:latin typeface="Calibri" panose="020F0502020204030204"/>
              <a:ea typeface="+mn-ea"/>
              <a:cs typeface="+mn-cs"/>
            </a:endParaRPr>
          </a:p>
        </p:txBody>
      </p:sp>
      <p:sp>
        <p:nvSpPr>
          <p:cNvPr id="7" name="Slide Number Placeholder 6"/>
          <p:cNvSpPr>
            <a:spLocks noGrp="1"/>
          </p:cNvSpPr>
          <p:nvPr>
            <p:ph type="sldNum" sz="quarter" idx="12"/>
          </p:nvPr>
        </p:nvSpPr>
        <p:spPr/>
        <p:txBody>
          <a:bodyPr/>
          <a:lstStyle/>
          <a:p>
            <a:pPr defTabSz="342900">
              <a:buClrTx/>
            </a:pPr>
            <a:fld id="{36EAFFE7-40E2-CA47-82C0-73D0FC591208}" type="slidenum">
              <a:rPr lang="en-CH" kern="1200" smtClean="0">
                <a:solidFill>
                  <a:srgbClr val="101623">
                    <a:tint val="75000"/>
                  </a:srgbClr>
                </a:solidFill>
                <a:latin typeface="Calibri" panose="020F0502020204030204"/>
                <a:ea typeface="+mn-ea"/>
                <a:cs typeface="+mn-cs"/>
              </a:rPr>
              <a:pPr defTabSz="342900">
                <a:buClrTx/>
              </a:pPr>
              <a:t>‹Nr.›</a:t>
            </a:fld>
            <a:endParaRPr lang="en-CH" kern="1200">
              <a:solidFill>
                <a:srgbClr val="101623">
                  <a:tint val="75000"/>
                </a:srgbClr>
              </a:solidFill>
              <a:latin typeface="Calibri" panose="020F0502020204030204"/>
              <a:ea typeface="+mn-ea"/>
              <a:cs typeface="+mn-cs"/>
            </a:endParaRPr>
          </a:p>
        </p:txBody>
      </p:sp>
    </p:spTree>
    <p:extLst>
      <p:ext uri="{BB962C8B-B14F-4D97-AF65-F5344CB8AC3E}">
        <p14:creationId xmlns:p14="http://schemas.microsoft.com/office/powerpoint/2010/main" val="10523346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a:p>
        </p:txBody>
      </p:sp>
      <p:sp>
        <p:nvSpPr>
          <p:cNvPr id="3" name="Vertical Text Placeholder 2"/>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Date Placeholder 3"/>
          <p:cNvSpPr>
            <a:spLocks noGrp="1"/>
          </p:cNvSpPr>
          <p:nvPr>
            <p:ph type="dt" sz="half" idx="10"/>
          </p:nvPr>
        </p:nvSpPr>
        <p:spPr>
          <a:xfrm>
            <a:off x="628650" y="4767263"/>
            <a:ext cx="2057400" cy="273844"/>
          </a:xfrm>
          <a:prstGeom prst="rect">
            <a:avLst/>
          </a:prstGeom>
        </p:spPr>
        <p:txBody>
          <a:bodyPr/>
          <a:lstStyle/>
          <a:p>
            <a:pPr defTabSz="342900">
              <a:buClrTx/>
            </a:pPr>
            <a:fld id="{42EF2A13-8ED6-3345-A350-8DA17845BB65}" type="datetime1">
              <a:rPr lang="de-CH" sz="1350" kern="1200" smtClean="0">
                <a:solidFill>
                  <a:srgbClr val="101623"/>
                </a:solidFill>
                <a:latin typeface="Calibri" panose="020F0502020204030204"/>
                <a:ea typeface="+mn-ea"/>
                <a:cs typeface="+mn-cs"/>
              </a:rPr>
              <a:t>30.10.25</a:t>
            </a:fld>
            <a:endParaRPr lang="en-CH" sz="1350" kern="1200">
              <a:solidFill>
                <a:srgbClr val="101623"/>
              </a:solidFill>
              <a:latin typeface="Calibri" panose="020F0502020204030204"/>
              <a:ea typeface="+mn-ea"/>
              <a:cs typeface="+mn-cs"/>
            </a:endParaRPr>
          </a:p>
        </p:txBody>
      </p:sp>
      <p:sp>
        <p:nvSpPr>
          <p:cNvPr id="5" name="Footer Placeholder 4"/>
          <p:cNvSpPr>
            <a:spLocks noGrp="1"/>
          </p:cNvSpPr>
          <p:nvPr>
            <p:ph type="ftr" sz="quarter" idx="11"/>
          </p:nvPr>
        </p:nvSpPr>
        <p:spPr/>
        <p:txBody>
          <a:bodyPr/>
          <a:lstStyle/>
          <a:p>
            <a:pPr defTabSz="342900">
              <a:buClrTx/>
            </a:pPr>
            <a:r>
              <a:rPr lang="de-CH" kern="1200">
                <a:solidFill>
                  <a:srgbClr val="101623">
                    <a:tint val="75000"/>
                  </a:srgbClr>
                </a:solidFill>
                <a:latin typeface="Calibri" panose="020F0502020204030204"/>
                <a:ea typeface="+mn-ea"/>
                <a:cs typeface="+mn-cs"/>
              </a:rPr>
              <a:t>Kissan Varatharajan - kissanv.github.io</a:t>
            </a:r>
            <a:endParaRPr lang="en-CH" kern="1200">
              <a:solidFill>
                <a:srgbClr val="101623">
                  <a:tint val="75000"/>
                </a:srgbClr>
              </a:solidFill>
              <a:latin typeface="Calibri" panose="020F0502020204030204"/>
              <a:ea typeface="+mn-ea"/>
              <a:cs typeface="+mn-cs"/>
            </a:endParaRPr>
          </a:p>
        </p:txBody>
      </p:sp>
      <p:sp>
        <p:nvSpPr>
          <p:cNvPr id="6" name="Slide Number Placeholder 5"/>
          <p:cNvSpPr>
            <a:spLocks noGrp="1"/>
          </p:cNvSpPr>
          <p:nvPr>
            <p:ph type="sldNum" sz="quarter" idx="12"/>
          </p:nvPr>
        </p:nvSpPr>
        <p:spPr/>
        <p:txBody>
          <a:bodyPr/>
          <a:lstStyle/>
          <a:p>
            <a:pPr defTabSz="342900">
              <a:buClrTx/>
            </a:pPr>
            <a:fld id="{36EAFFE7-40E2-CA47-82C0-73D0FC591208}" type="slidenum">
              <a:rPr lang="en-CH" kern="1200" smtClean="0">
                <a:solidFill>
                  <a:srgbClr val="101623">
                    <a:tint val="75000"/>
                  </a:srgbClr>
                </a:solidFill>
                <a:latin typeface="Calibri" panose="020F0502020204030204"/>
                <a:ea typeface="+mn-ea"/>
                <a:cs typeface="+mn-cs"/>
              </a:rPr>
              <a:pPr defTabSz="342900">
                <a:buClrTx/>
              </a:pPr>
              <a:t>‹Nr.›</a:t>
            </a:fld>
            <a:endParaRPr lang="en-CH" kern="1200">
              <a:solidFill>
                <a:srgbClr val="101623">
                  <a:tint val="75000"/>
                </a:srgbClr>
              </a:solidFill>
              <a:latin typeface="Calibri" panose="020F0502020204030204"/>
              <a:ea typeface="+mn-ea"/>
              <a:cs typeface="+mn-cs"/>
            </a:endParaRPr>
          </a:p>
        </p:txBody>
      </p:sp>
    </p:spTree>
    <p:extLst>
      <p:ext uri="{BB962C8B-B14F-4D97-AF65-F5344CB8AC3E}">
        <p14:creationId xmlns:p14="http://schemas.microsoft.com/office/powerpoint/2010/main" val="2165888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de-DE"/>
              <a:t>Mastertitelformat bearbeiten</a:t>
            </a:r>
            <a:endParaRPr lang="en-US"/>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Date Placeholder 3"/>
          <p:cNvSpPr>
            <a:spLocks noGrp="1"/>
          </p:cNvSpPr>
          <p:nvPr>
            <p:ph type="dt" sz="half" idx="10"/>
          </p:nvPr>
        </p:nvSpPr>
        <p:spPr>
          <a:xfrm>
            <a:off x="628650" y="4767263"/>
            <a:ext cx="2057400" cy="273844"/>
          </a:xfrm>
          <a:prstGeom prst="rect">
            <a:avLst/>
          </a:prstGeom>
        </p:spPr>
        <p:txBody>
          <a:bodyPr/>
          <a:lstStyle/>
          <a:p>
            <a:pPr defTabSz="342900">
              <a:buClrTx/>
            </a:pPr>
            <a:fld id="{53B36267-238A-A141-939E-43BF76AEAD21}" type="datetime1">
              <a:rPr lang="de-CH" sz="1350" kern="1200" smtClean="0">
                <a:solidFill>
                  <a:srgbClr val="101623"/>
                </a:solidFill>
                <a:latin typeface="Calibri" panose="020F0502020204030204"/>
                <a:ea typeface="+mn-ea"/>
                <a:cs typeface="+mn-cs"/>
              </a:rPr>
              <a:t>30.10.25</a:t>
            </a:fld>
            <a:endParaRPr lang="en-CH" sz="1350" kern="1200">
              <a:solidFill>
                <a:srgbClr val="101623"/>
              </a:solidFill>
              <a:latin typeface="Calibri" panose="020F0502020204030204"/>
              <a:ea typeface="+mn-ea"/>
              <a:cs typeface="+mn-cs"/>
            </a:endParaRPr>
          </a:p>
        </p:txBody>
      </p:sp>
      <p:sp>
        <p:nvSpPr>
          <p:cNvPr id="5" name="Footer Placeholder 4"/>
          <p:cNvSpPr>
            <a:spLocks noGrp="1"/>
          </p:cNvSpPr>
          <p:nvPr>
            <p:ph type="ftr" sz="quarter" idx="11"/>
          </p:nvPr>
        </p:nvSpPr>
        <p:spPr/>
        <p:txBody>
          <a:bodyPr/>
          <a:lstStyle/>
          <a:p>
            <a:pPr defTabSz="342900">
              <a:buClrTx/>
            </a:pPr>
            <a:r>
              <a:rPr lang="de-CH" kern="1200">
                <a:solidFill>
                  <a:srgbClr val="101623">
                    <a:tint val="75000"/>
                  </a:srgbClr>
                </a:solidFill>
                <a:latin typeface="Calibri" panose="020F0502020204030204"/>
                <a:ea typeface="+mn-ea"/>
                <a:cs typeface="+mn-cs"/>
              </a:rPr>
              <a:t>Kissan Varatharajan - kissanv.github.io</a:t>
            </a:r>
            <a:endParaRPr lang="en-CH" kern="1200">
              <a:solidFill>
                <a:srgbClr val="101623">
                  <a:tint val="75000"/>
                </a:srgbClr>
              </a:solidFill>
              <a:latin typeface="Calibri" panose="020F0502020204030204"/>
              <a:ea typeface="+mn-ea"/>
              <a:cs typeface="+mn-cs"/>
            </a:endParaRPr>
          </a:p>
        </p:txBody>
      </p:sp>
      <p:sp>
        <p:nvSpPr>
          <p:cNvPr id="6" name="Slide Number Placeholder 5"/>
          <p:cNvSpPr>
            <a:spLocks noGrp="1"/>
          </p:cNvSpPr>
          <p:nvPr>
            <p:ph type="sldNum" sz="quarter" idx="12"/>
          </p:nvPr>
        </p:nvSpPr>
        <p:spPr/>
        <p:txBody>
          <a:bodyPr/>
          <a:lstStyle/>
          <a:p>
            <a:pPr defTabSz="342900">
              <a:buClrTx/>
            </a:pPr>
            <a:fld id="{36EAFFE7-40E2-CA47-82C0-73D0FC591208}" type="slidenum">
              <a:rPr lang="en-CH" kern="1200" smtClean="0">
                <a:solidFill>
                  <a:srgbClr val="101623">
                    <a:tint val="75000"/>
                  </a:srgbClr>
                </a:solidFill>
                <a:latin typeface="Calibri" panose="020F0502020204030204"/>
                <a:ea typeface="+mn-ea"/>
                <a:cs typeface="+mn-cs"/>
              </a:rPr>
              <a:pPr defTabSz="342900">
                <a:buClrTx/>
              </a:pPr>
              <a:t>‹Nr.›</a:t>
            </a:fld>
            <a:endParaRPr lang="en-CH" kern="1200">
              <a:solidFill>
                <a:srgbClr val="101623">
                  <a:tint val="75000"/>
                </a:srgbClr>
              </a:solidFill>
              <a:latin typeface="Calibri" panose="020F0502020204030204"/>
              <a:ea typeface="+mn-ea"/>
              <a:cs typeface="+mn-cs"/>
            </a:endParaRPr>
          </a:p>
        </p:txBody>
      </p:sp>
    </p:spTree>
    <p:extLst>
      <p:ext uri="{BB962C8B-B14F-4D97-AF65-F5344CB8AC3E}">
        <p14:creationId xmlns:p14="http://schemas.microsoft.com/office/powerpoint/2010/main" val="12993240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de-DE"/>
              <a:t>Mastertitelformat bearbeiten</a:t>
            </a:r>
            <a:endParaRPr lang="en-US"/>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pPr defTabSz="342900">
              <a:buClrTx/>
            </a:pPr>
            <a:r>
              <a:rPr lang="de-CH" kern="1200">
                <a:solidFill>
                  <a:srgbClr val="101623">
                    <a:tint val="75000"/>
                  </a:srgbClr>
                </a:solidFill>
                <a:latin typeface="Calibri" panose="020F0502020204030204"/>
                <a:ea typeface="+mn-ea"/>
                <a:cs typeface="+mn-cs"/>
              </a:rPr>
              <a:t>Kissan Varatharajan - kissanv.github.io</a:t>
            </a:r>
            <a:endParaRPr lang="en-CH" kern="1200">
              <a:solidFill>
                <a:srgbClr val="101623">
                  <a:tint val="75000"/>
                </a:srgbClr>
              </a:solidFill>
              <a:latin typeface="Calibri" panose="020F0502020204030204"/>
              <a:ea typeface="+mn-ea"/>
              <a:cs typeface="+mn-cs"/>
            </a:endParaRPr>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pPr defTabSz="342900">
              <a:buClrTx/>
            </a:pPr>
            <a:fld id="{36EAFFE7-40E2-CA47-82C0-73D0FC591208}" type="slidenum">
              <a:rPr lang="en-CH" kern="1200" smtClean="0">
                <a:solidFill>
                  <a:srgbClr val="101623">
                    <a:tint val="75000"/>
                  </a:srgbClr>
                </a:solidFill>
                <a:latin typeface="Calibri" panose="020F0502020204030204"/>
                <a:ea typeface="+mn-ea"/>
                <a:cs typeface="+mn-cs"/>
              </a:rPr>
              <a:pPr defTabSz="342900">
                <a:buClrTx/>
              </a:pPr>
              <a:t>‹Nr.›</a:t>
            </a:fld>
            <a:endParaRPr lang="en-CH" kern="1200">
              <a:solidFill>
                <a:srgbClr val="101623">
                  <a:tint val="75000"/>
                </a:srgbClr>
              </a:solidFill>
              <a:latin typeface="Calibri" panose="020F0502020204030204"/>
              <a:ea typeface="+mn-ea"/>
              <a:cs typeface="+mn-cs"/>
            </a:endParaRPr>
          </a:p>
        </p:txBody>
      </p:sp>
      <p:pic>
        <p:nvPicPr>
          <p:cNvPr id="4" name="Picture 7" descr="A black background with a black square&#10;&#10;Description automatically generated with medium confidence">
            <a:extLst>
              <a:ext uri="{FF2B5EF4-FFF2-40B4-BE49-F238E27FC236}">
                <a16:creationId xmlns:a16="http://schemas.microsoft.com/office/drawing/2014/main" id="{07C2C286-74A8-CF18-6D5D-5483E3A588CB}"/>
              </a:ext>
            </a:extLst>
          </p:cNvPr>
          <p:cNvPicPr>
            <a:picLocks noChangeAspect="1"/>
          </p:cNvPicPr>
          <p:nvPr userDrawn="1"/>
        </p:nvPicPr>
        <p:blipFill>
          <a:blip r:embed="rId13"/>
          <a:stretch>
            <a:fillRect/>
          </a:stretch>
        </p:blipFill>
        <p:spPr>
          <a:xfrm>
            <a:off x="236836" y="4733926"/>
            <a:ext cx="1287391" cy="470106"/>
          </a:xfrm>
          <a:prstGeom prst="rect">
            <a:avLst/>
          </a:prstGeom>
        </p:spPr>
      </p:pic>
      <p:pic>
        <p:nvPicPr>
          <p:cNvPr id="7" name="Grafik 6">
            <a:extLst>
              <a:ext uri="{FF2B5EF4-FFF2-40B4-BE49-F238E27FC236}">
                <a16:creationId xmlns:a16="http://schemas.microsoft.com/office/drawing/2014/main" id="{A25D8FA1-CEF5-7E41-FFD1-9BC94CF74539}"/>
              </a:ext>
            </a:extLst>
          </p:cNvPr>
          <p:cNvPicPr>
            <a:picLocks noChangeAspect="1"/>
          </p:cNvPicPr>
          <p:nvPr userDrawn="1"/>
        </p:nvPicPr>
        <p:blipFill>
          <a:blip r:embed="rId14"/>
          <a:stretch>
            <a:fillRect/>
          </a:stretch>
        </p:blipFill>
        <p:spPr>
          <a:xfrm>
            <a:off x="1509092" y="4828074"/>
            <a:ext cx="275076" cy="275076"/>
          </a:xfrm>
          <a:prstGeom prst="rect">
            <a:avLst/>
          </a:prstGeom>
        </p:spPr>
      </p:pic>
    </p:spTree>
    <p:extLst>
      <p:ext uri="{BB962C8B-B14F-4D97-AF65-F5344CB8AC3E}">
        <p14:creationId xmlns:p14="http://schemas.microsoft.com/office/powerpoint/2010/main" val="2540892117"/>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hf hdr="0" dt="0"/>
  <p:txStyles>
    <p:titleStyle>
      <a:lvl1pPr algn="l" defTabSz="685800" rtl="0" eaLnBrk="1" latinLnBrk="0" hangingPunct="1">
        <a:lnSpc>
          <a:spcPct val="90000"/>
        </a:lnSpc>
        <a:spcBef>
          <a:spcPct val="0"/>
        </a:spcBef>
        <a:buNone/>
        <a:defRPr sz="3300" kern="1200">
          <a:solidFill>
            <a:schemeClr val="tx1"/>
          </a:solidFill>
          <a:latin typeface="Segoe UI" panose="020B0502040204020203" pitchFamily="34" charset="0"/>
          <a:ea typeface="+mj-ea"/>
          <a:cs typeface="Segoe UI" panose="020B0502040204020203" pitchFamily="34" charset="0"/>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Segoe UI" panose="020F0502020204030204" pitchFamily="34" charset="0"/>
          <a:ea typeface="+mn-ea"/>
          <a:cs typeface="Segoe UI" panose="020F050202020403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Segoe UI" panose="020F0502020204030204" pitchFamily="34" charset="0"/>
          <a:ea typeface="+mn-ea"/>
          <a:cs typeface="Segoe UI" panose="020F0502020204030204" pitchFamily="34" charset="0"/>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Segoe UI" panose="020F0502020204030204" pitchFamily="34" charset="0"/>
          <a:ea typeface="+mn-ea"/>
          <a:cs typeface="Segoe UI" panose="020F050202020403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Segoe UI" panose="020F0502020204030204" pitchFamily="34" charset="0"/>
          <a:ea typeface="+mn-ea"/>
          <a:cs typeface="Segoe UI" panose="020F0502020204030204"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Segoe UI" panose="020F0502020204030204" pitchFamily="34" charset="0"/>
          <a:ea typeface="+mn-ea"/>
          <a:cs typeface="Segoe UI" panose="020F05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8" Type="http://schemas.openxmlformats.org/officeDocument/2006/relationships/image" Target="../media/image31.png"/><Relationship Id="rId13" Type="http://schemas.openxmlformats.org/officeDocument/2006/relationships/image" Target="../media/image36.png"/><Relationship Id="rId18" Type="http://schemas.openxmlformats.org/officeDocument/2006/relationships/image" Target="../media/image41.png"/><Relationship Id="rId3" Type="http://schemas.openxmlformats.org/officeDocument/2006/relationships/image" Target="../media/image26.png"/><Relationship Id="rId7" Type="http://schemas.openxmlformats.org/officeDocument/2006/relationships/image" Target="../media/image30.png"/><Relationship Id="rId12" Type="http://schemas.openxmlformats.org/officeDocument/2006/relationships/image" Target="../media/image35.png"/><Relationship Id="rId17" Type="http://schemas.openxmlformats.org/officeDocument/2006/relationships/image" Target="../media/image40.png"/><Relationship Id="rId2" Type="http://schemas.openxmlformats.org/officeDocument/2006/relationships/image" Target="../media/image25.png"/><Relationship Id="rId16" Type="http://schemas.openxmlformats.org/officeDocument/2006/relationships/image" Target="../media/image39.png"/><Relationship Id="rId1" Type="http://schemas.openxmlformats.org/officeDocument/2006/relationships/slideLayout" Target="../slideLayouts/slideLayout2.xml"/><Relationship Id="rId6" Type="http://schemas.openxmlformats.org/officeDocument/2006/relationships/image" Target="../media/image29.png"/><Relationship Id="rId11" Type="http://schemas.openxmlformats.org/officeDocument/2006/relationships/image" Target="../media/image34.png"/><Relationship Id="rId5" Type="http://schemas.openxmlformats.org/officeDocument/2006/relationships/image" Target="../media/image28.png"/><Relationship Id="rId15" Type="http://schemas.openxmlformats.org/officeDocument/2006/relationships/image" Target="../media/image38.png"/><Relationship Id="rId10" Type="http://schemas.openxmlformats.org/officeDocument/2006/relationships/image" Target="../media/image33.png"/><Relationship Id="rId19" Type="http://schemas.openxmlformats.org/officeDocument/2006/relationships/image" Target="../media/image42.png"/><Relationship Id="rId4" Type="http://schemas.openxmlformats.org/officeDocument/2006/relationships/image" Target="../media/image27.png"/><Relationship Id="rId9" Type="http://schemas.openxmlformats.org/officeDocument/2006/relationships/image" Target="../media/image32.png"/><Relationship Id="rId14" Type="http://schemas.openxmlformats.org/officeDocument/2006/relationships/image" Target="../media/image37.png"/></Relationships>
</file>

<file path=ppt/slides/_rels/slide1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44.png"/><Relationship Id="rId7" Type="http://schemas.openxmlformats.org/officeDocument/2006/relationships/image" Target="../media/image47.png"/><Relationship Id="rId12" Type="http://schemas.openxmlformats.org/officeDocument/2006/relationships/image" Target="../media/image16.png"/><Relationship Id="rId2" Type="http://schemas.openxmlformats.org/officeDocument/2006/relationships/image" Target="../media/image43.png"/><Relationship Id="rId1" Type="http://schemas.openxmlformats.org/officeDocument/2006/relationships/slideLayout" Target="../slideLayouts/slideLayout2.xml"/><Relationship Id="rId6" Type="http://schemas.openxmlformats.org/officeDocument/2006/relationships/image" Target="../media/image28.png"/><Relationship Id="rId11" Type="http://schemas.openxmlformats.org/officeDocument/2006/relationships/image" Target="../media/image51.png"/><Relationship Id="rId5" Type="http://schemas.openxmlformats.org/officeDocument/2006/relationships/image" Target="../media/image46.png"/><Relationship Id="rId10" Type="http://schemas.openxmlformats.org/officeDocument/2006/relationships/image" Target="../media/image50.png"/><Relationship Id="rId4" Type="http://schemas.openxmlformats.org/officeDocument/2006/relationships/image" Target="../media/image45.png"/><Relationship Id="rId9" Type="http://schemas.openxmlformats.org/officeDocument/2006/relationships/image" Target="../media/image49.png"/></Relationships>
</file>

<file path=ppt/slides/_rels/slide14.xml.rels><?xml version="1.0" encoding="UTF-8" standalone="yes"?>
<Relationships xmlns="http://schemas.openxmlformats.org/package/2006/relationships"><Relationship Id="rId3" Type="http://schemas.openxmlformats.org/officeDocument/2006/relationships/image" Target="../media/image56.png"/><Relationship Id="rId7" Type="http://schemas.openxmlformats.org/officeDocument/2006/relationships/image" Target="../media/image60.png"/><Relationship Id="rId2" Type="http://schemas.openxmlformats.org/officeDocument/2006/relationships/image" Target="../media/image55.png"/><Relationship Id="rId1" Type="http://schemas.openxmlformats.org/officeDocument/2006/relationships/slideLayout" Target="../slideLayouts/slideLayout2.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1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2.xml"/><Relationship Id="rId4" Type="http://schemas.openxmlformats.org/officeDocument/2006/relationships/image" Target="../media/image6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8" Type="http://schemas.openxmlformats.org/officeDocument/2006/relationships/image" Target="../media/image70.png"/><Relationship Id="rId3" Type="http://schemas.openxmlformats.org/officeDocument/2006/relationships/image" Target="../media/image65.png"/><Relationship Id="rId7" Type="http://schemas.openxmlformats.org/officeDocument/2006/relationships/image" Target="../media/image69.png"/><Relationship Id="rId2" Type="http://schemas.openxmlformats.org/officeDocument/2006/relationships/image" Target="../media/image64.png"/><Relationship Id="rId1" Type="http://schemas.openxmlformats.org/officeDocument/2006/relationships/slideLayout" Target="../slideLayouts/slideLayout2.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66.png"/><Relationship Id="rId9" Type="http://schemas.openxmlformats.org/officeDocument/2006/relationships/image" Target="../media/image71.png"/></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2.xml"/><Relationship Id="rId6" Type="http://schemas.openxmlformats.org/officeDocument/2006/relationships/image" Target="../media/image79.png"/><Relationship Id="rId5" Type="http://schemas.openxmlformats.org/officeDocument/2006/relationships/image" Target="../media/image78.png"/><Relationship Id="rId4" Type="http://schemas.openxmlformats.org/officeDocument/2006/relationships/image" Target="../media/image20.jpeg"/></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5" Type="http://schemas.openxmlformats.org/officeDocument/2006/relationships/image" Target="../media/image83.png"/><Relationship Id="rId4" Type="http://schemas.openxmlformats.org/officeDocument/2006/relationships/image" Target="../media/image82.png"/></Relationships>
</file>

<file path=ppt/slides/_rels/slide2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 Id="rId4" Type="http://schemas.openxmlformats.org/officeDocument/2006/relationships/image" Target="../media/image54.png"/></Relationships>
</file>

<file path=ppt/slides/_rels/slide24.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slideLayout" Target="../slideLayouts/slideLayout2.xml"/><Relationship Id="rId5" Type="http://schemas.openxmlformats.org/officeDocument/2006/relationships/image" Target="../media/image91.png"/><Relationship Id="rId4" Type="http://schemas.openxmlformats.org/officeDocument/2006/relationships/image" Target="../media/image90.png"/></Relationships>
</file>

<file path=ppt/slides/_rels/slide25.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2.xml"/><Relationship Id="rId4" Type="http://schemas.openxmlformats.org/officeDocument/2006/relationships/image" Target="../media/image94.png"/></Relationships>
</file>

<file path=ppt/slides/_rels/slide26.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72.png"/><Relationship Id="rId1" Type="http://schemas.openxmlformats.org/officeDocument/2006/relationships/slideLayout" Target="../slideLayouts/slideLayout2.xml"/><Relationship Id="rId6" Type="http://schemas.openxmlformats.org/officeDocument/2006/relationships/image" Target="../media/image99.png"/><Relationship Id="rId5" Type="http://schemas.openxmlformats.org/officeDocument/2006/relationships/image" Target="../media/image98.png"/><Relationship Id="rId4" Type="http://schemas.openxmlformats.org/officeDocument/2006/relationships/image" Target="../media/image97.png"/></Relationships>
</file>

<file path=ppt/slides/_rels/slide27.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72.png"/><Relationship Id="rId1" Type="http://schemas.openxmlformats.org/officeDocument/2006/relationships/slideLayout" Target="../slideLayouts/slideLayout2.xml"/><Relationship Id="rId6" Type="http://schemas.openxmlformats.org/officeDocument/2006/relationships/image" Target="../media/image101.png"/><Relationship Id="rId5" Type="http://schemas.openxmlformats.org/officeDocument/2006/relationships/image" Target="../media/image100.png"/><Relationship Id="rId4" Type="http://schemas.openxmlformats.org/officeDocument/2006/relationships/image" Target="../media/image97.png"/></Relationships>
</file>

<file path=ppt/slides/_rels/slide28.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8" Type="http://schemas.openxmlformats.org/officeDocument/2006/relationships/image" Target="../media/image110.png"/><Relationship Id="rId3" Type="http://schemas.openxmlformats.org/officeDocument/2006/relationships/image" Target="../media/image105.png"/><Relationship Id="rId7" Type="http://schemas.openxmlformats.org/officeDocument/2006/relationships/image" Target="../media/image109.png"/><Relationship Id="rId2" Type="http://schemas.openxmlformats.org/officeDocument/2006/relationships/image" Target="../media/image104.png"/><Relationship Id="rId1" Type="http://schemas.openxmlformats.org/officeDocument/2006/relationships/slideLayout" Target="../slideLayouts/slideLayout2.xml"/><Relationship Id="rId6" Type="http://schemas.openxmlformats.org/officeDocument/2006/relationships/image" Target="../media/image108.png"/><Relationship Id="rId5" Type="http://schemas.openxmlformats.org/officeDocument/2006/relationships/image" Target="../media/image107.png"/><Relationship Id="rId4" Type="http://schemas.openxmlformats.org/officeDocument/2006/relationships/image" Target="../media/image106.png"/><Relationship Id="rId9" Type="http://schemas.openxmlformats.org/officeDocument/2006/relationships/image" Target="../media/image111.png"/></Relationships>
</file>

<file path=ppt/slides/_rels/slide31.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image" Target="../media/image11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hyperlink" Target="https://docs.google.com/forms/d/e/1FAIpQLSdHl0kjWo63aNzDkAV0cnmQadCAj5L0D7v7aSh0BK7BBdEgpA/viewform?usp=header"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15"/>
          <p:cNvSpPr txBox="1">
            <a:spLocks noGrp="1"/>
          </p:cNvSpPr>
          <p:nvPr>
            <p:ph type="ctrTitle"/>
          </p:nvPr>
        </p:nvSpPr>
        <p:spPr>
          <a:prstGeom prst="rect">
            <a:avLst/>
          </a:prstGeom>
          <a:noFill/>
          <a:ln>
            <a:noFill/>
          </a:ln>
        </p:spPr>
        <p:txBody>
          <a:bodyPr spcFirstLastPara="1" wrap="square" lIns="68575" tIns="34275" rIns="68575" bIns="34275" anchor="b" anchorCtr="0">
            <a:normAutofit/>
          </a:bodyPr>
          <a:lstStyle/>
          <a:p>
            <a:pPr marL="0" lvl="0" indent="0" algn="ctr" rtl="0">
              <a:lnSpc>
                <a:spcPct val="90000"/>
              </a:lnSpc>
              <a:spcBef>
                <a:spcPts val="0"/>
              </a:spcBef>
              <a:spcAft>
                <a:spcPts val="0"/>
              </a:spcAft>
              <a:buClr>
                <a:schemeClr val="dk1"/>
              </a:buClr>
              <a:buSzPts val="4500"/>
              <a:buFont typeface="Quattrocento Sans"/>
              <a:buNone/>
            </a:pPr>
            <a:r>
              <a:rPr lang="en-US" noProof="0" dirty="0"/>
              <a:t>CS1 Week 7</a:t>
            </a:r>
          </a:p>
        </p:txBody>
      </p:sp>
      <p:sp>
        <p:nvSpPr>
          <p:cNvPr id="65" name="Google Shape;65;p15"/>
          <p:cNvSpPr txBox="1">
            <a:spLocks noGrp="1"/>
          </p:cNvSpPr>
          <p:nvPr>
            <p:ph type="subTitle" idx="1"/>
          </p:nvPr>
        </p:nvSpPr>
        <p:spPr>
          <a:prstGeom prst="rect">
            <a:avLst/>
          </a:prstGeom>
          <a:noFill/>
          <a:ln>
            <a:noFill/>
          </a:ln>
        </p:spPr>
        <p:txBody>
          <a:bodyPr spcFirstLastPara="1" wrap="square" lIns="68575" tIns="34275" rIns="68575" bIns="34275" anchor="t" anchorCtr="0">
            <a:normAutofit/>
          </a:bodyPr>
          <a:lstStyle/>
          <a:p>
            <a:pPr marL="0" lvl="0" indent="0" algn="ctr" rtl="0">
              <a:lnSpc>
                <a:spcPct val="90000"/>
              </a:lnSpc>
              <a:spcBef>
                <a:spcPts val="0"/>
              </a:spcBef>
              <a:spcAft>
                <a:spcPts val="0"/>
              </a:spcAft>
              <a:buClr>
                <a:schemeClr val="dk1"/>
              </a:buClr>
              <a:buSzPts val="1800"/>
              <a:buNone/>
            </a:pPr>
            <a:r>
              <a:rPr lang="en-US" noProof="0" dirty="0"/>
              <a:t>Proportional Feedback, Root Locus</a:t>
            </a:r>
          </a:p>
        </p:txBody>
      </p:sp>
      <p:sp>
        <p:nvSpPr>
          <p:cNvPr id="66" name="Google Shape;66;p15"/>
          <p:cNvSpPr txBox="1">
            <a:spLocks noGrp="1"/>
          </p:cNvSpPr>
          <p:nvPr>
            <p:ph type="sldNum" sz="quarter" idx="12"/>
          </p:nvPr>
        </p:nvSpPr>
        <p:spPr>
          <a:xfrm>
            <a:off x="6457950" y="4767263"/>
            <a:ext cx="2057400" cy="273900"/>
          </a:xfrm>
          <a:prstGeom prst="rect">
            <a:avLst/>
          </a:prstGeom>
          <a:noFill/>
          <a:ln>
            <a:noFill/>
          </a:ln>
        </p:spPr>
        <p:txBody>
          <a:bodyPr spcFirstLastPara="1" wrap="square" lIns="68575" tIns="34275" rIns="68575" bIns="34275" anchor="ctr" anchorCtr="0">
            <a:normAutofit/>
          </a:bodyPr>
          <a:lstStyle/>
          <a:p>
            <a:pPr marL="0" lvl="0" indent="0" algn="r" rtl="0">
              <a:spcBef>
                <a:spcPts val="0"/>
              </a:spcBef>
              <a:spcAft>
                <a:spcPts val="0"/>
              </a:spcAft>
              <a:buClr>
                <a:srgbClr val="000000"/>
              </a:buClr>
              <a:buFont typeface="Arial"/>
              <a:buNone/>
            </a:pPr>
            <a:fld id="{00000000-1234-1234-1234-123412341234}" type="slidenum">
              <a:rPr lang="en-US" noProof="0" smtClean="0"/>
              <a:t>1</a:t>
            </a:fld>
            <a:endParaRPr lang="en-US" noProof="0" dirty="0"/>
          </a:p>
        </p:txBody>
      </p:sp>
      <p:sp>
        <p:nvSpPr>
          <p:cNvPr id="2" name="Footer Placeholder 1">
            <a:extLst>
              <a:ext uri="{FF2B5EF4-FFF2-40B4-BE49-F238E27FC236}">
                <a16:creationId xmlns:a16="http://schemas.microsoft.com/office/drawing/2014/main" id="{17D308ED-A674-3D91-8DF4-ACE218383B8B}"/>
              </a:ext>
            </a:extLst>
          </p:cNvPr>
          <p:cNvSpPr>
            <a:spLocks noGrp="1"/>
          </p:cNvSpPr>
          <p:nvPr>
            <p:ph type="ftr" sz="quarter" idx="11"/>
          </p:nvPr>
        </p:nvSpPr>
        <p:spPr/>
        <p:txBody>
          <a:bodyPr/>
          <a:lstStyle/>
          <a:p>
            <a:pPr defTabSz="342900">
              <a:buClrTx/>
            </a:pPr>
            <a:r>
              <a:rPr lang="en-US" kern="1200" noProof="0" dirty="0">
                <a:solidFill>
                  <a:srgbClr val="101623">
                    <a:tint val="75000"/>
                  </a:srgbClr>
                </a:solidFill>
                <a:latin typeface="Calibri" panose="020F0502020204030204"/>
                <a:ea typeface="+mn-ea"/>
                <a:cs typeface="+mn-cs"/>
              </a:rPr>
              <a:t>Kissan Varatharajan - </a:t>
            </a:r>
            <a:r>
              <a:rPr lang="en-US" kern="1200" noProof="0" dirty="0" err="1">
                <a:solidFill>
                  <a:srgbClr val="101623">
                    <a:tint val="75000"/>
                  </a:srgbClr>
                </a:solidFill>
                <a:latin typeface="Calibri" panose="020F0502020204030204"/>
                <a:ea typeface="+mn-ea"/>
                <a:cs typeface="+mn-cs"/>
              </a:rPr>
              <a:t>kissanv.github.io</a:t>
            </a:r>
            <a:endParaRPr lang="en-US" kern="1200" noProof="0" dirty="0">
              <a:solidFill>
                <a:srgbClr val="101623">
                  <a:tint val="75000"/>
                </a:srgbClr>
              </a:solidFill>
              <a:latin typeface="Calibri" panose="020F0502020204030204"/>
              <a:ea typeface="+mn-ea"/>
              <a:cs typeface="+mn-cs"/>
            </a:endParaRPr>
          </a:p>
        </p:txBody>
      </p:sp>
      <p:pic>
        <p:nvPicPr>
          <p:cNvPr id="5" name="Grafik 4">
            <a:extLst>
              <a:ext uri="{FF2B5EF4-FFF2-40B4-BE49-F238E27FC236}">
                <a16:creationId xmlns:a16="http://schemas.microsoft.com/office/drawing/2014/main" id="{2BDF04DF-8383-902C-FBB4-F0102DCAA4CD}"/>
              </a:ext>
            </a:extLst>
          </p:cNvPr>
          <p:cNvPicPr>
            <a:picLocks noChangeAspect="1"/>
          </p:cNvPicPr>
          <p:nvPr/>
        </p:nvPicPr>
        <p:blipFill>
          <a:blip r:embed="rId3"/>
          <a:srcRect t="576" b="576"/>
          <a:stretch/>
        </p:blipFill>
        <p:spPr>
          <a:xfrm>
            <a:off x="4016750" y="3669563"/>
            <a:ext cx="1110499" cy="10977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531110B-6CB5-5994-04AE-824730E5FB94}"/>
              </a:ext>
            </a:extLst>
          </p:cNvPr>
          <p:cNvSpPr>
            <a:spLocks noGrp="1"/>
          </p:cNvSpPr>
          <p:nvPr>
            <p:ph type="ctrTitle"/>
          </p:nvPr>
        </p:nvSpPr>
        <p:spPr/>
        <p:txBody>
          <a:bodyPr/>
          <a:lstStyle/>
          <a:p>
            <a:r>
              <a:rPr lang="en-US" noProof="0" dirty="0"/>
              <a:t>Recap Last Week</a:t>
            </a:r>
          </a:p>
        </p:txBody>
      </p:sp>
      <p:sp>
        <p:nvSpPr>
          <p:cNvPr id="3" name="Untertitel 2">
            <a:extLst>
              <a:ext uri="{FF2B5EF4-FFF2-40B4-BE49-F238E27FC236}">
                <a16:creationId xmlns:a16="http://schemas.microsoft.com/office/drawing/2014/main" id="{83AD3CD8-E8F2-3C33-7DB9-8804A5B9ABBF}"/>
              </a:ext>
            </a:extLst>
          </p:cNvPr>
          <p:cNvSpPr>
            <a:spLocks noGrp="1"/>
          </p:cNvSpPr>
          <p:nvPr>
            <p:ph type="subTitle" idx="1"/>
          </p:nvPr>
        </p:nvSpPr>
        <p:spPr/>
        <p:txBody>
          <a:bodyPr/>
          <a:lstStyle/>
          <a:p>
            <a:endParaRPr lang="en-US" noProof="0" dirty="0"/>
          </a:p>
        </p:txBody>
      </p:sp>
      <p:sp>
        <p:nvSpPr>
          <p:cNvPr id="4" name="Fußzeilenplatzhalter 3">
            <a:extLst>
              <a:ext uri="{FF2B5EF4-FFF2-40B4-BE49-F238E27FC236}">
                <a16:creationId xmlns:a16="http://schemas.microsoft.com/office/drawing/2014/main" id="{BB010242-2D10-B3FC-938D-3ADDCFE106B6}"/>
              </a:ext>
            </a:extLst>
          </p:cNvPr>
          <p:cNvSpPr>
            <a:spLocks noGrp="1"/>
          </p:cNvSpPr>
          <p:nvPr>
            <p:ph type="ftr" sz="quarter" idx="11"/>
          </p:nvPr>
        </p:nvSpPr>
        <p:spPr/>
        <p:txBody>
          <a:bodyPr/>
          <a:lstStyle/>
          <a:p>
            <a:pPr defTabSz="342900">
              <a:buClrTx/>
            </a:pPr>
            <a:r>
              <a:rPr lang="en-US" kern="1200" noProof="0" dirty="0">
                <a:solidFill>
                  <a:srgbClr val="101623">
                    <a:tint val="75000"/>
                  </a:srgbClr>
                </a:solidFill>
                <a:latin typeface="Calibri" panose="020F0502020204030204"/>
                <a:ea typeface="+mn-ea"/>
                <a:cs typeface="+mn-cs"/>
              </a:rPr>
              <a:t>Kissan Varatharajan - </a:t>
            </a:r>
            <a:r>
              <a:rPr lang="en-US" kern="1200" noProof="0" dirty="0" err="1">
                <a:solidFill>
                  <a:srgbClr val="101623">
                    <a:tint val="75000"/>
                  </a:srgbClr>
                </a:solidFill>
                <a:latin typeface="Calibri" panose="020F0502020204030204"/>
                <a:ea typeface="+mn-ea"/>
                <a:cs typeface="+mn-cs"/>
              </a:rPr>
              <a:t>kissanv.github.io</a:t>
            </a:r>
            <a:endParaRPr lang="en-US" kern="1200" noProof="0" dirty="0">
              <a:solidFill>
                <a:srgbClr val="101623">
                  <a:tint val="75000"/>
                </a:srgbClr>
              </a:solidFill>
              <a:latin typeface="Calibri" panose="020F0502020204030204"/>
              <a:ea typeface="+mn-ea"/>
              <a:cs typeface="+mn-cs"/>
            </a:endParaRPr>
          </a:p>
        </p:txBody>
      </p:sp>
      <p:sp>
        <p:nvSpPr>
          <p:cNvPr id="5" name="Foliennummernplatzhalter 4">
            <a:extLst>
              <a:ext uri="{FF2B5EF4-FFF2-40B4-BE49-F238E27FC236}">
                <a16:creationId xmlns:a16="http://schemas.microsoft.com/office/drawing/2014/main" id="{36E08D1C-18D4-1751-941C-81AF9A2B8F9A}"/>
              </a:ext>
            </a:extLst>
          </p:cNvPr>
          <p:cNvSpPr>
            <a:spLocks noGrp="1"/>
          </p:cNvSpPr>
          <p:nvPr>
            <p:ph type="sldNum" sz="quarter" idx="12"/>
          </p:nvPr>
        </p:nvSpPr>
        <p:spPr/>
        <p:txBody>
          <a:bodyPr/>
          <a:lstStyle/>
          <a:p>
            <a:pPr defTabSz="342900">
              <a:buClrTx/>
            </a:pPr>
            <a:fld id="{36EAFFE7-40E2-CA47-82C0-73D0FC591208}" type="slidenum">
              <a:rPr lang="en-US" kern="1200" noProof="0" smtClean="0">
                <a:solidFill>
                  <a:srgbClr val="101623">
                    <a:tint val="75000"/>
                  </a:srgbClr>
                </a:solidFill>
                <a:latin typeface="Calibri" panose="020F0502020204030204"/>
                <a:ea typeface="+mn-ea"/>
                <a:cs typeface="+mn-cs"/>
              </a:rPr>
              <a:pPr defTabSz="342900">
                <a:buClrTx/>
              </a:pPr>
              <a:t>2</a:t>
            </a:fld>
            <a:endParaRPr lang="en-US" kern="1200" noProof="0" dirty="0">
              <a:solidFill>
                <a:srgbClr val="101623">
                  <a:tint val="75000"/>
                </a:srgbClr>
              </a:solidFill>
              <a:latin typeface="Calibri" panose="020F0502020204030204"/>
              <a:ea typeface="+mn-ea"/>
              <a:cs typeface="+mn-cs"/>
            </a:endParaRPr>
          </a:p>
        </p:txBody>
      </p:sp>
    </p:spTree>
    <p:extLst>
      <p:ext uri="{BB962C8B-B14F-4D97-AF65-F5344CB8AC3E}">
        <p14:creationId xmlns:p14="http://schemas.microsoft.com/office/powerpoint/2010/main" val="26442197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6780CC6-E1DB-3F98-83C4-1DEEB9E76E6A}"/>
              </a:ext>
            </a:extLst>
          </p:cNvPr>
          <p:cNvSpPr>
            <a:spLocks noGrp="1"/>
          </p:cNvSpPr>
          <p:nvPr>
            <p:ph type="title"/>
          </p:nvPr>
        </p:nvSpPr>
        <p:spPr/>
        <p:txBody>
          <a:bodyPr/>
          <a:lstStyle/>
          <a:p>
            <a:r>
              <a:rPr lang="en-US" noProof="0" dirty="0"/>
              <a:t>Quiz 1</a:t>
            </a:r>
          </a:p>
        </p:txBody>
      </p:sp>
      <mc:AlternateContent xmlns:mc="http://schemas.openxmlformats.org/markup-compatibility/2006" xmlns:a14="http://schemas.microsoft.com/office/drawing/2010/main">
        <mc:Choice Requires="a14">
          <p:sp>
            <p:nvSpPr>
              <p:cNvPr id="3" name="Inhaltsplatzhalter 2">
                <a:extLst>
                  <a:ext uri="{FF2B5EF4-FFF2-40B4-BE49-F238E27FC236}">
                    <a16:creationId xmlns:a16="http://schemas.microsoft.com/office/drawing/2014/main" id="{A0EA1775-A4F8-EB01-E052-BF7EEAECD24C}"/>
                  </a:ext>
                </a:extLst>
              </p:cNvPr>
              <p:cNvSpPr>
                <a:spLocks noGrp="1"/>
              </p:cNvSpPr>
              <p:nvPr>
                <p:ph idx="1"/>
              </p:nvPr>
            </p:nvSpPr>
            <p:spPr>
              <a:xfrm>
                <a:off x="546354" y="1369219"/>
                <a:ext cx="8679942" cy="3263504"/>
              </a:xfrm>
            </p:spPr>
            <p:txBody>
              <a:bodyPr/>
              <a:lstStyle/>
              <a:p>
                <a:pPr marL="0" indent="0">
                  <a:buNone/>
                </a:pPr>
                <a:r>
                  <a:rPr lang="en-US" noProof="0" dirty="0"/>
                  <a:t>Which factor appears in the Bode-form of a transfer function for a real zero at </a:t>
                </a:r>
                <a14:m>
                  <m:oMath xmlns:m="http://schemas.openxmlformats.org/officeDocument/2006/math">
                    <m:r>
                      <a:rPr lang="en-US" i="1" noProof="0" smtClean="0">
                        <a:latin typeface="Cambria Math" panose="02040503050406030204" pitchFamily="18" charset="0"/>
                      </a:rPr>
                      <m:t>𝑧</m:t>
                    </m:r>
                  </m:oMath>
                </a14:m>
                <a:r>
                  <a:rPr lang="en-US" noProof="0" dirty="0"/>
                  <a:t>?</a:t>
                </a:r>
              </a:p>
            </p:txBody>
          </p:sp>
        </mc:Choice>
        <mc:Fallback xmlns="">
          <p:sp>
            <p:nvSpPr>
              <p:cNvPr id="3" name="Inhaltsplatzhalter 2">
                <a:extLst>
                  <a:ext uri="{FF2B5EF4-FFF2-40B4-BE49-F238E27FC236}">
                    <a16:creationId xmlns:a16="http://schemas.microsoft.com/office/drawing/2014/main" id="{A0EA1775-A4F8-EB01-E052-BF7EEAECD24C}"/>
                  </a:ext>
                </a:extLst>
              </p:cNvPr>
              <p:cNvSpPr>
                <a:spLocks noGrp="1" noRot="1" noChangeAspect="1" noMove="1" noResize="1" noEditPoints="1" noAdjustHandles="1" noChangeArrowheads="1" noChangeShapeType="1" noTextEdit="1"/>
              </p:cNvSpPr>
              <p:nvPr>
                <p:ph idx="1"/>
              </p:nvPr>
            </p:nvSpPr>
            <p:spPr>
              <a:xfrm>
                <a:off x="546354" y="1369219"/>
                <a:ext cx="8679942" cy="3263504"/>
              </a:xfrm>
              <a:blipFill>
                <a:blip r:embed="rId2"/>
                <a:stretch>
                  <a:fillRect l="-731" t="-2335"/>
                </a:stretch>
              </a:blipFill>
            </p:spPr>
            <p:txBody>
              <a:bodyPr/>
              <a:lstStyle/>
              <a:p>
                <a:r>
                  <a:rPr lang="de-DE">
                    <a:noFill/>
                  </a:rPr>
                  <a:t> </a:t>
                </a:r>
              </a:p>
            </p:txBody>
          </p:sp>
        </mc:Fallback>
      </mc:AlternateContent>
      <p:sp>
        <p:nvSpPr>
          <p:cNvPr id="4" name="Fußzeilenplatzhalter 3">
            <a:extLst>
              <a:ext uri="{FF2B5EF4-FFF2-40B4-BE49-F238E27FC236}">
                <a16:creationId xmlns:a16="http://schemas.microsoft.com/office/drawing/2014/main" id="{C41165A5-333E-12B4-B27B-9CF0428A7BDA}"/>
              </a:ext>
            </a:extLst>
          </p:cNvPr>
          <p:cNvSpPr>
            <a:spLocks noGrp="1"/>
          </p:cNvSpPr>
          <p:nvPr>
            <p:ph type="ftr" sz="quarter" idx="11"/>
          </p:nvPr>
        </p:nvSpPr>
        <p:spPr/>
        <p:txBody>
          <a:bodyPr/>
          <a:lstStyle/>
          <a:p>
            <a:pPr defTabSz="342900">
              <a:buClrTx/>
            </a:pPr>
            <a:r>
              <a:rPr lang="en-US" kern="1200" noProof="0" dirty="0">
                <a:solidFill>
                  <a:srgbClr val="101623">
                    <a:tint val="75000"/>
                  </a:srgbClr>
                </a:solidFill>
                <a:latin typeface="Calibri" panose="020F0502020204030204"/>
                <a:ea typeface="+mn-ea"/>
                <a:cs typeface="+mn-cs"/>
              </a:rPr>
              <a:t>Kissan Varatharajan - </a:t>
            </a:r>
            <a:r>
              <a:rPr lang="en-US" kern="1200" noProof="0" dirty="0" err="1">
                <a:solidFill>
                  <a:srgbClr val="101623">
                    <a:tint val="75000"/>
                  </a:srgbClr>
                </a:solidFill>
                <a:latin typeface="Calibri" panose="020F0502020204030204"/>
                <a:ea typeface="+mn-ea"/>
                <a:cs typeface="+mn-cs"/>
              </a:rPr>
              <a:t>kissanv.github.io</a:t>
            </a:r>
            <a:endParaRPr lang="en-US" kern="1200" noProof="0" dirty="0">
              <a:solidFill>
                <a:srgbClr val="101623">
                  <a:tint val="75000"/>
                </a:srgbClr>
              </a:solidFill>
              <a:latin typeface="Calibri" panose="020F0502020204030204"/>
              <a:ea typeface="+mn-ea"/>
              <a:cs typeface="+mn-cs"/>
            </a:endParaRPr>
          </a:p>
        </p:txBody>
      </p:sp>
      <p:sp>
        <p:nvSpPr>
          <p:cNvPr id="5" name="Foliennummernplatzhalter 4">
            <a:extLst>
              <a:ext uri="{FF2B5EF4-FFF2-40B4-BE49-F238E27FC236}">
                <a16:creationId xmlns:a16="http://schemas.microsoft.com/office/drawing/2014/main" id="{090BEDA5-655A-7FD9-BCF1-35297F5D93EF}"/>
              </a:ext>
            </a:extLst>
          </p:cNvPr>
          <p:cNvSpPr>
            <a:spLocks noGrp="1"/>
          </p:cNvSpPr>
          <p:nvPr>
            <p:ph type="sldNum" sz="quarter" idx="12"/>
          </p:nvPr>
        </p:nvSpPr>
        <p:spPr/>
        <p:txBody>
          <a:bodyPr/>
          <a:lstStyle/>
          <a:p>
            <a:pPr defTabSz="342900">
              <a:buClrTx/>
            </a:pPr>
            <a:fld id="{36EAFFE7-40E2-CA47-82C0-73D0FC591208}" type="slidenum">
              <a:rPr lang="en-US" kern="1200" noProof="0" smtClean="0">
                <a:solidFill>
                  <a:srgbClr val="101623">
                    <a:tint val="75000"/>
                  </a:srgbClr>
                </a:solidFill>
                <a:latin typeface="Calibri" panose="020F0502020204030204"/>
                <a:ea typeface="+mn-ea"/>
                <a:cs typeface="+mn-cs"/>
              </a:rPr>
              <a:pPr defTabSz="342900">
                <a:buClrTx/>
              </a:pPr>
              <a:t>3</a:t>
            </a:fld>
            <a:endParaRPr lang="en-US" kern="1200" noProof="0" dirty="0">
              <a:solidFill>
                <a:srgbClr val="101623">
                  <a:tint val="75000"/>
                </a:srgbClr>
              </a:solidFill>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15" name="Rectangle: Rounded Corners 18">
                <a:extLst>
                  <a:ext uri="{FF2B5EF4-FFF2-40B4-BE49-F238E27FC236}">
                    <a16:creationId xmlns:a16="http://schemas.microsoft.com/office/drawing/2014/main" id="{B666A62D-0B75-7E3D-77F2-CBADCE835FDA}"/>
                  </a:ext>
                </a:extLst>
              </p:cNvPr>
              <p:cNvSpPr/>
              <p:nvPr/>
            </p:nvSpPr>
            <p:spPr>
              <a:xfrm>
                <a:off x="628650" y="3361385"/>
                <a:ext cx="2400300" cy="498355"/>
              </a:xfrm>
              <a:prstGeom prst="roundRect">
                <a:avLst>
                  <a:gd name="adj" fmla="val 11229"/>
                </a:avLst>
              </a:prstGeom>
              <a:solidFill>
                <a:schemeClr val="accent5">
                  <a:lumMod val="40000"/>
                  <a:lumOff val="60000"/>
                </a:schemeClr>
              </a:solidFill>
              <a:ln>
                <a:noFill/>
              </a:ln>
            </p:spPr>
            <p:style>
              <a:lnRef idx="2">
                <a:schemeClr val="dk1">
                  <a:shade val="50000"/>
                </a:schemeClr>
              </a:lnRef>
              <a:fillRef idx="1">
                <a:schemeClr val="dk1"/>
              </a:fillRef>
              <a:effectRef idx="0">
                <a:schemeClr val="dk1"/>
              </a:effectRef>
              <a:fontRef idx="minor">
                <a:schemeClr val="lt1"/>
              </a:fontRef>
            </p:style>
            <p:txBody>
              <a:bodyPr lIns="182880" rtlCol="0" anchor="ctr"/>
              <a:lstStyle/>
              <a:p>
                <a:pPr>
                  <a:spcBef>
                    <a:spcPts val="200"/>
                  </a:spcBef>
                </a:pPr>
                <a:r>
                  <a:rPr lang="en-US" b="1" noProof="0" dirty="0">
                    <a:solidFill>
                      <a:schemeClr val="tx1"/>
                    </a:solidFill>
                    <a:latin typeface="Segoe UI Black" panose="020B0A02040204020203" pitchFamily="34" charset="0"/>
                    <a:ea typeface="Segoe UI Black" panose="020B0A02040204020203" pitchFamily="34" charset="0"/>
                  </a:rPr>
                  <a:t>C.  </a:t>
                </a:r>
                <a14:m>
                  <m:oMath xmlns:m="http://schemas.openxmlformats.org/officeDocument/2006/math">
                    <m:f>
                      <m:fPr>
                        <m:ctrlPr>
                          <a:rPr lang="en-US" sz="1600" i="1" noProof="0" smtClean="0">
                            <a:solidFill>
                              <a:schemeClr val="tx1"/>
                            </a:solidFill>
                            <a:latin typeface="Cambria Math" panose="02040503050406030204" pitchFamily="18" charset="0"/>
                          </a:rPr>
                        </m:ctrlPr>
                      </m:fPr>
                      <m:num>
                        <m:r>
                          <a:rPr lang="en-US" sz="1600" noProof="0" smtClean="0">
                            <a:solidFill>
                              <a:schemeClr val="tx1"/>
                            </a:solidFill>
                            <a:latin typeface="Cambria Math" panose="02040503050406030204" pitchFamily="18" charset="0"/>
                          </a:rPr>
                          <m:t>1</m:t>
                        </m:r>
                      </m:num>
                      <m:den>
                        <m:r>
                          <a:rPr lang="en-US" sz="1600" i="1" noProof="0" smtClean="0">
                            <a:solidFill>
                              <a:schemeClr val="tx1"/>
                            </a:solidFill>
                            <a:latin typeface="Cambria Math" panose="02040503050406030204" pitchFamily="18" charset="0"/>
                          </a:rPr>
                          <m:t>𝑠</m:t>
                        </m:r>
                        <m:r>
                          <a:rPr lang="en-US" sz="1600" i="1" noProof="0" smtClean="0">
                            <a:solidFill>
                              <a:schemeClr val="tx1"/>
                            </a:solidFill>
                            <a:latin typeface="Cambria Math" panose="02040503050406030204" pitchFamily="18" charset="0"/>
                          </a:rPr>
                          <m:t>−</m:t>
                        </m:r>
                        <m:r>
                          <a:rPr lang="en-US" sz="1600" i="1" noProof="0" smtClean="0">
                            <a:solidFill>
                              <a:schemeClr val="tx1"/>
                            </a:solidFill>
                            <a:latin typeface="Cambria Math" panose="02040503050406030204" pitchFamily="18" charset="0"/>
                          </a:rPr>
                          <m:t>𝑧</m:t>
                        </m:r>
                      </m:den>
                    </m:f>
                  </m:oMath>
                </a14:m>
                <a:endParaRPr lang="en-US" b="1" noProof="0" dirty="0">
                  <a:solidFill>
                    <a:schemeClr val="tx1"/>
                  </a:solidFill>
                  <a:latin typeface="Segoe UI Black" panose="020B0A02040204020203" pitchFamily="34" charset="0"/>
                  <a:ea typeface="Segoe UI Black" panose="020B0A02040204020203" pitchFamily="34" charset="0"/>
                </a:endParaRPr>
              </a:p>
            </p:txBody>
          </p:sp>
        </mc:Choice>
        <mc:Fallback xmlns="">
          <p:sp>
            <p:nvSpPr>
              <p:cNvPr id="15" name="Rectangle: Rounded Corners 18">
                <a:extLst>
                  <a:ext uri="{FF2B5EF4-FFF2-40B4-BE49-F238E27FC236}">
                    <a16:creationId xmlns:a16="http://schemas.microsoft.com/office/drawing/2014/main" id="{B666A62D-0B75-7E3D-77F2-CBADCE835FDA}"/>
                  </a:ext>
                </a:extLst>
              </p:cNvPr>
              <p:cNvSpPr>
                <a:spLocks noRot="1" noChangeAspect="1" noMove="1" noResize="1" noEditPoints="1" noAdjustHandles="1" noChangeArrowheads="1" noChangeShapeType="1" noTextEdit="1"/>
              </p:cNvSpPr>
              <p:nvPr/>
            </p:nvSpPr>
            <p:spPr>
              <a:xfrm>
                <a:off x="628650" y="3361385"/>
                <a:ext cx="2400300" cy="498355"/>
              </a:xfrm>
              <a:prstGeom prst="roundRect">
                <a:avLst>
                  <a:gd name="adj" fmla="val 11229"/>
                </a:avLst>
              </a:prstGeom>
              <a:blipFill>
                <a:blip r:embed="rId3"/>
                <a:stretch>
                  <a:fillRect/>
                </a:stretch>
              </a:blipFill>
              <a:ln>
                <a:no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17" name="Rectangle: Rounded Corners 18">
                <a:extLst>
                  <a:ext uri="{FF2B5EF4-FFF2-40B4-BE49-F238E27FC236}">
                    <a16:creationId xmlns:a16="http://schemas.microsoft.com/office/drawing/2014/main" id="{15825203-820C-6BF0-3846-26B5AB02B6BB}"/>
                  </a:ext>
                </a:extLst>
              </p:cNvPr>
              <p:cNvSpPr/>
              <p:nvPr/>
            </p:nvSpPr>
            <p:spPr>
              <a:xfrm>
                <a:off x="628650" y="4004396"/>
                <a:ext cx="2400300" cy="498355"/>
              </a:xfrm>
              <a:prstGeom prst="roundRect">
                <a:avLst>
                  <a:gd name="adj" fmla="val 11229"/>
                </a:avLst>
              </a:prstGeom>
              <a:solidFill>
                <a:schemeClr val="accent5">
                  <a:lumMod val="40000"/>
                  <a:lumOff val="60000"/>
                </a:schemeClr>
              </a:solidFill>
              <a:ln>
                <a:noFill/>
              </a:ln>
            </p:spPr>
            <p:style>
              <a:lnRef idx="2">
                <a:schemeClr val="dk1">
                  <a:shade val="50000"/>
                </a:schemeClr>
              </a:lnRef>
              <a:fillRef idx="1">
                <a:schemeClr val="dk1"/>
              </a:fillRef>
              <a:effectRef idx="0">
                <a:schemeClr val="dk1"/>
              </a:effectRef>
              <a:fontRef idx="minor">
                <a:schemeClr val="lt1"/>
              </a:fontRef>
            </p:style>
            <p:txBody>
              <a:bodyPr lIns="182880" rtlCol="0" anchor="ctr"/>
              <a:lstStyle/>
              <a:p>
                <a:pPr>
                  <a:spcBef>
                    <a:spcPts val="200"/>
                  </a:spcBef>
                </a:pPr>
                <a:r>
                  <a:rPr lang="en-US" b="1" noProof="0" dirty="0">
                    <a:solidFill>
                      <a:schemeClr val="tx1"/>
                    </a:solidFill>
                    <a:latin typeface="Segoe UI Black" panose="020B0A02040204020203" pitchFamily="34" charset="0"/>
                    <a:ea typeface="Segoe UI Black" panose="020B0A02040204020203" pitchFamily="34" charset="0"/>
                  </a:rPr>
                  <a:t>D.  </a:t>
                </a:r>
                <a14:m>
                  <m:oMath xmlns:m="http://schemas.openxmlformats.org/officeDocument/2006/math">
                    <m:f>
                      <m:fPr>
                        <m:ctrlPr>
                          <a:rPr lang="en-US" sz="1600" i="1" noProof="0" smtClean="0">
                            <a:solidFill>
                              <a:schemeClr val="tx1"/>
                            </a:solidFill>
                            <a:latin typeface="Cambria Math" panose="02040503050406030204" pitchFamily="18" charset="0"/>
                          </a:rPr>
                        </m:ctrlPr>
                      </m:fPr>
                      <m:num>
                        <m:r>
                          <m:rPr>
                            <m:sty m:val="p"/>
                          </m:rPr>
                          <a:rPr lang="en-US" sz="1600" b="0" i="0" noProof="0" smtClean="0">
                            <a:solidFill>
                              <a:schemeClr val="tx1"/>
                            </a:solidFill>
                            <a:latin typeface="Cambria Math" panose="02040503050406030204" pitchFamily="18" charset="0"/>
                          </a:rPr>
                          <m:t>B</m:t>
                        </m:r>
                        <m:r>
                          <m:rPr>
                            <m:sty m:val="p"/>
                          </m:rPr>
                          <a:rPr lang="en-US" sz="1600" b="0" i="1" noProof="0" smtClean="0">
                            <a:solidFill>
                              <a:schemeClr val="tx1"/>
                            </a:solidFill>
                            <a:latin typeface="Cambria Math" panose="02040503050406030204" pitchFamily="18" charset="0"/>
                          </a:rPr>
                          <m:t>ode</m:t>
                        </m:r>
                      </m:num>
                      <m:den>
                        <m:r>
                          <m:rPr>
                            <m:sty m:val="p"/>
                          </m:rPr>
                          <a:rPr lang="en-US" sz="1600" b="0" i="1" noProof="0" smtClean="0">
                            <a:solidFill>
                              <a:schemeClr val="tx1"/>
                            </a:solidFill>
                            <a:latin typeface="Cambria Math" panose="02040503050406030204" pitchFamily="18" charset="0"/>
                          </a:rPr>
                          <m:t>los</m:t>
                        </m:r>
                      </m:den>
                    </m:f>
                  </m:oMath>
                </a14:m>
                <a:endParaRPr lang="en-US" b="1" noProof="0" dirty="0">
                  <a:solidFill>
                    <a:schemeClr val="tx1"/>
                  </a:solidFill>
                  <a:latin typeface="Segoe UI Black" panose="020B0A02040204020203" pitchFamily="34" charset="0"/>
                  <a:ea typeface="Segoe UI Black" panose="020B0A02040204020203" pitchFamily="34" charset="0"/>
                </a:endParaRPr>
              </a:p>
            </p:txBody>
          </p:sp>
        </mc:Choice>
        <mc:Fallback xmlns="">
          <p:sp>
            <p:nvSpPr>
              <p:cNvPr id="17" name="Rectangle: Rounded Corners 18">
                <a:extLst>
                  <a:ext uri="{FF2B5EF4-FFF2-40B4-BE49-F238E27FC236}">
                    <a16:creationId xmlns:a16="http://schemas.microsoft.com/office/drawing/2014/main" id="{15825203-820C-6BF0-3846-26B5AB02B6BB}"/>
                  </a:ext>
                </a:extLst>
              </p:cNvPr>
              <p:cNvSpPr>
                <a:spLocks noRot="1" noChangeAspect="1" noMove="1" noResize="1" noEditPoints="1" noAdjustHandles="1" noChangeArrowheads="1" noChangeShapeType="1" noTextEdit="1"/>
              </p:cNvSpPr>
              <p:nvPr/>
            </p:nvSpPr>
            <p:spPr>
              <a:xfrm>
                <a:off x="628650" y="4004396"/>
                <a:ext cx="2400300" cy="498355"/>
              </a:xfrm>
              <a:prstGeom prst="roundRect">
                <a:avLst>
                  <a:gd name="adj" fmla="val 11229"/>
                </a:avLst>
              </a:prstGeom>
              <a:blipFill>
                <a:blip r:embed="rId4"/>
                <a:stretch>
                  <a:fillRect/>
                </a:stretch>
              </a:blipFill>
              <a:ln>
                <a:no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18" name="Rectangle: Rounded Corners 18">
                <a:extLst>
                  <a:ext uri="{FF2B5EF4-FFF2-40B4-BE49-F238E27FC236}">
                    <a16:creationId xmlns:a16="http://schemas.microsoft.com/office/drawing/2014/main" id="{CFE4205F-D680-5A70-B9F7-A61E5207C8C4}"/>
                  </a:ext>
                </a:extLst>
              </p:cNvPr>
              <p:cNvSpPr/>
              <p:nvPr/>
            </p:nvSpPr>
            <p:spPr>
              <a:xfrm>
                <a:off x="628650" y="2737595"/>
                <a:ext cx="2400300" cy="498355"/>
              </a:xfrm>
              <a:prstGeom prst="roundRect">
                <a:avLst>
                  <a:gd name="adj" fmla="val 11229"/>
                </a:avLst>
              </a:prstGeom>
              <a:solidFill>
                <a:schemeClr val="accent5">
                  <a:lumMod val="40000"/>
                  <a:lumOff val="60000"/>
                </a:schemeClr>
              </a:solidFill>
              <a:ln>
                <a:noFill/>
              </a:ln>
            </p:spPr>
            <p:style>
              <a:lnRef idx="2">
                <a:schemeClr val="dk1">
                  <a:shade val="50000"/>
                </a:schemeClr>
              </a:lnRef>
              <a:fillRef idx="1">
                <a:schemeClr val="dk1"/>
              </a:fillRef>
              <a:effectRef idx="0">
                <a:schemeClr val="dk1"/>
              </a:effectRef>
              <a:fontRef idx="minor">
                <a:schemeClr val="lt1"/>
              </a:fontRef>
            </p:style>
            <p:txBody>
              <a:bodyPr lIns="182880" rtlCol="0" anchor="ctr"/>
              <a:lstStyle/>
              <a:p>
                <a:pPr>
                  <a:spcBef>
                    <a:spcPts val="200"/>
                  </a:spcBef>
                </a:pPr>
                <a:r>
                  <a:rPr lang="en-US" b="1" noProof="0" dirty="0">
                    <a:solidFill>
                      <a:schemeClr val="tx1"/>
                    </a:solidFill>
                    <a:latin typeface="Segoe UI Black" panose="020B0A02040204020203" pitchFamily="34" charset="0"/>
                    <a:ea typeface="Segoe UI Black" panose="020B0A02040204020203" pitchFamily="34" charset="0"/>
                  </a:rPr>
                  <a:t>B.  </a:t>
                </a:r>
                <a14:m>
                  <m:oMath xmlns:m="http://schemas.openxmlformats.org/officeDocument/2006/math">
                    <m:d>
                      <m:dPr>
                        <m:ctrlPr>
                          <a:rPr lang="en-US" sz="1600" i="1" noProof="0" smtClean="0">
                            <a:solidFill>
                              <a:schemeClr val="tx1"/>
                            </a:solidFill>
                            <a:latin typeface="Cambria Math" panose="02040503050406030204" pitchFamily="18" charset="0"/>
                          </a:rPr>
                        </m:ctrlPr>
                      </m:dPr>
                      <m:e>
                        <m:f>
                          <m:fPr>
                            <m:ctrlPr>
                              <a:rPr lang="en-US" sz="1600" i="1" noProof="0" smtClean="0">
                                <a:solidFill>
                                  <a:schemeClr val="tx1"/>
                                </a:solidFill>
                                <a:latin typeface="Cambria Math" panose="02040503050406030204" pitchFamily="18" charset="0"/>
                              </a:rPr>
                            </m:ctrlPr>
                          </m:fPr>
                          <m:num>
                            <m:r>
                              <a:rPr lang="en-US" sz="1600" i="1" noProof="0" smtClean="0">
                                <a:solidFill>
                                  <a:schemeClr val="tx1"/>
                                </a:solidFill>
                                <a:latin typeface="Cambria Math" panose="02040503050406030204" pitchFamily="18" charset="0"/>
                              </a:rPr>
                              <m:t>𝑠</m:t>
                            </m:r>
                          </m:num>
                          <m:den>
                            <m:r>
                              <a:rPr lang="en-US" sz="1600" i="1" noProof="0" smtClean="0">
                                <a:solidFill>
                                  <a:schemeClr val="tx1"/>
                                </a:solidFill>
                                <a:latin typeface="Cambria Math" panose="02040503050406030204" pitchFamily="18" charset="0"/>
                              </a:rPr>
                              <m:t>−</m:t>
                            </m:r>
                            <m:r>
                              <a:rPr lang="en-US" sz="1600" i="1" noProof="0" smtClean="0">
                                <a:solidFill>
                                  <a:schemeClr val="tx1"/>
                                </a:solidFill>
                                <a:latin typeface="Cambria Math" panose="02040503050406030204" pitchFamily="18" charset="0"/>
                              </a:rPr>
                              <m:t>𝑧</m:t>
                            </m:r>
                          </m:den>
                        </m:f>
                        <m:r>
                          <a:rPr lang="en-US" sz="1600" i="1" noProof="0" smtClean="0">
                            <a:solidFill>
                              <a:schemeClr val="tx1"/>
                            </a:solidFill>
                            <a:latin typeface="Cambria Math" panose="02040503050406030204" pitchFamily="18" charset="0"/>
                          </a:rPr>
                          <m:t>+1</m:t>
                        </m:r>
                      </m:e>
                    </m:d>
                  </m:oMath>
                </a14:m>
                <a:endParaRPr lang="en-US" b="1" noProof="0" dirty="0">
                  <a:solidFill>
                    <a:schemeClr val="tx1"/>
                  </a:solidFill>
                  <a:latin typeface="Segoe UI Black" panose="020B0A02040204020203" pitchFamily="34" charset="0"/>
                  <a:ea typeface="Segoe UI Black" panose="020B0A02040204020203" pitchFamily="34" charset="0"/>
                </a:endParaRPr>
              </a:p>
            </p:txBody>
          </p:sp>
        </mc:Choice>
        <mc:Fallback xmlns="">
          <p:sp>
            <p:nvSpPr>
              <p:cNvPr id="18" name="Rectangle: Rounded Corners 18">
                <a:extLst>
                  <a:ext uri="{FF2B5EF4-FFF2-40B4-BE49-F238E27FC236}">
                    <a16:creationId xmlns:a16="http://schemas.microsoft.com/office/drawing/2014/main" id="{CFE4205F-D680-5A70-B9F7-A61E5207C8C4}"/>
                  </a:ext>
                </a:extLst>
              </p:cNvPr>
              <p:cNvSpPr>
                <a:spLocks noRot="1" noChangeAspect="1" noMove="1" noResize="1" noEditPoints="1" noAdjustHandles="1" noChangeArrowheads="1" noChangeShapeType="1" noTextEdit="1"/>
              </p:cNvSpPr>
              <p:nvPr/>
            </p:nvSpPr>
            <p:spPr>
              <a:xfrm>
                <a:off x="628650" y="2737595"/>
                <a:ext cx="2400300" cy="498355"/>
              </a:xfrm>
              <a:prstGeom prst="roundRect">
                <a:avLst>
                  <a:gd name="adj" fmla="val 11229"/>
                </a:avLst>
              </a:prstGeom>
              <a:blipFill>
                <a:blip r:embed="rId5"/>
                <a:stretch>
                  <a:fillRect/>
                </a:stretch>
              </a:blipFill>
              <a:ln>
                <a:no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19" name="Rectangle: Rounded Corners 18">
                <a:extLst>
                  <a:ext uri="{FF2B5EF4-FFF2-40B4-BE49-F238E27FC236}">
                    <a16:creationId xmlns:a16="http://schemas.microsoft.com/office/drawing/2014/main" id="{3F68F249-DF00-2449-7CEC-99F91401E71A}"/>
                  </a:ext>
                </a:extLst>
              </p:cNvPr>
              <p:cNvSpPr/>
              <p:nvPr/>
            </p:nvSpPr>
            <p:spPr>
              <a:xfrm>
                <a:off x="628650" y="2113805"/>
                <a:ext cx="2400300" cy="498355"/>
              </a:xfrm>
              <a:prstGeom prst="roundRect">
                <a:avLst>
                  <a:gd name="adj" fmla="val 11229"/>
                </a:avLst>
              </a:prstGeom>
              <a:solidFill>
                <a:schemeClr val="accent5">
                  <a:lumMod val="40000"/>
                  <a:lumOff val="60000"/>
                </a:schemeClr>
              </a:solidFill>
              <a:ln>
                <a:noFill/>
              </a:ln>
            </p:spPr>
            <p:style>
              <a:lnRef idx="2">
                <a:schemeClr val="dk1">
                  <a:shade val="50000"/>
                </a:schemeClr>
              </a:lnRef>
              <a:fillRef idx="1">
                <a:schemeClr val="dk1"/>
              </a:fillRef>
              <a:effectRef idx="0">
                <a:schemeClr val="dk1"/>
              </a:effectRef>
              <a:fontRef idx="minor">
                <a:schemeClr val="lt1"/>
              </a:fontRef>
            </p:style>
            <p:txBody>
              <a:bodyPr lIns="182880" rtlCol="0" anchor="ctr"/>
              <a:lstStyle/>
              <a:p>
                <a:pPr>
                  <a:spcBef>
                    <a:spcPts val="200"/>
                  </a:spcBef>
                </a:pPr>
                <a:r>
                  <a:rPr lang="en-US" b="1" noProof="0" dirty="0">
                    <a:solidFill>
                      <a:schemeClr val="tx1"/>
                    </a:solidFill>
                    <a:latin typeface="Segoe UI Black" panose="020B0A02040204020203" pitchFamily="34" charset="0"/>
                    <a:ea typeface="Segoe UI Black" panose="020B0A02040204020203" pitchFamily="34" charset="0"/>
                  </a:rPr>
                  <a:t>A. </a:t>
                </a:r>
                <a14:m>
                  <m:oMath xmlns:m="http://schemas.openxmlformats.org/officeDocument/2006/math">
                    <m:r>
                      <a:rPr lang="en-US" sz="1600" b="1" i="0" noProof="0" smtClean="0">
                        <a:solidFill>
                          <a:schemeClr val="tx1"/>
                        </a:solidFill>
                        <a:latin typeface="Cambria Math" panose="02040503050406030204" pitchFamily="18" charset="0"/>
                      </a:rPr>
                      <m:t> </m:t>
                    </m:r>
                    <m:d>
                      <m:dPr>
                        <m:ctrlPr>
                          <a:rPr lang="en-US" sz="1600" b="0" i="1" noProof="0" smtClean="0">
                            <a:solidFill>
                              <a:schemeClr val="tx1"/>
                            </a:solidFill>
                            <a:latin typeface="Cambria Math" panose="02040503050406030204" pitchFamily="18" charset="0"/>
                          </a:rPr>
                        </m:ctrlPr>
                      </m:dPr>
                      <m:e>
                        <m:r>
                          <a:rPr lang="en-US" sz="1600" b="0" i="1" noProof="0" smtClean="0">
                            <a:solidFill>
                              <a:schemeClr val="tx1"/>
                            </a:solidFill>
                            <a:latin typeface="Cambria Math" panose="02040503050406030204" pitchFamily="18" charset="0"/>
                          </a:rPr>
                          <m:t>𝑠</m:t>
                        </m:r>
                        <m:r>
                          <a:rPr lang="en-US" sz="1600" b="0" i="1" noProof="0" smtClean="0">
                            <a:solidFill>
                              <a:schemeClr val="tx1"/>
                            </a:solidFill>
                            <a:latin typeface="Cambria Math" panose="02040503050406030204" pitchFamily="18" charset="0"/>
                          </a:rPr>
                          <m:t>−</m:t>
                        </m:r>
                        <m:r>
                          <a:rPr lang="en-US" sz="1600" b="0" i="1" noProof="0" smtClean="0">
                            <a:solidFill>
                              <a:schemeClr val="tx1"/>
                            </a:solidFill>
                            <a:latin typeface="Cambria Math" panose="02040503050406030204" pitchFamily="18" charset="0"/>
                          </a:rPr>
                          <m:t>𝑧</m:t>
                        </m:r>
                      </m:e>
                    </m:d>
                  </m:oMath>
                </a14:m>
                <a:endParaRPr lang="en-US" b="1" noProof="0" dirty="0">
                  <a:solidFill>
                    <a:schemeClr val="tx1"/>
                  </a:solidFill>
                  <a:latin typeface="Segoe UI Black" panose="020B0A02040204020203" pitchFamily="34" charset="0"/>
                  <a:ea typeface="Segoe UI Black" panose="020B0A02040204020203" pitchFamily="34" charset="0"/>
                </a:endParaRPr>
              </a:p>
            </p:txBody>
          </p:sp>
        </mc:Choice>
        <mc:Fallback xmlns="">
          <p:sp>
            <p:nvSpPr>
              <p:cNvPr id="19" name="Rectangle: Rounded Corners 18">
                <a:extLst>
                  <a:ext uri="{FF2B5EF4-FFF2-40B4-BE49-F238E27FC236}">
                    <a16:creationId xmlns:a16="http://schemas.microsoft.com/office/drawing/2014/main" id="{3F68F249-DF00-2449-7CEC-99F91401E71A}"/>
                  </a:ext>
                </a:extLst>
              </p:cNvPr>
              <p:cNvSpPr>
                <a:spLocks noRot="1" noChangeAspect="1" noMove="1" noResize="1" noEditPoints="1" noAdjustHandles="1" noChangeArrowheads="1" noChangeShapeType="1" noTextEdit="1"/>
              </p:cNvSpPr>
              <p:nvPr/>
            </p:nvSpPr>
            <p:spPr>
              <a:xfrm>
                <a:off x="628650" y="2113805"/>
                <a:ext cx="2400300" cy="498355"/>
              </a:xfrm>
              <a:prstGeom prst="roundRect">
                <a:avLst>
                  <a:gd name="adj" fmla="val 11229"/>
                </a:avLst>
              </a:prstGeom>
              <a:blipFill>
                <a:blip r:embed="rId6"/>
                <a:stretch>
                  <a:fillRect/>
                </a:stretch>
              </a:blipFill>
              <a:ln>
                <a:noFill/>
              </a:ln>
            </p:spPr>
            <p:txBody>
              <a:bodyPr/>
              <a:lstStyle/>
              <a:p>
                <a:r>
                  <a:rPr lang="de-DE">
                    <a:noFill/>
                  </a:rPr>
                  <a:t> </a:t>
                </a:r>
              </a:p>
            </p:txBody>
          </p:sp>
        </mc:Fallback>
      </mc:AlternateContent>
    </p:spTree>
    <p:extLst>
      <p:ext uri="{BB962C8B-B14F-4D97-AF65-F5344CB8AC3E}">
        <p14:creationId xmlns:p14="http://schemas.microsoft.com/office/powerpoint/2010/main" val="28839395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304E250-4A5D-26FD-BDDB-45CE91918AB4}"/>
              </a:ext>
            </a:extLst>
          </p:cNvPr>
          <p:cNvSpPr>
            <a:spLocks noGrp="1"/>
          </p:cNvSpPr>
          <p:nvPr>
            <p:ph type="title"/>
          </p:nvPr>
        </p:nvSpPr>
        <p:spPr/>
        <p:txBody>
          <a:bodyPr/>
          <a:lstStyle/>
          <a:p>
            <a:r>
              <a:rPr lang="en-US" noProof="0" dirty="0"/>
              <a:t>Quiz 2</a:t>
            </a:r>
          </a:p>
        </p:txBody>
      </p:sp>
      <mc:AlternateContent xmlns:mc="http://schemas.openxmlformats.org/markup-compatibility/2006" xmlns:a14="http://schemas.microsoft.com/office/drawing/2010/main">
        <mc:Choice Requires="a14">
          <p:sp>
            <p:nvSpPr>
              <p:cNvPr id="3" name="Inhaltsplatzhalter 2">
                <a:extLst>
                  <a:ext uri="{FF2B5EF4-FFF2-40B4-BE49-F238E27FC236}">
                    <a16:creationId xmlns:a16="http://schemas.microsoft.com/office/drawing/2014/main" id="{4CBA60A6-B530-1C01-B3F2-E6E59E33ABCC}"/>
                  </a:ext>
                </a:extLst>
              </p:cNvPr>
              <p:cNvSpPr>
                <a:spLocks noGrp="1"/>
              </p:cNvSpPr>
              <p:nvPr>
                <p:ph idx="1"/>
              </p:nvPr>
            </p:nvSpPr>
            <p:spPr/>
            <p:txBody>
              <a:bodyPr/>
              <a:lstStyle/>
              <a:p>
                <a:pPr marL="0" indent="0">
                  <a:buNone/>
                </a:pPr>
                <a:r>
                  <a:rPr lang="en-US" noProof="0" dirty="0"/>
                  <a:t>How do you compute </a:t>
                </a:r>
                <a14:m>
                  <m:oMath xmlns:m="http://schemas.openxmlformats.org/officeDocument/2006/math">
                    <m:r>
                      <a:rPr lang="en-US" b="0" i="0" noProof="0" smtClean="0">
                        <a:latin typeface="Cambria Math" panose="02040503050406030204" pitchFamily="18" charset="0"/>
                      </a:rPr>
                      <m:t>|</m:t>
                    </m:r>
                    <m:r>
                      <a:rPr lang="en-US" i="1" noProof="0" smtClean="0">
                        <a:latin typeface="Cambria Math" panose="02040503050406030204" pitchFamily="18" charset="0"/>
                      </a:rPr>
                      <m:t>𝐺</m:t>
                    </m:r>
                    <m:d>
                      <m:dPr>
                        <m:ctrlPr>
                          <a:rPr lang="en-US" i="1" noProof="0" smtClean="0">
                            <a:latin typeface="Cambria Math" panose="02040503050406030204" pitchFamily="18" charset="0"/>
                          </a:rPr>
                        </m:ctrlPr>
                      </m:dPr>
                      <m:e>
                        <m:r>
                          <a:rPr lang="en-US" i="1" noProof="0" smtClean="0">
                            <a:latin typeface="Cambria Math" panose="02040503050406030204" pitchFamily="18" charset="0"/>
                          </a:rPr>
                          <m:t>𝑗</m:t>
                        </m:r>
                        <m:r>
                          <a:rPr lang="en-US" i="1" noProof="0" smtClean="0">
                            <a:latin typeface="Cambria Math" panose="02040503050406030204" pitchFamily="18" charset="0"/>
                          </a:rPr>
                          <m:t>𝜔</m:t>
                        </m:r>
                      </m:e>
                    </m:d>
                    <m:r>
                      <a:rPr lang="en-US" b="0" i="1" noProof="0" smtClean="0">
                        <a:latin typeface="Cambria Math" panose="02040503050406030204" pitchFamily="18" charset="0"/>
                      </a:rPr>
                      <m:t>|</m:t>
                    </m:r>
                  </m:oMath>
                </a14:m>
                <a:r>
                  <a:rPr lang="en-US" noProof="0" dirty="0"/>
                  <a:t> from a pole–zero plot?</a:t>
                </a:r>
              </a:p>
              <a:p>
                <a:pPr marL="0" indent="0">
                  <a:buNone/>
                </a:pPr>
                <a:endParaRPr lang="en-US" noProof="0" dirty="0"/>
              </a:p>
            </p:txBody>
          </p:sp>
        </mc:Choice>
        <mc:Fallback xmlns="">
          <p:sp>
            <p:nvSpPr>
              <p:cNvPr id="3" name="Inhaltsplatzhalter 2">
                <a:extLst>
                  <a:ext uri="{FF2B5EF4-FFF2-40B4-BE49-F238E27FC236}">
                    <a16:creationId xmlns:a16="http://schemas.microsoft.com/office/drawing/2014/main" id="{4CBA60A6-B530-1C01-B3F2-E6E59E33ABCC}"/>
                  </a:ext>
                </a:extLst>
              </p:cNvPr>
              <p:cNvSpPr>
                <a:spLocks noGrp="1" noRot="1" noChangeAspect="1" noMove="1" noResize="1" noEditPoints="1" noAdjustHandles="1" noChangeArrowheads="1" noChangeShapeType="1" noTextEdit="1"/>
              </p:cNvSpPr>
              <p:nvPr>
                <p:ph idx="1"/>
              </p:nvPr>
            </p:nvSpPr>
            <p:spPr>
              <a:blipFill>
                <a:blip r:embed="rId2"/>
                <a:stretch>
                  <a:fillRect l="-643" t="-2335"/>
                </a:stretch>
              </a:blipFill>
            </p:spPr>
            <p:txBody>
              <a:bodyPr/>
              <a:lstStyle/>
              <a:p>
                <a:r>
                  <a:rPr lang="de-DE">
                    <a:noFill/>
                  </a:rPr>
                  <a:t> </a:t>
                </a:r>
              </a:p>
            </p:txBody>
          </p:sp>
        </mc:Fallback>
      </mc:AlternateContent>
      <p:sp>
        <p:nvSpPr>
          <p:cNvPr id="4" name="Fußzeilenplatzhalter 3">
            <a:extLst>
              <a:ext uri="{FF2B5EF4-FFF2-40B4-BE49-F238E27FC236}">
                <a16:creationId xmlns:a16="http://schemas.microsoft.com/office/drawing/2014/main" id="{39E20E23-5FFB-9D88-9606-6D2314BA5101}"/>
              </a:ext>
            </a:extLst>
          </p:cNvPr>
          <p:cNvSpPr>
            <a:spLocks noGrp="1"/>
          </p:cNvSpPr>
          <p:nvPr>
            <p:ph type="ftr" sz="quarter" idx="11"/>
          </p:nvPr>
        </p:nvSpPr>
        <p:spPr/>
        <p:txBody>
          <a:bodyPr/>
          <a:lstStyle/>
          <a:p>
            <a:pPr defTabSz="342900">
              <a:buClrTx/>
            </a:pPr>
            <a:r>
              <a:rPr lang="en-US" kern="1200" noProof="0" dirty="0">
                <a:solidFill>
                  <a:srgbClr val="101623">
                    <a:tint val="75000"/>
                  </a:srgbClr>
                </a:solidFill>
                <a:latin typeface="Calibri" panose="020F0502020204030204"/>
                <a:ea typeface="+mn-ea"/>
                <a:cs typeface="+mn-cs"/>
              </a:rPr>
              <a:t>Kissan Varatharajan - </a:t>
            </a:r>
            <a:r>
              <a:rPr lang="en-US" kern="1200" noProof="0" dirty="0" err="1">
                <a:solidFill>
                  <a:srgbClr val="101623">
                    <a:tint val="75000"/>
                  </a:srgbClr>
                </a:solidFill>
                <a:latin typeface="Calibri" panose="020F0502020204030204"/>
                <a:ea typeface="+mn-ea"/>
                <a:cs typeface="+mn-cs"/>
              </a:rPr>
              <a:t>kissanv.github.io</a:t>
            </a:r>
            <a:endParaRPr lang="en-US" kern="1200" noProof="0" dirty="0">
              <a:solidFill>
                <a:srgbClr val="101623">
                  <a:tint val="75000"/>
                </a:srgbClr>
              </a:solidFill>
              <a:latin typeface="Calibri" panose="020F0502020204030204"/>
              <a:ea typeface="+mn-ea"/>
              <a:cs typeface="+mn-cs"/>
            </a:endParaRPr>
          </a:p>
        </p:txBody>
      </p:sp>
      <p:sp>
        <p:nvSpPr>
          <p:cNvPr id="5" name="Foliennummernplatzhalter 4">
            <a:extLst>
              <a:ext uri="{FF2B5EF4-FFF2-40B4-BE49-F238E27FC236}">
                <a16:creationId xmlns:a16="http://schemas.microsoft.com/office/drawing/2014/main" id="{FE1274FC-58F4-A3E4-A02B-9D8F85EA12CD}"/>
              </a:ext>
            </a:extLst>
          </p:cNvPr>
          <p:cNvSpPr>
            <a:spLocks noGrp="1"/>
          </p:cNvSpPr>
          <p:nvPr>
            <p:ph type="sldNum" sz="quarter" idx="12"/>
          </p:nvPr>
        </p:nvSpPr>
        <p:spPr/>
        <p:txBody>
          <a:bodyPr/>
          <a:lstStyle/>
          <a:p>
            <a:pPr defTabSz="342900">
              <a:buClrTx/>
            </a:pPr>
            <a:fld id="{36EAFFE7-40E2-CA47-82C0-73D0FC591208}" type="slidenum">
              <a:rPr lang="en-US" kern="1200" noProof="0" smtClean="0">
                <a:solidFill>
                  <a:srgbClr val="101623">
                    <a:tint val="75000"/>
                  </a:srgbClr>
                </a:solidFill>
                <a:latin typeface="Calibri" panose="020F0502020204030204"/>
                <a:ea typeface="+mn-ea"/>
                <a:cs typeface="+mn-cs"/>
              </a:rPr>
              <a:pPr defTabSz="342900">
                <a:buClrTx/>
              </a:pPr>
              <a:t>4</a:t>
            </a:fld>
            <a:endParaRPr lang="en-US" kern="1200" noProof="0" dirty="0">
              <a:solidFill>
                <a:srgbClr val="101623">
                  <a:tint val="75000"/>
                </a:srgbClr>
              </a:solidFill>
              <a:latin typeface="Calibri" panose="020F0502020204030204"/>
              <a:ea typeface="+mn-ea"/>
              <a:cs typeface="+mn-cs"/>
            </a:endParaRPr>
          </a:p>
        </p:txBody>
      </p:sp>
      <p:pic>
        <p:nvPicPr>
          <p:cNvPr id="11" name="Grafik 10" descr="Ein Bild, das Reihe, Diagramm, Screenshot, parallel enthält.&#10;&#10;KI-generierte Inhalte können fehlerhaft sein.">
            <a:extLst>
              <a:ext uri="{FF2B5EF4-FFF2-40B4-BE49-F238E27FC236}">
                <a16:creationId xmlns:a16="http://schemas.microsoft.com/office/drawing/2014/main" id="{EDC72F62-D610-EEE3-F8BB-A4577A6DAA24}"/>
              </a:ext>
            </a:extLst>
          </p:cNvPr>
          <p:cNvPicPr>
            <a:picLocks noChangeAspect="1"/>
          </p:cNvPicPr>
          <p:nvPr/>
        </p:nvPicPr>
        <p:blipFill>
          <a:blip r:embed="rId3"/>
          <a:srcRect l="6526" t="1373" r="5445" b="20724"/>
          <a:stretch>
            <a:fillRect/>
          </a:stretch>
        </p:blipFill>
        <p:spPr>
          <a:xfrm>
            <a:off x="6300216" y="102393"/>
            <a:ext cx="2843784" cy="2112264"/>
          </a:xfrm>
          <a:prstGeom prst="rect">
            <a:avLst/>
          </a:prstGeom>
        </p:spPr>
      </p:pic>
      <mc:AlternateContent xmlns:mc="http://schemas.openxmlformats.org/markup-compatibility/2006" xmlns:a14="http://schemas.microsoft.com/office/drawing/2010/main">
        <mc:Choice Requires="a14">
          <p:sp>
            <p:nvSpPr>
              <p:cNvPr id="16" name="Rectangle: Rounded Corners 18">
                <a:extLst>
                  <a:ext uri="{FF2B5EF4-FFF2-40B4-BE49-F238E27FC236}">
                    <a16:creationId xmlns:a16="http://schemas.microsoft.com/office/drawing/2014/main" id="{BEB0A784-152E-E00D-8FE0-17DAA52FD456}"/>
                  </a:ext>
                </a:extLst>
              </p:cNvPr>
              <p:cNvSpPr/>
              <p:nvPr/>
            </p:nvSpPr>
            <p:spPr>
              <a:xfrm>
                <a:off x="224579" y="2398296"/>
                <a:ext cx="3440903" cy="791049"/>
              </a:xfrm>
              <a:prstGeom prst="roundRect">
                <a:avLst>
                  <a:gd name="adj" fmla="val 11229"/>
                </a:avLst>
              </a:prstGeom>
              <a:solidFill>
                <a:schemeClr val="accent5">
                  <a:lumMod val="40000"/>
                  <a:lumOff val="60000"/>
                </a:schemeClr>
              </a:solidFill>
              <a:ln>
                <a:noFill/>
              </a:ln>
            </p:spPr>
            <p:style>
              <a:lnRef idx="2">
                <a:schemeClr val="dk1">
                  <a:shade val="50000"/>
                </a:schemeClr>
              </a:lnRef>
              <a:fillRef idx="1">
                <a:schemeClr val="dk1"/>
              </a:fillRef>
              <a:effectRef idx="0">
                <a:schemeClr val="dk1"/>
              </a:effectRef>
              <a:fontRef idx="minor">
                <a:schemeClr val="lt1"/>
              </a:fontRef>
            </p:style>
            <p:txBody>
              <a:bodyPr lIns="182880" rtlCol="0" anchor="ctr"/>
              <a:lstStyle/>
              <a:p>
                <a:pPr>
                  <a:spcBef>
                    <a:spcPts val="200"/>
                  </a:spcBef>
                </a:pPr>
                <a:r>
                  <a:rPr lang="en-US" b="1" noProof="0" dirty="0">
                    <a:solidFill>
                      <a:schemeClr val="tx1"/>
                    </a:solidFill>
                    <a:latin typeface="Segoe UI Black" panose="020B0A02040204020203" pitchFamily="34" charset="0"/>
                    <a:ea typeface="Segoe UI Black" panose="020B0A02040204020203" pitchFamily="34" charset="0"/>
                  </a:rPr>
                  <a:t>A.  </a:t>
                </a:r>
                <a14:m>
                  <m:oMath xmlns:m="http://schemas.openxmlformats.org/officeDocument/2006/math">
                    <m:r>
                      <m:rPr>
                        <m:nor/>
                      </m:rPr>
                      <a:rPr lang="en-US" noProof="0" smtClean="0">
                        <a:solidFill>
                          <a:schemeClr val="tx1"/>
                        </a:solidFill>
                      </a:rPr>
                      <m:t>Sum</m:t>
                    </m:r>
                    <m:r>
                      <m:rPr>
                        <m:nor/>
                      </m:rPr>
                      <a:rPr lang="en-US" noProof="0" smtClean="0">
                        <a:solidFill>
                          <a:schemeClr val="tx1"/>
                        </a:solidFill>
                      </a:rPr>
                      <m:t> </m:t>
                    </m:r>
                    <m:r>
                      <m:rPr>
                        <m:nor/>
                      </m:rPr>
                      <a:rPr lang="en-US" noProof="0" smtClean="0">
                        <a:solidFill>
                          <a:schemeClr val="tx1"/>
                        </a:solidFill>
                      </a:rPr>
                      <m:t>the</m:t>
                    </m:r>
                    <m:r>
                      <m:rPr>
                        <m:nor/>
                      </m:rPr>
                      <a:rPr lang="en-US" noProof="0" smtClean="0">
                        <a:solidFill>
                          <a:schemeClr val="tx1"/>
                        </a:solidFill>
                      </a:rPr>
                      <m:t> </m:t>
                    </m:r>
                    <m:r>
                      <m:rPr>
                        <m:nor/>
                      </m:rPr>
                      <a:rPr lang="en-US" noProof="0" smtClean="0">
                        <a:solidFill>
                          <a:schemeClr val="tx1"/>
                        </a:solidFill>
                      </a:rPr>
                      <m:t>distances</m:t>
                    </m:r>
                    <m:r>
                      <m:rPr>
                        <m:nor/>
                      </m:rPr>
                      <a:rPr lang="en-US" noProof="0" smtClean="0">
                        <a:solidFill>
                          <a:schemeClr val="tx1"/>
                        </a:solidFill>
                      </a:rPr>
                      <m:t> </m:t>
                    </m:r>
                    <m:r>
                      <m:rPr>
                        <m:nor/>
                      </m:rPr>
                      <a:rPr lang="en-US" noProof="0" smtClean="0">
                        <a:solidFill>
                          <a:schemeClr val="tx1"/>
                        </a:solidFill>
                      </a:rPr>
                      <m:t>from</m:t>
                    </m:r>
                    <m:r>
                      <m:rPr>
                        <m:nor/>
                      </m:rPr>
                      <a:rPr lang="en-US" noProof="0" smtClean="0">
                        <a:solidFill>
                          <a:schemeClr val="tx1"/>
                        </a:solidFill>
                      </a:rPr>
                      <m:t> </m:t>
                    </m:r>
                    <m:r>
                      <a:rPr lang="en-US" i="1" noProof="0" smtClean="0">
                        <a:solidFill>
                          <a:schemeClr val="tx1"/>
                        </a:solidFill>
                        <a:latin typeface="Cambria Math" panose="02040503050406030204" pitchFamily="18" charset="0"/>
                      </a:rPr>
                      <m:t>𝑗</m:t>
                    </m:r>
                    <m:r>
                      <a:rPr lang="en-US" i="1" noProof="0" smtClean="0">
                        <a:solidFill>
                          <a:schemeClr val="tx1"/>
                        </a:solidFill>
                        <a:latin typeface="Cambria Math" panose="02040503050406030204" pitchFamily="18" charset="0"/>
                      </a:rPr>
                      <m:t>𝜔</m:t>
                    </m:r>
                    <m:r>
                      <m:rPr>
                        <m:nor/>
                      </m:rPr>
                      <a:rPr lang="en-US" noProof="0" smtClean="0">
                        <a:solidFill>
                          <a:schemeClr val="tx1"/>
                        </a:solidFill>
                      </a:rPr>
                      <m:t> </m:t>
                    </m:r>
                    <m:r>
                      <m:rPr>
                        <m:nor/>
                      </m:rPr>
                      <a:rPr lang="en-US" noProof="0" smtClean="0">
                        <a:solidFill>
                          <a:schemeClr val="tx1"/>
                        </a:solidFill>
                      </a:rPr>
                      <m:t>to</m:t>
                    </m:r>
                    <m:r>
                      <m:rPr>
                        <m:nor/>
                      </m:rPr>
                      <a:rPr lang="en-US" noProof="0" smtClean="0">
                        <a:solidFill>
                          <a:schemeClr val="tx1"/>
                        </a:solidFill>
                      </a:rPr>
                      <m:t> </m:t>
                    </m:r>
                    <m:r>
                      <m:rPr>
                        <m:nor/>
                      </m:rPr>
                      <a:rPr lang="en-US" noProof="0" smtClean="0">
                        <a:solidFill>
                          <a:schemeClr val="tx1"/>
                        </a:solidFill>
                      </a:rPr>
                      <m:t>all</m:t>
                    </m:r>
                    <m:r>
                      <m:rPr>
                        <m:nor/>
                      </m:rPr>
                      <a:rPr lang="en-US" noProof="0" smtClean="0">
                        <a:solidFill>
                          <a:schemeClr val="tx1"/>
                        </a:solidFill>
                      </a:rPr>
                      <m:t> </m:t>
                    </m:r>
                    <m:r>
                      <m:rPr>
                        <m:nor/>
                      </m:rPr>
                      <a:rPr lang="en-US" noProof="0" smtClean="0">
                        <a:solidFill>
                          <a:schemeClr val="tx1"/>
                        </a:solidFill>
                      </a:rPr>
                      <m:t>zeros</m:t>
                    </m:r>
                    <m:r>
                      <m:rPr>
                        <m:nor/>
                      </m:rPr>
                      <a:rPr lang="en-US" noProof="0" smtClean="0">
                        <a:solidFill>
                          <a:schemeClr val="tx1"/>
                        </a:solidFill>
                      </a:rPr>
                      <m:t> </m:t>
                    </m:r>
                    <m:r>
                      <m:rPr>
                        <m:nor/>
                      </m:rPr>
                      <a:rPr lang="en-US" noProof="0" smtClean="0">
                        <a:solidFill>
                          <a:schemeClr val="tx1"/>
                        </a:solidFill>
                      </a:rPr>
                      <m:t>and</m:t>
                    </m:r>
                    <m:r>
                      <m:rPr>
                        <m:nor/>
                      </m:rPr>
                      <a:rPr lang="en-US" noProof="0" smtClean="0">
                        <a:solidFill>
                          <a:schemeClr val="tx1"/>
                        </a:solidFill>
                      </a:rPr>
                      <m:t> </m:t>
                    </m:r>
                    <m:r>
                      <m:rPr>
                        <m:nor/>
                      </m:rPr>
                      <a:rPr lang="en-US" noProof="0" smtClean="0">
                        <a:solidFill>
                          <a:schemeClr val="tx1"/>
                        </a:solidFill>
                      </a:rPr>
                      <m:t>subtract</m:t>
                    </m:r>
                    <m:r>
                      <m:rPr>
                        <m:nor/>
                      </m:rPr>
                      <a:rPr lang="en-US" noProof="0" smtClean="0">
                        <a:solidFill>
                          <a:schemeClr val="tx1"/>
                        </a:solidFill>
                      </a:rPr>
                      <m:t> </m:t>
                    </m:r>
                    <m:r>
                      <m:rPr>
                        <m:nor/>
                      </m:rPr>
                      <a:rPr lang="en-US" noProof="0" smtClean="0">
                        <a:solidFill>
                          <a:schemeClr val="tx1"/>
                        </a:solidFill>
                      </a:rPr>
                      <m:t>the</m:t>
                    </m:r>
                    <m:r>
                      <m:rPr>
                        <m:nor/>
                      </m:rPr>
                      <a:rPr lang="en-US" noProof="0" smtClean="0">
                        <a:solidFill>
                          <a:schemeClr val="tx1"/>
                        </a:solidFill>
                      </a:rPr>
                      <m:t> </m:t>
                    </m:r>
                    <m:r>
                      <m:rPr>
                        <m:nor/>
                      </m:rPr>
                      <a:rPr lang="en-US" noProof="0" smtClean="0">
                        <a:solidFill>
                          <a:schemeClr val="tx1"/>
                        </a:solidFill>
                      </a:rPr>
                      <m:t>distances</m:t>
                    </m:r>
                    <m:r>
                      <m:rPr>
                        <m:nor/>
                      </m:rPr>
                      <a:rPr lang="en-US" noProof="0" smtClean="0">
                        <a:solidFill>
                          <a:schemeClr val="tx1"/>
                        </a:solidFill>
                      </a:rPr>
                      <m:t> </m:t>
                    </m:r>
                    <m:r>
                      <m:rPr>
                        <m:nor/>
                      </m:rPr>
                      <a:rPr lang="en-US" noProof="0" smtClean="0">
                        <a:solidFill>
                          <a:schemeClr val="tx1"/>
                        </a:solidFill>
                      </a:rPr>
                      <m:t>to</m:t>
                    </m:r>
                    <m:r>
                      <m:rPr>
                        <m:nor/>
                      </m:rPr>
                      <a:rPr lang="en-US" noProof="0" smtClean="0">
                        <a:solidFill>
                          <a:schemeClr val="tx1"/>
                        </a:solidFill>
                      </a:rPr>
                      <m:t> </m:t>
                    </m:r>
                    <m:r>
                      <m:rPr>
                        <m:nor/>
                      </m:rPr>
                      <a:rPr lang="en-US" noProof="0" smtClean="0">
                        <a:solidFill>
                          <a:schemeClr val="tx1"/>
                        </a:solidFill>
                      </a:rPr>
                      <m:t>all</m:t>
                    </m:r>
                    <m:r>
                      <m:rPr>
                        <m:nor/>
                      </m:rPr>
                      <a:rPr lang="en-US" noProof="0" smtClean="0">
                        <a:solidFill>
                          <a:schemeClr val="tx1"/>
                        </a:solidFill>
                      </a:rPr>
                      <m:t> </m:t>
                    </m:r>
                    <m:r>
                      <m:rPr>
                        <m:nor/>
                      </m:rPr>
                      <a:rPr lang="en-US" noProof="0" smtClean="0">
                        <a:solidFill>
                          <a:schemeClr val="tx1"/>
                        </a:solidFill>
                      </a:rPr>
                      <m:t>poles</m:t>
                    </m:r>
                  </m:oMath>
                </a14:m>
                <a:endParaRPr lang="en-US" noProof="0" dirty="0">
                  <a:solidFill>
                    <a:schemeClr val="tx1"/>
                  </a:solidFill>
                  <a:latin typeface="Segoe UI Black" panose="020B0A02040204020203" pitchFamily="34" charset="0"/>
                </a:endParaRPr>
              </a:p>
            </p:txBody>
          </p:sp>
        </mc:Choice>
        <mc:Fallback xmlns="">
          <p:sp>
            <p:nvSpPr>
              <p:cNvPr id="16" name="Rectangle: Rounded Corners 18">
                <a:extLst>
                  <a:ext uri="{FF2B5EF4-FFF2-40B4-BE49-F238E27FC236}">
                    <a16:creationId xmlns:a16="http://schemas.microsoft.com/office/drawing/2014/main" id="{BEB0A784-152E-E00D-8FE0-17DAA52FD456}"/>
                  </a:ext>
                </a:extLst>
              </p:cNvPr>
              <p:cNvSpPr>
                <a:spLocks noRot="1" noChangeAspect="1" noMove="1" noResize="1" noEditPoints="1" noAdjustHandles="1" noChangeArrowheads="1" noChangeShapeType="1" noTextEdit="1"/>
              </p:cNvSpPr>
              <p:nvPr/>
            </p:nvSpPr>
            <p:spPr>
              <a:xfrm>
                <a:off x="224579" y="2398296"/>
                <a:ext cx="3440903" cy="791049"/>
              </a:xfrm>
              <a:prstGeom prst="roundRect">
                <a:avLst>
                  <a:gd name="adj" fmla="val 11229"/>
                </a:avLst>
              </a:prstGeom>
              <a:blipFill>
                <a:blip r:embed="rId4"/>
                <a:stretch>
                  <a:fillRect/>
                </a:stretch>
              </a:blipFill>
              <a:ln>
                <a:no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17" name="Rectangle: Rounded Corners 18">
                <a:extLst>
                  <a:ext uri="{FF2B5EF4-FFF2-40B4-BE49-F238E27FC236}">
                    <a16:creationId xmlns:a16="http://schemas.microsoft.com/office/drawing/2014/main" id="{E70BC178-BCFF-60F8-0353-1980A84B114D}"/>
                  </a:ext>
                </a:extLst>
              </p:cNvPr>
              <p:cNvSpPr/>
              <p:nvPr/>
            </p:nvSpPr>
            <p:spPr>
              <a:xfrm>
                <a:off x="4096039" y="2395993"/>
                <a:ext cx="3440903" cy="791049"/>
              </a:xfrm>
              <a:prstGeom prst="roundRect">
                <a:avLst>
                  <a:gd name="adj" fmla="val 11229"/>
                </a:avLst>
              </a:prstGeom>
              <a:solidFill>
                <a:schemeClr val="accent5">
                  <a:lumMod val="40000"/>
                  <a:lumOff val="60000"/>
                </a:schemeClr>
              </a:solidFill>
              <a:ln>
                <a:noFill/>
              </a:ln>
            </p:spPr>
            <p:style>
              <a:lnRef idx="2">
                <a:schemeClr val="dk1">
                  <a:shade val="50000"/>
                </a:schemeClr>
              </a:lnRef>
              <a:fillRef idx="1">
                <a:schemeClr val="dk1"/>
              </a:fillRef>
              <a:effectRef idx="0">
                <a:schemeClr val="dk1"/>
              </a:effectRef>
              <a:fontRef idx="minor">
                <a:schemeClr val="lt1"/>
              </a:fontRef>
            </p:style>
            <p:txBody>
              <a:bodyPr lIns="182880" rtlCol="0" anchor="ctr"/>
              <a:lstStyle/>
              <a:p>
                <a:pPr>
                  <a:spcBef>
                    <a:spcPts val="200"/>
                  </a:spcBef>
                </a:pPr>
                <a:r>
                  <a:rPr lang="en-US" b="1" noProof="0" dirty="0">
                    <a:solidFill>
                      <a:schemeClr val="tx1"/>
                    </a:solidFill>
                    <a:latin typeface="Segoe UI Black" panose="020B0A02040204020203" pitchFamily="34" charset="0"/>
                    <a:ea typeface="Segoe UI Black" panose="020B0A02040204020203" pitchFamily="34" charset="0"/>
                  </a:rPr>
                  <a:t>B.  </a:t>
                </a:r>
                <a:r>
                  <a:rPr lang="en-US" noProof="0" dirty="0">
                    <a:solidFill>
                      <a:schemeClr val="tx1"/>
                    </a:solidFill>
                  </a:rPr>
                  <a:t>Product of distances from </a:t>
                </a:r>
                <a14:m>
                  <m:oMath xmlns:m="http://schemas.openxmlformats.org/officeDocument/2006/math">
                    <m:r>
                      <a:rPr lang="en-US" i="1" noProof="0" smtClean="0">
                        <a:solidFill>
                          <a:schemeClr val="tx1"/>
                        </a:solidFill>
                        <a:latin typeface="Cambria Math" panose="02040503050406030204" pitchFamily="18" charset="0"/>
                      </a:rPr>
                      <m:t>𝑗</m:t>
                    </m:r>
                    <m:r>
                      <a:rPr lang="en-US" i="1" noProof="0" smtClean="0">
                        <a:solidFill>
                          <a:schemeClr val="tx1"/>
                        </a:solidFill>
                        <a:latin typeface="Cambria Math" panose="02040503050406030204" pitchFamily="18" charset="0"/>
                      </a:rPr>
                      <m:t>𝜔</m:t>
                    </m:r>
                  </m:oMath>
                </a14:m>
                <a:r>
                  <a:rPr lang="en-US" noProof="0" dirty="0">
                    <a:solidFill>
                      <a:schemeClr val="tx1"/>
                    </a:solidFill>
                  </a:rPr>
                  <a:t> to zeros divided by product of distances to poles</a:t>
                </a:r>
              </a:p>
            </p:txBody>
          </p:sp>
        </mc:Choice>
        <mc:Fallback xmlns="">
          <p:sp>
            <p:nvSpPr>
              <p:cNvPr id="17" name="Rectangle: Rounded Corners 18">
                <a:extLst>
                  <a:ext uri="{FF2B5EF4-FFF2-40B4-BE49-F238E27FC236}">
                    <a16:creationId xmlns:a16="http://schemas.microsoft.com/office/drawing/2014/main" id="{E70BC178-BCFF-60F8-0353-1980A84B114D}"/>
                  </a:ext>
                </a:extLst>
              </p:cNvPr>
              <p:cNvSpPr>
                <a:spLocks noRot="1" noChangeAspect="1" noMove="1" noResize="1" noEditPoints="1" noAdjustHandles="1" noChangeArrowheads="1" noChangeShapeType="1" noTextEdit="1"/>
              </p:cNvSpPr>
              <p:nvPr/>
            </p:nvSpPr>
            <p:spPr>
              <a:xfrm>
                <a:off x="4096039" y="2395993"/>
                <a:ext cx="3440903" cy="791049"/>
              </a:xfrm>
              <a:prstGeom prst="roundRect">
                <a:avLst>
                  <a:gd name="adj" fmla="val 11229"/>
                </a:avLst>
              </a:prstGeom>
              <a:blipFill>
                <a:blip r:embed="rId5"/>
                <a:stretch>
                  <a:fillRect/>
                </a:stretch>
              </a:blipFill>
              <a:ln>
                <a:no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18" name="Rectangle: Rounded Corners 18">
                <a:extLst>
                  <a:ext uri="{FF2B5EF4-FFF2-40B4-BE49-F238E27FC236}">
                    <a16:creationId xmlns:a16="http://schemas.microsoft.com/office/drawing/2014/main" id="{82BCDBB9-9A31-7FD5-683D-9EECEBC4DE4D}"/>
                  </a:ext>
                </a:extLst>
              </p:cNvPr>
              <p:cNvSpPr/>
              <p:nvPr/>
            </p:nvSpPr>
            <p:spPr>
              <a:xfrm>
                <a:off x="232461" y="3427373"/>
                <a:ext cx="3440903" cy="791049"/>
              </a:xfrm>
              <a:prstGeom prst="roundRect">
                <a:avLst>
                  <a:gd name="adj" fmla="val 11229"/>
                </a:avLst>
              </a:prstGeom>
              <a:solidFill>
                <a:schemeClr val="accent5">
                  <a:lumMod val="40000"/>
                  <a:lumOff val="60000"/>
                </a:schemeClr>
              </a:solidFill>
              <a:ln>
                <a:noFill/>
              </a:ln>
            </p:spPr>
            <p:style>
              <a:lnRef idx="2">
                <a:schemeClr val="dk1">
                  <a:shade val="50000"/>
                </a:schemeClr>
              </a:lnRef>
              <a:fillRef idx="1">
                <a:schemeClr val="dk1"/>
              </a:fillRef>
              <a:effectRef idx="0">
                <a:schemeClr val="dk1"/>
              </a:effectRef>
              <a:fontRef idx="minor">
                <a:schemeClr val="lt1"/>
              </a:fontRef>
            </p:style>
            <p:txBody>
              <a:bodyPr lIns="182880" rtlCol="0" anchor="ctr"/>
              <a:lstStyle/>
              <a:p>
                <a:pPr>
                  <a:spcBef>
                    <a:spcPts val="200"/>
                  </a:spcBef>
                </a:pPr>
                <a:r>
                  <a:rPr lang="en-US" b="1" noProof="0" dirty="0">
                    <a:solidFill>
                      <a:schemeClr val="tx1"/>
                    </a:solidFill>
                    <a:latin typeface="Segoe UI Black" panose="020B0A02040204020203" pitchFamily="34" charset="0"/>
                    <a:ea typeface="Segoe UI Black" panose="020B0A02040204020203" pitchFamily="34" charset="0"/>
                  </a:rPr>
                  <a:t>C.  </a:t>
                </a:r>
                <a14:m>
                  <m:oMath xmlns:m="http://schemas.openxmlformats.org/officeDocument/2006/math">
                    <m:r>
                      <m:rPr>
                        <m:nor/>
                      </m:rPr>
                      <a:rPr lang="en-US" noProof="0" smtClean="0">
                        <a:solidFill>
                          <a:schemeClr val="tx1"/>
                        </a:solidFill>
                      </a:rPr>
                      <m:t>Count</m:t>
                    </m:r>
                    <m:r>
                      <m:rPr>
                        <m:nor/>
                      </m:rPr>
                      <a:rPr lang="en-US" noProof="0" smtClean="0">
                        <a:solidFill>
                          <a:schemeClr val="tx1"/>
                        </a:solidFill>
                      </a:rPr>
                      <m:t> </m:t>
                    </m:r>
                    <m:r>
                      <m:rPr>
                        <m:nor/>
                      </m:rPr>
                      <a:rPr lang="en-US" noProof="0" smtClean="0">
                        <a:solidFill>
                          <a:schemeClr val="tx1"/>
                        </a:solidFill>
                      </a:rPr>
                      <m:t>poles</m:t>
                    </m:r>
                    <m:r>
                      <m:rPr>
                        <m:nor/>
                      </m:rPr>
                      <a:rPr lang="en-US" noProof="0" smtClean="0">
                        <a:solidFill>
                          <a:schemeClr val="tx1"/>
                        </a:solidFill>
                      </a:rPr>
                      <m:t>, </m:t>
                    </m:r>
                    <m:r>
                      <m:rPr>
                        <m:nor/>
                      </m:rPr>
                      <a:rPr lang="en-US" noProof="0" smtClean="0">
                        <a:solidFill>
                          <a:schemeClr val="tx1"/>
                        </a:solidFill>
                      </a:rPr>
                      <m:t>subtract</m:t>
                    </m:r>
                    <m:r>
                      <m:rPr>
                        <m:nor/>
                      </m:rPr>
                      <a:rPr lang="en-US" noProof="0" smtClean="0">
                        <a:solidFill>
                          <a:schemeClr val="tx1"/>
                        </a:solidFill>
                      </a:rPr>
                      <m:t> </m:t>
                    </m:r>
                    <m:r>
                      <m:rPr>
                        <m:nor/>
                      </m:rPr>
                      <a:rPr lang="en-US" noProof="0" smtClean="0">
                        <a:solidFill>
                          <a:schemeClr val="tx1"/>
                        </a:solidFill>
                      </a:rPr>
                      <m:t>zeros</m:t>
                    </m:r>
                    <m:r>
                      <m:rPr>
                        <m:nor/>
                      </m:rPr>
                      <a:rPr lang="en-US" noProof="0" smtClean="0">
                        <a:solidFill>
                          <a:schemeClr val="tx1"/>
                        </a:solidFill>
                      </a:rPr>
                      <m:t>, </m:t>
                    </m:r>
                    <m:r>
                      <m:rPr>
                        <m:nor/>
                      </m:rPr>
                      <a:rPr lang="en-US" noProof="0" smtClean="0">
                        <a:solidFill>
                          <a:schemeClr val="tx1"/>
                        </a:solidFill>
                      </a:rPr>
                      <m:t>take</m:t>
                    </m:r>
                    <m:r>
                      <m:rPr>
                        <m:nor/>
                      </m:rPr>
                      <a:rPr lang="en-US" noProof="0" smtClean="0">
                        <a:solidFill>
                          <a:schemeClr val="tx1"/>
                        </a:solidFill>
                      </a:rPr>
                      <m:t> </m:t>
                    </m:r>
                    <m:r>
                      <m:rPr>
                        <m:nor/>
                      </m:rPr>
                      <a:rPr lang="en-US" noProof="0" smtClean="0">
                        <a:solidFill>
                          <a:schemeClr val="tx1"/>
                        </a:solidFill>
                      </a:rPr>
                      <m:t>absolute</m:t>
                    </m:r>
                    <m:r>
                      <m:rPr>
                        <m:nor/>
                      </m:rPr>
                      <a:rPr lang="en-US" noProof="0" smtClean="0">
                        <a:solidFill>
                          <a:schemeClr val="tx1"/>
                        </a:solidFill>
                      </a:rPr>
                      <m:t> </m:t>
                    </m:r>
                    <m:r>
                      <m:rPr>
                        <m:nor/>
                      </m:rPr>
                      <a:rPr lang="en-US" noProof="0" smtClean="0">
                        <a:solidFill>
                          <a:schemeClr val="tx1"/>
                        </a:solidFill>
                      </a:rPr>
                      <m:t>value</m:t>
                    </m:r>
                  </m:oMath>
                </a14:m>
                <a:endParaRPr lang="en-US" noProof="0" dirty="0">
                  <a:solidFill>
                    <a:schemeClr val="tx1"/>
                  </a:solidFill>
                </a:endParaRPr>
              </a:p>
            </p:txBody>
          </p:sp>
        </mc:Choice>
        <mc:Fallback xmlns="">
          <p:sp>
            <p:nvSpPr>
              <p:cNvPr id="18" name="Rectangle: Rounded Corners 18">
                <a:extLst>
                  <a:ext uri="{FF2B5EF4-FFF2-40B4-BE49-F238E27FC236}">
                    <a16:creationId xmlns:a16="http://schemas.microsoft.com/office/drawing/2014/main" id="{82BCDBB9-9A31-7FD5-683D-9EECEBC4DE4D}"/>
                  </a:ext>
                </a:extLst>
              </p:cNvPr>
              <p:cNvSpPr>
                <a:spLocks noRot="1" noChangeAspect="1" noMove="1" noResize="1" noEditPoints="1" noAdjustHandles="1" noChangeArrowheads="1" noChangeShapeType="1" noTextEdit="1"/>
              </p:cNvSpPr>
              <p:nvPr/>
            </p:nvSpPr>
            <p:spPr>
              <a:xfrm>
                <a:off x="232461" y="3427373"/>
                <a:ext cx="3440903" cy="791049"/>
              </a:xfrm>
              <a:prstGeom prst="roundRect">
                <a:avLst>
                  <a:gd name="adj" fmla="val 11229"/>
                </a:avLst>
              </a:prstGeom>
              <a:blipFill>
                <a:blip r:embed="rId6"/>
                <a:stretch>
                  <a:fillRect/>
                </a:stretch>
              </a:blipFill>
              <a:ln>
                <a:noFill/>
              </a:ln>
            </p:spPr>
            <p:txBody>
              <a:bodyPr/>
              <a:lstStyle/>
              <a:p>
                <a:r>
                  <a:rPr lang="de-DE">
                    <a:noFill/>
                  </a:rPr>
                  <a:t> </a:t>
                </a:r>
              </a:p>
            </p:txBody>
          </p:sp>
        </mc:Fallback>
      </mc:AlternateContent>
      <p:sp>
        <p:nvSpPr>
          <p:cNvPr id="19" name="Rectangle: Rounded Corners 18">
            <a:extLst>
              <a:ext uri="{FF2B5EF4-FFF2-40B4-BE49-F238E27FC236}">
                <a16:creationId xmlns:a16="http://schemas.microsoft.com/office/drawing/2014/main" id="{03B46CCD-A24D-B206-8700-669695D77D91}"/>
              </a:ext>
            </a:extLst>
          </p:cNvPr>
          <p:cNvSpPr/>
          <p:nvPr/>
        </p:nvSpPr>
        <p:spPr>
          <a:xfrm>
            <a:off x="4096039" y="3422767"/>
            <a:ext cx="3440903" cy="791049"/>
          </a:xfrm>
          <a:prstGeom prst="roundRect">
            <a:avLst>
              <a:gd name="adj" fmla="val 11229"/>
            </a:avLst>
          </a:prstGeom>
          <a:solidFill>
            <a:schemeClr val="accent5">
              <a:lumMod val="40000"/>
              <a:lumOff val="60000"/>
            </a:schemeClr>
          </a:solidFill>
          <a:ln>
            <a:noFill/>
          </a:ln>
        </p:spPr>
        <p:style>
          <a:lnRef idx="2">
            <a:schemeClr val="dk1">
              <a:shade val="50000"/>
            </a:schemeClr>
          </a:lnRef>
          <a:fillRef idx="1">
            <a:schemeClr val="dk1"/>
          </a:fillRef>
          <a:effectRef idx="0">
            <a:schemeClr val="dk1"/>
          </a:effectRef>
          <a:fontRef idx="minor">
            <a:schemeClr val="lt1"/>
          </a:fontRef>
        </p:style>
        <p:txBody>
          <a:bodyPr lIns="182880" rtlCol="0" anchor="ctr"/>
          <a:lstStyle/>
          <a:p>
            <a:pPr>
              <a:spcBef>
                <a:spcPts val="200"/>
              </a:spcBef>
            </a:pPr>
            <a:r>
              <a:rPr lang="en-US" b="1" noProof="0" dirty="0">
                <a:solidFill>
                  <a:schemeClr val="tx1"/>
                </a:solidFill>
                <a:latin typeface="Segoe UI Black" panose="020B0A02040204020203" pitchFamily="34" charset="0"/>
                <a:ea typeface="Segoe UI Black" panose="020B0A02040204020203" pitchFamily="34" charset="0"/>
              </a:rPr>
              <a:t>D.  </a:t>
            </a:r>
            <a:r>
              <a:rPr lang="en-US" noProof="0" dirty="0">
                <a:solidFill>
                  <a:schemeClr val="tx1"/>
                </a:solidFill>
              </a:rPr>
              <a:t>Measure with a physical ruler on your screen</a:t>
            </a:r>
          </a:p>
        </p:txBody>
      </p:sp>
    </p:spTree>
    <p:extLst>
      <p:ext uri="{BB962C8B-B14F-4D97-AF65-F5344CB8AC3E}">
        <p14:creationId xmlns:p14="http://schemas.microsoft.com/office/powerpoint/2010/main" val="36518338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D68B454-13B3-3257-A0B2-C7496935E0B1}"/>
              </a:ext>
            </a:extLst>
          </p:cNvPr>
          <p:cNvSpPr>
            <a:spLocks noGrp="1"/>
          </p:cNvSpPr>
          <p:nvPr>
            <p:ph type="title"/>
          </p:nvPr>
        </p:nvSpPr>
        <p:spPr/>
        <p:txBody>
          <a:bodyPr/>
          <a:lstStyle/>
          <a:p>
            <a:r>
              <a:rPr lang="en-US" noProof="0" dirty="0"/>
              <a:t>Quiz 3 </a:t>
            </a:r>
          </a:p>
        </p:txBody>
      </p:sp>
      <p:sp>
        <p:nvSpPr>
          <p:cNvPr id="3" name="Inhaltsplatzhalter 2">
            <a:extLst>
              <a:ext uri="{FF2B5EF4-FFF2-40B4-BE49-F238E27FC236}">
                <a16:creationId xmlns:a16="http://schemas.microsoft.com/office/drawing/2014/main" id="{BDEA9212-F0A2-7E63-4547-1547FFB21196}"/>
              </a:ext>
            </a:extLst>
          </p:cNvPr>
          <p:cNvSpPr>
            <a:spLocks noGrp="1"/>
          </p:cNvSpPr>
          <p:nvPr>
            <p:ph idx="1"/>
          </p:nvPr>
        </p:nvSpPr>
        <p:spPr/>
        <p:txBody>
          <a:bodyPr/>
          <a:lstStyle/>
          <a:p>
            <a:pPr marL="0" indent="0">
              <a:buNone/>
            </a:pPr>
            <a:r>
              <a:rPr lang="en-US" noProof="0" dirty="0"/>
              <a:t>What is the physical meaning of the poles of an LTI system?</a:t>
            </a:r>
          </a:p>
        </p:txBody>
      </p:sp>
      <p:sp>
        <p:nvSpPr>
          <p:cNvPr id="4" name="Fußzeilenplatzhalter 3">
            <a:extLst>
              <a:ext uri="{FF2B5EF4-FFF2-40B4-BE49-F238E27FC236}">
                <a16:creationId xmlns:a16="http://schemas.microsoft.com/office/drawing/2014/main" id="{4E046FA4-B683-08BA-D3A4-CFE5E0625167}"/>
              </a:ext>
            </a:extLst>
          </p:cNvPr>
          <p:cNvSpPr>
            <a:spLocks noGrp="1"/>
          </p:cNvSpPr>
          <p:nvPr>
            <p:ph type="ftr" sz="quarter" idx="11"/>
          </p:nvPr>
        </p:nvSpPr>
        <p:spPr/>
        <p:txBody>
          <a:bodyPr/>
          <a:lstStyle/>
          <a:p>
            <a:pPr defTabSz="342900">
              <a:buClrTx/>
            </a:pPr>
            <a:r>
              <a:rPr lang="en-US" kern="1200" noProof="0" dirty="0">
                <a:solidFill>
                  <a:srgbClr val="101623">
                    <a:tint val="75000"/>
                  </a:srgbClr>
                </a:solidFill>
                <a:latin typeface="Calibri" panose="020F0502020204030204"/>
                <a:ea typeface="+mn-ea"/>
                <a:cs typeface="+mn-cs"/>
              </a:rPr>
              <a:t>Kissan Varatharajan - </a:t>
            </a:r>
            <a:r>
              <a:rPr lang="en-US" kern="1200" noProof="0" dirty="0" err="1">
                <a:solidFill>
                  <a:srgbClr val="101623">
                    <a:tint val="75000"/>
                  </a:srgbClr>
                </a:solidFill>
                <a:latin typeface="Calibri" panose="020F0502020204030204"/>
                <a:ea typeface="+mn-ea"/>
                <a:cs typeface="+mn-cs"/>
              </a:rPr>
              <a:t>kissanv.github.io</a:t>
            </a:r>
            <a:endParaRPr lang="en-US" kern="1200" noProof="0" dirty="0">
              <a:solidFill>
                <a:srgbClr val="101623">
                  <a:tint val="75000"/>
                </a:srgbClr>
              </a:solidFill>
              <a:latin typeface="Calibri" panose="020F0502020204030204"/>
              <a:ea typeface="+mn-ea"/>
              <a:cs typeface="+mn-cs"/>
            </a:endParaRPr>
          </a:p>
        </p:txBody>
      </p:sp>
      <p:sp>
        <p:nvSpPr>
          <p:cNvPr id="5" name="Foliennummernplatzhalter 4">
            <a:extLst>
              <a:ext uri="{FF2B5EF4-FFF2-40B4-BE49-F238E27FC236}">
                <a16:creationId xmlns:a16="http://schemas.microsoft.com/office/drawing/2014/main" id="{F3417470-CCE0-3ED8-A82E-D3E68B1872D0}"/>
              </a:ext>
            </a:extLst>
          </p:cNvPr>
          <p:cNvSpPr>
            <a:spLocks noGrp="1"/>
          </p:cNvSpPr>
          <p:nvPr>
            <p:ph type="sldNum" sz="quarter" idx="12"/>
          </p:nvPr>
        </p:nvSpPr>
        <p:spPr/>
        <p:txBody>
          <a:bodyPr/>
          <a:lstStyle/>
          <a:p>
            <a:pPr defTabSz="342900">
              <a:buClrTx/>
            </a:pPr>
            <a:fld id="{36EAFFE7-40E2-CA47-82C0-73D0FC591208}" type="slidenum">
              <a:rPr lang="en-US" kern="1200" noProof="0" smtClean="0">
                <a:solidFill>
                  <a:srgbClr val="101623">
                    <a:tint val="75000"/>
                  </a:srgbClr>
                </a:solidFill>
                <a:latin typeface="Calibri" panose="020F0502020204030204"/>
                <a:ea typeface="+mn-ea"/>
                <a:cs typeface="+mn-cs"/>
              </a:rPr>
              <a:pPr defTabSz="342900">
                <a:buClrTx/>
              </a:pPr>
              <a:t>5</a:t>
            </a:fld>
            <a:endParaRPr lang="en-US" kern="1200" noProof="0" dirty="0">
              <a:solidFill>
                <a:srgbClr val="101623">
                  <a:tint val="75000"/>
                </a:srgbClr>
              </a:solidFill>
              <a:latin typeface="Calibri" panose="020F0502020204030204"/>
              <a:ea typeface="+mn-ea"/>
              <a:cs typeface="+mn-cs"/>
            </a:endParaRPr>
          </a:p>
        </p:txBody>
      </p:sp>
      <p:sp>
        <p:nvSpPr>
          <p:cNvPr id="7" name="Rectangle: Rounded Corners 18">
            <a:extLst>
              <a:ext uri="{FF2B5EF4-FFF2-40B4-BE49-F238E27FC236}">
                <a16:creationId xmlns:a16="http://schemas.microsoft.com/office/drawing/2014/main" id="{E8029B2E-07BD-085A-829D-212751A67925}"/>
              </a:ext>
            </a:extLst>
          </p:cNvPr>
          <p:cNvSpPr/>
          <p:nvPr/>
        </p:nvSpPr>
        <p:spPr>
          <a:xfrm>
            <a:off x="754774" y="1780701"/>
            <a:ext cx="3722633" cy="614321"/>
          </a:xfrm>
          <a:prstGeom prst="roundRect">
            <a:avLst>
              <a:gd name="adj" fmla="val 11229"/>
            </a:avLst>
          </a:prstGeom>
          <a:solidFill>
            <a:schemeClr val="accent5">
              <a:lumMod val="40000"/>
              <a:lumOff val="60000"/>
            </a:schemeClr>
          </a:solidFill>
          <a:ln>
            <a:noFill/>
          </a:ln>
        </p:spPr>
        <p:style>
          <a:lnRef idx="2">
            <a:schemeClr val="dk1">
              <a:shade val="50000"/>
            </a:schemeClr>
          </a:lnRef>
          <a:fillRef idx="1">
            <a:schemeClr val="dk1"/>
          </a:fillRef>
          <a:effectRef idx="0">
            <a:schemeClr val="dk1"/>
          </a:effectRef>
          <a:fontRef idx="minor">
            <a:schemeClr val="lt1"/>
          </a:fontRef>
        </p:style>
        <p:txBody>
          <a:bodyPr lIns="182880" rtlCol="0" anchor="ctr"/>
          <a:lstStyle/>
          <a:p>
            <a:pPr>
              <a:spcBef>
                <a:spcPts val="200"/>
              </a:spcBef>
            </a:pPr>
            <a:r>
              <a:rPr lang="en-US" b="1" noProof="0" dirty="0">
                <a:solidFill>
                  <a:schemeClr val="tx1"/>
                </a:solidFill>
                <a:latin typeface="Segoe UI Black" panose="020B0A02040204020203" pitchFamily="34" charset="0"/>
                <a:ea typeface="Segoe UI Black" panose="020B0A02040204020203" pitchFamily="34" charset="0"/>
              </a:rPr>
              <a:t>A.  </a:t>
            </a:r>
            <a:r>
              <a:rPr lang="en-US" noProof="0" dirty="0">
                <a:solidFill>
                  <a:schemeClr val="tx1"/>
                </a:solidFill>
              </a:rPr>
              <a:t>They only set the steady-state (DC) gain</a:t>
            </a:r>
          </a:p>
        </p:txBody>
      </p:sp>
      <p:sp>
        <p:nvSpPr>
          <p:cNvPr id="11" name="Rectangle: Rounded Corners 18">
            <a:extLst>
              <a:ext uri="{FF2B5EF4-FFF2-40B4-BE49-F238E27FC236}">
                <a16:creationId xmlns:a16="http://schemas.microsoft.com/office/drawing/2014/main" id="{04AF0537-8397-61BB-8899-69F9CD389040}"/>
              </a:ext>
            </a:extLst>
          </p:cNvPr>
          <p:cNvSpPr/>
          <p:nvPr/>
        </p:nvSpPr>
        <p:spPr>
          <a:xfrm>
            <a:off x="754773" y="2529562"/>
            <a:ext cx="3722633" cy="614321"/>
          </a:xfrm>
          <a:prstGeom prst="roundRect">
            <a:avLst>
              <a:gd name="adj" fmla="val 11229"/>
            </a:avLst>
          </a:prstGeom>
          <a:solidFill>
            <a:schemeClr val="accent5">
              <a:lumMod val="40000"/>
              <a:lumOff val="60000"/>
            </a:schemeClr>
          </a:solidFill>
          <a:ln>
            <a:noFill/>
          </a:ln>
        </p:spPr>
        <p:style>
          <a:lnRef idx="2">
            <a:schemeClr val="dk1">
              <a:shade val="50000"/>
            </a:schemeClr>
          </a:lnRef>
          <a:fillRef idx="1">
            <a:schemeClr val="dk1"/>
          </a:fillRef>
          <a:effectRef idx="0">
            <a:schemeClr val="dk1"/>
          </a:effectRef>
          <a:fontRef idx="minor">
            <a:schemeClr val="lt1"/>
          </a:fontRef>
        </p:style>
        <p:txBody>
          <a:bodyPr lIns="182880" rtlCol="0" anchor="ctr"/>
          <a:lstStyle/>
          <a:p>
            <a:pPr>
              <a:spcBef>
                <a:spcPts val="200"/>
              </a:spcBef>
            </a:pPr>
            <a:r>
              <a:rPr lang="en-US" b="1" noProof="0" dirty="0">
                <a:solidFill>
                  <a:schemeClr val="tx1"/>
                </a:solidFill>
                <a:latin typeface="Segoe UI Black" panose="020B0A02040204020203" pitchFamily="34" charset="0"/>
                <a:ea typeface="Segoe UI Black" panose="020B0A02040204020203" pitchFamily="34" charset="0"/>
              </a:rPr>
              <a:t>B.  </a:t>
            </a:r>
            <a:r>
              <a:rPr lang="en-US" noProof="0" dirty="0">
                <a:solidFill>
                  <a:schemeClr val="tx1"/>
                </a:solidFill>
              </a:rPr>
              <a:t>They quantify how much power the controller injects into the plant</a:t>
            </a:r>
          </a:p>
        </p:txBody>
      </p:sp>
      <p:sp>
        <p:nvSpPr>
          <p:cNvPr id="13" name="Rectangle: Rounded Corners 18">
            <a:extLst>
              <a:ext uri="{FF2B5EF4-FFF2-40B4-BE49-F238E27FC236}">
                <a16:creationId xmlns:a16="http://schemas.microsoft.com/office/drawing/2014/main" id="{AD29D900-7425-BA6A-7D24-2AF1C4F9F8F1}"/>
              </a:ext>
            </a:extLst>
          </p:cNvPr>
          <p:cNvSpPr/>
          <p:nvPr/>
        </p:nvSpPr>
        <p:spPr>
          <a:xfrm>
            <a:off x="754772" y="3278423"/>
            <a:ext cx="3722633" cy="614321"/>
          </a:xfrm>
          <a:prstGeom prst="roundRect">
            <a:avLst>
              <a:gd name="adj" fmla="val 11229"/>
            </a:avLst>
          </a:prstGeom>
          <a:solidFill>
            <a:schemeClr val="accent5">
              <a:lumMod val="40000"/>
              <a:lumOff val="60000"/>
            </a:schemeClr>
          </a:solidFill>
          <a:ln>
            <a:noFill/>
          </a:ln>
        </p:spPr>
        <p:style>
          <a:lnRef idx="2">
            <a:schemeClr val="dk1">
              <a:shade val="50000"/>
            </a:schemeClr>
          </a:lnRef>
          <a:fillRef idx="1">
            <a:schemeClr val="dk1"/>
          </a:fillRef>
          <a:effectRef idx="0">
            <a:schemeClr val="dk1"/>
          </a:effectRef>
          <a:fontRef idx="minor">
            <a:schemeClr val="lt1"/>
          </a:fontRef>
        </p:style>
        <p:txBody>
          <a:bodyPr lIns="182880" rtlCol="0" anchor="ctr"/>
          <a:lstStyle/>
          <a:p>
            <a:pPr>
              <a:spcBef>
                <a:spcPts val="200"/>
              </a:spcBef>
            </a:pPr>
            <a:r>
              <a:rPr lang="en-US" b="1" noProof="0" dirty="0">
                <a:solidFill>
                  <a:schemeClr val="tx1"/>
                </a:solidFill>
                <a:latin typeface="Segoe UI Black" panose="020B0A02040204020203" pitchFamily="34" charset="0"/>
                <a:ea typeface="Segoe UI Black" panose="020B0A02040204020203" pitchFamily="34" charset="0"/>
              </a:rPr>
              <a:t>C.  </a:t>
            </a:r>
            <a:r>
              <a:rPr lang="en-US" noProof="0" dirty="0">
                <a:solidFill>
                  <a:schemeClr val="tx1"/>
                </a:solidFill>
              </a:rPr>
              <a:t>They determine stability of the system</a:t>
            </a:r>
          </a:p>
        </p:txBody>
      </p:sp>
      <p:sp>
        <p:nvSpPr>
          <p:cNvPr id="14" name="Rectangle: Rounded Corners 18">
            <a:extLst>
              <a:ext uri="{FF2B5EF4-FFF2-40B4-BE49-F238E27FC236}">
                <a16:creationId xmlns:a16="http://schemas.microsoft.com/office/drawing/2014/main" id="{C7E0BEF7-FBE8-9783-CA8C-A3814D3CA024}"/>
              </a:ext>
            </a:extLst>
          </p:cNvPr>
          <p:cNvSpPr/>
          <p:nvPr/>
        </p:nvSpPr>
        <p:spPr>
          <a:xfrm>
            <a:off x="754771" y="4027284"/>
            <a:ext cx="3722633" cy="614321"/>
          </a:xfrm>
          <a:prstGeom prst="roundRect">
            <a:avLst>
              <a:gd name="adj" fmla="val 11229"/>
            </a:avLst>
          </a:prstGeom>
          <a:solidFill>
            <a:schemeClr val="accent5">
              <a:lumMod val="40000"/>
              <a:lumOff val="60000"/>
            </a:schemeClr>
          </a:solidFill>
          <a:ln>
            <a:noFill/>
          </a:ln>
        </p:spPr>
        <p:style>
          <a:lnRef idx="2">
            <a:schemeClr val="dk1">
              <a:shade val="50000"/>
            </a:schemeClr>
          </a:lnRef>
          <a:fillRef idx="1">
            <a:schemeClr val="dk1"/>
          </a:fillRef>
          <a:effectRef idx="0">
            <a:schemeClr val="dk1"/>
          </a:effectRef>
          <a:fontRef idx="minor">
            <a:schemeClr val="lt1"/>
          </a:fontRef>
        </p:style>
        <p:txBody>
          <a:bodyPr lIns="182880" rtlCol="0" anchor="ctr"/>
          <a:lstStyle/>
          <a:p>
            <a:pPr>
              <a:spcBef>
                <a:spcPts val="200"/>
              </a:spcBef>
            </a:pPr>
            <a:r>
              <a:rPr lang="en-US" b="1" noProof="0" dirty="0">
                <a:solidFill>
                  <a:schemeClr val="tx1"/>
                </a:solidFill>
                <a:latin typeface="Segoe UI Black" panose="020B0A02040204020203" pitchFamily="34" charset="0"/>
                <a:ea typeface="Segoe UI Black" panose="020B0A02040204020203" pitchFamily="34" charset="0"/>
              </a:rPr>
              <a:t>D.  </a:t>
            </a:r>
            <a:r>
              <a:rPr lang="en-US" noProof="0" dirty="0">
                <a:solidFill>
                  <a:schemeClr val="tx1"/>
                </a:solidFill>
              </a:rPr>
              <a:t>They determine the decay/growth rates and oscillation frequencies of the system’s natural response</a:t>
            </a:r>
          </a:p>
        </p:txBody>
      </p:sp>
    </p:spTree>
    <p:extLst>
      <p:ext uri="{BB962C8B-B14F-4D97-AF65-F5344CB8AC3E}">
        <p14:creationId xmlns:p14="http://schemas.microsoft.com/office/powerpoint/2010/main" val="28178494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880487E-59FA-2691-56CA-CE7B8C631CEC}"/>
              </a:ext>
            </a:extLst>
          </p:cNvPr>
          <p:cNvSpPr>
            <a:spLocks noGrp="1"/>
          </p:cNvSpPr>
          <p:nvPr>
            <p:ph type="title"/>
          </p:nvPr>
        </p:nvSpPr>
        <p:spPr/>
        <p:txBody>
          <a:bodyPr/>
          <a:lstStyle/>
          <a:p>
            <a:r>
              <a:rPr lang="en-US" noProof="0" dirty="0"/>
              <a:t>Quiz 4</a:t>
            </a:r>
          </a:p>
        </p:txBody>
      </p:sp>
      <p:sp>
        <p:nvSpPr>
          <p:cNvPr id="3" name="Inhaltsplatzhalter 2">
            <a:extLst>
              <a:ext uri="{FF2B5EF4-FFF2-40B4-BE49-F238E27FC236}">
                <a16:creationId xmlns:a16="http://schemas.microsoft.com/office/drawing/2014/main" id="{E3F9B131-8F38-C957-018E-ECFF278FFE12}"/>
              </a:ext>
            </a:extLst>
          </p:cNvPr>
          <p:cNvSpPr>
            <a:spLocks noGrp="1"/>
          </p:cNvSpPr>
          <p:nvPr>
            <p:ph idx="1"/>
          </p:nvPr>
        </p:nvSpPr>
        <p:spPr/>
        <p:txBody>
          <a:bodyPr/>
          <a:lstStyle/>
          <a:p>
            <a:pPr marL="0" indent="0">
              <a:buNone/>
            </a:pPr>
            <a:r>
              <a:rPr lang="en-US" noProof="0" dirty="0"/>
              <a:t>What are non-minimum phase zeros?</a:t>
            </a:r>
          </a:p>
        </p:txBody>
      </p:sp>
      <p:sp>
        <p:nvSpPr>
          <p:cNvPr id="4" name="Fußzeilenplatzhalter 3">
            <a:extLst>
              <a:ext uri="{FF2B5EF4-FFF2-40B4-BE49-F238E27FC236}">
                <a16:creationId xmlns:a16="http://schemas.microsoft.com/office/drawing/2014/main" id="{D69109D3-E616-9ACA-6415-7DEA451AA26B}"/>
              </a:ext>
            </a:extLst>
          </p:cNvPr>
          <p:cNvSpPr>
            <a:spLocks noGrp="1"/>
          </p:cNvSpPr>
          <p:nvPr>
            <p:ph type="ftr" sz="quarter" idx="11"/>
          </p:nvPr>
        </p:nvSpPr>
        <p:spPr/>
        <p:txBody>
          <a:bodyPr/>
          <a:lstStyle/>
          <a:p>
            <a:pPr defTabSz="342900">
              <a:buClrTx/>
            </a:pPr>
            <a:r>
              <a:rPr lang="en-US" kern="1200" noProof="0" dirty="0">
                <a:solidFill>
                  <a:srgbClr val="101623">
                    <a:tint val="75000"/>
                  </a:srgbClr>
                </a:solidFill>
                <a:latin typeface="Calibri" panose="020F0502020204030204"/>
                <a:ea typeface="+mn-ea"/>
                <a:cs typeface="+mn-cs"/>
              </a:rPr>
              <a:t>Kissan Varatharajan - </a:t>
            </a:r>
            <a:r>
              <a:rPr lang="en-US" kern="1200" noProof="0" dirty="0" err="1">
                <a:solidFill>
                  <a:srgbClr val="101623">
                    <a:tint val="75000"/>
                  </a:srgbClr>
                </a:solidFill>
                <a:latin typeface="Calibri" panose="020F0502020204030204"/>
                <a:ea typeface="+mn-ea"/>
                <a:cs typeface="+mn-cs"/>
              </a:rPr>
              <a:t>kissanv.github.io</a:t>
            </a:r>
            <a:endParaRPr lang="en-US" kern="1200" noProof="0" dirty="0">
              <a:solidFill>
                <a:srgbClr val="101623">
                  <a:tint val="75000"/>
                </a:srgbClr>
              </a:solidFill>
              <a:latin typeface="Calibri" panose="020F0502020204030204"/>
              <a:ea typeface="+mn-ea"/>
              <a:cs typeface="+mn-cs"/>
            </a:endParaRPr>
          </a:p>
        </p:txBody>
      </p:sp>
      <p:sp>
        <p:nvSpPr>
          <p:cNvPr id="5" name="Foliennummernplatzhalter 4">
            <a:extLst>
              <a:ext uri="{FF2B5EF4-FFF2-40B4-BE49-F238E27FC236}">
                <a16:creationId xmlns:a16="http://schemas.microsoft.com/office/drawing/2014/main" id="{8C52C384-6B23-EA45-4BD9-2B8EDEA680C0}"/>
              </a:ext>
            </a:extLst>
          </p:cNvPr>
          <p:cNvSpPr>
            <a:spLocks noGrp="1"/>
          </p:cNvSpPr>
          <p:nvPr>
            <p:ph type="sldNum" sz="quarter" idx="12"/>
          </p:nvPr>
        </p:nvSpPr>
        <p:spPr/>
        <p:txBody>
          <a:bodyPr/>
          <a:lstStyle/>
          <a:p>
            <a:pPr defTabSz="342900">
              <a:buClrTx/>
            </a:pPr>
            <a:fld id="{36EAFFE7-40E2-CA47-82C0-73D0FC591208}" type="slidenum">
              <a:rPr lang="en-US" kern="1200" noProof="0" smtClean="0">
                <a:solidFill>
                  <a:srgbClr val="101623">
                    <a:tint val="75000"/>
                  </a:srgbClr>
                </a:solidFill>
                <a:latin typeface="Calibri" panose="020F0502020204030204"/>
                <a:ea typeface="+mn-ea"/>
                <a:cs typeface="+mn-cs"/>
              </a:rPr>
              <a:pPr defTabSz="342900">
                <a:buClrTx/>
              </a:pPr>
              <a:t>6</a:t>
            </a:fld>
            <a:endParaRPr lang="en-US" kern="1200" noProof="0" dirty="0">
              <a:solidFill>
                <a:srgbClr val="101623">
                  <a:tint val="75000"/>
                </a:srgbClr>
              </a:solidFill>
              <a:latin typeface="Calibri" panose="020F0502020204030204"/>
              <a:ea typeface="+mn-ea"/>
              <a:cs typeface="+mn-cs"/>
            </a:endParaRPr>
          </a:p>
        </p:txBody>
      </p:sp>
      <p:sp>
        <p:nvSpPr>
          <p:cNvPr id="6" name="Rectangle: Rounded Corners 18">
            <a:extLst>
              <a:ext uri="{FF2B5EF4-FFF2-40B4-BE49-F238E27FC236}">
                <a16:creationId xmlns:a16="http://schemas.microsoft.com/office/drawing/2014/main" id="{F3725312-2218-4BF9-B92E-B0EC9A285D2A}"/>
              </a:ext>
            </a:extLst>
          </p:cNvPr>
          <p:cNvSpPr/>
          <p:nvPr/>
        </p:nvSpPr>
        <p:spPr>
          <a:xfrm>
            <a:off x="754774" y="1780701"/>
            <a:ext cx="3817226" cy="614321"/>
          </a:xfrm>
          <a:prstGeom prst="roundRect">
            <a:avLst>
              <a:gd name="adj" fmla="val 11229"/>
            </a:avLst>
          </a:prstGeom>
          <a:solidFill>
            <a:schemeClr val="accent5">
              <a:lumMod val="40000"/>
              <a:lumOff val="60000"/>
            </a:schemeClr>
          </a:solidFill>
          <a:ln>
            <a:noFill/>
          </a:ln>
        </p:spPr>
        <p:style>
          <a:lnRef idx="2">
            <a:schemeClr val="dk1">
              <a:shade val="50000"/>
            </a:schemeClr>
          </a:lnRef>
          <a:fillRef idx="1">
            <a:schemeClr val="dk1"/>
          </a:fillRef>
          <a:effectRef idx="0">
            <a:schemeClr val="dk1"/>
          </a:effectRef>
          <a:fontRef idx="minor">
            <a:schemeClr val="lt1"/>
          </a:fontRef>
        </p:style>
        <p:txBody>
          <a:bodyPr lIns="182880" rtlCol="0" anchor="ctr"/>
          <a:lstStyle/>
          <a:p>
            <a:pPr>
              <a:spcBef>
                <a:spcPts val="200"/>
              </a:spcBef>
            </a:pPr>
            <a:r>
              <a:rPr lang="en-US" b="1" noProof="0" dirty="0">
                <a:solidFill>
                  <a:schemeClr val="tx1"/>
                </a:solidFill>
                <a:latin typeface="Segoe UI Black" panose="020B0A02040204020203" pitchFamily="34" charset="0"/>
                <a:ea typeface="Segoe UI Black" panose="020B0A02040204020203" pitchFamily="34" charset="0"/>
              </a:rPr>
              <a:t>A.  </a:t>
            </a:r>
            <a:r>
              <a:rPr lang="en-US" noProof="0" dirty="0">
                <a:solidFill>
                  <a:schemeClr val="tx1"/>
                </a:solidFill>
              </a:rPr>
              <a:t>Zeros in the right-half plane</a:t>
            </a:r>
          </a:p>
        </p:txBody>
      </p:sp>
      <mc:AlternateContent xmlns:mc="http://schemas.openxmlformats.org/markup-compatibility/2006" xmlns:a14="http://schemas.microsoft.com/office/drawing/2010/main">
        <mc:Choice Requires="a14">
          <p:sp>
            <p:nvSpPr>
              <p:cNvPr id="7" name="Rectangle: Rounded Corners 18">
                <a:extLst>
                  <a:ext uri="{FF2B5EF4-FFF2-40B4-BE49-F238E27FC236}">
                    <a16:creationId xmlns:a16="http://schemas.microsoft.com/office/drawing/2014/main" id="{6C15F9AF-D782-2771-C29F-486BB1A07A58}"/>
                  </a:ext>
                </a:extLst>
              </p:cNvPr>
              <p:cNvSpPr/>
              <p:nvPr/>
            </p:nvSpPr>
            <p:spPr>
              <a:xfrm>
                <a:off x="754774" y="2529562"/>
                <a:ext cx="3817226" cy="614321"/>
              </a:xfrm>
              <a:prstGeom prst="roundRect">
                <a:avLst>
                  <a:gd name="adj" fmla="val 11229"/>
                </a:avLst>
              </a:prstGeom>
              <a:solidFill>
                <a:schemeClr val="accent5">
                  <a:lumMod val="40000"/>
                  <a:lumOff val="60000"/>
                </a:schemeClr>
              </a:solidFill>
              <a:ln>
                <a:noFill/>
              </a:ln>
            </p:spPr>
            <p:style>
              <a:lnRef idx="2">
                <a:schemeClr val="dk1">
                  <a:shade val="50000"/>
                </a:schemeClr>
              </a:lnRef>
              <a:fillRef idx="1">
                <a:schemeClr val="dk1"/>
              </a:fillRef>
              <a:effectRef idx="0">
                <a:schemeClr val="dk1"/>
              </a:effectRef>
              <a:fontRef idx="minor">
                <a:schemeClr val="lt1"/>
              </a:fontRef>
            </p:style>
            <p:txBody>
              <a:bodyPr lIns="182880" rtlCol="0" anchor="ctr"/>
              <a:lstStyle/>
              <a:p>
                <a:pPr>
                  <a:spcBef>
                    <a:spcPts val="200"/>
                  </a:spcBef>
                </a:pPr>
                <a:r>
                  <a:rPr lang="en-US" b="1" noProof="0" dirty="0">
                    <a:solidFill>
                      <a:schemeClr val="tx1"/>
                    </a:solidFill>
                    <a:latin typeface="Segoe UI Black" panose="020B0A02040204020203" pitchFamily="34" charset="0"/>
                    <a:ea typeface="Segoe UI Black" panose="020B0A02040204020203" pitchFamily="34" charset="0"/>
                  </a:rPr>
                  <a:t>B.  </a:t>
                </a:r>
                <a:r>
                  <a:rPr lang="en-US" noProof="0" dirty="0">
                    <a:solidFill>
                      <a:schemeClr val="tx1"/>
                    </a:solidFill>
                  </a:rPr>
                  <a:t>The roots of the denominator of </a:t>
                </a:r>
                <a14:m>
                  <m:oMath xmlns:m="http://schemas.openxmlformats.org/officeDocument/2006/math">
                    <m:r>
                      <a:rPr lang="en-US" i="1" noProof="0" smtClean="0">
                        <a:solidFill>
                          <a:schemeClr val="tx1"/>
                        </a:solidFill>
                        <a:latin typeface="Cambria Math" panose="02040503050406030204" pitchFamily="18" charset="0"/>
                      </a:rPr>
                      <m:t>𝐺</m:t>
                    </m:r>
                    <m:d>
                      <m:dPr>
                        <m:ctrlPr>
                          <a:rPr lang="en-US" i="1" noProof="0" smtClean="0">
                            <a:solidFill>
                              <a:schemeClr val="tx1"/>
                            </a:solidFill>
                            <a:latin typeface="Cambria Math" panose="02040503050406030204" pitchFamily="18" charset="0"/>
                          </a:rPr>
                        </m:ctrlPr>
                      </m:dPr>
                      <m:e>
                        <m:r>
                          <a:rPr lang="en-US" i="1" noProof="0" smtClean="0">
                            <a:solidFill>
                              <a:schemeClr val="tx1"/>
                            </a:solidFill>
                            <a:latin typeface="Cambria Math" panose="02040503050406030204" pitchFamily="18" charset="0"/>
                          </a:rPr>
                          <m:t>𝑠</m:t>
                        </m:r>
                      </m:e>
                    </m:d>
                  </m:oMath>
                </a14:m>
                <a:endParaRPr lang="en-US" noProof="0" dirty="0">
                  <a:solidFill>
                    <a:schemeClr val="tx1"/>
                  </a:solidFill>
                </a:endParaRPr>
              </a:p>
            </p:txBody>
          </p:sp>
        </mc:Choice>
        <mc:Fallback xmlns="">
          <p:sp>
            <p:nvSpPr>
              <p:cNvPr id="7" name="Rectangle: Rounded Corners 18">
                <a:extLst>
                  <a:ext uri="{FF2B5EF4-FFF2-40B4-BE49-F238E27FC236}">
                    <a16:creationId xmlns:a16="http://schemas.microsoft.com/office/drawing/2014/main" id="{6C15F9AF-D782-2771-C29F-486BB1A07A58}"/>
                  </a:ext>
                </a:extLst>
              </p:cNvPr>
              <p:cNvSpPr>
                <a:spLocks noRot="1" noChangeAspect="1" noMove="1" noResize="1" noEditPoints="1" noAdjustHandles="1" noChangeArrowheads="1" noChangeShapeType="1" noTextEdit="1"/>
              </p:cNvSpPr>
              <p:nvPr/>
            </p:nvSpPr>
            <p:spPr>
              <a:xfrm>
                <a:off x="754774" y="2529562"/>
                <a:ext cx="3817226" cy="614321"/>
              </a:xfrm>
              <a:prstGeom prst="roundRect">
                <a:avLst>
                  <a:gd name="adj" fmla="val 11229"/>
                </a:avLst>
              </a:prstGeom>
              <a:blipFill>
                <a:blip r:embed="rId2"/>
                <a:stretch>
                  <a:fillRect/>
                </a:stretch>
              </a:blipFill>
              <a:ln>
                <a:noFill/>
              </a:ln>
            </p:spPr>
            <p:txBody>
              <a:bodyPr/>
              <a:lstStyle/>
              <a:p>
                <a:r>
                  <a:rPr lang="de-DE">
                    <a:noFill/>
                  </a:rPr>
                  <a:t> </a:t>
                </a:r>
              </a:p>
            </p:txBody>
          </p:sp>
        </mc:Fallback>
      </mc:AlternateContent>
      <p:sp>
        <p:nvSpPr>
          <p:cNvPr id="8" name="Rectangle: Rounded Corners 18">
            <a:extLst>
              <a:ext uri="{FF2B5EF4-FFF2-40B4-BE49-F238E27FC236}">
                <a16:creationId xmlns:a16="http://schemas.microsoft.com/office/drawing/2014/main" id="{F83FFFEB-33B6-9463-2AE1-2AA3D2D45CF2}"/>
              </a:ext>
            </a:extLst>
          </p:cNvPr>
          <p:cNvSpPr/>
          <p:nvPr/>
        </p:nvSpPr>
        <p:spPr>
          <a:xfrm>
            <a:off x="754774" y="3278423"/>
            <a:ext cx="3817226" cy="614321"/>
          </a:xfrm>
          <a:prstGeom prst="roundRect">
            <a:avLst>
              <a:gd name="adj" fmla="val 11229"/>
            </a:avLst>
          </a:prstGeom>
          <a:solidFill>
            <a:schemeClr val="accent5">
              <a:lumMod val="40000"/>
              <a:lumOff val="60000"/>
            </a:schemeClr>
          </a:solidFill>
          <a:ln>
            <a:noFill/>
          </a:ln>
        </p:spPr>
        <p:style>
          <a:lnRef idx="2">
            <a:schemeClr val="dk1">
              <a:shade val="50000"/>
            </a:schemeClr>
          </a:lnRef>
          <a:fillRef idx="1">
            <a:schemeClr val="dk1"/>
          </a:fillRef>
          <a:effectRef idx="0">
            <a:schemeClr val="dk1"/>
          </a:effectRef>
          <a:fontRef idx="minor">
            <a:schemeClr val="lt1"/>
          </a:fontRef>
        </p:style>
        <p:txBody>
          <a:bodyPr lIns="182880" rtlCol="0" anchor="ctr"/>
          <a:lstStyle/>
          <a:p>
            <a:pPr>
              <a:spcBef>
                <a:spcPts val="200"/>
              </a:spcBef>
            </a:pPr>
            <a:r>
              <a:rPr lang="en-US" b="1" noProof="0" dirty="0">
                <a:solidFill>
                  <a:schemeClr val="tx1"/>
                </a:solidFill>
                <a:latin typeface="Segoe UI Black" panose="020B0A02040204020203" pitchFamily="34" charset="0"/>
                <a:ea typeface="Segoe UI Black" panose="020B0A02040204020203" pitchFamily="34" charset="0"/>
              </a:rPr>
              <a:t>C.  </a:t>
            </a:r>
            <a:r>
              <a:rPr lang="en-US" noProof="0" dirty="0">
                <a:solidFill>
                  <a:schemeClr val="tx1"/>
                </a:solidFill>
              </a:rPr>
              <a:t>They create an anticipatory effect and reduce phase lag</a:t>
            </a:r>
          </a:p>
        </p:txBody>
      </p:sp>
      <p:sp>
        <p:nvSpPr>
          <p:cNvPr id="9" name="Rectangle: Rounded Corners 18">
            <a:extLst>
              <a:ext uri="{FF2B5EF4-FFF2-40B4-BE49-F238E27FC236}">
                <a16:creationId xmlns:a16="http://schemas.microsoft.com/office/drawing/2014/main" id="{4FD2E573-07F6-20FF-300F-69B86F89E3F4}"/>
              </a:ext>
            </a:extLst>
          </p:cNvPr>
          <p:cNvSpPr/>
          <p:nvPr/>
        </p:nvSpPr>
        <p:spPr>
          <a:xfrm>
            <a:off x="754774" y="4027284"/>
            <a:ext cx="3817226" cy="614321"/>
          </a:xfrm>
          <a:prstGeom prst="roundRect">
            <a:avLst>
              <a:gd name="adj" fmla="val 11229"/>
            </a:avLst>
          </a:prstGeom>
          <a:solidFill>
            <a:schemeClr val="accent5">
              <a:lumMod val="40000"/>
              <a:lumOff val="60000"/>
            </a:schemeClr>
          </a:solidFill>
          <a:ln>
            <a:noFill/>
          </a:ln>
        </p:spPr>
        <p:style>
          <a:lnRef idx="2">
            <a:schemeClr val="dk1">
              <a:shade val="50000"/>
            </a:schemeClr>
          </a:lnRef>
          <a:fillRef idx="1">
            <a:schemeClr val="dk1"/>
          </a:fillRef>
          <a:effectRef idx="0">
            <a:schemeClr val="dk1"/>
          </a:effectRef>
          <a:fontRef idx="minor">
            <a:schemeClr val="lt1"/>
          </a:fontRef>
        </p:style>
        <p:txBody>
          <a:bodyPr lIns="182880" rtlCol="0" anchor="ctr"/>
          <a:lstStyle/>
          <a:p>
            <a:pPr>
              <a:spcBef>
                <a:spcPts val="200"/>
              </a:spcBef>
            </a:pPr>
            <a:r>
              <a:rPr lang="en-US" b="1" noProof="0" dirty="0">
                <a:solidFill>
                  <a:schemeClr val="tx1"/>
                </a:solidFill>
                <a:latin typeface="Segoe UI Black" panose="020B0A02040204020203" pitchFamily="34" charset="0"/>
                <a:ea typeface="Segoe UI Black" panose="020B0A02040204020203" pitchFamily="34" charset="0"/>
              </a:rPr>
              <a:t>D.  </a:t>
            </a:r>
            <a:r>
              <a:rPr lang="en-US" noProof="0" dirty="0">
                <a:solidFill>
                  <a:schemeClr val="tx1"/>
                </a:solidFill>
              </a:rPr>
              <a:t>They cause an inverse initial response: the output first moves in the wrong direction before heading to the final value</a:t>
            </a:r>
          </a:p>
        </p:txBody>
      </p:sp>
    </p:spTree>
    <p:extLst>
      <p:ext uri="{BB962C8B-B14F-4D97-AF65-F5344CB8AC3E}">
        <p14:creationId xmlns:p14="http://schemas.microsoft.com/office/powerpoint/2010/main" val="18408661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6FA29-96CE-7C56-42E1-8791DFA1210D}"/>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F6D706B9-10B7-4F88-AEB4-ABF20F3AF345}"/>
              </a:ext>
            </a:extLst>
          </p:cNvPr>
          <p:cNvSpPr>
            <a:spLocks noGrp="1"/>
          </p:cNvSpPr>
          <p:nvPr>
            <p:ph type="title"/>
          </p:nvPr>
        </p:nvSpPr>
        <p:spPr/>
        <p:txBody>
          <a:bodyPr/>
          <a:lstStyle/>
          <a:p>
            <a:r>
              <a:rPr lang="en-US" noProof="0" dirty="0"/>
              <a:t>Quiz 5</a:t>
            </a:r>
          </a:p>
        </p:txBody>
      </p:sp>
      <p:sp>
        <p:nvSpPr>
          <p:cNvPr id="3" name="Inhaltsplatzhalter 2">
            <a:extLst>
              <a:ext uri="{FF2B5EF4-FFF2-40B4-BE49-F238E27FC236}">
                <a16:creationId xmlns:a16="http://schemas.microsoft.com/office/drawing/2014/main" id="{E849F131-4429-5099-E242-79CA494AFF53}"/>
              </a:ext>
            </a:extLst>
          </p:cNvPr>
          <p:cNvSpPr>
            <a:spLocks noGrp="1"/>
          </p:cNvSpPr>
          <p:nvPr>
            <p:ph idx="1"/>
          </p:nvPr>
        </p:nvSpPr>
        <p:spPr/>
        <p:txBody>
          <a:bodyPr/>
          <a:lstStyle/>
          <a:p>
            <a:pPr marL="0" indent="0">
              <a:buNone/>
            </a:pPr>
            <a:r>
              <a:rPr lang="en-US" noProof="0" dirty="0"/>
              <a:t>Which statements about pole-zero cancellation are true?</a:t>
            </a:r>
          </a:p>
        </p:txBody>
      </p:sp>
      <p:sp>
        <p:nvSpPr>
          <p:cNvPr id="4" name="Fußzeilenplatzhalter 3">
            <a:extLst>
              <a:ext uri="{FF2B5EF4-FFF2-40B4-BE49-F238E27FC236}">
                <a16:creationId xmlns:a16="http://schemas.microsoft.com/office/drawing/2014/main" id="{98039715-5082-371F-94E5-31C7A491BB9F}"/>
              </a:ext>
            </a:extLst>
          </p:cNvPr>
          <p:cNvSpPr>
            <a:spLocks noGrp="1"/>
          </p:cNvSpPr>
          <p:nvPr>
            <p:ph type="ftr" sz="quarter" idx="11"/>
          </p:nvPr>
        </p:nvSpPr>
        <p:spPr/>
        <p:txBody>
          <a:bodyPr/>
          <a:lstStyle/>
          <a:p>
            <a:pPr defTabSz="342900">
              <a:buClrTx/>
            </a:pPr>
            <a:r>
              <a:rPr lang="en-US" kern="1200" noProof="0" dirty="0">
                <a:solidFill>
                  <a:srgbClr val="101623">
                    <a:tint val="75000"/>
                  </a:srgbClr>
                </a:solidFill>
                <a:latin typeface="Calibri" panose="020F0502020204030204"/>
                <a:ea typeface="+mn-ea"/>
                <a:cs typeface="+mn-cs"/>
              </a:rPr>
              <a:t>Kissan Varatharajan - </a:t>
            </a:r>
            <a:r>
              <a:rPr lang="en-US" kern="1200" noProof="0" dirty="0" err="1">
                <a:solidFill>
                  <a:srgbClr val="101623">
                    <a:tint val="75000"/>
                  </a:srgbClr>
                </a:solidFill>
                <a:latin typeface="Calibri" panose="020F0502020204030204"/>
                <a:ea typeface="+mn-ea"/>
                <a:cs typeface="+mn-cs"/>
              </a:rPr>
              <a:t>kissanv.github.io</a:t>
            </a:r>
            <a:endParaRPr lang="en-US" kern="1200" noProof="0" dirty="0">
              <a:solidFill>
                <a:srgbClr val="101623">
                  <a:tint val="75000"/>
                </a:srgbClr>
              </a:solidFill>
              <a:latin typeface="Calibri" panose="020F0502020204030204"/>
              <a:ea typeface="+mn-ea"/>
              <a:cs typeface="+mn-cs"/>
            </a:endParaRPr>
          </a:p>
        </p:txBody>
      </p:sp>
      <p:sp>
        <p:nvSpPr>
          <p:cNvPr id="5" name="Foliennummernplatzhalter 4">
            <a:extLst>
              <a:ext uri="{FF2B5EF4-FFF2-40B4-BE49-F238E27FC236}">
                <a16:creationId xmlns:a16="http://schemas.microsoft.com/office/drawing/2014/main" id="{4C1A5573-6C41-4532-74BB-BB6187A4F315}"/>
              </a:ext>
            </a:extLst>
          </p:cNvPr>
          <p:cNvSpPr>
            <a:spLocks noGrp="1"/>
          </p:cNvSpPr>
          <p:nvPr>
            <p:ph type="sldNum" sz="quarter" idx="12"/>
          </p:nvPr>
        </p:nvSpPr>
        <p:spPr/>
        <p:txBody>
          <a:bodyPr/>
          <a:lstStyle/>
          <a:p>
            <a:pPr defTabSz="342900">
              <a:buClrTx/>
            </a:pPr>
            <a:fld id="{36EAFFE7-40E2-CA47-82C0-73D0FC591208}" type="slidenum">
              <a:rPr lang="en-US" kern="1200" noProof="0" smtClean="0">
                <a:solidFill>
                  <a:srgbClr val="101623">
                    <a:tint val="75000"/>
                  </a:srgbClr>
                </a:solidFill>
                <a:latin typeface="Calibri" panose="020F0502020204030204"/>
                <a:ea typeface="+mn-ea"/>
                <a:cs typeface="+mn-cs"/>
              </a:rPr>
              <a:pPr defTabSz="342900">
                <a:buClrTx/>
              </a:pPr>
              <a:t>7</a:t>
            </a:fld>
            <a:endParaRPr lang="en-US" kern="1200" noProof="0" dirty="0">
              <a:solidFill>
                <a:srgbClr val="101623">
                  <a:tint val="75000"/>
                </a:srgbClr>
              </a:solidFill>
              <a:latin typeface="Calibri" panose="020F0502020204030204"/>
              <a:ea typeface="+mn-ea"/>
              <a:cs typeface="+mn-cs"/>
            </a:endParaRPr>
          </a:p>
        </p:txBody>
      </p:sp>
      <p:sp>
        <p:nvSpPr>
          <p:cNvPr id="7" name="Rectangle: Rounded Corners 18">
            <a:extLst>
              <a:ext uri="{FF2B5EF4-FFF2-40B4-BE49-F238E27FC236}">
                <a16:creationId xmlns:a16="http://schemas.microsoft.com/office/drawing/2014/main" id="{4E52E6FE-7CD7-283C-C2CA-6465D6FA3D3E}"/>
              </a:ext>
            </a:extLst>
          </p:cNvPr>
          <p:cNvSpPr/>
          <p:nvPr/>
        </p:nvSpPr>
        <p:spPr>
          <a:xfrm>
            <a:off x="754774" y="2529562"/>
            <a:ext cx="3817226" cy="614321"/>
          </a:xfrm>
          <a:prstGeom prst="roundRect">
            <a:avLst>
              <a:gd name="adj" fmla="val 11229"/>
            </a:avLst>
          </a:prstGeom>
          <a:solidFill>
            <a:schemeClr val="accent5">
              <a:lumMod val="40000"/>
              <a:lumOff val="60000"/>
            </a:schemeClr>
          </a:solidFill>
          <a:ln>
            <a:noFill/>
          </a:ln>
        </p:spPr>
        <p:style>
          <a:lnRef idx="2">
            <a:schemeClr val="dk1">
              <a:shade val="50000"/>
            </a:schemeClr>
          </a:lnRef>
          <a:fillRef idx="1">
            <a:schemeClr val="dk1"/>
          </a:fillRef>
          <a:effectRef idx="0">
            <a:schemeClr val="dk1"/>
          </a:effectRef>
          <a:fontRef idx="minor">
            <a:schemeClr val="lt1"/>
          </a:fontRef>
        </p:style>
        <p:txBody>
          <a:bodyPr lIns="182880" rtlCol="0" anchor="ctr"/>
          <a:lstStyle/>
          <a:p>
            <a:pPr>
              <a:spcBef>
                <a:spcPts val="200"/>
              </a:spcBef>
            </a:pPr>
            <a:r>
              <a:rPr lang="en-US" b="1" noProof="0" dirty="0">
                <a:solidFill>
                  <a:schemeClr val="tx1"/>
                </a:solidFill>
                <a:latin typeface="Segoe UI Black" panose="020B0A02040204020203" pitchFamily="34" charset="0"/>
                <a:ea typeface="Segoe UI Black" panose="020B0A02040204020203" pitchFamily="34" charset="0"/>
              </a:rPr>
              <a:t>B.  </a:t>
            </a:r>
            <a:r>
              <a:rPr lang="en-US" noProof="0" dirty="0">
                <a:solidFill>
                  <a:schemeClr val="tx1"/>
                </a:solidFill>
              </a:rPr>
              <a:t>Cancelling an unstable pole can make I/O look stable while internals stay unstable.</a:t>
            </a:r>
          </a:p>
        </p:txBody>
      </p:sp>
      <p:sp>
        <p:nvSpPr>
          <p:cNvPr id="8" name="Rectangle: Rounded Corners 18">
            <a:extLst>
              <a:ext uri="{FF2B5EF4-FFF2-40B4-BE49-F238E27FC236}">
                <a16:creationId xmlns:a16="http://schemas.microsoft.com/office/drawing/2014/main" id="{C44A6C8A-02AF-78F2-E6AF-B2C64241BA0E}"/>
              </a:ext>
            </a:extLst>
          </p:cNvPr>
          <p:cNvSpPr/>
          <p:nvPr/>
        </p:nvSpPr>
        <p:spPr>
          <a:xfrm>
            <a:off x="754774" y="3278423"/>
            <a:ext cx="3817226" cy="614321"/>
          </a:xfrm>
          <a:prstGeom prst="roundRect">
            <a:avLst>
              <a:gd name="adj" fmla="val 11229"/>
            </a:avLst>
          </a:prstGeom>
          <a:solidFill>
            <a:schemeClr val="accent5">
              <a:lumMod val="40000"/>
              <a:lumOff val="60000"/>
            </a:schemeClr>
          </a:solidFill>
          <a:ln>
            <a:noFill/>
          </a:ln>
        </p:spPr>
        <p:style>
          <a:lnRef idx="2">
            <a:schemeClr val="dk1">
              <a:shade val="50000"/>
            </a:schemeClr>
          </a:lnRef>
          <a:fillRef idx="1">
            <a:schemeClr val="dk1"/>
          </a:fillRef>
          <a:effectRef idx="0">
            <a:schemeClr val="dk1"/>
          </a:effectRef>
          <a:fontRef idx="minor">
            <a:schemeClr val="lt1"/>
          </a:fontRef>
        </p:style>
        <p:txBody>
          <a:bodyPr lIns="182880" rtlCol="0" anchor="ctr"/>
          <a:lstStyle/>
          <a:p>
            <a:pPr>
              <a:spcBef>
                <a:spcPts val="200"/>
              </a:spcBef>
            </a:pPr>
            <a:r>
              <a:rPr lang="en-US" b="1" noProof="0" dirty="0">
                <a:solidFill>
                  <a:schemeClr val="tx1"/>
                </a:solidFill>
                <a:latin typeface="Segoe UI Black" panose="020B0A02040204020203" pitchFamily="34" charset="0"/>
                <a:ea typeface="Segoe UI Black" panose="020B0A02040204020203" pitchFamily="34" charset="0"/>
              </a:rPr>
              <a:t>C.  </a:t>
            </a:r>
            <a:r>
              <a:rPr lang="en-US" noProof="0" dirty="0">
                <a:solidFill>
                  <a:schemeClr val="tx1"/>
                </a:solidFill>
              </a:rPr>
              <a:t>A zero near a pole partially cancels it, weakening that mode in the I/O response</a:t>
            </a:r>
          </a:p>
        </p:txBody>
      </p:sp>
      <p:sp>
        <p:nvSpPr>
          <p:cNvPr id="9" name="Rectangle: Rounded Corners 18">
            <a:extLst>
              <a:ext uri="{FF2B5EF4-FFF2-40B4-BE49-F238E27FC236}">
                <a16:creationId xmlns:a16="http://schemas.microsoft.com/office/drawing/2014/main" id="{196D77FD-68AB-FB31-F4BC-B7AFF60CBDD2}"/>
              </a:ext>
            </a:extLst>
          </p:cNvPr>
          <p:cNvSpPr/>
          <p:nvPr/>
        </p:nvSpPr>
        <p:spPr>
          <a:xfrm>
            <a:off x="754774" y="4027284"/>
            <a:ext cx="3817226" cy="614321"/>
          </a:xfrm>
          <a:prstGeom prst="roundRect">
            <a:avLst>
              <a:gd name="adj" fmla="val 11229"/>
            </a:avLst>
          </a:prstGeom>
          <a:solidFill>
            <a:schemeClr val="accent5">
              <a:lumMod val="40000"/>
              <a:lumOff val="60000"/>
            </a:schemeClr>
          </a:solidFill>
          <a:ln>
            <a:noFill/>
          </a:ln>
        </p:spPr>
        <p:style>
          <a:lnRef idx="2">
            <a:schemeClr val="dk1">
              <a:shade val="50000"/>
            </a:schemeClr>
          </a:lnRef>
          <a:fillRef idx="1">
            <a:schemeClr val="dk1"/>
          </a:fillRef>
          <a:effectRef idx="0">
            <a:schemeClr val="dk1"/>
          </a:effectRef>
          <a:fontRef idx="minor">
            <a:schemeClr val="lt1"/>
          </a:fontRef>
        </p:style>
        <p:txBody>
          <a:bodyPr lIns="182880" rtlCol="0" anchor="ctr"/>
          <a:lstStyle/>
          <a:p>
            <a:pPr>
              <a:spcBef>
                <a:spcPts val="200"/>
              </a:spcBef>
            </a:pPr>
            <a:r>
              <a:rPr lang="en-US" b="1" noProof="0" dirty="0">
                <a:solidFill>
                  <a:schemeClr val="tx1"/>
                </a:solidFill>
                <a:latin typeface="Segoe UI Black" panose="020B0A02040204020203" pitchFamily="34" charset="0"/>
                <a:ea typeface="Segoe UI Black" panose="020B0A02040204020203" pitchFamily="34" charset="0"/>
              </a:rPr>
              <a:t>D.  </a:t>
            </a:r>
            <a:r>
              <a:rPr lang="en-US" noProof="0" dirty="0">
                <a:solidFill>
                  <a:schemeClr val="tx1"/>
                </a:solidFill>
              </a:rPr>
              <a:t>Pole–zero proximity always improves robustness</a:t>
            </a:r>
          </a:p>
        </p:txBody>
      </p:sp>
      <p:sp>
        <p:nvSpPr>
          <p:cNvPr id="10" name="Rectangle: Rounded Corners 18">
            <a:extLst>
              <a:ext uri="{FF2B5EF4-FFF2-40B4-BE49-F238E27FC236}">
                <a16:creationId xmlns:a16="http://schemas.microsoft.com/office/drawing/2014/main" id="{5646A55B-ECE2-0013-5684-B0279C0DAE9A}"/>
              </a:ext>
            </a:extLst>
          </p:cNvPr>
          <p:cNvSpPr/>
          <p:nvPr/>
        </p:nvSpPr>
        <p:spPr>
          <a:xfrm>
            <a:off x="754774" y="1780701"/>
            <a:ext cx="3817226" cy="614321"/>
          </a:xfrm>
          <a:prstGeom prst="roundRect">
            <a:avLst>
              <a:gd name="adj" fmla="val 11229"/>
            </a:avLst>
          </a:prstGeom>
          <a:solidFill>
            <a:schemeClr val="accent5">
              <a:lumMod val="40000"/>
              <a:lumOff val="60000"/>
            </a:schemeClr>
          </a:solidFill>
          <a:ln>
            <a:noFill/>
          </a:ln>
        </p:spPr>
        <p:style>
          <a:lnRef idx="2">
            <a:schemeClr val="dk1">
              <a:shade val="50000"/>
            </a:schemeClr>
          </a:lnRef>
          <a:fillRef idx="1">
            <a:schemeClr val="dk1"/>
          </a:fillRef>
          <a:effectRef idx="0">
            <a:schemeClr val="dk1"/>
          </a:effectRef>
          <a:fontRef idx="minor">
            <a:schemeClr val="lt1"/>
          </a:fontRef>
        </p:style>
        <p:txBody>
          <a:bodyPr lIns="182880" rtlCol="0" anchor="ctr"/>
          <a:lstStyle/>
          <a:p>
            <a:pPr>
              <a:spcBef>
                <a:spcPts val="200"/>
              </a:spcBef>
            </a:pPr>
            <a:r>
              <a:rPr lang="en-US" b="1" noProof="0" dirty="0">
                <a:solidFill>
                  <a:schemeClr val="tx1"/>
                </a:solidFill>
                <a:latin typeface="Segoe UI Black" panose="020B0A02040204020203" pitchFamily="34" charset="0"/>
                <a:ea typeface="Segoe UI Black" panose="020B0A02040204020203" pitchFamily="34" charset="0"/>
              </a:rPr>
              <a:t>A.  </a:t>
            </a:r>
            <a:r>
              <a:rPr lang="en-US" noProof="0" dirty="0">
                <a:solidFill>
                  <a:schemeClr val="tx1"/>
                </a:solidFill>
              </a:rPr>
              <a:t>Pole-Zero cancellation is always safe</a:t>
            </a:r>
          </a:p>
        </p:txBody>
      </p:sp>
    </p:spTree>
    <p:extLst>
      <p:ext uri="{BB962C8B-B14F-4D97-AF65-F5344CB8AC3E}">
        <p14:creationId xmlns:p14="http://schemas.microsoft.com/office/powerpoint/2010/main" val="10903493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339D9CB-F584-0FA2-6B58-1DF2E3AFC4E5}"/>
              </a:ext>
            </a:extLst>
          </p:cNvPr>
          <p:cNvSpPr>
            <a:spLocks noGrp="1"/>
          </p:cNvSpPr>
          <p:nvPr>
            <p:ph type="title"/>
          </p:nvPr>
        </p:nvSpPr>
        <p:spPr>
          <a:xfrm>
            <a:off x="186062" y="364136"/>
            <a:ext cx="2321412" cy="663853"/>
          </a:xfrm>
        </p:spPr>
        <p:txBody>
          <a:bodyPr anchor="ctr">
            <a:normAutofit/>
          </a:bodyPr>
          <a:lstStyle/>
          <a:p>
            <a:r>
              <a:rPr lang="en-US" noProof="0" dirty="0"/>
              <a:t>Motivation</a:t>
            </a:r>
          </a:p>
        </p:txBody>
      </p:sp>
      <p:pic>
        <p:nvPicPr>
          <p:cNvPr id="7" name="Inhaltsplatzhalter 6" descr="Ein Bild, das Fahrzeug, Rad, Transport, Landfahrzeug enthält.&#10;&#10;KI-generierte Inhalte können fehlerhaft sein.">
            <a:extLst>
              <a:ext uri="{FF2B5EF4-FFF2-40B4-BE49-F238E27FC236}">
                <a16:creationId xmlns:a16="http://schemas.microsoft.com/office/drawing/2014/main" id="{62BC4D6A-9358-E535-6A09-BADA2D89A7C4}"/>
              </a:ext>
            </a:extLst>
          </p:cNvPr>
          <p:cNvPicPr>
            <a:picLocks noGrp="1" noChangeAspect="1"/>
          </p:cNvPicPr>
          <p:nvPr>
            <p:ph idx="1"/>
          </p:nvPr>
        </p:nvPicPr>
        <p:blipFill>
          <a:blip r:embed="rId3"/>
          <a:srcRect l="11220" t="33713" r="27727" b="17755"/>
          <a:stretch>
            <a:fillRect/>
          </a:stretch>
        </p:blipFill>
        <p:spPr>
          <a:xfrm>
            <a:off x="290779" y="1153019"/>
            <a:ext cx="2438125" cy="1090219"/>
          </a:xfrm>
          <a:noFill/>
        </p:spPr>
      </p:pic>
      <p:sp>
        <p:nvSpPr>
          <p:cNvPr id="4" name="Fußzeilenplatzhalter 3">
            <a:extLst>
              <a:ext uri="{FF2B5EF4-FFF2-40B4-BE49-F238E27FC236}">
                <a16:creationId xmlns:a16="http://schemas.microsoft.com/office/drawing/2014/main" id="{E98E7F09-DFEC-940D-5C6D-968ACEB4BBED}"/>
              </a:ext>
            </a:extLst>
          </p:cNvPr>
          <p:cNvSpPr>
            <a:spLocks noGrp="1"/>
          </p:cNvSpPr>
          <p:nvPr>
            <p:ph type="ftr" sz="quarter" idx="11"/>
          </p:nvPr>
        </p:nvSpPr>
        <p:spPr>
          <a:xfrm>
            <a:off x="3028950" y="4767263"/>
            <a:ext cx="3086100" cy="273844"/>
          </a:xfrm>
        </p:spPr>
        <p:txBody>
          <a:bodyPr anchor="ctr">
            <a:normAutofit/>
          </a:bodyPr>
          <a:lstStyle/>
          <a:p>
            <a:pPr defTabSz="342900">
              <a:spcAft>
                <a:spcPts val="600"/>
              </a:spcAft>
              <a:buClrTx/>
            </a:pPr>
            <a:r>
              <a:rPr lang="en-US" kern="1200" noProof="0" dirty="0">
                <a:solidFill>
                  <a:srgbClr val="101623">
                    <a:tint val="75000"/>
                  </a:srgbClr>
                </a:solidFill>
              </a:rPr>
              <a:t>Kissan Varatharajan - </a:t>
            </a:r>
            <a:r>
              <a:rPr lang="en-US" kern="1200" noProof="0" dirty="0" err="1">
                <a:solidFill>
                  <a:srgbClr val="101623">
                    <a:tint val="75000"/>
                  </a:srgbClr>
                </a:solidFill>
              </a:rPr>
              <a:t>kissanv.github.io</a:t>
            </a:r>
            <a:endParaRPr lang="en-US" kern="1200" noProof="0" dirty="0">
              <a:solidFill>
                <a:srgbClr val="101623">
                  <a:tint val="75000"/>
                </a:srgbClr>
              </a:solidFill>
            </a:endParaRPr>
          </a:p>
        </p:txBody>
      </p:sp>
      <p:sp>
        <p:nvSpPr>
          <p:cNvPr id="5" name="Foliennummernplatzhalter 4">
            <a:extLst>
              <a:ext uri="{FF2B5EF4-FFF2-40B4-BE49-F238E27FC236}">
                <a16:creationId xmlns:a16="http://schemas.microsoft.com/office/drawing/2014/main" id="{2821D565-9331-417E-32F3-2A81A4B5B2F0}"/>
              </a:ext>
            </a:extLst>
          </p:cNvPr>
          <p:cNvSpPr>
            <a:spLocks noGrp="1"/>
          </p:cNvSpPr>
          <p:nvPr>
            <p:ph type="sldNum" sz="quarter" idx="12"/>
          </p:nvPr>
        </p:nvSpPr>
        <p:spPr>
          <a:xfrm>
            <a:off x="6457950" y="4634863"/>
            <a:ext cx="2057400" cy="273844"/>
          </a:xfrm>
        </p:spPr>
        <p:txBody>
          <a:bodyPr anchor="ctr">
            <a:normAutofit/>
          </a:bodyPr>
          <a:lstStyle/>
          <a:p>
            <a:pPr defTabSz="342900">
              <a:spcAft>
                <a:spcPts val="600"/>
              </a:spcAft>
              <a:buClrTx/>
            </a:pPr>
            <a:fld id="{36EAFFE7-40E2-CA47-82C0-73D0FC591208}" type="slidenum">
              <a:rPr lang="en-US" kern="1200" noProof="0" smtClean="0">
                <a:solidFill>
                  <a:srgbClr val="101623">
                    <a:tint val="75000"/>
                  </a:srgbClr>
                </a:solidFill>
              </a:rPr>
              <a:pPr defTabSz="342900">
                <a:spcAft>
                  <a:spcPts val="600"/>
                </a:spcAft>
                <a:buClrTx/>
              </a:pPr>
              <a:t>8</a:t>
            </a:fld>
            <a:endParaRPr lang="en-US" kern="1200" noProof="0" dirty="0">
              <a:solidFill>
                <a:srgbClr val="101623">
                  <a:tint val="75000"/>
                </a:srgbClr>
              </a:solidFill>
            </a:endParaRPr>
          </a:p>
        </p:txBody>
      </p:sp>
      <p:cxnSp>
        <p:nvCxnSpPr>
          <p:cNvPr id="9" name="Gerade Verbindung mit Pfeil 8">
            <a:extLst>
              <a:ext uri="{FF2B5EF4-FFF2-40B4-BE49-F238E27FC236}">
                <a16:creationId xmlns:a16="http://schemas.microsoft.com/office/drawing/2014/main" id="{D8E92166-FD7E-FAB3-C2D8-F2C724405DAB}"/>
              </a:ext>
            </a:extLst>
          </p:cNvPr>
          <p:cNvCxnSpPr/>
          <p:nvPr/>
        </p:nvCxnSpPr>
        <p:spPr>
          <a:xfrm>
            <a:off x="2772654" y="1846137"/>
            <a:ext cx="901051"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Textfeld 9">
            <a:extLst>
              <a:ext uri="{FF2B5EF4-FFF2-40B4-BE49-F238E27FC236}">
                <a16:creationId xmlns:a16="http://schemas.microsoft.com/office/drawing/2014/main" id="{243083BD-A857-302A-F7DA-FEA26A0D950C}"/>
              </a:ext>
            </a:extLst>
          </p:cNvPr>
          <p:cNvSpPr txBox="1"/>
          <p:nvPr/>
        </p:nvSpPr>
        <p:spPr>
          <a:xfrm>
            <a:off x="2731981" y="1280518"/>
            <a:ext cx="982396" cy="523220"/>
          </a:xfrm>
          <a:prstGeom prst="rect">
            <a:avLst/>
          </a:prstGeom>
          <a:noFill/>
        </p:spPr>
        <p:txBody>
          <a:bodyPr wrap="square" rtlCol="0">
            <a:spAutoFit/>
          </a:bodyPr>
          <a:lstStyle/>
          <a:p>
            <a:pPr algn="ctr"/>
            <a:r>
              <a:rPr lang="en-US" b="1" noProof="0" dirty="0">
                <a:latin typeface="Segoe UI" panose="020B0502040204020203" pitchFamily="34" charset="0"/>
                <a:cs typeface="Segoe UI" panose="020B0502040204020203" pitchFamily="34" charset="0"/>
              </a:rPr>
              <a:t>system modeling</a:t>
            </a:r>
          </a:p>
        </p:txBody>
      </p:sp>
      <p:sp>
        <p:nvSpPr>
          <p:cNvPr id="14" name="Rechteck 13">
            <a:extLst>
              <a:ext uri="{FF2B5EF4-FFF2-40B4-BE49-F238E27FC236}">
                <a16:creationId xmlns:a16="http://schemas.microsoft.com/office/drawing/2014/main" id="{986496E2-B3D6-C355-6926-955513540F17}"/>
              </a:ext>
            </a:extLst>
          </p:cNvPr>
          <p:cNvSpPr/>
          <p:nvPr/>
        </p:nvSpPr>
        <p:spPr>
          <a:xfrm>
            <a:off x="3758442" y="1497792"/>
            <a:ext cx="1251284" cy="611892"/>
          </a:xfrm>
          <a:prstGeom prst="rect">
            <a:avLst/>
          </a:prstGeom>
          <a:noFill/>
          <a:ln w="254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noProof="0" dirty="0"/>
          </a:p>
        </p:txBody>
      </p:sp>
      <p:sp>
        <p:nvSpPr>
          <p:cNvPr id="16" name="Textfeld 15">
            <a:extLst>
              <a:ext uri="{FF2B5EF4-FFF2-40B4-BE49-F238E27FC236}">
                <a16:creationId xmlns:a16="http://schemas.microsoft.com/office/drawing/2014/main" id="{B441C7BD-D587-41E8-9130-D430B1CB95B6}"/>
              </a:ext>
            </a:extLst>
          </p:cNvPr>
          <p:cNvSpPr txBox="1"/>
          <p:nvPr/>
        </p:nvSpPr>
        <p:spPr>
          <a:xfrm>
            <a:off x="3979165" y="1626897"/>
            <a:ext cx="865943" cy="338554"/>
          </a:xfrm>
          <a:prstGeom prst="rect">
            <a:avLst/>
          </a:prstGeom>
          <a:noFill/>
        </p:spPr>
        <p:txBody>
          <a:bodyPr wrap="none" rtlCol="0">
            <a:spAutoFit/>
          </a:bodyPr>
          <a:lstStyle/>
          <a:p>
            <a:r>
              <a:rPr lang="en-US" sz="1600" b="1" noProof="0" dirty="0">
                <a:solidFill>
                  <a:schemeClr val="accent5"/>
                </a:solidFill>
                <a:latin typeface="Segoe UI" panose="020B0502040204020203" pitchFamily="34" charset="0"/>
                <a:cs typeface="Segoe UI" panose="020B0502040204020203" pitchFamily="34" charset="0"/>
              </a:rPr>
              <a:t>Plant P</a:t>
            </a:r>
          </a:p>
        </p:txBody>
      </p:sp>
      <p:cxnSp>
        <p:nvCxnSpPr>
          <p:cNvPr id="17" name="Gerade Verbindung mit Pfeil 16">
            <a:extLst>
              <a:ext uri="{FF2B5EF4-FFF2-40B4-BE49-F238E27FC236}">
                <a16:creationId xmlns:a16="http://schemas.microsoft.com/office/drawing/2014/main" id="{77ACCB85-EE33-6373-7570-975B51BD7755}"/>
              </a:ext>
            </a:extLst>
          </p:cNvPr>
          <p:cNvCxnSpPr/>
          <p:nvPr/>
        </p:nvCxnSpPr>
        <p:spPr>
          <a:xfrm>
            <a:off x="5160996" y="1846137"/>
            <a:ext cx="901051"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Textfeld 17">
            <a:extLst>
              <a:ext uri="{FF2B5EF4-FFF2-40B4-BE49-F238E27FC236}">
                <a16:creationId xmlns:a16="http://schemas.microsoft.com/office/drawing/2014/main" id="{5A583337-728F-A4AE-96EF-AA161C2555B8}"/>
              </a:ext>
            </a:extLst>
          </p:cNvPr>
          <p:cNvSpPr txBox="1"/>
          <p:nvPr/>
        </p:nvSpPr>
        <p:spPr>
          <a:xfrm>
            <a:off x="4728839" y="1122946"/>
            <a:ext cx="1679146" cy="523220"/>
          </a:xfrm>
          <a:prstGeom prst="rect">
            <a:avLst/>
          </a:prstGeom>
          <a:noFill/>
        </p:spPr>
        <p:txBody>
          <a:bodyPr wrap="square" rtlCol="0">
            <a:spAutoFit/>
          </a:bodyPr>
          <a:lstStyle/>
          <a:p>
            <a:pPr algn="ctr"/>
            <a:r>
              <a:rPr lang="en-US" b="1" noProof="0" dirty="0">
                <a:latin typeface="Segoe UI" panose="020B0502040204020203" pitchFamily="34" charset="0"/>
                <a:cs typeface="Segoe UI" panose="020B0502040204020203" pitchFamily="34" charset="0"/>
              </a:rPr>
              <a:t>Classification &amp; Linearization</a:t>
            </a:r>
          </a:p>
        </p:txBody>
      </p:sp>
      <mc:AlternateContent xmlns:mc="http://schemas.openxmlformats.org/markup-compatibility/2006" xmlns:a14="http://schemas.microsoft.com/office/drawing/2010/main">
        <mc:Choice Requires="a14">
          <p:sp>
            <p:nvSpPr>
              <p:cNvPr id="19" name="Textfeld 18">
                <a:extLst>
                  <a:ext uri="{FF2B5EF4-FFF2-40B4-BE49-F238E27FC236}">
                    <a16:creationId xmlns:a16="http://schemas.microsoft.com/office/drawing/2014/main" id="{B94DEB70-20AB-8871-1AA2-5AD96D1E4161}"/>
                  </a:ext>
                </a:extLst>
              </p:cNvPr>
              <p:cNvSpPr txBox="1"/>
              <p:nvPr/>
            </p:nvSpPr>
            <p:spPr>
              <a:xfrm>
                <a:off x="5456934" y="1331747"/>
                <a:ext cx="3943350" cy="1569660"/>
              </a:xfrm>
              <a:prstGeom prst="rect">
                <a:avLst/>
              </a:prstGeom>
              <a:noFill/>
            </p:spPr>
            <p:txBody>
              <a:bodyPr wrap="square" rtlCol="0">
                <a:spAutoFit/>
              </a:bodyPr>
              <a:lstStyle/>
              <a:p>
                <a:pPr algn="ctr"/>
                <a:r>
                  <a:rPr lang="en-US" sz="1600" noProof="0" dirty="0">
                    <a:latin typeface="Cambria Math" panose="02040503050406030204" pitchFamily="18" charset="0"/>
                  </a:rPr>
                  <a:t>state-space representation</a:t>
                </a:r>
              </a:p>
              <a:p>
                <a:pPr algn="ctr"/>
                <a14:m>
                  <m:oMathPara xmlns:m="http://schemas.openxmlformats.org/officeDocument/2006/math">
                    <m:oMathParaPr>
                      <m:jc m:val="centerGroup"/>
                    </m:oMathParaPr>
                    <m:oMath xmlns:m="http://schemas.openxmlformats.org/officeDocument/2006/math">
                      <m:acc>
                        <m:accPr>
                          <m:chr m:val="̇"/>
                          <m:ctrlPr>
                            <a:rPr lang="en-US" sz="1600" i="1" noProof="0" smtClean="0">
                              <a:latin typeface="Cambria Math" panose="02040503050406030204" pitchFamily="18" charset="0"/>
                            </a:rPr>
                          </m:ctrlPr>
                        </m:accPr>
                        <m:e>
                          <m:r>
                            <a:rPr lang="en-US" sz="1600" i="1" noProof="0" smtClean="0">
                              <a:latin typeface="Cambria Math" panose="02040503050406030204" pitchFamily="18" charset="0"/>
                            </a:rPr>
                            <m:t>𝑥</m:t>
                          </m:r>
                        </m:e>
                      </m:acc>
                      <m:d>
                        <m:dPr>
                          <m:ctrlPr>
                            <a:rPr lang="en-US" sz="1600" i="1" noProof="0" smtClean="0">
                              <a:latin typeface="Cambria Math" panose="02040503050406030204" pitchFamily="18" charset="0"/>
                            </a:rPr>
                          </m:ctrlPr>
                        </m:dPr>
                        <m:e>
                          <m:r>
                            <a:rPr lang="en-US" sz="1600" i="1" noProof="0" smtClean="0">
                              <a:latin typeface="Cambria Math" panose="02040503050406030204" pitchFamily="18" charset="0"/>
                            </a:rPr>
                            <m:t>𝑡</m:t>
                          </m:r>
                        </m:e>
                      </m:d>
                      <m:r>
                        <a:rPr lang="en-US" sz="1600" i="1" noProof="0" smtClean="0">
                          <a:latin typeface="Cambria Math" panose="02040503050406030204" pitchFamily="18" charset="0"/>
                        </a:rPr>
                        <m:t>=</m:t>
                      </m:r>
                      <m:r>
                        <a:rPr lang="en-US" sz="1600" i="1" noProof="0" smtClean="0">
                          <a:solidFill>
                            <a:schemeClr val="accent4"/>
                          </a:solidFill>
                          <a:latin typeface="Cambria Math" panose="02040503050406030204" pitchFamily="18" charset="0"/>
                        </a:rPr>
                        <m:t>𝐴</m:t>
                      </m:r>
                      <m:r>
                        <a:rPr lang="en-US" sz="1600" i="1" noProof="0" smtClean="0">
                          <a:latin typeface="Cambria Math" panose="02040503050406030204" pitchFamily="18" charset="0"/>
                        </a:rPr>
                        <m:t>𝑥</m:t>
                      </m:r>
                      <m:d>
                        <m:dPr>
                          <m:ctrlPr>
                            <a:rPr lang="en-US" sz="1600" i="1" noProof="0" smtClean="0">
                              <a:latin typeface="Cambria Math" panose="02040503050406030204" pitchFamily="18" charset="0"/>
                            </a:rPr>
                          </m:ctrlPr>
                        </m:dPr>
                        <m:e>
                          <m:r>
                            <a:rPr lang="en-US" sz="1600" i="1" noProof="0" smtClean="0">
                              <a:latin typeface="Cambria Math" panose="02040503050406030204" pitchFamily="18" charset="0"/>
                            </a:rPr>
                            <m:t>𝑡</m:t>
                          </m:r>
                        </m:e>
                      </m:d>
                      <m:r>
                        <a:rPr lang="en-US" sz="1600" i="1" noProof="0" smtClean="0">
                          <a:latin typeface="Cambria Math" panose="02040503050406030204" pitchFamily="18" charset="0"/>
                        </a:rPr>
                        <m:t>+</m:t>
                      </m:r>
                      <m:r>
                        <a:rPr lang="en-US" sz="1600" i="1" noProof="0" smtClean="0">
                          <a:solidFill>
                            <a:schemeClr val="accent5"/>
                          </a:solidFill>
                          <a:latin typeface="Cambria Math" panose="02040503050406030204" pitchFamily="18" charset="0"/>
                        </a:rPr>
                        <m:t>𝐵</m:t>
                      </m:r>
                      <m:r>
                        <a:rPr lang="en-US" sz="1600" i="1" noProof="0" smtClean="0">
                          <a:latin typeface="Cambria Math" panose="02040503050406030204" pitchFamily="18" charset="0"/>
                        </a:rPr>
                        <m:t>𝑢</m:t>
                      </m:r>
                      <m:d>
                        <m:dPr>
                          <m:ctrlPr>
                            <a:rPr lang="en-US" sz="1600" i="1" noProof="0" smtClean="0">
                              <a:latin typeface="Cambria Math" panose="02040503050406030204" pitchFamily="18" charset="0"/>
                            </a:rPr>
                          </m:ctrlPr>
                        </m:dPr>
                        <m:e>
                          <m:r>
                            <a:rPr lang="en-US" sz="1600" i="1" noProof="0" smtClean="0">
                              <a:latin typeface="Cambria Math" panose="02040503050406030204" pitchFamily="18" charset="0"/>
                            </a:rPr>
                            <m:t>𝑡</m:t>
                          </m:r>
                        </m:e>
                      </m:d>
                    </m:oMath>
                  </m:oMathPara>
                </a14:m>
                <a:endParaRPr lang="en-US" sz="1600" i="1" noProof="0" dirty="0">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US" sz="1600" i="1" noProof="0" smtClean="0">
                          <a:latin typeface="Cambria Math" panose="02040503050406030204" pitchFamily="18" charset="0"/>
                        </a:rPr>
                        <m:t>𝑦</m:t>
                      </m:r>
                      <m:r>
                        <a:rPr lang="en-US" sz="1600" i="1" noProof="0" smtClean="0">
                          <a:latin typeface="Cambria Math" panose="02040503050406030204" pitchFamily="18" charset="0"/>
                        </a:rPr>
                        <m:t>(</m:t>
                      </m:r>
                      <m:r>
                        <a:rPr lang="en-US" sz="1600" i="1" noProof="0" smtClean="0">
                          <a:latin typeface="Cambria Math" panose="02040503050406030204" pitchFamily="18" charset="0"/>
                        </a:rPr>
                        <m:t>𝑡</m:t>
                      </m:r>
                      <m:r>
                        <a:rPr lang="en-US" sz="1600" i="1" noProof="0" smtClean="0">
                          <a:latin typeface="Cambria Math" panose="02040503050406030204" pitchFamily="18" charset="0"/>
                        </a:rPr>
                        <m:t>)=</m:t>
                      </m:r>
                      <m:r>
                        <a:rPr lang="en-US" sz="1600" i="1" noProof="0" smtClean="0">
                          <a:solidFill>
                            <a:schemeClr val="accent3"/>
                          </a:solidFill>
                          <a:latin typeface="Cambria Math" panose="02040503050406030204" pitchFamily="18" charset="0"/>
                        </a:rPr>
                        <m:t>𝐶</m:t>
                      </m:r>
                      <m:r>
                        <a:rPr lang="en-US" sz="1600" i="1" noProof="0" smtClean="0">
                          <a:latin typeface="Cambria Math" panose="02040503050406030204" pitchFamily="18" charset="0"/>
                        </a:rPr>
                        <m:t>𝑥</m:t>
                      </m:r>
                      <m:r>
                        <a:rPr lang="en-US" sz="1600" i="1" noProof="0" smtClean="0">
                          <a:latin typeface="Cambria Math" panose="02040503050406030204" pitchFamily="18" charset="0"/>
                        </a:rPr>
                        <m:t>(</m:t>
                      </m:r>
                      <m:r>
                        <a:rPr lang="en-US" sz="1600" i="1" noProof="0" smtClean="0">
                          <a:latin typeface="Cambria Math" panose="02040503050406030204" pitchFamily="18" charset="0"/>
                        </a:rPr>
                        <m:t>𝑡</m:t>
                      </m:r>
                      <m:r>
                        <a:rPr lang="en-US" sz="1600" i="1" noProof="0" smtClean="0">
                          <a:latin typeface="Cambria Math" panose="02040503050406030204" pitchFamily="18" charset="0"/>
                        </a:rPr>
                        <m:t>)+</m:t>
                      </m:r>
                      <m:r>
                        <a:rPr lang="en-US" sz="1600" i="1" noProof="0" smtClean="0">
                          <a:latin typeface="Cambria Math" panose="02040503050406030204" pitchFamily="18" charset="0"/>
                        </a:rPr>
                        <m:t>𝐷𝑢</m:t>
                      </m:r>
                      <m:r>
                        <a:rPr lang="en-US" sz="1600" i="1" noProof="0" smtClean="0">
                          <a:latin typeface="Cambria Math" panose="02040503050406030204" pitchFamily="18" charset="0"/>
                        </a:rPr>
                        <m:t>(</m:t>
                      </m:r>
                      <m:r>
                        <a:rPr lang="en-US" sz="1600" i="1" noProof="0" smtClean="0">
                          <a:latin typeface="Cambria Math" panose="02040503050406030204" pitchFamily="18" charset="0"/>
                        </a:rPr>
                        <m:t>𝑡</m:t>
                      </m:r>
                      <m:r>
                        <a:rPr lang="en-US" sz="1600" i="1" noProof="0" smtClean="0">
                          <a:latin typeface="Cambria Math" panose="02040503050406030204" pitchFamily="18" charset="0"/>
                        </a:rPr>
                        <m:t>)</m:t>
                      </m:r>
                    </m:oMath>
                  </m:oMathPara>
                </a14:m>
                <a:endParaRPr lang="en-US" sz="1600" noProof="0" dirty="0"/>
              </a:p>
              <a:p>
                <a:endParaRPr lang="en-US" sz="1600" noProof="0" dirty="0"/>
              </a:p>
              <a:p>
                <a:endParaRPr lang="en-US" sz="1600" noProof="0" dirty="0"/>
              </a:p>
              <a:p>
                <a:endParaRPr lang="en-US" sz="1600" noProof="0" dirty="0"/>
              </a:p>
            </p:txBody>
          </p:sp>
        </mc:Choice>
        <mc:Fallback xmlns="">
          <p:sp>
            <p:nvSpPr>
              <p:cNvPr id="19" name="Textfeld 18">
                <a:extLst>
                  <a:ext uri="{FF2B5EF4-FFF2-40B4-BE49-F238E27FC236}">
                    <a16:creationId xmlns:a16="http://schemas.microsoft.com/office/drawing/2014/main" id="{B94DEB70-20AB-8871-1AA2-5AD96D1E4161}"/>
                  </a:ext>
                </a:extLst>
              </p:cNvPr>
              <p:cNvSpPr txBox="1">
                <a:spLocks noRot="1" noChangeAspect="1" noMove="1" noResize="1" noEditPoints="1" noAdjustHandles="1" noChangeArrowheads="1" noChangeShapeType="1" noTextEdit="1"/>
              </p:cNvSpPr>
              <p:nvPr/>
            </p:nvSpPr>
            <p:spPr>
              <a:xfrm>
                <a:off x="5456934" y="1331747"/>
                <a:ext cx="3943350" cy="1569660"/>
              </a:xfrm>
              <a:prstGeom prst="rect">
                <a:avLst/>
              </a:prstGeom>
              <a:blipFill>
                <a:blip r:embed="rId4"/>
                <a:stretch>
                  <a:fillRect t="-800"/>
                </a:stretch>
              </a:blipFill>
            </p:spPr>
            <p:txBody>
              <a:bodyPr/>
              <a:lstStyle/>
              <a:p>
                <a:r>
                  <a:rPr lang="de-DE">
                    <a:noFill/>
                  </a:rPr>
                  <a:t> </a:t>
                </a:r>
              </a:p>
            </p:txBody>
          </p:sp>
        </mc:Fallback>
      </mc:AlternateContent>
      <p:sp>
        <p:nvSpPr>
          <p:cNvPr id="20" name="Rectangle: Rounded Corners 17">
            <a:extLst>
              <a:ext uri="{FF2B5EF4-FFF2-40B4-BE49-F238E27FC236}">
                <a16:creationId xmlns:a16="http://schemas.microsoft.com/office/drawing/2014/main" id="{1AD42CEA-244A-34D5-E6FF-FCF1F81A1447}"/>
              </a:ext>
            </a:extLst>
          </p:cNvPr>
          <p:cNvSpPr/>
          <p:nvPr/>
        </p:nvSpPr>
        <p:spPr>
          <a:xfrm>
            <a:off x="6198526" y="1303710"/>
            <a:ext cx="2621023" cy="982996"/>
          </a:xfrm>
          <a:prstGeom prst="roundRect">
            <a:avLst>
              <a:gd name="adj" fmla="val 12642"/>
            </a:avLst>
          </a:prstGeom>
          <a:noFill/>
          <a:ln w="25400">
            <a:solidFill>
              <a:schemeClr val="tx1">
                <a:lumMod val="90000"/>
                <a:lumOff val="10000"/>
              </a:schemeClr>
            </a:solidFill>
          </a:ln>
        </p:spPr>
        <p:style>
          <a:lnRef idx="2">
            <a:schemeClr val="dk1">
              <a:shade val="50000"/>
            </a:schemeClr>
          </a:lnRef>
          <a:fillRef idx="1">
            <a:schemeClr val="dk1"/>
          </a:fillRef>
          <a:effectRef idx="0">
            <a:schemeClr val="dk1"/>
          </a:effectRef>
          <a:fontRef idx="minor">
            <a:schemeClr val="lt1"/>
          </a:fontRef>
        </p:style>
        <p:txBody>
          <a:bodyPr lIns="360000" rtlCol="0" anchor="ctr"/>
          <a:lstStyle/>
          <a:p>
            <a:pPr>
              <a:spcBef>
                <a:spcPts val="200"/>
              </a:spcBef>
            </a:pPr>
            <a:endParaRPr lang="en-US" noProof="0" dirty="0">
              <a:solidFill>
                <a:schemeClr val="bg2">
                  <a:lumMod val="10000"/>
                </a:schemeClr>
              </a:solidFill>
              <a:latin typeface="Segoe UI" panose="020B0502040204020203" pitchFamily="34" charset="0"/>
              <a:cs typeface="Segoe UI" panose="020B0502040204020203" pitchFamily="34" charset="0"/>
            </a:endParaRPr>
          </a:p>
        </p:txBody>
      </p:sp>
      <p:cxnSp>
        <p:nvCxnSpPr>
          <p:cNvPr id="21" name="Gerade Verbindung mit Pfeil 20">
            <a:extLst>
              <a:ext uri="{FF2B5EF4-FFF2-40B4-BE49-F238E27FC236}">
                <a16:creationId xmlns:a16="http://schemas.microsoft.com/office/drawing/2014/main" id="{0DC4CB75-55B2-8CBC-9598-14A463626B25}"/>
              </a:ext>
            </a:extLst>
          </p:cNvPr>
          <p:cNvCxnSpPr>
            <a:cxnSpLocks/>
          </p:cNvCxnSpPr>
          <p:nvPr/>
        </p:nvCxnSpPr>
        <p:spPr>
          <a:xfrm>
            <a:off x="7486650" y="2301608"/>
            <a:ext cx="6188" cy="709275"/>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5" name="Textfeld 24">
            <a:extLst>
              <a:ext uri="{FF2B5EF4-FFF2-40B4-BE49-F238E27FC236}">
                <a16:creationId xmlns:a16="http://schemas.microsoft.com/office/drawing/2014/main" id="{D499087B-10D4-1CD0-FD79-512187370EE1}"/>
              </a:ext>
            </a:extLst>
          </p:cNvPr>
          <p:cNvSpPr txBox="1"/>
          <p:nvPr/>
        </p:nvSpPr>
        <p:spPr>
          <a:xfrm>
            <a:off x="7712728" y="2454566"/>
            <a:ext cx="1274820" cy="307777"/>
          </a:xfrm>
          <a:prstGeom prst="rect">
            <a:avLst/>
          </a:prstGeom>
          <a:noFill/>
        </p:spPr>
        <p:txBody>
          <a:bodyPr wrap="square" rtlCol="0">
            <a:spAutoFit/>
          </a:bodyPr>
          <a:lstStyle/>
          <a:p>
            <a:r>
              <a:rPr lang="en-US" b="1" noProof="0" dirty="0">
                <a:solidFill>
                  <a:srgbClr val="FF0000"/>
                </a:solidFill>
                <a:latin typeface="Segoe UI" panose="020B0502040204020203" pitchFamily="34" charset="0"/>
                <a:cs typeface="Segoe UI" panose="020B0502040204020203" pitchFamily="34" charset="0"/>
              </a:rPr>
              <a:t>Analysis</a:t>
            </a:r>
          </a:p>
        </p:txBody>
      </p:sp>
      <p:grpSp>
        <p:nvGrpSpPr>
          <p:cNvPr id="32" name="Gruppieren 31">
            <a:extLst>
              <a:ext uri="{FF2B5EF4-FFF2-40B4-BE49-F238E27FC236}">
                <a16:creationId xmlns:a16="http://schemas.microsoft.com/office/drawing/2014/main" id="{D4F8F4F8-820A-9D73-4153-AD48BFCFC560}"/>
              </a:ext>
            </a:extLst>
          </p:cNvPr>
          <p:cNvGrpSpPr/>
          <p:nvPr/>
        </p:nvGrpSpPr>
        <p:grpSpPr>
          <a:xfrm>
            <a:off x="2490408" y="3250443"/>
            <a:ext cx="2625529" cy="639169"/>
            <a:chOff x="3516895" y="2855486"/>
            <a:chExt cx="2625529" cy="639169"/>
          </a:xfrm>
        </p:grpSpPr>
        <p:grpSp>
          <p:nvGrpSpPr>
            <p:cNvPr id="29" name="Gruppieren 28">
              <a:extLst>
                <a:ext uri="{FF2B5EF4-FFF2-40B4-BE49-F238E27FC236}">
                  <a16:creationId xmlns:a16="http://schemas.microsoft.com/office/drawing/2014/main" id="{4F758B7C-E5C3-A09F-1920-47538FF1D6DE}"/>
                </a:ext>
              </a:extLst>
            </p:cNvPr>
            <p:cNvGrpSpPr/>
            <p:nvPr/>
          </p:nvGrpSpPr>
          <p:grpSpPr>
            <a:xfrm>
              <a:off x="3516895" y="2855486"/>
              <a:ext cx="1468295" cy="639169"/>
              <a:chOff x="3516895" y="2855486"/>
              <a:chExt cx="1468295" cy="639169"/>
            </a:xfrm>
          </p:grpSpPr>
          <p:sp>
            <p:nvSpPr>
              <p:cNvPr id="65" name="Rechteck 64">
                <a:extLst>
                  <a:ext uri="{FF2B5EF4-FFF2-40B4-BE49-F238E27FC236}">
                    <a16:creationId xmlns:a16="http://schemas.microsoft.com/office/drawing/2014/main" id="{9B732449-0343-999F-B966-29F2BD97C547}"/>
                  </a:ext>
                </a:extLst>
              </p:cNvPr>
              <p:cNvSpPr/>
              <p:nvPr/>
            </p:nvSpPr>
            <p:spPr>
              <a:xfrm>
                <a:off x="3516895" y="2855486"/>
                <a:ext cx="1468295" cy="639169"/>
              </a:xfrm>
              <a:prstGeom prst="rect">
                <a:avLst/>
              </a:prstGeom>
              <a:no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noProof="0" dirty="0"/>
              </a:p>
            </p:txBody>
          </p:sp>
          <p:sp>
            <p:nvSpPr>
              <p:cNvPr id="66" name="Textfeld 65">
                <a:extLst>
                  <a:ext uri="{FF2B5EF4-FFF2-40B4-BE49-F238E27FC236}">
                    <a16:creationId xmlns:a16="http://schemas.microsoft.com/office/drawing/2014/main" id="{9CDE0EFD-F3C6-6216-0257-6B4988283BD2}"/>
                  </a:ext>
                </a:extLst>
              </p:cNvPr>
              <p:cNvSpPr txBox="1"/>
              <p:nvPr/>
            </p:nvSpPr>
            <p:spPr>
              <a:xfrm>
                <a:off x="3555579" y="3021182"/>
                <a:ext cx="1340432" cy="338554"/>
              </a:xfrm>
              <a:prstGeom prst="rect">
                <a:avLst/>
              </a:prstGeom>
              <a:noFill/>
            </p:spPr>
            <p:txBody>
              <a:bodyPr wrap="none" rtlCol="0">
                <a:spAutoFit/>
              </a:bodyPr>
              <a:lstStyle/>
              <a:p>
                <a:r>
                  <a:rPr lang="en-US" sz="1600" b="1" noProof="0" dirty="0">
                    <a:latin typeface="Segoe UI" panose="020B0502040204020203" pitchFamily="34" charset="0"/>
                    <a:cs typeface="Segoe UI" panose="020B0502040204020203" pitchFamily="34" charset="0"/>
                  </a:rPr>
                  <a:t>Controller C</a:t>
                </a:r>
              </a:p>
            </p:txBody>
          </p:sp>
        </p:grpSp>
        <p:grpSp>
          <p:nvGrpSpPr>
            <p:cNvPr id="28" name="Gruppieren 27">
              <a:extLst>
                <a:ext uri="{FF2B5EF4-FFF2-40B4-BE49-F238E27FC236}">
                  <a16:creationId xmlns:a16="http://schemas.microsoft.com/office/drawing/2014/main" id="{5B7C33C4-3A5C-6B56-8F9A-33CE5F5D485E}"/>
                </a:ext>
              </a:extLst>
            </p:cNvPr>
            <p:cNvGrpSpPr/>
            <p:nvPr/>
          </p:nvGrpSpPr>
          <p:grpSpPr>
            <a:xfrm>
              <a:off x="5041273" y="2862927"/>
              <a:ext cx="1101151" cy="343693"/>
              <a:chOff x="6056299" y="2846419"/>
              <a:chExt cx="1101151" cy="343693"/>
            </a:xfrm>
          </p:grpSpPr>
          <p:cxnSp>
            <p:nvCxnSpPr>
              <p:cNvPr id="59" name="Gerade Verbindung mit Pfeil 58">
                <a:extLst>
                  <a:ext uri="{FF2B5EF4-FFF2-40B4-BE49-F238E27FC236}">
                    <a16:creationId xmlns:a16="http://schemas.microsoft.com/office/drawing/2014/main" id="{B069B898-0BA4-CE70-FC42-BAA6CDE9770A}"/>
                  </a:ext>
                </a:extLst>
              </p:cNvPr>
              <p:cNvCxnSpPr>
                <a:cxnSpLocks/>
              </p:cNvCxnSpPr>
              <p:nvPr/>
            </p:nvCxnSpPr>
            <p:spPr>
              <a:xfrm flipH="1">
                <a:off x="6080968" y="3190112"/>
                <a:ext cx="985788"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2" name="Textfeld 61">
                <a:extLst>
                  <a:ext uri="{FF2B5EF4-FFF2-40B4-BE49-F238E27FC236}">
                    <a16:creationId xmlns:a16="http://schemas.microsoft.com/office/drawing/2014/main" id="{523676BC-25BB-52F6-EC94-EBF529C02439}"/>
                  </a:ext>
                </a:extLst>
              </p:cNvPr>
              <p:cNvSpPr txBox="1"/>
              <p:nvPr/>
            </p:nvSpPr>
            <p:spPr>
              <a:xfrm>
                <a:off x="6056299" y="2846419"/>
                <a:ext cx="1101151" cy="307777"/>
              </a:xfrm>
              <a:prstGeom prst="rect">
                <a:avLst/>
              </a:prstGeom>
              <a:noFill/>
            </p:spPr>
            <p:txBody>
              <a:bodyPr wrap="square" rtlCol="0">
                <a:spAutoFit/>
              </a:bodyPr>
              <a:lstStyle/>
              <a:p>
                <a:r>
                  <a:rPr lang="en-US" b="1" noProof="0" dirty="0">
                    <a:latin typeface="Segoe UI" panose="020B0502040204020203" pitchFamily="34" charset="0"/>
                    <a:cs typeface="Segoe UI" panose="020B0502040204020203" pitchFamily="34" charset="0"/>
                  </a:rPr>
                  <a:t>Synthesis</a:t>
                </a:r>
              </a:p>
            </p:txBody>
          </p:sp>
        </p:grpSp>
      </p:grpSp>
      <p:grpSp>
        <p:nvGrpSpPr>
          <p:cNvPr id="34" name="Gruppieren 33">
            <a:extLst>
              <a:ext uri="{FF2B5EF4-FFF2-40B4-BE49-F238E27FC236}">
                <a16:creationId xmlns:a16="http://schemas.microsoft.com/office/drawing/2014/main" id="{13E9BDB4-9DED-0072-3A70-C7F17E47A692}"/>
              </a:ext>
            </a:extLst>
          </p:cNvPr>
          <p:cNvGrpSpPr/>
          <p:nvPr/>
        </p:nvGrpSpPr>
        <p:grpSpPr>
          <a:xfrm>
            <a:off x="5161284" y="3034635"/>
            <a:ext cx="3826552" cy="1153549"/>
            <a:chOff x="5160996" y="3139980"/>
            <a:chExt cx="3826552" cy="1153549"/>
          </a:xfrm>
        </p:grpSpPr>
        <mc:AlternateContent xmlns:mc="http://schemas.openxmlformats.org/markup-compatibility/2006" xmlns:a14="http://schemas.microsoft.com/office/drawing/2010/main">
          <mc:Choice Requires="a14">
            <p:sp>
              <p:nvSpPr>
                <p:cNvPr id="47" name="Textfeld 46">
                  <a:extLst>
                    <a:ext uri="{FF2B5EF4-FFF2-40B4-BE49-F238E27FC236}">
                      <a16:creationId xmlns:a16="http://schemas.microsoft.com/office/drawing/2014/main" id="{BFFC391C-80A6-C610-6595-DBBF3A86AFE6}"/>
                    </a:ext>
                  </a:extLst>
                </p:cNvPr>
                <p:cNvSpPr txBox="1"/>
                <p:nvPr/>
              </p:nvSpPr>
              <p:spPr>
                <a:xfrm>
                  <a:off x="5251690" y="3220963"/>
                  <a:ext cx="3735858" cy="976792"/>
                </a:xfrm>
                <a:prstGeom prst="rect">
                  <a:avLst/>
                </a:prstGeom>
                <a:noFill/>
              </p:spPr>
              <p:txBody>
                <a:bodyPr wrap="square" rtlCol="0">
                  <a:spAutoFit/>
                </a:bodyPr>
                <a:lstStyle/>
                <a:p>
                  <a:r>
                    <a:rPr lang="en-US" b="1" noProof="0" dirty="0">
                      <a:solidFill>
                        <a:srgbClr val="FF0000"/>
                      </a:solidFill>
                      <a:latin typeface="Segoe UI" panose="020B0502040204020203" pitchFamily="34" charset="0"/>
                      <a:cs typeface="Segoe UI" panose="020B0502040204020203" pitchFamily="34" charset="0"/>
                    </a:rPr>
                    <a:t>Time Response:</a:t>
                  </a:r>
                  <a:r>
                    <a:rPr lang="en-US" noProof="0" dirty="0">
                      <a:solidFill>
                        <a:srgbClr val="FF0000"/>
                      </a:solidFill>
                      <a:latin typeface="Segoe UI" panose="020B0502040204020203" pitchFamily="34" charset="0"/>
                      <a:cs typeface="Segoe UI" panose="020B0502040204020203" pitchFamily="34" charset="0"/>
                    </a:rPr>
                    <a:t> System evolution in time </a:t>
                  </a:r>
                </a:p>
                <a:p>
                  <a:r>
                    <a:rPr lang="en-US" b="1" noProof="0" dirty="0">
                      <a:solidFill>
                        <a:srgbClr val="FF0000"/>
                      </a:solidFill>
                      <a:latin typeface="Segoe UI" panose="020B0502040204020203" pitchFamily="34" charset="0"/>
                      <a:cs typeface="Segoe UI" panose="020B0502040204020203" pitchFamily="34" charset="0"/>
                    </a:rPr>
                    <a:t>Stability:</a:t>
                  </a:r>
                  <a:r>
                    <a:rPr lang="en-US" noProof="0" dirty="0">
                      <a:solidFill>
                        <a:srgbClr val="FF0000"/>
                      </a:solidFill>
                      <a:latin typeface="Segoe UI" panose="020B0502040204020203" pitchFamily="34" charset="0"/>
                      <a:cs typeface="Segoe UI" panose="020B0502040204020203" pitchFamily="34" charset="0"/>
                    </a:rPr>
                    <a:t> Output bounded or diverging</a:t>
                  </a:r>
                </a:p>
                <a:p>
                  <a:r>
                    <a:rPr lang="en-US" b="1" noProof="0" dirty="0">
                      <a:solidFill>
                        <a:srgbClr val="FF0000"/>
                      </a:solidFill>
                      <a:latin typeface="Segoe UI" panose="020B0502040204020203" pitchFamily="34" charset="0"/>
                      <a:cs typeface="Segoe UI" panose="020B0502040204020203" pitchFamily="34" charset="0"/>
                    </a:rPr>
                    <a:t>Transfer Function:</a:t>
                  </a:r>
                  <a:r>
                    <a:rPr lang="en-US" noProof="0" dirty="0">
                      <a:solidFill>
                        <a:srgbClr val="FF0000"/>
                      </a:solidFill>
                      <a:latin typeface="Segoe UI" panose="020B0502040204020203" pitchFamily="34" charset="0"/>
                      <a:cs typeface="Segoe UI" panose="020B0502040204020203" pitchFamily="34" charset="0"/>
                    </a:rPr>
                    <a:t> I/O relation in </a:t>
                  </a:r>
                  <a14:m>
                    <m:oMath xmlns:m="http://schemas.openxmlformats.org/officeDocument/2006/math">
                      <m:r>
                        <a:rPr lang="en-US" i="1" noProof="0" smtClean="0">
                          <a:solidFill>
                            <a:srgbClr val="FF0000"/>
                          </a:solidFill>
                          <a:latin typeface="Cambria Math" panose="02040503050406030204" pitchFamily="18" charset="0"/>
                          <a:cs typeface="Segoe UI" panose="020B0502040204020203" pitchFamily="34" charset="0"/>
                        </a:rPr>
                        <m:t>𝑠</m:t>
                      </m:r>
                    </m:oMath>
                  </a14:m>
                  <a:r>
                    <a:rPr lang="en-US" noProof="0" dirty="0">
                      <a:solidFill>
                        <a:srgbClr val="FF0000"/>
                      </a:solidFill>
                      <a:latin typeface="Segoe UI" panose="020B0502040204020203" pitchFamily="34" charset="0"/>
                      <a:cs typeface="Segoe UI" panose="020B0502040204020203" pitchFamily="34" charset="0"/>
                    </a:rPr>
                    <a:t>-domain</a:t>
                  </a:r>
                </a:p>
                <a:p>
                  <a:r>
                    <a:rPr lang="en-US" b="1" noProof="0" dirty="0">
                      <a:solidFill>
                        <a:srgbClr val="FF0000"/>
                      </a:solidFill>
                      <a:latin typeface="Segoe UI" panose="020B0502040204020203" pitchFamily="34" charset="0"/>
                      <a:cs typeface="Segoe UI" panose="020B0502040204020203" pitchFamily="34" charset="0"/>
                    </a:rPr>
                    <a:t>Poles &amp; Zeros:</a:t>
                  </a:r>
                  <a:r>
                    <a:rPr lang="en-US" noProof="0" dirty="0">
                      <a:solidFill>
                        <a:srgbClr val="FF0000"/>
                      </a:solidFill>
                      <a:latin typeface="Segoe UI" panose="020B0502040204020203" pitchFamily="34" charset="0"/>
                      <a:cs typeface="Segoe UI" panose="020B0502040204020203" pitchFamily="34" charset="0"/>
                    </a:rPr>
                    <a:t> Shape system dynamics</a:t>
                  </a:r>
                </a:p>
              </p:txBody>
            </p:sp>
          </mc:Choice>
          <mc:Fallback xmlns="">
            <p:sp>
              <p:nvSpPr>
                <p:cNvPr id="47" name="Textfeld 46">
                  <a:extLst>
                    <a:ext uri="{FF2B5EF4-FFF2-40B4-BE49-F238E27FC236}">
                      <a16:creationId xmlns:a16="http://schemas.microsoft.com/office/drawing/2014/main" id="{BFFC391C-80A6-C610-6595-DBBF3A86AFE6}"/>
                    </a:ext>
                  </a:extLst>
                </p:cNvPr>
                <p:cNvSpPr txBox="1">
                  <a:spLocks noRot="1" noChangeAspect="1" noMove="1" noResize="1" noEditPoints="1" noAdjustHandles="1" noChangeArrowheads="1" noChangeShapeType="1" noTextEdit="1"/>
                </p:cNvSpPr>
                <p:nvPr/>
              </p:nvSpPr>
              <p:spPr>
                <a:xfrm>
                  <a:off x="5251690" y="3220963"/>
                  <a:ext cx="3735858" cy="976792"/>
                </a:xfrm>
                <a:prstGeom prst="rect">
                  <a:avLst/>
                </a:prstGeom>
                <a:blipFill>
                  <a:blip r:embed="rId5"/>
                  <a:stretch>
                    <a:fillRect l="-678" t="-1282" b="-2564"/>
                  </a:stretch>
                </a:blipFill>
              </p:spPr>
              <p:txBody>
                <a:bodyPr/>
                <a:lstStyle/>
                <a:p>
                  <a:r>
                    <a:rPr lang="de-DE">
                      <a:noFill/>
                    </a:rPr>
                    <a:t> </a:t>
                  </a:r>
                </a:p>
              </p:txBody>
            </p:sp>
          </mc:Fallback>
        </mc:AlternateContent>
        <p:sp>
          <p:nvSpPr>
            <p:cNvPr id="33" name="Rectangle: Rounded Corners 17">
              <a:extLst>
                <a:ext uri="{FF2B5EF4-FFF2-40B4-BE49-F238E27FC236}">
                  <a16:creationId xmlns:a16="http://schemas.microsoft.com/office/drawing/2014/main" id="{624894DC-0595-65BA-4921-5E2CC54DC994}"/>
                </a:ext>
              </a:extLst>
            </p:cNvPr>
            <p:cNvSpPr/>
            <p:nvPr/>
          </p:nvSpPr>
          <p:spPr>
            <a:xfrm>
              <a:off x="5160996" y="3139980"/>
              <a:ext cx="3710491" cy="1153549"/>
            </a:xfrm>
            <a:prstGeom prst="roundRect">
              <a:avLst>
                <a:gd name="adj" fmla="val 12642"/>
              </a:avLst>
            </a:prstGeom>
            <a:noFill/>
            <a:ln w="25400">
              <a:solidFill>
                <a:srgbClr val="FF0000"/>
              </a:solidFill>
            </a:ln>
          </p:spPr>
          <p:style>
            <a:lnRef idx="2">
              <a:schemeClr val="dk1">
                <a:shade val="50000"/>
              </a:schemeClr>
            </a:lnRef>
            <a:fillRef idx="1">
              <a:schemeClr val="dk1"/>
            </a:fillRef>
            <a:effectRef idx="0">
              <a:schemeClr val="dk1"/>
            </a:effectRef>
            <a:fontRef idx="minor">
              <a:schemeClr val="lt1"/>
            </a:fontRef>
          </p:style>
          <p:txBody>
            <a:bodyPr lIns="360000" rtlCol="0" anchor="ctr"/>
            <a:lstStyle/>
            <a:p>
              <a:pPr>
                <a:spcBef>
                  <a:spcPts val="200"/>
                </a:spcBef>
              </a:pPr>
              <a:endParaRPr lang="en-US" noProof="0" dirty="0">
                <a:solidFill>
                  <a:schemeClr val="bg2">
                    <a:lumMod val="10000"/>
                  </a:schemeClr>
                </a:solidFill>
                <a:latin typeface="Segoe UI" panose="020B0502040204020203" pitchFamily="34" charset="0"/>
                <a:cs typeface="Segoe UI" panose="020B0502040204020203" pitchFamily="34" charset="0"/>
              </a:endParaRPr>
            </a:p>
          </p:txBody>
        </p:sp>
      </p:grpSp>
      <p:sp>
        <p:nvSpPr>
          <p:cNvPr id="36" name="Textfeld 35">
            <a:extLst>
              <a:ext uri="{FF2B5EF4-FFF2-40B4-BE49-F238E27FC236}">
                <a16:creationId xmlns:a16="http://schemas.microsoft.com/office/drawing/2014/main" id="{29DF2BD3-6661-6879-A7A7-2483629ADD21}"/>
              </a:ext>
            </a:extLst>
          </p:cNvPr>
          <p:cNvSpPr txBox="1"/>
          <p:nvPr/>
        </p:nvSpPr>
        <p:spPr>
          <a:xfrm>
            <a:off x="156164" y="3378549"/>
            <a:ext cx="1943161" cy="369332"/>
          </a:xfrm>
          <a:prstGeom prst="rect">
            <a:avLst/>
          </a:prstGeom>
          <a:noFill/>
        </p:spPr>
        <p:txBody>
          <a:bodyPr wrap="none" rtlCol="0">
            <a:spAutoFit/>
          </a:bodyPr>
          <a:lstStyle/>
          <a:p>
            <a:r>
              <a:rPr lang="en-US" sz="1800" b="1" noProof="0" dirty="0">
                <a:solidFill>
                  <a:schemeClr val="accent3"/>
                </a:solidFill>
                <a:latin typeface="Segoe UI" panose="020B0502040204020203" pitchFamily="34" charset="0"/>
                <a:cs typeface="Segoe UI" panose="020B0502040204020203" pitchFamily="34" charset="0"/>
              </a:rPr>
              <a:t>Control</a:t>
            </a:r>
            <a:r>
              <a:rPr lang="en-US" sz="1800" b="1" noProof="0" dirty="0">
                <a:latin typeface="Segoe UI" panose="020B0502040204020203" pitchFamily="34" charset="0"/>
                <a:cs typeface="Segoe UI" panose="020B0502040204020203" pitchFamily="34" charset="0"/>
              </a:rPr>
              <a:t> </a:t>
            </a:r>
            <a:r>
              <a:rPr lang="en-US" sz="1800" b="1" noProof="0" dirty="0">
                <a:solidFill>
                  <a:schemeClr val="accent5"/>
                </a:solidFill>
                <a:latin typeface="Segoe UI" panose="020B0502040204020203" pitchFamily="34" charset="0"/>
                <a:cs typeface="Segoe UI" panose="020B0502040204020203" pitchFamily="34" charset="0"/>
              </a:rPr>
              <a:t>Systems</a:t>
            </a:r>
          </a:p>
        </p:txBody>
      </p:sp>
      <p:cxnSp>
        <p:nvCxnSpPr>
          <p:cNvPr id="38" name="Gewinkelte Verbindung 37">
            <a:extLst>
              <a:ext uri="{FF2B5EF4-FFF2-40B4-BE49-F238E27FC236}">
                <a16:creationId xmlns:a16="http://schemas.microsoft.com/office/drawing/2014/main" id="{13A697A5-D314-9C6A-ADF9-DAD6C9CBDF3F}"/>
              </a:ext>
            </a:extLst>
          </p:cNvPr>
          <p:cNvCxnSpPr>
            <a:cxnSpLocks/>
          </p:cNvCxnSpPr>
          <p:nvPr/>
        </p:nvCxnSpPr>
        <p:spPr>
          <a:xfrm rot="16200000" flipH="1">
            <a:off x="1302295" y="3195741"/>
            <a:ext cx="486448" cy="1"/>
          </a:xfrm>
          <a:prstGeom prst="bentConnector3">
            <a:avLst>
              <a:gd name="adj1" fmla="val 50000"/>
            </a:avLst>
          </a:prstGeom>
          <a:ln w="254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46" name="Textfeld 45">
            <a:extLst>
              <a:ext uri="{FF2B5EF4-FFF2-40B4-BE49-F238E27FC236}">
                <a16:creationId xmlns:a16="http://schemas.microsoft.com/office/drawing/2014/main" id="{A92B7176-CACC-3B50-9C88-4EF1504EF323}"/>
              </a:ext>
            </a:extLst>
          </p:cNvPr>
          <p:cNvSpPr txBox="1"/>
          <p:nvPr/>
        </p:nvSpPr>
        <p:spPr>
          <a:xfrm>
            <a:off x="319820" y="2623487"/>
            <a:ext cx="2903359" cy="369332"/>
          </a:xfrm>
          <a:prstGeom prst="rect">
            <a:avLst/>
          </a:prstGeom>
          <a:noFill/>
        </p:spPr>
        <p:txBody>
          <a:bodyPr wrap="none" rtlCol="0">
            <a:spAutoFit/>
          </a:bodyPr>
          <a:lstStyle/>
          <a:p>
            <a:r>
              <a:rPr lang="en-US" sz="1800" b="1" noProof="0" dirty="0">
                <a:solidFill>
                  <a:schemeClr val="accent5"/>
                </a:solidFill>
                <a:latin typeface="Segoe UI" panose="020B0502040204020203" pitchFamily="34" charset="0"/>
                <a:cs typeface="Segoe UI" panose="020B0502040204020203" pitchFamily="34" charset="0"/>
              </a:rPr>
              <a:t>What we looked at so far</a:t>
            </a:r>
          </a:p>
        </p:txBody>
      </p:sp>
      <p:cxnSp>
        <p:nvCxnSpPr>
          <p:cNvPr id="49" name="Gerade Verbindung mit Pfeil 48">
            <a:extLst>
              <a:ext uri="{FF2B5EF4-FFF2-40B4-BE49-F238E27FC236}">
                <a16:creationId xmlns:a16="http://schemas.microsoft.com/office/drawing/2014/main" id="{0C494CAA-0999-3AF0-545F-49FD04803521}"/>
              </a:ext>
            </a:extLst>
          </p:cNvPr>
          <p:cNvCxnSpPr>
            <a:cxnSpLocks/>
          </p:cNvCxnSpPr>
          <p:nvPr/>
        </p:nvCxnSpPr>
        <p:spPr>
          <a:xfrm flipV="1">
            <a:off x="712228" y="3683873"/>
            <a:ext cx="0" cy="440303"/>
          </a:xfrm>
          <a:prstGeom prst="straightConnector1">
            <a:avLst/>
          </a:prstGeom>
          <a:ln w="254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51" name="Textfeld 50">
            <a:extLst>
              <a:ext uri="{FF2B5EF4-FFF2-40B4-BE49-F238E27FC236}">
                <a16:creationId xmlns:a16="http://schemas.microsoft.com/office/drawing/2014/main" id="{9F9550B1-3919-82D3-1FAD-050700356DFA}"/>
              </a:ext>
            </a:extLst>
          </p:cNvPr>
          <p:cNvSpPr txBox="1"/>
          <p:nvPr/>
        </p:nvSpPr>
        <p:spPr>
          <a:xfrm>
            <a:off x="42423" y="4143453"/>
            <a:ext cx="4041491" cy="369332"/>
          </a:xfrm>
          <a:prstGeom prst="rect">
            <a:avLst/>
          </a:prstGeom>
          <a:noFill/>
        </p:spPr>
        <p:txBody>
          <a:bodyPr wrap="none" rtlCol="0">
            <a:spAutoFit/>
          </a:bodyPr>
          <a:lstStyle/>
          <a:p>
            <a:r>
              <a:rPr lang="en-US" sz="1800" b="1" noProof="0" dirty="0">
                <a:solidFill>
                  <a:schemeClr val="accent3"/>
                </a:solidFill>
                <a:latin typeface="Segoe UI" panose="020B0502040204020203" pitchFamily="34" charset="0"/>
                <a:cs typeface="Segoe UI" panose="020B0502040204020203" pitchFamily="34" charset="0"/>
              </a:rPr>
              <a:t>What we are going to look at today</a:t>
            </a:r>
          </a:p>
        </p:txBody>
      </p:sp>
    </p:spTree>
    <p:extLst>
      <p:ext uri="{BB962C8B-B14F-4D97-AF65-F5344CB8AC3E}">
        <p14:creationId xmlns:p14="http://schemas.microsoft.com/office/powerpoint/2010/main" val="41241904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06CC64-0DBE-B30D-A730-8FA4D19E47D8}"/>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67AAA2AB-8549-DFCF-746A-7B77B38598CA}"/>
              </a:ext>
            </a:extLst>
          </p:cNvPr>
          <p:cNvSpPr>
            <a:spLocks noGrp="1"/>
          </p:cNvSpPr>
          <p:nvPr>
            <p:ph type="title"/>
          </p:nvPr>
        </p:nvSpPr>
        <p:spPr>
          <a:xfrm>
            <a:off x="154932" y="-74781"/>
            <a:ext cx="7886700" cy="994172"/>
          </a:xfrm>
        </p:spPr>
        <p:txBody>
          <a:bodyPr>
            <a:normAutofit/>
          </a:bodyPr>
          <a:lstStyle/>
          <a:p>
            <a:r>
              <a:rPr lang="en-US" sz="2200" noProof="0" dirty="0"/>
              <a:t>Course Schedule</a:t>
            </a:r>
          </a:p>
        </p:txBody>
      </p:sp>
      <p:graphicFrame>
        <p:nvGraphicFramePr>
          <p:cNvPr id="6" name="Inhaltsplatzhalter 5">
            <a:extLst>
              <a:ext uri="{FF2B5EF4-FFF2-40B4-BE49-F238E27FC236}">
                <a16:creationId xmlns:a16="http://schemas.microsoft.com/office/drawing/2014/main" id="{82A225B6-0519-8214-8DAA-A58A56D112E1}"/>
              </a:ext>
            </a:extLst>
          </p:cNvPr>
          <p:cNvGraphicFramePr>
            <a:graphicFrameLocks noGrp="1"/>
          </p:cNvGraphicFramePr>
          <p:nvPr>
            <p:ph idx="1"/>
            <p:extLst>
              <p:ext uri="{D42A27DB-BD31-4B8C-83A1-F6EECF244321}">
                <p14:modId xmlns:p14="http://schemas.microsoft.com/office/powerpoint/2010/main" val="4078994146"/>
              </p:ext>
            </p:extLst>
          </p:nvPr>
        </p:nvGraphicFramePr>
        <p:xfrm>
          <a:off x="1515762" y="601877"/>
          <a:ext cx="6977657" cy="4114800"/>
        </p:xfrm>
        <a:graphic>
          <a:graphicData uri="http://schemas.openxmlformats.org/drawingml/2006/table">
            <a:tbl>
              <a:tblPr firstRow="1" bandRow="1">
                <a:tableStyleId>{073A0DAA-6AF3-43AB-8588-CEC1D06C72B9}</a:tableStyleId>
              </a:tblPr>
              <a:tblGrid>
                <a:gridCol w="5775768">
                  <a:extLst>
                    <a:ext uri="{9D8B030D-6E8A-4147-A177-3AD203B41FA5}">
                      <a16:colId xmlns:a16="http://schemas.microsoft.com/office/drawing/2014/main" val="1380074924"/>
                    </a:ext>
                  </a:extLst>
                </a:gridCol>
                <a:gridCol w="1201889">
                  <a:extLst>
                    <a:ext uri="{9D8B030D-6E8A-4147-A177-3AD203B41FA5}">
                      <a16:colId xmlns:a16="http://schemas.microsoft.com/office/drawing/2014/main" val="1379686130"/>
                    </a:ext>
                  </a:extLst>
                </a:gridCol>
              </a:tblGrid>
              <a:tr h="202554">
                <a:tc>
                  <a:txBody>
                    <a:bodyPr/>
                    <a:lstStyle/>
                    <a:p>
                      <a:r>
                        <a:rPr lang="en-US" sz="1200" noProof="0" dirty="0">
                          <a:latin typeface="Segoe UI" panose="020B0502040204020203" pitchFamily="34" charset="0"/>
                          <a:cs typeface="Segoe UI" panose="020B0502040204020203" pitchFamily="34" charset="0"/>
                        </a:rPr>
                        <a:t>Subject</a:t>
                      </a:r>
                    </a:p>
                  </a:txBody>
                  <a:tcPr/>
                </a:tc>
                <a:tc>
                  <a:txBody>
                    <a:bodyPr/>
                    <a:lstStyle/>
                    <a:p>
                      <a:r>
                        <a:rPr lang="en-US" sz="1200" noProof="0" dirty="0">
                          <a:latin typeface="Segoe UI" panose="020B0502040204020203" pitchFamily="34" charset="0"/>
                          <a:cs typeface="Segoe UI" panose="020B0502040204020203" pitchFamily="34" charset="0"/>
                        </a:rPr>
                        <a:t>Week</a:t>
                      </a:r>
                    </a:p>
                  </a:txBody>
                  <a:tcPr/>
                </a:tc>
                <a:extLst>
                  <a:ext uri="{0D108BD9-81ED-4DB2-BD59-A6C34878D82A}">
                    <a16:rowId xmlns:a16="http://schemas.microsoft.com/office/drawing/2014/main" val="3007072606"/>
                  </a:ext>
                </a:extLst>
              </a:tr>
              <a:tr h="202554">
                <a:tc>
                  <a:txBody>
                    <a:bodyPr/>
                    <a:lstStyle/>
                    <a:p>
                      <a:r>
                        <a:rPr lang="en-US" sz="1200" noProof="0" dirty="0">
                          <a:latin typeface="Segoe UI" panose="020B0502040204020203" pitchFamily="34" charset="0"/>
                          <a:cs typeface="Segoe UI" panose="020B0502040204020203" pitchFamily="34" charset="0"/>
                        </a:rPr>
                        <a:t>Introduction, Control Architectures, Motivation </a:t>
                      </a:r>
                    </a:p>
                  </a:txBody>
                  <a:tcPr/>
                </a:tc>
                <a:tc>
                  <a:txBody>
                    <a:bodyPr/>
                    <a:lstStyle/>
                    <a:p>
                      <a:pPr algn="ctr"/>
                      <a:r>
                        <a:rPr lang="en-US" sz="1200" noProof="0" dirty="0">
                          <a:latin typeface="Segoe UI" panose="020B0502040204020203" pitchFamily="34" charset="0"/>
                          <a:cs typeface="Segoe UI" panose="020B0502040204020203" pitchFamily="34" charset="0"/>
                        </a:rPr>
                        <a:t>1</a:t>
                      </a:r>
                    </a:p>
                  </a:txBody>
                  <a:tcPr/>
                </a:tc>
                <a:extLst>
                  <a:ext uri="{0D108BD9-81ED-4DB2-BD59-A6C34878D82A}">
                    <a16:rowId xmlns:a16="http://schemas.microsoft.com/office/drawing/2014/main" val="705878649"/>
                  </a:ext>
                </a:extLst>
              </a:tr>
              <a:tr h="202554">
                <a:tc>
                  <a:txBody>
                    <a:bodyPr/>
                    <a:lstStyle/>
                    <a:p>
                      <a:r>
                        <a:rPr lang="en-US" sz="1200" noProof="0" dirty="0">
                          <a:latin typeface="Segoe UI" panose="020B0502040204020203" pitchFamily="34" charset="0"/>
                          <a:cs typeface="Segoe UI" panose="020B0502040204020203" pitchFamily="34" charset="0"/>
                        </a:rPr>
                        <a:t>Modeling, Model examples</a:t>
                      </a:r>
                    </a:p>
                  </a:txBody>
                  <a:tcPr>
                    <a:solidFill>
                      <a:srgbClr val="E7E7E8"/>
                    </a:solidFill>
                  </a:tcPr>
                </a:tc>
                <a:tc>
                  <a:txBody>
                    <a:bodyPr/>
                    <a:lstStyle/>
                    <a:p>
                      <a:pPr algn="ctr"/>
                      <a:r>
                        <a:rPr lang="en-US" sz="1200" noProof="0" dirty="0">
                          <a:highlight>
                            <a:srgbClr val="C0C0C0"/>
                          </a:highlight>
                          <a:latin typeface="Segoe UI" panose="020B0502040204020203" pitchFamily="34" charset="0"/>
                          <a:cs typeface="Segoe UI" panose="020B0502040204020203" pitchFamily="34" charset="0"/>
                        </a:rPr>
                        <a:t>2</a:t>
                      </a:r>
                    </a:p>
                  </a:txBody>
                  <a:tcPr>
                    <a:solidFill>
                      <a:srgbClr val="E7E7E8"/>
                    </a:solidFill>
                  </a:tcPr>
                </a:tc>
                <a:extLst>
                  <a:ext uri="{0D108BD9-81ED-4DB2-BD59-A6C34878D82A}">
                    <a16:rowId xmlns:a16="http://schemas.microsoft.com/office/drawing/2014/main" val="3288833323"/>
                  </a:ext>
                </a:extLst>
              </a:tr>
              <a:tr h="202554">
                <a:tc>
                  <a:txBody>
                    <a:bodyPr/>
                    <a:lstStyle/>
                    <a:p>
                      <a:r>
                        <a:rPr lang="en-US" sz="1200" noProof="0" dirty="0">
                          <a:latin typeface="Segoe UI" panose="020B0502040204020203" pitchFamily="34" charset="0"/>
                          <a:cs typeface="Segoe UI" panose="020B0502040204020203" pitchFamily="34" charset="0"/>
                        </a:rPr>
                        <a:t>System properties, Linearization</a:t>
                      </a:r>
                    </a:p>
                  </a:txBody>
                  <a:tcPr>
                    <a:solidFill>
                      <a:srgbClr val="CCCCCC"/>
                    </a:solidFill>
                  </a:tcPr>
                </a:tc>
                <a:tc>
                  <a:txBody>
                    <a:bodyPr/>
                    <a:lstStyle/>
                    <a:p>
                      <a:pPr algn="ctr"/>
                      <a:r>
                        <a:rPr lang="en-US" sz="1200" noProof="0" dirty="0">
                          <a:latin typeface="Segoe UI" panose="020B0502040204020203" pitchFamily="34" charset="0"/>
                          <a:cs typeface="Segoe UI" panose="020B0502040204020203" pitchFamily="34" charset="0"/>
                        </a:rPr>
                        <a:t>3</a:t>
                      </a:r>
                    </a:p>
                  </a:txBody>
                  <a:tcPr>
                    <a:solidFill>
                      <a:srgbClr val="CCCCCC"/>
                    </a:solidFill>
                  </a:tcPr>
                </a:tc>
                <a:extLst>
                  <a:ext uri="{0D108BD9-81ED-4DB2-BD59-A6C34878D82A}">
                    <a16:rowId xmlns:a16="http://schemas.microsoft.com/office/drawing/2014/main" val="3720094237"/>
                  </a:ext>
                </a:extLst>
              </a:tr>
              <a:tr h="202554">
                <a:tc>
                  <a:txBody>
                    <a:bodyPr/>
                    <a:lstStyle/>
                    <a:p>
                      <a:r>
                        <a:rPr lang="en-US" sz="1200" noProof="0" dirty="0">
                          <a:latin typeface="Segoe UI" panose="020B0502040204020203" pitchFamily="34" charset="0"/>
                          <a:cs typeface="Segoe UI" panose="020B0502040204020203" pitchFamily="34" charset="0"/>
                        </a:rPr>
                        <a:t>Analysis: Time response, Stability</a:t>
                      </a:r>
                    </a:p>
                  </a:txBody>
                  <a:tcPr>
                    <a:solidFill>
                      <a:srgbClr val="E7E7E8"/>
                    </a:solidFill>
                  </a:tcPr>
                </a:tc>
                <a:tc>
                  <a:txBody>
                    <a:bodyPr/>
                    <a:lstStyle/>
                    <a:p>
                      <a:pPr algn="ctr"/>
                      <a:r>
                        <a:rPr lang="en-US" sz="1200" noProof="0" dirty="0">
                          <a:latin typeface="Segoe UI" panose="020B0502040204020203" pitchFamily="34" charset="0"/>
                          <a:cs typeface="Segoe UI" panose="020B0502040204020203" pitchFamily="34" charset="0"/>
                        </a:rPr>
                        <a:t>4</a:t>
                      </a:r>
                    </a:p>
                  </a:txBody>
                  <a:tcPr>
                    <a:solidFill>
                      <a:srgbClr val="E7E7E8"/>
                    </a:solidFill>
                  </a:tcPr>
                </a:tc>
                <a:extLst>
                  <a:ext uri="{0D108BD9-81ED-4DB2-BD59-A6C34878D82A}">
                    <a16:rowId xmlns:a16="http://schemas.microsoft.com/office/drawing/2014/main" val="461718805"/>
                  </a:ext>
                </a:extLst>
              </a:tr>
              <a:tr h="202554">
                <a:tc>
                  <a:txBody>
                    <a:bodyPr/>
                    <a:lstStyle/>
                    <a:p>
                      <a:r>
                        <a:rPr lang="en-US" sz="1200" noProof="0" dirty="0">
                          <a:latin typeface="Segoe UI" panose="020B0502040204020203" pitchFamily="34" charset="0"/>
                          <a:cs typeface="Segoe UI" panose="020B0502040204020203" pitchFamily="34" charset="0"/>
                        </a:rPr>
                        <a:t>Transfer functions 1: Definition and properties</a:t>
                      </a:r>
                    </a:p>
                  </a:txBody>
                  <a:tcPr>
                    <a:solidFill>
                      <a:srgbClr val="CCCCCC"/>
                    </a:solidFill>
                  </a:tcPr>
                </a:tc>
                <a:tc>
                  <a:txBody>
                    <a:bodyPr/>
                    <a:lstStyle/>
                    <a:p>
                      <a:pPr algn="ctr"/>
                      <a:r>
                        <a:rPr lang="en-US" sz="1200" noProof="0" dirty="0">
                          <a:latin typeface="Segoe UI" panose="020B0502040204020203" pitchFamily="34" charset="0"/>
                          <a:cs typeface="Segoe UI" panose="020B0502040204020203" pitchFamily="34" charset="0"/>
                        </a:rPr>
                        <a:t>5</a:t>
                      </a:r>
                    </a:p>
                  </a:txBody>
                  <a:tcPr>
                    <a:solidFill>
                      <a:srgbClr val="CCCCCC"/>
                    </a:solidFill>
                  </a:tcPr>
                </a:tc>
                <a:extLst>
                  <a:ext uri="{0D108BD9-81ED-4DB2-BD59-A6C34878D82A}">
                    <a16:rowId xmlns:a16="http://schemas.microsoft.com/office/drawing/2014/main" val="876186559"/>
                  </a:ext>
                </a:extLst>
              </a:tr>
              <a:tr h="202554">
                <a:tc>
                  <a:txBody>
                    <a:bodyPr/>
                    <a:lstStyle/>
                    <a:p>
                      <a:r>
                        <a:rPr lang="en-US" sz="1200" noProof="0" dirty="0">
                          <a:latin typeface="Segoe UI" panose="020B0502040204020203" pitchFamily="34" charset="0"/>
                          <a:cs typeface="Segoe UI" panose="020B0502040204020203" pitchFamily="34" charset="0"/>
                        </a:rPr>
                        <a:t>Transfer functions 2: Poles and Zeros</a:t>
                      </a:r>
                    </a:p>
                  </a:txBody>
                  <a:tcPr>
                    <a:solidFill>
                      <a:srgbClr val="E7E7E8"/>
                    </a:solidFill>
                  </a:tcPr>
                </a:tc>
                <a:tc>
                  <a:txBody>
                    <a:bodyPr/>
                    <a:lstStyle/>
                    <a:p>
                      <a:pPr algn="ctr"/>
                      <a:r>
                        <a:rPr lang="en-US" sz="1200" noProof="0" dirty="0">
                          <a:latin typeface="Segoe UI" panose="020B0502040204020203" pitchFamily="34" charset="0"/>
                          <a:cs typeface="Segoe UI" panose="020B0502040204020203" pitchFamily="34" charset="0"/>
                        </a:rPr>
                        <a:t>6</a:t>
                      </a:r>
                    </a:p>
                  </a:txBody>
                  <a:tcPr>
                    <a:solidFill>
                      <a:srgbClr val="E7E7E8"/>
                    </a:solidFill>
                  </a:tcPr>
                </a:tc>
                <a:extLst>
                  <a:ext uri="{0D108BD9-81ED-4DB2-BD59-A6C34878D82A}">
                    <a16:rowId xmlns:a16="http://schemas.microsoft.com/office/drawing/2014/main" val="78514993"/>
                  </a:ext>
                </a:extLst>
              </a:tr>
              <a:tr h="202554">
                <a:tc>
                  <a:txBody>
                    <a:bodyPr/>
                    <a:lstStyle/>
                    <a:p>
                      <a:r>
                        <a:rPr lang="en-US" sz="1200" noProof="0" dirty="0">
                          <a:latin typeface="Segoe UI" panose="020B0502040204020203" pitchFamily="34" charset="0"/>
                          <a:cs typeface="Segoe UI" panose="020B0502040204020203" pitchFamily="34" charset="0"/>
                        </a:rPr>
                        <a:t>Proportional feedback control, Root Locus</a:t>
                      </a:r>
                    </a:p>
                  </a:txBody>
                  <a:tcPr>
                    <a:solidFill>
                      <a:schemeClr val="accent2"/>
                    </a:solidFill>
                  </a:tcPr>
                </a:tc>
                <a:tc>
                  <a:txBody>
                    <a:bodyPr/>
                    <a:lstStyle/>
                    <a:p>
                      <a:pPr algn="ctr"/>
                      <a:r>
                        <a:rPr lang="en-US" sz="1200" noProof="0" dirty="0">
                          <a:latin typeface="Segoe UI" panose="020B0502040204020203" pitchFamily="34" charset="0"/>
                          <a:cs typeface="Segoe UI" panose="020B0502040204020203" pitchFamily="34" charset="0"/>
                        </a:rPr>
                        <a:t>7</a:t>
                      </a:r>
                    </a:p>
                  </a:txBody>
                  <a:tcPr>
                    <a:solidFill>
                      <a:schemeClr val="accent2"/>
                    </a:solidFill>
                  </a:tcPr>
                </a:tc>
                <a:extLst>
                  <a:ext uri="{0D108BD9-81ED-4DB2-BD59-A6C34878D82A}">
                    <a16:rowId xmlns:a16="http://schemas.microsoft.com/office/drawing/2014/main" val="2845015324"/>
                  </a:ext>
                </a:extLst>
              </a:tr>
              <a:tr h="202554">
                <a:tc>
                  <a:txBody>
                    <a:bodyPr/>
                    <a:lstStyle/>
                    <a:p>
                      <a:r>
                        <a:rPr lang="en-US" sz="1200" noProof="0" dirty="0">
                          <a:latin typeface="Segoe UI" panose="020B0502040204020203" pitchFamily="34" charset="0"/>
                          <a:cs typeface="Segoe UI" panose="020B0502040204020203" pitchFamily="34" charset="0"/>
                        </a:rPr>
                        <a:t>Time-Domain specifications, PID control, Computer implementation</a:t>
                      </a:r>
                    </a:p>
                  </a:txBody>
                  <a:tcPr/>
                </a:tc>
                <a:tc>
                  <a:txBody>
                    <a:bodyPr/>
                    <a:lstStyle/>
                    <a:p>
                      <a:pPr algn="ctr"/>
                      <a:r>
                        <a:rPr lang="en-US" sz="1200" noProof="0" dirty="0">
                          <a:latin typeface="Segoe UI" panose="020B0502040204020203" pitchFamily="34" charset="0"/>
                          <a:cs typeface="Segoe UI" panose="020B0502040204020203" pitchFamily="34" charset="0"/>
                        </a:rPr>
                        <a:t>8</a:t>
                      </a:r>
                    </a:p>
                  </a:txBody>
                  <a:tcPr/>
                </a:tc>
                <a:extLst>
                  <a:ext uri="{0D108BD9-81ED-4DB2-BD59-A6C34878D82A}">
                    <a16:rowId xmlns:a16="http://schemas.microsoft.com/office/drawing/2014/main" val="4101599545"/>
                  </a:ext>
                </a:extLst>
              </a:tr>
              <a:tr h="202554">
                <a:tc>
                  <a:txBody>
                    <a:bodyPr/>
                    <a:lstStyle/>
                    <a:p>
                      <a:r>
                        <a:rPr lang="en-US" sz="1200" noProof="0" dirty="0">
                          <a:latin typeface="Segoe UI" panose="020B0502040204020203" pitchFamily="34" charset="0"/>
                          <a:cs typeface="Segoe UI" panose="020B0502040204020203" pitchFamily="34" charset="0"/>
                        </a:rPr>
                        <a:t>Frequency response, Bode plots </a:t>
                      </a:r>
                    </a:p>
                  </a:txBody>
                  <a:tcPr/>
                </a:tc>
                <a:tc>
                  <a:txBody>
                    <a:bodyPr/>
                    <a:lstStyle/>
                    <a:p>
                      <a:pPr algn="ctr"/>
                      <a:r>
                        <a:rPr lang="en-US" sz="1200" noProof="0" dirty="0">
                          <a:latin typeface="Segoe UI" panose="020B0502040204020203" pitchFamily="34" charset="0"/>
                          <a:cs typeface="Segoe UI" panose="020B0502040204020203" pitchFamily="34" charset="0"/>
                        </a:rPr>
                        <a:t>9</a:t>
                      </a:r>
                    </a:p>
                  </a:txBody>
                  <a:tcPr/>
                </a:tc>
                <a:extLst>
                  <a:ext uri="{0D108BD9-81ED-4DB2-BD59-A6C34878D82A}">
                    <a16:rowId xmlns:a16="http://schemas.microsoft.com/office/drawing/2014/main" val="1940241698"/>
                  </a:ext>
                </a:extLst>
              </a:tr>
              <a:tr h="202554">
                <a:tc>
                  <a:txBody>
                    <a:bodyPr/>
                    <a:lstStyle/>
                    <a:p>
                      <a:r>
                        <a:rPr lang="en-US" sz="1200" noProof="0" dirty="0">
                          <a:latin typeface="Segoe UI" panose="020B0502040204020203" pitchFamily="34" charset="0"/>
                          <a:cs typeface="Segoe UI" panose="020B0502040204020203" pitchFamily="34" charset="0"/>
                        </a:rPr>
                        <a:t>The Nyquist condition, Time delays</a:t>
                      </a:r>
                    </a:p>
                  </a:txBody>
                  <a:tcPr/>
                </a:tc>
                <a:tc>
                  <a:txBody>
                    <a:bodyPr/>
                    <a:lstStyle/>
                    <a:p>
                      <a:pPr algn="ctr"/>
                      <a:r>
                        <a:rPr lang="en-US" sz="1200" noProof="0" dirty="0">
                          <a:latin typeface="Segoe UI" panose="020B0502040204020203" pitchFamily="34" charset="0"/>
                          <a:cs typeface="Segoe UI" panose="020B0502040204020203" pitchFamily="34" charset="0"/>
                        </a:rPr>
                        <a:t>10</a:t>
                      </a:r>
                    </a:p>
                  </a:txBody>
                  <a:tcPr/>
                </a:tc>
                <a:extLst>
                  <a:ext uri="{0D108BD9-81ED-4DB2-BD59-A6C34878D82A}">
                    <a16:rowId xmlns:a16="http://schemas.microsoft.com/office/drawing/2014/main" val="130444306"/>
                  </a:ext>
                </a:extLst>
              </a:tr>
              <a:tr h="202554">
                <a:tc>
                  <a:txBody>
                    <a:bodyPr/>
                    <a:lstStyle/>
                    <a:p>
                      <a:r>
                        <a:rPr lang="en-US" sz="1200" noProof="0" dirty="0">
                          <a:latin typeface="Segoe UI" panose="020B0502040204020203" pitchFamily="34" charset="0"/>
                          <a:cs typeface="Segoe UI" panose="020B0502040204020203" pitchFamily="34" charset="0"/>
                        </a:rPr>
                        <a:t>Frequency-domain Specifications, Dynamic Compensation, Loop Shaping</a:t>
                      </a:r>
                    </a:p>
                  </a:txBody>
                  <a:tcPr/>
                </a:tc>
                <a:tc>
                  <a:txBody>
                    <a:bodyPr/>
                    <a:lstStyle/>
                    <a:p>
                      <a:pPr algn="ctr"/>
                      <a:r>
                        <a:rPr lang="en-US" sz="1200" noProof="0" dirty="0">
                          <a:latin typeface="Segoe UI" panose="020B0502040204020203" pitchFamily="34" charset="0"/>
                          <a:cs typeface="Segoe UI" panose="020B0502040204020203" pitchFamily="34" charset="0"/>
                        </a:rPr>
                        <a:t>11</a:t>
                      </a:r>
                    </a:p>
                  </a:txBody>
                  <a:tcPr/>
                </a:tc>
                <a:extLst>
                  <a:ext uri="{0D108BD9-81ED-4DB2-BD59-A6C34878D82A}">
                    <a16:rowId xmlns:a16="http://schemas.microsoft.com/office/drawing/2014/main" val="249586294"/>
                  </a:ext>
                </a:extLst>
              </a:tr>
              <a:tr h="202554">
                <a:tc>
                  <a:txBody>
                    <a:bodyPr/>
                    <a:lstStyle/>
                    <a:p>
                      <a:r>
                        <a:rPr lang="en-US" sz="1200" noProof="0" dirty="0">
                          <a:latin typeface="Segoe UI" panose="020B0502040204020203" pitchFamily="34" charset="0"/>
                          <a:cs typeface="Segoe UI" panose="020B0502040204020203" pitchFamily="34" charset="0"/>
                        </a:rPr>
                        <a:t>Time delays, Successive loop closure, Nonlinearities</a:t>
                      </a:r>
                    </a:p>
                  </a:txBody>
                  <a:tcPr/>
                </a:tc>
                <a:tc>
                  <a:txBody>
                    <a:bodyPr/>
                    <a:lstStyle/>
                    <a:p>
                      <a:pPr algn="ctr"/>
                      <a:r>
                        <a:rPr lang="en-US" sz="1200" noProof="0" dirty="0">
                          <a:latin typeface="Segoe UI" panose="020B0502040204020203" pitchFamily="34" charset="0"/>
                          <a:cs typeface="Segoe UI" panose="020B0502040204020203" pitchFamily="34" charset="0"/>
                        </a:rPr>
                        <a:t>12</a:t>
                      </a:r>
                    </a:p>
                  </a:txBody>
                  <a:tcPr/>
                </a:tc>
                <a:extLst>
                  <a:ext uri="{0D108BD9-81ED-4DB2-BD59-A6C34878D82A}">
                    <a16:rowId xmlns:a16="http://schemas.microsoft.com/office/drawing/2014/main" val="1531751894"/>
                  </a:ext>
                </a:extLst>
              </a:tr>
              <a:tr h="202554">
                <a:tc>
                  <a:txBody>
                    <a:bodyPr/>
                    <a:lstStyle/>
                    <a:p>
                      <a:r>
                        <a:rPr lang="en-US" sz="1200" noProof="0" dirty="0">
                          <a:latin typeface="Segoe UI" panose="020B0502040204020203" pitchFamily="34" charset="0"/>
                          <a:cs typeface="Segoe UI" panose="020B0502040204020203" pitchFamily="34" charset="0"/>
                        </a:rPr>
                        <a:t>Describing functions</a:t>
                      </a:r>
                    </a:p>
                  </a:txBody>
                  <a:tcPr/>
                </a:tc>
                <a:tc>
                  <a:txBody>
                    <a:bodyPr/>
                    <a:lstStyle/>
                    <a:p>
                      <a:pPr algn="ctr"/>
                      <a:r>
                        <a:rPr lang="en-US" sz="1200" noProof="0" dirty="0">
                          <a:latin typeface="Segoe UI" panose="020B0502040204020203" pitchFamily="34" charset="0"/>
                          <a:cs typeface="Segoe UI" panose="020B0502040204020203" pitchFamily="34" charset="0"/>
                        </a:rPr>
                        <a:t>13</a:t>
                      </a:r>
                    </a:p>
                  </a:txBody>
                  <a:tcPr/>
                </a:tc>
                <a:extLst>
                  <a:ext uri="{0D108BD9-81ED-4DB2-BD59-A6C34878D82A}">
                    <a16:rowId xmlns:a16="http://schemas.microsoft.com/office/drawing/2014/main" val="569238377"/>
                  </a:ext>
                </a:extLst>
              </a:tr>
              <a:tr h="202554">
                <a:tc>
                  <a:txBody>
                    <a:bodyPr/>
                    <a:lstStyle/>
                    <a:p>
                      <a:r>
                        <a:rPr lang="en-US" sz="1200" noProof="0" dirty="0">
                          <a:latin typeface="Segoe UI" panose="020B0502040204020203" pitchFamily="34" charset="0"/>
                          <a:cs typeface="Segoe UI" panose="020B0502040204020203" pitchFamily="34" charset="0"/>
                        </a:rPr>
                        <a:t>Intro to Uncertainty and Robustness</a:t>
                      </a:r>
                    </a:p>
                  </a:txBody>
                  <a:tcPr/>
                </a:tc>
                <a:tc>
                  <a:txBody>
                    <a:bodyPr/>
                    <a:lstStyle/>
                    <a:p>
                      <a:pPr algn="ctr"/>
                      <a:r>
                        <a:rPr lang="en-US" sz="1200" noProof="0" dirty="0">
                          <a:latin typeface="Segoe UI" panose="020B0502040204020203" pitchFamily="34" charset="0"/>
                          <a:cs typeface="Segoe UI" panose="020B0502040204020203" pitchFamily="34" charset="0"/>
                        </a:rPr>
                        <a:t>14</a:t>
                      </a:r>
                    </a:p>
                  </a:txBody>
                  <a:tcPr/>
                </a:tc>
                <a:extLst>
                  <a:ext uri="{0D108BD9-81ED-4DB2-BD59-A6C34878D82A}">
                    <a16:rowId xmlns:a16="http://schemas.microsoft.com/office/drawing/2014/main" val="4180974576"/>
                  </a:ext>
                </a:extLst>
              </a:tr>
            </a:tbl>
          </a:graphicData>
        </a:graphic>
      </p:graphicFrame>
      <p:sp>
        <p:nvSpPr>
          <p:cNvPr id="20" name="Textfeld 19">
            <a:extLst>
              <a:ext uri="{FF2B5EF4-FFF2-40B4-BE49-F238E27FC236}">
                <a16:creationId xmlns:a16="http://schemas.microsoft.com/office/drawing/2014/main" id="{F4099E1C-F5C1-8EB0-C32A-9FABF9E13B5C}"/>
              </a:ext>
            </a:extLst>
          </p:cNvPr>
          <p:cNvSpPr txBox="1"/>
          <p:nvPr/>
        </p:nvSpPr>
        <p:spPr>
          <a:xfrm>
            <a:off x="387695" y="1188631"/>
            <a:ext cx="821059" cy="261610"/>
          </a:xfrm>
          <a:prstGeom prst="rect">
            <a:avLst/>
          </a:prstGeom>
          <a:noFill/>
        </p:spPr>
        <p:txBody>
          <a:bodyPr wrap="none" rtlCol="0">
            <a:spAutoFit/>
          </a:bodyPr>
          <a:lstStyle/>
          <a:p>
            <a:r>
              <a:rPr lang="en-US" sz="1100" b="1" noProof="0" dirty="0">
                <a:solidFill>
                  <a:srgbClr val="FF0000"/>
                </a:solidFill>
                <a:latin typeface="Segoe UI" panose="020B0502040204020203" pitchFamily="34" charset="0"/>
                <a:cs typeface="Segoe UI" panose="020B0502040204020203" pitchFamily="34" charset="0"/>
              </a:rPr>
              <a:t>Modeling</a:t>
            </a:r>
          </a:p>
        </p:txBody>
      </p:sp>
      <p:sp>
        <p:nvSpPr>
          <p:cNvPr id="27" name="Textfeld 26">
            <a:extLst>
              <a:ext uri="{FF2B5EF4-FFF2-40B4-BE49-F238E27FC236}">
                <a16:creationId xmlns:a16="http://schemas.microsoft.com/office/drawing/2014/main" id="{654D5136-D84F-27EE-492C-52DB88CD3DA3}"/>
              </a:ext>
            </a:extLst>
          </p:cNvPr>
          <p:cNvSpPr txBox="1"/>
          <p:nvPr/>
        </p:nvSpPr>
        <p:spPr>
          <a:xfrm>
            <a:off x="483876" y="2528472"/>
            <a:ext cx="724878" cy="261610"/>
          </a:xfrm>
          <a:prstGeom prst="rect">
            <a:avLst/>
          </a:prstGeom>
          <a:noFill/>
        </p:spPr>
        <p:txBody>
          <a:bodyPr wrap="none" rtlCol="0">
            <a:spAutoFit/>
          </a:bodyPr>
          <a:lstStyle/>
          <a:p>
            <a:r>
              <a:rPr lang="en-US" sz="1100" b="1" noProof="0" dirty="0">
                <a:solidFill>
                  <a:srgbClr val="FF0000"/>
                </a:solidFill>
                <a:latin typeface="Segoe UI" panose="020B0502040204020203" pitchFamily="34" charset="0"/>
                <a:cs typeface="Segoe UI" panose="020B0502040204020203" pitchFamily="34" charset="0"/>
              </a:rPr>
              <a:t>Analysis</a:t>
            </a:r>
          </a:p>
        </p:txBody>
      </p:sp>
      <p:sp>
        <p:nvSpPr>
          <p:cNvPr id="31" name="Textfeld 30">
            <a:extLst>
              <a:ext uri="{FF2B5EF4-FFF2-40B4-BE49-F238E27FC236}">
                <a16:creationId xmlns:a16="http://schemas.microsoft.com/office/drawing/2014/main" id="{0CF889FA-8E46-8663-A0F5-184385FA3DD1}"/>
              </a:ext>
            </a:extLst>
          </p:cNvPr>
          <p:cNvSpPr txBox="1"/>
          <p:nvPr/>
        </p:nvSpPr>
        <p:spPr>
          <a:xfrm>
            <a:off x="403725" y="4071829"/>
            <a:ext cx="805029" cy="261610"/>
          </a:xfrm>
          <a:prstGeom prst="rect">
            <a:avLst/>
          </a:prstGeom>
          <a:noFill/>
        </p:spPr>
        <p:txBody>
          <a:bodyPr wrap="none" rtlCol="0">
            <a:spAutoFit/>
          </a:bodyPr>
          <a:lstStyle/>
          <a:p>
            <a:r>
              <a:rPr lang="en-US" sz="1100" b="1" noProof="0" dirty="0">
                <a:solidFill>
                  <a:srgbClr val="FF0000"/>
                </a:solidFill>
                <a:latin typeface="Segoe UI" panose="020B0502040204020203" pitchFamily="34" charset="0"/>
                <a:cs typeface="Segoe UI" panose="020B0502040204020203" pitchFamily="34" charset="0"/>
              </a:rPr>
              <a:t>Synthesis</a:t>
            </a:r>
          </a:p>
        </p:txBody>
      </p:sp>
      <p:sp>
        <p:nvSpPr>
          <p:cNvPr id="37" name="Geschweifte Klammer links 36">
            <a:extLst>
              <a:ext uri="{FF2B5EF4-FFF2-40B4-BE49-F238E27FC236}">
                <a16:creationId xmlns:a16="http://schemas.microsoft.com/office/drawing/2014/main" id="{0B0A67E7-7C57-C73E-4879-C13FFF882B68}"/>
              </a:ext>
            </a:extLst>
          </p:cNvPr>
          <p:cNvSpPr/>
          <p:nvPr/>
        </p:nvSpPr>
        <p:spPr>
          <a:xfrm>
            <a:off x="1208754" y="1820468"/>
            <a:ext cx="257337" cy="1710523"/>
          </a:xfrm>
          <a:prstGeom prst="leftBrace">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38" name="Geschweifte Klammer links 37">
            <a:extLst>
              <a:ext uri="{FF2B5EF4-FFF2-40B4-BE49-F238E27FC236}">
                <a16:creationId xmlns:a16="http://schemas.microsoft.com/office/drawing/2014/main" id="{2D72810E-ED2B-7956-66CA-4602D2A82388}"/>
              </a:ext>
            </a:extLst>
          </p:cNvPr>
          <p:cNvSpPr/>
          <p:nvPr/>
        </p:nvSpPr>
        <p:spPr>
          <a:xfrm>
            <a:off x="1208754" y="994180"/>
            <a:ext cx="196599" cy="650513"/>
          </a:xfrm>
          <a:prstGeom prst="leftBrace">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39" name="Geschweifte Klammer links 38">
            <a:extLst>
              <a:ext uri="{FF2B5EF4-FFF2-40B4-BE49-F238E27FC236}">
                <a16:creationId xmlns:a16="http://schemas.microsoft.com/office/drawing/2014/main" id="{CBA056D0-42DA-D2CE-1EC0-9CCE338DF6B3}"/>
              </a:ext>
            </a:extLst>
          </p:cNvPr>
          <p:cNvSpPr/>
          <p:nvPr/>
        </p:nvSpPr>
        <p:spPr>
          <a:xfrm>
            <a:off x="1170298" y="3735078"/>
            <a:ext cx="257337" cy="935113"/>
          </a:xfrm>
          <a:prstGeom prst="leftBrace">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3" name="Fußzeilenplatzhalter 2">
            <a:extLst>
              <a:ext uri="{FF2B5EF4-FFF2-40B4-BE49-F238E27FC236}">
                <a16:creationId xmlns:a16="http://schemas.microsoft.com/office/drawing/2014/main" id="{8156553A-9A4C-1E19-B27B-2D993B339018}"/>
              </a:ext>
            </a:extLst>
          </p:cNvPr>
          <p:cNvSpPr>
            <a:spLocks noGrp="1"/>
          </p:cNvSpPr>
          <p:nvPr>
            <p:ph type="ftr" sz="quarter" idx="11"/>
          </p:nvPr>
        </p:nvSpPr>
        <p:spPr/>
        <p:txBody>
          <a:bodyPr/>
          <a:lstStyle/>
          <a:p>
            <a:pPr defTabSz="342900">
              <a:buClrTx/>
            </a:pPr>
            <a:r>
              <a:rPr lang="en-US" kern="1200" noProof="0" dirty="0">
                <a:solidFill>
                  <a:srgbClr val="101623">
                    <a:tint val="75000"/>
                  </a:srgbClr>
                </a:solidFill>
                <a:latin typeface="Calibri" panose="020F0502020204030204"/>
                <a:ea typeface="+mn-ea"/>
                <a:cs typeface="+mn-cs"/>
              </a:rPr>
              <a:t>Kissan Varatharajan - </a:t>
            </a:r>
            <a:r>
              <a:rPr lang="en-US" kern="1200" noProof="0" dirty="0" err="1">
                <a:solidFill>
                  <a:srgbClr val="101623">
                    <a:tint val="75000"/>
                  </a:srgbClr>
                </a:solidFill>
                <a:latin typeface="Calibri" panose="020F0502020204030204"/>
                <a:ea typeface="+mn-ea"/>
                <a:cs typeface="+mn-cs"/>
              </a:rPr>
              <a:t>kissanv.github.io</a:t>
            </a:r>
            <a:endParaRPr lang="en-US" kern="1200" noProof="0" dirty="0">
              <a:solidFill>
                <a:srgbClr val="101623">
                  <a:tint val="75000"/>
                </a:srgbClr>
              </a:solidFill>
              <a:latin typeface="Calibri" panose="020F0502020204030204"/>
              <a:ea typeface="+mn-ea"/>
              <a:cs typeface="+mn-cs"/>
            </a:endParaRPr>
          </a:p>
        </p:txBody>
      </p:sp>
      <p:sp>
        <p:nvSpPr>
          <p:cNvPr id="4" name="Foliennummernplatzhalter 3">
            <a:extLst>
              <a:ext uri="{FF2B5EF4-FFF2-40B4-BE49-F238E27FC236}">
                <a16:creationId xmlns:a16="http://schemas.microsoft.com/office/drawing/2014/main" id="{4A1A8A2D-3E36-17EC-3693-31A5FD6CDE25}"/>
              </a:ext>
            </a:extLst>
          </p:cNvPr>
          <p:cNvSpPr>
            <a:spLocks noGrp="1"/>
          </p:cNvSpPr>
          <p:nvPr>
            <p:ph type="sldNum" sz="quarter" idx="12"/>
          </p:nvPr>
        </p:nvSpPr>
        <p:spPr/>
        <p:txBody>
          <a:bodyPr/>
          <a:lstStyle/>
          <a:p>
            <a:pPr defTabSz="342900">
              <a:buClrTx/>
            </a:pPr>
            <a:fld id="{36EAFFE7-40E2-CA47-82C0-73D0FC591208}" type="slidenum">
              <a:rPr lang="en-US" kern="1200" noProof="0" smtClean="0">
                <a:solidFill>
                  <a:srgbClr val="101623">
                    <a:tint val="75000"/>
                  </a:srgbClr>
                </a:solidFill>
                <a:latin typeface="Calibri" panose="020F0502020204030204"/>
                <a:ea typeface="+mn-ea"/>
                <a:cs typeface="+mn-cs"/>
              </a:rPr>
              <a:pPr defTabSz="342900">
                <a:buClrTx/>
              </a:pPr>
              <a:t>9</a:t>
            </a:fld>
            <a:endParaRPr lang="en-US" kern="1200" noProof="0" dirty="0">
              <a:solidFill>
                <a:srgbClr val="101623">
                  <a:tint val="75000"/>
                </a:srgbClr>
              </a:solidFill>
              <a:latin typeface="Calibri" panose="020F0502020204030204"/>
              <a:ea typeface="+mn-ea"/>
              <a:cs typeface="+mn-cs"/>
            </a:endParaRPr>
          </a:p>
        </p:txBody>
      </p:sp>
    </p:spTree>
    <p:extLst>
      <p:ext uri="{BB962C8B-B14F-4D97-AF65-F5344CB8AC3E}">
        <p14:creationId xmlns:p14="http://schemas.microsoft.com/office/powerpoint/2010/main" val="41575278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6"/>
          <p:cNvSpPr txBox="1">
            <a:spLocks noGrp="1"/>
          </p:cNvSpPr>
          <p:nvPr>
            <p:ph type="title"/>
          </p:nvPr>
        </p:nvSpPr>
        <p:spPr>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Quattrocento Sans"/>
              <a:buNone/>
            </a:pPr>
            <a:r>
              <a:rPr lang="en-US" noProof="0" dirty="0"/>
              <a:t>Today</a:t>
            </a:r>
          </a:p>
        </p:txBody>
      </p:sp>
      <p:sp>
        <p:nvSpPr>
          <p:cNvPr id="72" name="Google Shape;72;p16"/>
          <p:cNvSpPr txBox="1">
            <a:spLocks noGrp="1"/>
          </p:cNvSpPr>
          <p:nvPr>
            <p:ph idx="1"/>
          </p:nvPr>
        </p:nvSpPr>
        <p:spPr>
          <a:xfrm>
            <a:off x="628650" y="1230934"/>
            <a:ext cx="7886700" cy="3263504"/>
          </a:xfrm>
          <a:prstGeom prst="rect">
            <a:avLst/>
          </a:prstGeom>
          <a:noFill/>
          <a:ln>
            <a:noFill/>
          </a:ln>
        </p:spPr>
        <p:txBody>
          <a:bodyPr spcFirstLastPara="1" wrap="square" lIns="68575" tIns="34275" rIns="68575" bIns="34275" anchor="t" anchorCtr="0">
            <a:normAutofit/>
          </a:bodyPr>
          <a:lstStyle/>
          <a:p>
            <a:pPr marL="342900" lvl="0" indent="-342900">
              <a:spcBef>
                <a:spcPts val="0"/>
              </a:spcBef>
              <a:buClr>
                <a:schemeClr val="dk1"/>
              </a:buClr>
              <a:buSzPts val="1800"/>
              <a:buFont typeface="+mj-lt"/>
              <a:buAutoNum type="arabicPeriod"/>
            </a:pPr>
            <a:endParaRPr lang="en-US" u="sng" noProof="0" dirty="0"/>
          </a:p>
          <a:p>
            <a:pPr marL="342900" lvl="0" indent="-342900">
              <a:spcBef>
                <a:spcPts val="0"/>
              </a:spcBef>
              <a:buClr>
                <a:schemeClr val="dk1"/>
              </a:buClr>
              <a:buSzPts val="1800"/>
              <a:buFont typeface="+mj-lt"/>
              <a:buAutoNum type="arabicPeriod"/>
            </a:pPr>
            <a:r>
              <a:rPr lang="en-US" u="sng" noProof="0" dirty="0"/>
              <a:t>Feedback Control</a:t>
            </a:r>
          </a:p>
          <a:p>
            <a:pPr marL="342900" lvl="0" indent="-342900">
              <a:spcBef>
                <a:spcPts val="0"/>
              </a:spcBef>
              <a:buClr>
                <a:schemeClr val="dk1"/>
              </a:buClr>
              <a:buSzPts val="1800"/>
              <a:buFont typeface="+mj-lt"/>
              <a:buAutoNum type="arabicPeriod"/>
            </a:pPr>
            <a:r>
              <a:rPr lang="en-US" u="sng" noProof="0" dirty="0"/>
              <a:t>Root-Locus</a:t>
            </a:r>
          </a:p>
          <a:p>
            <a:pPr marL="0" lvl="0" indent="0">
              <a:spcBef>
                <a:spcPts val="0"/>
              </a:spcBef>
              <a:buClr>
                <a:schemeClr val="dk1"/>
              </a:buClr>
              <a:buSzPts val="1800"/>
              <a:buNone/>
            </a:pPr>
            <a:endParaRPr lang="en-US" u="sng" noProof="0" dirty="0"/>
          </a:p>
        </p:txBody>
      </p:sp>
      <p:sp>
        <p:nvSpPr>
          <p:cNvPr id="74" name="Google Shape;74;p16"/>
          <p:cNvSpPr txBox="1">
            <a:spLocks noGrp="1"/>
          </p:cNvSpPr>
          <p:nvPr>
            <p:ph type="ftr" sz="quarter" idx="11"/>
          </p:nvPr>
        </p:nvSpPr>
        <p:spPr>
          <a:prstGeom prst="rect">
            <a:avLst/>
          </a:prstGeom>
          <a:noFill/>
          <a:ln>
            <a:noFill/>
          </a:ln>
        </p:spPr>
        <p:txBody>
          <a:bodyPr spcFirstLastPara="1" wrap="square" lIns="68575" tIns="34275" rIns="68575" bIns="34275" anchor="ctr" anchorCtr="0">
            <a:noAutofit/>
          </a:bodyPr>
          <a:lstStyle/>
          <a:p>
            <a:pPr marL="0" lvl="0" indent="0" algn="ctr" rtl="0">
              <a:spcBef>
                <a:spcPts val="0"/>
              </a:spcBef>
              <a:spcAft>
                <a:spcPts val="0"/>
              </a:spcAft>
              <a:buNone/>
            </a:pPr>
            <a:r>
              <a:rPr lang="en-US" noProof="0" dirty="0"/>
              <a:t>Kissan Varatharajan - </a:t>
            </a:r>
            <a:r>
              <a:rPr lang="en-US" noProof="0" dirty="0" err="1"/>
              <a:t>kissanv.github.io</a:t>
            </a:r>
            <a:endParaRPr lang="en-US" noProof="0" dirty="0"/>
          </a:p>
        </p:txBody>
      </p:sp>
      <p:sp>
        <p:nvSpPr>
          <p:cNvPr id="73" name="Google Shape;73;p16"/>
          <p:cNvSpPr txBox="1">
            <a:spLocks noGrp="1"/>
          </p:cNvSpPr>
          <p:nvPr>
            <p:ph type="sldNum" sz="quarter" idx="12"/>
          </p:nvPr>
        </p:nvSpPr>
        <p:spPr>
          <a:prstGeom prst="rect">
            <a:avLst/>
          </a:prstGeom>
          <a:noFill/>
          <a:ln>
            <a:noFill/>
          </a:ln>
        </p:spPr>
        <p:txBody>
          <a:bodyPr spcFirstLastPara="1" wrap="square" lIns="68575" tIns="34275" rIns="68575" bIns="34275" anchor="ctr" anchorCtr="0">
            <a:normAutofit/>
          </a:bodyPr>
          <a:lstStyle/>
          <a:p>
            <a:pPr marL="0" lvl="0" indent="0" algn="r" rtl="0">
              <a:spcBef>
                <a:spcPts val="0"/>
              </a:spcBef>
              <a:spcAft>
                <a:spcPts val="0"/>
              </a:spcAft>
              <a:buClr>
                <a:srgbClr val="000000"/>
              </a:buClr>
              <a:buFont typeface="Arial"/>
              <a:buNone/>
            </a:pPr>
            <a:fld id="{00000000-1234-1234-1234-123412341234}" type="slidenum">
              <a:rPr lang="en-US" noProof="0" smtClean="0"/>
              <a:t>10</a:t>
            </a:fld>
            <a:endParaRPr lang="en-US" noProof="0" dirty="0"/>
          </a:p>
        </p:txBody>
      </p:sp>
    </p:spTree>
    <p:extLst>
      <p:ext uri="{BB962C8B-B14F-4D97-AF65-F5344CB8AC3E}">
        <p14:creationId xmlns:p14="http://schemas.microsoft.com/office/powerpoint/2010/main" val="24851524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7F4AE5C-3E2F-B68C-A037-64DF367CED68}"/>
              </a:ext>
            </a:extLst>
          </p:cNvPr>
          <p:cNvSpPr>
            <a:spLocks noGrp="1"/>
          </p:cNvSpPr>
          <p:nvPr>
            <p:ph type="ctrTitle"/>
          </p:nvPr>
        </p:nvSpPr>
        <p:spPr>
          <a:xfrm>
            <a:off x="1143000" y="841772"/>
            <a:ext cx="6959851" cy="1790700"/>
          </a:xfrm>
        </p:spPr>
        <p:txBody>
          <a:bodyPr/>
          <a:lstStyle/>
          <a:p>
            <a:r>
              <a:rPr lang="en-US" noProof="0" dirty="0"/>
              <a:t>1. Feedback Control</a:t>
            </a:r>
          </a:p>
        </p:txBody>
      </p:sp>
      <p:sp>
        <p:nvSpPr>
          <p:cNvPr id="3" name="Untertitel 2">
            <a:extLst>
              <a:ext uri="{FF2B5EF4-FFF2-40B4-BE49-F238E27FC236}">
                <a16:creationId xmlns:a16="http://schemas.microsoft.com/office/drawing/2014/main" id="{8FEC819A-74B0-7EC8-4337-41DC3E86B626}"/>
              </a:ext>
            </a:extLst>
          </p:cNvPr>
          <p:cNvSpPr>
            <a:spLocks noGrp="1"/>
          </p:cNvSpPr>
          <p:nvPr>
            <p:ph type="subTitle" idx="1"/>
          </p:nvPr>
        </p:nvSpPr>
        <p:spPr/>
        <p:txBody>
          <a:bodyPr/>
          <a:lstStyle/>
          <a:p>
            <a:endParaRPr lang="en-US" noProof="0" dirty="0"/>
          </a:p>
        </p:txBody>
      </p:sp>
      <p:sp>
        <p:nvSpPr>
          <p:cNvPr id="4" name="Fußzeilenplatzhalter 3">
            <a:extLst>
              <a:ext uri="{FF2B5EF4-FFF2-40B4-BE49-F238E27FC236}">
                <a16:creationId xmlns:a16="http://schemas.microsoft.com/office/drawing/2014/main" id="{E833F9BA-5972-1172-A390-8A7AA1A2068D}"/>
              </a:ext>
            </a:extLst>
          </p:cNvPr>
          <p:cNvSpPr>
            <a:spLocks noGrp="1"/>
          </p:cNvSpPr>
          <p:nvPr>
            <p:ph type="ftr" sz="quarter" idx="11"/>
          </p:nvPr>
        </p:nvSpPr>
        <p:spPr/>
        <p:txBody>
          <a:bodyPr/>
          <a:lstStyle/>
          <a:p>
            <a:pPr defTabSz="342900">
              <a:buClrTx/>
            </a:pPr>
            <a:r>
              <a:rPr lang="en-US" kern="1200" noProof="0" dirty="0">
                <a:solidFill>
                  <a:srgbClr val="101623">
                    <a:tint val="75000"/>
                  </a:srgbClr>
                </a:solidFill>
                <a:latin typeface="Calibri" panose="020F0502020204030204"/>
                <a:ea typeface="+mn-ea"/>
                <a:cs typeface="+mn-cs"/>
              </a:rPr>
              <a:t>Kissan Varatharajan - </a:t>
            </a:r>
            <a:r>
              <a:rPr lang="en-US" kern="1200" noProof="0" dirty="0" err="1">
                <a:solidFill>
                  <a:srgbClr val="101623">
                    <a:tint val="75000"/>
                  </a:srgbClr>
                </a:solidFill>
                <a:latin typeface="Calibri" panose="020F0502020204030204"/>
                <a:ea typeface="+mn-ea"/>
                <a:cs typeface="+mn-cs"/>
              </a:rPr>
              <a:t>kissanv.github.io</a:t>
            </a:r>
            <a:endParaRPr lang="en-US" kern="1200" noProof="0" dirty="0">
              <a:solidFill>
                <a:srgbClr val="101623">
                  <a:tint val="75000"/>
                </a:srgbClr>
              </a:solidFill>
              <a:latin typeface="Calibri" panose="020F0502020204030204"/>
              <a:ea typeface="+mn-ea"/>
              <a:cs typeface="+mn-cs"/>
            </a:endParaRPr>
          </a:p>
        </p:txBody>
      </p:sp>
      <p:sp>
        <p:nvSpPr>
          <p:cNvPr id="5" name="Foliennummernplatzhalter 4">
            <a:extLst>
              <a:ext uri="{FF2B5EF4-FFF2-40B4-BE49-F238E27FC236}">
                <a16:creationId xmlns:a16="http://schemas.microsoft.com/office/drawing/2014/main" id="{E32D4EBF-656E-D2D2-0159-2EA0943B95ED}"/>
              </a:ext>
            </a:extLst>
          </p:cNvPr>
          <p:cNvSpPr>
            <a:spLocks noGrp="1"/>
          </p:cNvSpPr>
          <p:nvPr>
            <p:ph type="sldNum" sz="quarter" idx="12"/>
          </p:nvPr>
        </p:nvSpPr>
        <p:spPr/>
        <p:txBody>
          <a:bodyPr/>
          <a:lstStyle/>
          <a:p>
            <a:pPr defTabSz="342900">
              <a:buClrTx/>
            </a:pPr>
            <a:fld id="{36EAFFE7-40E2-CA47-82C0-73D0FC591208}" type="slidenum">
              <a:rPr lang="en-US" kern="1200" noProof="0" smtClean="0">
                <a:solidFill>
                  <a:srgbClr val="101623">
                    <a:tint val="75000"/>
                  </a:srgbClr>
                </a:solidFill>
                <a:latin typeface="Calibri" panose="020F0502020204030204"/>
                <a:ea typeface="+mn-ea"/>
                <a:cs typeface="+mn-cs"/>
              </a:rPr>
              <a:pPr defTabSz="342900">
                <a:buClrTx/>
              </a:pPr>
              <a:t>11</a:t>
            </a:fld>
            <a:endParaRPr lang="en-US" kern="1200" noProof="0" dirty="0">
              <a:solidFill>
                <a:srgbClr val="101623">
                  <a:tint val="75000"/>
                </a:srgbClr>
              </a:solidFill>
              <a:latin typeface="Calibri" panose="020F0502020204030204"/>
              <a:ea typeface="+mn-ea"/>
              <a:cs typeface="+mn-cs"/>
            </a:endParaRPr>
          </a:p>
        </p:txBody>
      </p:sp>
    </p:spTree>
    <p:extLst>
      <p:ext uri="{BB962C8B-B14F-4D97-AF65-F5344CB8AC3E}">
        <p14:creationId xmlns:p14="http://schemas.microsoft.com/office/powerpoint/2010/main" val="33303333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6B531CB-A953-1994-38EF-0F646CD41304}"/>
              </a:ext>
            </a:extLst>
          </p:cNvPr>
          <p:cNvSpPr>
            <a:spLocks noGrp="1"/>
          </p:cNvSpPr>
          <p:nvPr>
            <p:ph type="title"/>
          </p:nvPr>
        </p:nvSpPr>
        <p:spPr/>
        <p:txBody>
          <a:bodyPr/>
          <a:lstStyle/>
          <a:p>
            <a:r>
              <a:rPr lang="en-US" noProof="0" dirty="0"/>
              <a:t>The Initial Problem</a:t>
            </a:r>
          </a:p>
        </p:txBody>
      </p:sp>
      <mc:AlternateContent xmlns:mc="http://schemas.openxmlformats.org/markup-compatibility/2006" xmlns:a14="http://schemas.microsoft.com/office/drawing/2010/main">
        <mc:Choice Requires="a14">
          <p:sp>
            <p:nvSpPr>
              <p:cNvPr id="3" name="Inhaltsplatzhalter 2">
                <a:extLst>
                  <a:ext uri="{FF2B5EF4-FFF2-40B4-BE49-F238E27FC236}">
                    <a16:creationId xmlns:a16="http://schemas.microsoft.com/office/drawing/2014/main" id="{FD96502B-11BE-EB67-1067-1DDCB616A726}"/>
                  </a:ext>
                </a:extLst>
              </p:cNvPr>
              <p:cNvSpPr>
                <a:spLocks noGrp="1"/>
              </p:cNvSpPr>
              <p:nvPr>
                <p:ph idx="1"/>
              </p:nvPr>
            </p:nvSpPr>
            <p:spPr>
              <a:xfrm>
                <a:off x="170816" y="1045809"/>
                <a:ext cx="4603371" cy="2367711"/>
              </a:xfrm>
            </p:spPr>
            <p:txBody>
              <a:bodyPr>
                <a:normAutofit/>
              </a:bodyPr>
              <a:lstStyle/>
              <a:p>
                <a:r>
                  <a:rPr lang="en-US" sz="1600" noProof="0" dirty="0"/>
                  <a:t>Until now, we only knew the transfer function </a:t>
                </a:r>
                <a14:m>
                  <m:oMath xmlns:m="http://schemas.openxmlformats.org/officeDocument/2006/math">
                    <m:r>
                      <a:rPr lang="en-US" sz="1600" i="1" noProof="0" smtClean="0">
                        <a:latin typeface="Cambria Math" panose="02040503050406030204" pitchFamily="18" charset="0"/>
                      </a:rPr>
                      <m:t>𝑃</m:t>
                    </m:r>
                    <m:r>
                      <a:rPr lang="en-US" sz="1600" i="1" noProof="0" smtClean="0">
                        <a:latin typeface="Cambria Math" panose="02040503050406030204" pitchFamily="18" charset="0"/>
                      </a:rPr>
                      <m:t>(</m:t>
                    </m:r>
                    <m:r>
                      <a:rPr lang="en-US" sz="1600" i="1" noProof="0" smtClean="0">
                        <a:latin typeface="Cambria Math" panose="02040503050406030204" pitchFamily="18" charset="0"/>
                      </a:rPr>
                      <m:t>𝑠</m:t>
                    </m:r>
                    <m:r>
                      <a:rPr lang="en-US" sz="1600" i="1" noProof="0" smtClean="0">
                        <a:latin typeface="Cambria Math" panose="02040503050406030204" pitchFamily="18" charset="0"/>
                      </a:rPr>
                      <m:t>)=</m:t>
                    </m:r>
                    <m:r>
                      <a:rPr lang="en-US" sz="1600" i="1" noProof="0">
                        <a:latin typeface="Cambria Math" panose="02040503050406030204" pitchFamily="18" charset="0"/>
                      </a:rPr>
                      <m:t>𝐺</m:t>
                    </m:r>
                    <m:r>
                      <a:rPr lang="en-US" sz="1600" i="1" noProof="0">
                        <a:latin typeface="Cambria Math" panose="02040503050406030204" pitchFamily="18" charset="0"/>
                      </a:rPr>
                      <m:t>(</m:t>
                    </m:r>
                    <m:r>
                      <a:rPr lang="en-US" sz="1600" i="1" noProof="0">
                        <a:latin typeface="Cambria Math" panose="02040503050406030204" pitchFamily="18" charset="0"/>
                      </a:rPr>
                      <m:t>𝑠</m:t>
                    </m:r>
                    <m:r>
                      <a:rPr lang="en-US" sz="1600" i="1" noProof="0">
                        <a:latin typeface="Cambria Math" panose="02040503050406030204" pitchFamily="18" charset="0"/>
                      </a:rPr>
                      <m:t>)</m:t>
                    </m:r>
                  </m:oMath>
                </a14:m>
                <a:r>
                  <a:rPr lang="en-US" sz="1600" noProof="0" dirty="0"/>
                  <a:t>, describing how the system reacts to an input </a:t>
                </a:r>
                <a14:m>
                  <m:oMath xmlns:m="http://schemas.openxmlformats.org/officeDocument/2006/math">
                    <m:r>
                      <a:rPr lang="en-US" sz="1600" i="1" noProof="0" smtClean="0">
                        <a:latin typeface="Cambria Math" panose="02040503050406030204" pitchFamily="18" charset="0"/>
                      </a:rPr>
                      <m:t>𝑢</m:t>
                    </m:r>
                    <m:d>
                      <m:dPr>
                        <m:ctrlPr>
                          <a:rPr lang="en-US" sz="1600" i="1" noProof="0" smtClean="0">
                            <a:latin typeface="Cambria Math" panose="02040503050406030204" pitchFamily="18" charset="0"/>
                          </a:rPr>
                        </m:ctrlPr>
                      </m:dPr>
                      <m:e>
                        <m:r>
                          <a:rPr lang="en-US" sz="1600" i="1" noProof="0" smtClean="0">
                            <a:latin typeface="Cambria Math" panose="02040503050406030204" pitchFamily="18" charset="0"/>
                          </a:rPr>
                          <m:t>𝑡</m:t>
                        </m:r>
                      </m:e>
                    </m:d>
                  </m:oMath>
                </a14:m>
                <a:endParaRPr lang="en-US" sz="1600" noProof="0" dirty="0"/>
              </a:p>
              <a:p>
                <a:r>
                  <a:rPr lang="en-US" sz="1600" noProof="0" dirty="0"/>
                  <a:t>But once we add feedback, the controller influences the loop, we must now look at the entire interaction:</a:t>
                </a:r>
              </a:p>
              <a:p>
                <a:r>
                  <a:rPr lang="en-US" sz="1600" noProof="0" dirty="0"/>
                  <a:t>The open-loop Transfer Function r </a:t>
                </a:r>
                <a14:m>
                  <m:oMath xmlns:m="http://schemas.openxmlformats.org/officeDocument/2006/math">
                    <m:r>
                      <a:rPr lang="en-US" sz="1600" i="1" noProof="0" smtClean="0">
                        <a:latin typeface="Cambria Math" panose="02040503050406030204" pitchFamily="18" charset="0"/>
                      </a:rPr>
                      <m:t>⟶</m:t>
                    </m:r>
                    <m:r>
                      <a:rPr lang="en-US" sz="1600" i="1" noProof="0" smtClean="0">
                        <a:latin typeface="Cambria Math" panose="02040503050406030204" pitchFamily="18" charset="0"/>
                      </a:rPr>
                      <m:t>𝑦</m:t>
                    </m:r>
                  </m:oMath>
                </a14:m>
                <a:r>
                  <a:rPr lang="en-US" sz="1600" noProof="0" dirty="0"/>
                  <a:t> is given by </a:t>
                </a:r>
                <a14:m>
                  <m:oMath xmlns:m="http://schemas.openxmlformats.org/officeDocument/2006/math">
                    <m:r>
                      <a:rPr lang="en-US" sz="1600" b="1" i="1" noProof="0" smtClean="0">
                        <a:solidFill>
                          <a:schemeClr val="accent4"/>
                        </a:solidFill>
                        <a:latin typeface="Cambria Math" panose="02040503050406030204" pitchFamily="18" charset="0"/>
                      </a:rPr>
                      <m:t>𝑳</m:t>
                    </m:r>
                    <m:d>
                      <m:dPr>
                        <m:ctrlPr>
                          <a:rPr lang="en-US" sz="1600" b="1" i="1" noProof="0" smtClean="0">
                            <a:solidFill>
                              <a:schemeClr val="accent4"/>
                            </a:solidFill>
                            <a:latin typeface="Cambria Math" panose="02040503050406030204" pitchFamily="18" charset="0"/>
                          </a:rPr>
                        </m:ctrlPr>
                      </m:dPr>
                      <m:e>
                        <m:r>
                          <a:rPr lang="en-US" sz="1600" b="1" i="1" noProof="0" smtClean="0">
                            <a:solidFill>
                              <a:schemeClr val="accent4"/>
                            </a:solidFill>
                            <a:latin typeface="Cambria Math" panose="02040503050406030204" pitchFamily="18" charset="0"/>
                          </a:rPr>
                          <m:t>𝒔</m:t>
                        </m:r>
                      </m:e>
                    </m:d>
                    <m:r>
                      <a:rPr lang="en-US" sz="1600" b="1" i="1" noProof="0" smtClean="0">
                        <a:solidFill>
                          <a:schemeClr val="accent4"/>
                        </a:solidFill>
                        <a:latin typeface="Cambria Math" panose="02040503050406030204" pitchFamily="18" charset="0"/>
                      </a:rPr>
                      <m:t>=</m:t>
                    </m:r>
                    <m:r>
                      <a:rPr lang="en-US" sz="1600" b="1" i="1" noProof="0" smtClean="0">
                        <a:solidFill>
                          <a:schemeClr val="accent4"/>
                        </a:solidFill>
                        <a:latin typeface="Cambria Math" panose="02040503050406030204" pitchFamily="18" charset="0"/>
                      </a:rPr>
                      <m:t>𝑪</m:t>
                    </m:r>
                    <m:d>
                      <m:dPr>
                        <m:ctrlPr>
                          <a:rPr lang="en-US" sz="1600" b="1" i="1" noProof="0" smtClean="0">
                            <a:solidFill>
                              <a:schemeClr val="accent4"/>
                            </a:solidFill>
                            <a:latin typeface="Cambria Math" panose="02040503050406030204" pitchFamily="18" charset="0"/>
                          </a:rPr>
                        </m:ctrlPr>
                      </m:dPr>
                      <m:e>
                        <m:r>
                          <a:rPr lang="en-US" sz="1600" b="1" i="1" noProof="0" smtClean="0">
                            <a:solidFill>
                              <a:schemeClr val="accent4"/>
                            </a:solidFill>
                            <a:latin typeface="Cambria Math" panose="02040503050406030204" pitchFamily="18" charset="0"/>
                          </a:rPr>
                          <m:t>𝒔</m:t>
                        </m:r>
                      </m:e>
                    </m:d>
                    <m:r>
                      <a:rPr lang="en-US" sz="1600" b="1" i="1" noProof="0" smtClean="0">
                        <a:solidFill>
                          <a:schemeClr val="accent4"/>
                        </a:solidFill>
                        <a:latin typeface="Cambria Math" panose="02040503050406030204" pitchFamily="18" charset="0"/>
                      </a:rPr>
                      <m:t>𝑷</m:t>
                    </m:r>
                    <m:d>
                      <m:dPr>
                        <m:ctrlPr>
                          <a:rPr lang="en-US" sz="1600" b="1" i="1" noProof="0" smtClean="0">
                            <a:solidFill>
                              <a:schemeClr val="accent4"/>
                            </a:solidFill>
                            <a:latin typeface="Cambria Math" panose="02040503050406030204" pitchFamily="18" charset="0"/>
                          </a:rPr>
                        </m:ctrlPr>
                      </m:dPr>
                      <m:e>
                        <m:r>
                          <a:rPr lang="en-US" sz="1600" b="1" i="1" noProof="0" smtClean="0">
                            <a:solidFill>
                              <a:schemeClr val="accent4"/>
                            </a:solidFill>
                            <a:latin typeface="Cambria Math" panose="02040503050406030204" pitchFamily="18" charset="0"/>
                          </a:rPr>
                          <m:t>𝒔</m:t>
                        </m:r>
                      </m:e>
                    </m:d>
                  </m:oMath>
                </a14:m>
                <a:endParaRPr lang="en-US" sz="1600" b="1" noProof="0" dirty="0"/>
              </a:p>
              <a:p>
                <a:pPr marL="0" indent="0">
                  <a:buNone/>
                </a:pPr>
                <a:endParaRPr lang="en-US" sz="1600" noProof="0" dirty="0"/>
              </a:p>
              <a:p>
                <a:endParaRPr lang="en-US" sz="1600" noProof="0" dirty="0"/>
              </a:p>
            </p:txBody>
          </p:sp>
        </mc:Choice>
        <mc:Fallback xmlns="">
          <p:sp>
            <p:nvSpPr>
              <p:cNvPr id="3" name="Inhaltsplatzhalter 2">
                <a:extLst>
                  <a:ext uri="{FF2B5EF4-FFF2-40B4-BE49-F238E27FC236}">
                    <a16:creationId xmlns:a16="http://schemas.microsoft.com/office/drawing/2014/main" id="{FD96502B-11BE-EB67-1067-1DDCB616A726}"/>
                  </a:ext>
                </a:extLst>
              </p:cNvPr>
              <p:cNvSpPr>
                <a:spLocks noGrp="1" noRot="1" noChangeAspect="1" noMove="1" noResize="1" noEditPoints="1" noAdjustHandles="1" noChangeArrowheads="1" noChangeShapeType="1" noTextEdit="1"/>
              </p:cNvSpPr>
              <p:nvPr>
                <p:ph idx="1"/>
              </p:nvPr>
            </p:nvSpPr>
            <p:spPr>
              <a:xfrm>
                <a:off x="170816" y="1045809"/>
                <a:ext cx="4603371" cy="2367711"/>
              </a:xfrm>
              <a:blipFill>
                <a:blip r:embed="rId2"/>
                <a:stretch>
                  <a:fillRect l="-551" t="-2139" r="-1928"/>
                </a:stretch>
              </a:blipFill>
            </p:spPr>
            <p:txBody>
              <a:bodyPr/>
              <a:lstStyle/>
              <a:p>
                <a:r>
                  <a:rPr lang="de-DE">
                    <a:noFill/>
                  </a:rPr>
                  <a:t> </a:t>
                </a:r>
              </a:p>
            </p:txBody>
          </p:sp>
        </mc:Fallback>
      </mc:AlternateContent>
      <p:sp>
        <p:nvSpPr>
          <p:cNvPr id="4" name="Fußzeilenplatzhalter 3">
            <a:extLst>
              <a:ext uri="{FF2B5EF4-FFF2-40B4-BE49-F238E27FC236}">
                <a16:creationId xmlns:a16="http://schemas.microsoft.com/office/drawing/2014/main" id="{D0197126-652E-F78C-AC27-D59D9F56B450}"/>
              </a:ext>
            </a:extLst>
          </p:cNvPr>
          <p:cNvSpPr>
            <a:spLocks noGrp="1"/>
          </p:cNvSpPr>
          <p:nvPr>
            <p:ph type="ftr" sz="quarter" idx="11"/>
          </p:nvPr>
        </p:nvSpPr>
        <p:spPr/>
        <p:txBody>
          <a:bodyPr/>
          <a:lstStyle/>
          <a:p>
            <a:pPr defTabSz="342900">
              <a:buClrTx/>
            </a:pPr>
            <a:r>
              <a:rPr lang="en-US" kern="1200" noProof="0" dirty="0">
                <a:solidFill>
                  <a:srgbClr val="101623">
                    <a:tint val="75000"/>
                  </a:srgbClr>
                </a:solidFill>
                <a:latin typeface="Calibri" panose="020F0502020204030204"/>
                <a:ea typeface="+mn-ea"/>
                <a:cs typeface="+mn-cs"/>
              </a:rPr>
              <a:t>Kissan Varatharajan - </a:t>
            </a:r>
            <a:r>
              <a:rPr lang="en-US" kern="1200" noProof="0" dirty="0" err="1">
                <a:solidFill>
                  <a:srgbClr val="101623">
                    <a:tint val="75000"/>
                  </a:srgbClr>
                </a:solidFill>
                <a:latin typeface="Calibri" panose="020F0502020204030204"/>
                <a:ea typeface="+mn-ea"/>
                <a:cs typeface="+mn-cs"/>
              </a:rPr>
              <a:t>kissanv.github.io</a:t>
            </a:r>
            <a:endParaRPr lang="en-US" kern="1200" noProof="0" dirty="0">
              <a:solidFill>
                <a:srgbClr val="101623">
                  <a:tint val="75000"/>
                </a:srgbClr>
              </a:solidFill>
              <a:latin typeface="Calibri" panose="020F0502020204030204"/>
              <a:ea typeface="+mn-ea"/>
              <a:cs typeface="+mn-cs"/>
            </a:endParaRPr>
          </a:p>
        </p:txBody>
      </p:sp>
      <p:sp>
        <p:nvSpPr>
          <p:cNvPr id="5" name="Foliennummernplatzhalter 4">
            <a:extLst>
              <a:ext uri="{FF2B5EF4-FFF2-40B4-BE49-F238E27FC236}">
                <a16:creationId xmlns:a16="http://schemas.microsoft.com/office/drawing/2014/main" id="{7156119E-3A62-CD67-B167-3108398E1107}"/>
              </a:ext>
            </a:extLst>
          </p:cNvPr>
          <p:cNvSpPr>
            <a:spLocks noGrp="1"/>
          </p:cNvSpPr>
          <p:nvPr>
            <p:ph type="sldNum" sz="quarter" idx="12"/>
          </p:nvPr>
        </p:nvSpPr>
        <p:spPr/>
        <p:txBody>
          <a:bodyPr/>
          <a:lstStyle/>
          <a:p>
            <a:pPr defTabSz="342900">
              <a:buClrTx/>
            </a:pPr>
            <a:fld id="{36EAFFE7-40E2-CA47-82C0-73D0FC591208}" type="slidenum">
              <a:rPr lang="en-US" kern="1200" noProof="0" smtClean="0">
                <a:solidFill>
                  <a:srgbClr val="101623">
                    <a:tint val="75000"/>
                  </a:srgbClr>
                </a:solidFill>
                <a:latin typeface="Calibri" panose="020F0502020204030204"/>
                <a:ea typeface="+mn-ea"/>
                <a:cs typeface="+mn-cs"/>
              </a:rPr>
              <a:pPr defTabSz="342900">
                <a:buClrTx/>
              </a:pPr>
              <a:t>12</a:t>
            </a:fld>
            <a:endParaRPr lang="en-US" kern="1200" noProof="0" dirty="0">
              <a:solidFill>
                <a:srgbClr val="101623">
                  <a:tint val="75000"/>
                </a:srgbClr>
              </a:solidFill>
              <a:latin typeface="Calibri" panose="020F0502020204030204"/>
              <a:ea typeface="+mn-ea"/>
              <a:cs typeface="+mn-cs"/>
            </a:endParaRPr>
          </a:p>
        </p:txBody>
      </p:sp>
      <p:grpSp>
        <p:nvGrpSpPr>
          <p:cNvPr id="12" name="Gruppieren 11">
            <a:extLst>
              <a:ext uri="{FF2B5EF4-FFF2-40B4-BE49-F238E27FC236}">
                <a16:creationId xmlns:a16="http://schemas.microsoft.com/office/drawing/2014/main" id="{B095746D-9E0C-7AF6-02AF-85076331FB85}"/>
              </a:ext>
            </a:extLst>
          </p:cNvPr>
          <p:cNvGrpSpPr/>
          <p:nvPr/>
        </p:nvGrpSpPr>
        <p:grpSpPr>
          <a:xfrm>
            <a:off x="7161562" y="718689"/>
            <a:ext cx="1214720" cy="553007"/>
            <a:chOff x="2403054" y="3026666"/>
            <a:chExt cx="545710" cy="553007"/>
          </a:xfrm>
        </p:grpSpPr>
        <p:sp>
          <p:nvSpPr>
            <p:cNvPr id="13" name="Rechteck 12">
              <a:extLst>
                <a:ext uri="{FF2B5EF4-FFF2-40B4-BE49-F238E27FC236}">
                  <a16:creationId xmlns:a16="http://schemas.microsoft.com/office/drawing/2014/main" id="{115C829C-5929-F7D1-13C8-6F8E6759064A}"/>
                </a:ext>
              </a:extLst>
            </p:cNvPr>
            <p:cNvSpPr/>
            <p:nvPr/>
          </p:nvSpPr>
          <p:spPr>
            <a:xfrm>
              <a:off x="2403054" y="3026666"/>
              <a:ext cx="545710" cy="553007"/>
            </a:xfrm>
            <a:prstGeom prst="rect">
              <a:avLst/>
            </a:prstGeom>
            <a:no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noProof="0" dirty="0"/>
            </a:p>
          </p:txBody>
        </p:sp>
        <mc:AlternateContent xmlns:mc="http://schemas.openxmlformats.org/markup-compatibility/2006" xmlns:a14="http://schemas.microsoft.com/office/drawing/2010/main">
          <mc:Choice Requires="a14">
            <p:sp>
              <p:nvSpPr>
                <p:cNvPr id="14" name="Textfeld 13">
                  <a:extLst>
                    <a:ext uri="{FF2B5EF4-FFF2-40B4-BE49-F238E27FC236}">
                      <a16:creationId xmlns:a16="http://schemas.microsoft.com/office/drawing/2014/main" id="{3089F5A8-4027-D6BE-75E2-8802398A7EE9}"/>
                    </a:ext>
                  </a:extLst>
                </p:cNvPr>
                <p:cNvSpPr txBox="1"/>
                <p:nvPr/>
              </p:nvSpPr>
              <p:spPr>
                <a:xfrm>
                  <a:off x="2459135" y="3107336"/>
                  <a:ext cx="42197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800" i="1" noProof="0" smtClean="0">
                            <a:latin typeface="Cambria Math" panose="02040503050406030204" pitchFamily="18" charset="0"/>
                            <a:cs typeface="Segoe UI" panose="020B0502040204020203" pitchFamily="34" charset="0"/>
                          </a:rPr>
                          <m:t>𝑃</m:t>
                        </m:r>
                        <m:r>
                          <a:rPr lang="en-US" sz="1800" b="0" i="1" noProof="0" smtClean="0">
                            <a:latin typeface="Cambria Math" panose="02040503050406030204" pitchFamily="18" charset="0"/>
                            <a:cs typeface="Segoe UI" panose="020B0502040204020203" pitchFamily="34" charset="0"/>
                          </a:rPr>
                          <m:t>(</m:t>
                        </m:r>
                        <m:r>
                          <m:rPr>
                            <m:sty m:val="p"/>
                          </m:rPr>
                          <a:rPr lang="en-US" sz="1800" b="0" i="1" noProof="0" smtClean="0">
                            <a:latin typeface="Cambria Math" panose="02040503050406030204" pitchFamily="18" charset="0"/>
                            <a:cs typeface="Segoe UI" panose="020B0502040204020203" pitchFamily="34" charset="0"/>
                          </a:rPr>
                          <m:t>s</m:t>
                        </m:r>
                        <m:r>
                          <a:rPr lang="en-US" sz="1800" b="0" i="1" noProof="0" smtClean="0">
                            <a:latin typeface="Cambria Math" panose="02040503050406030204" pitchFamily="18" charset="0"/>
                            <a:cs typeface="Segoe UI" panose="020B0502040204020203" pitchFamily="34" charset="0"/>
                          </a:rPr>
                          <m:t>)</m:t>
                        </m:r>
                      </m:oMath>
                    </m:oMathPara>
                  </a14:m>
                  <a:endParaRPr lang="en-US" noProof="0" dirty="0"/>
                </a:p>
              </p:txBody>
            </p:sp>
          </mc:Choice>
          <mc:Fallback xmlns="">
            <p:sp>
              <p:nvSpPr>
                <p:cNvPr id="14" name="Textfeld 13">
                  <a:extLst>
                    <a:ext uri="{FF2B5EF4-FFF2-40B4-BE49-F238E27FC236}">
                      <a16:creationId xmlns:a16="http://schemas.microsoft.com/office/drawing/2014/main" id="{3089F5A8-4027-D6BE-75E2-8802398A7EE9}"/>
                    </a:ext>
                  </a:extLst>
                </p:cNvPr>
                <p:cNvSpPr txBox="1">
                  <a:spLocks noRot="1" noChangeAspect="1" noMove="1" noResize="1" noEditPoints="1" noAdjustHandles="1" noChangeArrowheads="1" noChangeShapeType="1" noTextEdit="1"/>
                </p:cNvSpPr>
                <p:nvPr/>
              </p:nvSpPr>
              <p:spPr>
                <a:xfrm>
                  <a:off x="2459135" y="3107336"/>
                  <a:ext cx="421972" cy="369332"/>
                </a:xfrm>
                <a:prstGeom prst="rect">
                  <a:avLst/>
                </a:prstGeom>
                <a:blipFill>
                  <a:blip r:embed="rId3"/>
                  <a:stretch>
                    <a:fillRect b="-16129"/>
                  </a:stretch>
                </a:blipFill>
              </p:spPr>
              <p:txBody>
                <a:bodyPr/>
                <a:lstStyle/>
                <a:p>
                  <a:r>
                    <a:rPr lang="de-DE">
                      <a:noFill/>
                    </a:rPr>
                    <a:t> </a:t>
                  </a:r>
                </a:p>
              </p:txBody>
            </p:sp>
          </mc:Fallback>
        </mc:AlternateContent>
      </p:grpSp>
      <p:grpSp>
        <p:nvGrpSpPr>
          <p:cNvPr id="15" name="Gruppieren 14">
            <a:extLst>
              <a:ext uri="{FF2B5EF4-FFF2-40B4-BE49-F238E27FC236}">
                <a16:creationId xmlns:a16="http://schemas.microsoft.com/office/drawing/2014/main" id="{44DF6CA6-86FE-F676-7D43-789196039127}"/>
              </a:ext>
            </a:extLst>
          </p:cNvPr>
          <p:cNvGrpSpPr/>
          <p:nvPr/>
        </p:nvGrpSpPr>
        <p:grpSpPr>
          <a:xfrm>
            <a:off x="5473889" y="718689"/>
            <a:ext cx="1331762" cy="553007"/>
            <a:chOff x="2676164" y="3940223"/>
            <a:chExt cx="656588" cy="553007"/>
          </a:xfrm>
        </p:grpSpPr>
        <p:sp>
          <p:nvSpPr>
            <p:cNvPr id="16" name="Rechteck 15">
              <a:extLst>
                <a:ext uri="{FF2B5EF4-FFF2-40B4-BE49-F238E27FC236}">
                  <a16:creationId xmlns:a16="http://schemas.microsoft.com/office/drawing/2014/main" id="{E2A141D4-7EB5-163A-3C6D-505FD3FA1DF4}"/>
                </a:ext>
              </a:extLst>
            </p:cNvPr>
            <p:cNvSpPr/>
            <p:nvPr/>
          </p:nvSpPr>
          <p:spPr>
            <a:xfrm>
              <a:off x="2676164" y="3940223"/>
              <a:ext cx="656588" cy="553007"/>
            </a:xfrm>
            <a:prstGeom prst="rect">
              <a:avLst/>
            </a:prstGeom>
            <a:no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noProof="0" dirty="0"/>
            </a:p>
          </p:txBody>
        </p:sp>
        <mc:AlternateContent xmlns:mc="http://schemas.openxmlformats.org/markup-compatibility/2006" xmlns:a14="http://schemas.microsoft.com/office/drawing/2010/main">
          <mc:Choice Requires="a14">
            <p:sp>
              <p:nvSpPr>
                <p:cNvPr id="17" name="Textfeld 16">
                  <a:extLst>
                    <a:ext uri="{FF2B5EF4-FFF2-40B4-BE49-F238E27FC236}">
                      <a16:creationId xmlns:a16="http://schemas.microsoft.com/office/drawing/2014/main" id="{2BC214D2-3F20-7824-CCD7-88BB61D5A889}"/>
                    </a:ext>
                  </a:extLst>
                </p:cNvPr>
                <p:cNvSpPr txBox="1"/>
                <p:nvPr/>
              </p:nvSpPr>
              <p:spPr>
                <a:xfrm>
                  <a:off x="2838829" y="4023655"/>
                  <a:ext cx="339046" cy="369332"/>
                </a:xfrm>
                <a:prstGeom prst="rect">
                  <a:avLst/>
                </a:prstGeom>
                <a:noFill/>
              </p:spPr>
              <p:txBody>
                <a:bodyPr wrap="none" rtlCol="0">
                  <a:spAutoFit/>
                </a:bodyPr>
                <a:lstStyle/>
                <a:p>
                  <a:pPr/>
                  <a14:m>
                    <m:oMathPara xmlns:m="http://schemas.openxmlformats.org/officeDocument/2006/math">
                      <m:oMathParaPr>
                        <m:jc m:val="center"/>
                      </m:oMathParaPr>
                      <m:oMath xmlns:m="http://schemas.openxmlformats.org/officeDocument/2006/math">
                        <m:r>
                          <a:rPr lang="en-US" sz="1800" b="0" i="1" noProof="0" smtClean="0">
                            <a:latin typeface="Cambria Math" panose="02040503050406030204" pitchFamily="18" charset="0"/>
                            <a:cs typeface="Segoe UI" panose="020B0502040204020203" pitchFamily="34" charset="0"/>
                          </a:rPr>
                          <m:t>𝐶</m:t>
                        </m:r>
                        <m:d>
                          <m:dPr>
                            <m:ctrlPr>
                              <a:rPr lang="en-US" sz="1800" b="0" i="1" noProof="0" smtClean="0">
                                <a:latin typeface="Cambria Math" panose="02040503050406030204" pitchFamily="18" charset="0"/>
                                <a:cs typeface="Segoe UI" panose="020B0502040204020203" pitchFamily="34" charset="0"/>
                              </a:rPr>
                            </m:ctrlPr>
                          </m:dPr>
                          <m:e>
                            <m:r>
                              <a:rPr lang="en-US" sz="1800" b="0" i="1" noProof="0" smtClean="0">
                                <a:latin typeface="Cambria Math" panose="02040503050406030204" pitchFamily="18" charset="0"/>
                                <a:cs typeface="Segoe UI" panose="020B0502040204020203" pitchFamily="34" charset="0"/>
                              </a:rPr>
                              <m:t>𝑠</m:t>
                            </m:r>
                          </m:e>
                        </m:d>
                      </m:oMath>
                    </m:oMathPara>
                  </a14:m>
                  <a:endParaRPr lang="en-US" noProof="0" dirty="0"/>
                </a:p>
              </p:txBody>
            </p:sp>
          </mc:Choice>
          <mc:Fallback xmlns="">
            <p:sp>
              <p:nvSpPr>
                <p:cNvPr id="17" name="Textfeld 16">
                  <a:extLst>
                    <a:ext uri="{FF2B5EF4-FFF2-40B4-BE49-F238E27FC236}">
                      <a16:creationId xmlns:a16="http://schemas.microsoft.com/office/drawing/2014/main" id="{2BC214D2-3F20-7824-CCD7-88BB61D5A889}"/>
                    </a:ext>
                  </a:extLst>
                </p:cNvPr>
                <p:cNvSpPr txBox="1">
                  <a:spLocks noRot="1" noChangeAspect="1" noMove="1" noResize="1" noEditPoints="1" noAdjustHandles="1" noChangeArrowheads="1" noChangeShapeType="1" noTextEdit="1"/>
                </p:cNvSpPr>
                <p:nvPr/>
              </p:nvSpPr>
              <p:spPr>
                <a:xfrm>
                  <a:off x="2838829" y="4023655"/>
                  <a:ext cx="339046" cy="369332"/>
                </a:xfrm>
                <a:prstGeom prst="rect">
                  <a:avLst/>
                </a:prstGeom>
                <a:blipFill>
                  <a:blip r:embed="rId4"/>
                  <a:stretch>
                    <a:fillRect/>
                  </a:stretch>
                </a:blipFill>
              </p:spPr>
              <p:txBody>
                <a:bodyPr/>
                <a:lstStyle/>
                <a:p>
                  <a:r>
                    <a:rPr lang="de-DE">
                      <a:noFill/>
                    </a:rPr>
                    <a:t> </a:t>
                  </a:r>
                </a:p>
              </p:txBody>
            </p:sp>
          </mc:Fallback>
        </mc:AlternateContent>
      </p:grpSp>
      <mc:AlternateContent xmlns:mc="http://schemas.openxmlformats.org/markup-compatibility/2006" xmlns:a14="http://schemas.microsoft.com/office/drawing/2010/main">
        <mc:Choice Requires="a14">
          <p:sp>
            <p:nvSpPr>
              <p:cNvPr id="18" name="Textfeld 17">
                <a:extLst>
                  <a:ext uri="{FF2B5EF4-FFF2-40B4-BE49-F238E27FC236}">
                    <a16:creationId xmlns:a16="http://schemas.microsoft.com/office/drawing/2014/main" id="{5B6844B8-9F1A-1145-7C99-2B96EDEC240D}"/>
                  </a:ext>
                </a:extLst>
              </p:cNvPr>
              <p:cNvSpPr txBox="1"/>
              <p:nvPr/>
            </p:nvSpPr>
            <p:spPr>
              <a:xfrm>
                <a:off x="6462210" y="665939"/>
                <a:ext cx="1041569"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i="1" noProof="0" smtClean="0">
                          <a:latin typeface="Cambria Math" panose="02040503050406030204" pitchFamily="18" charset="0"/>
                        </a:rPr>
                        <m:t> </m:t>
                      </m:r>
                      <m:r>
                        <a:rPr lang="en-US" sz="1600" b="0" i="1" noProof="0" smtClean="0">
                          <a:latin typeface="Cambria Math" panose="02040503050406030204" pitchFamily="18" charset="0"/>
                        </a:rPr>
                        <m:t>𝑢</m:t>
                      </m:r>
                    </m:oMath>
                  </m:oMathPara>
                </a14:m>
                <a:endParaRPr lang="en-US" sz="1600" noProof="0" dirty="0"/>
              </a:p>
            </p:txBody>
          </p:sp>
        </mc:Choice>
        <mc:Fallback xmlns="">
          <p:sp>
            <p:nvSpPr>
              <p:cNvPr id="18" name="Textfeld 17">
                <a:extLst>
                  <a:ext uri="{FF2B5EF4-FFF2-40B4-BE49-F238E27FC236}">
                    <a16:creationId xmlns:a16="http://schemas.microsoft.com/office/drawing/2014/main" id="{5B6844B8-9F1A-1145-7C99-2B96EDEC240D}"/>
                  </a:ext>
                </a:extLst>
              </p:cNvPr>
              <p:cNvSpPr txBox="1">
                <a:spLocks noRot="1" noChangeAspect="1" noMove="1" noResize="1" noEditPoints="1" noAdjustHandles="1" noChangeArrowheads="1" noChangeShapeType="1" noTextEdit="1"/>
              </p:cNvSpPr>
              <p:nvPr/>
            </p:nvSpPr>
            <p:spPr>
              <a:xfrm>
                <a:off x="6462210" y="665939"/>
                <a:ext cx="1041569" cy="338554"/>
              </a:xfrm>
              <a:prstGeom prst="rect">
                <a:avLst/>
              </a:prstGeom>
              <a:blipFill>
                <a:blip r:embed="rId5"/>
                <a:stretch>
                  <a:fillRect b="-14286"/>
                </a:stretch>
              </a:blipFill>
            </p:spPr>
            <p:txBody>
              <a:bodyPr/>
              <a:lstStyle/>
              <a:p>
                <a:r>
                  <a:rPr lang="de-DE">
                    <a:noFill/>
                  </a:rPr>
                  <a:t> </a:t>
                </a:r>
              </a:p>
            </p:txBody>
          </p:sp>
        </mc:Fallback>
      </mc:AlternateContent>
      <p:cxnSp>
        <p:nvCxnSpPr>
          <p:cNvPr id="19" name="Gerade Verbindung mit Pfeil 18">
            <a:extLst>
              <a:ext uri="{FF2B5EF4-FFF2-40B4-BE49-F238E27FC236}">
                <a16:creationId xmlns:a16="http://schemas.microsoft.com/office/drawing/2014/main" id="{029683CE-4820-1EE6-F295-FB545B063ADE}"/>
              </a:ext>
            </a:extLst>
          </p:cNvPr>
          <p:cNvCxnSpPr>
            <a:cxnSpLocks/>
          </p:cNvCxnSpPr>
          <p:nvPr/>
        </p:nvCxnSpPr>
        <p:spPr>
          <a:xfrm>
            <a:off x="6805655" y="979205"/>
            <a:ext cx="359541"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 name="Textfeld 19">
                <a:extLst>
                  <a:ext uri="{FF2B5EF4-FFF2-40B4-BE49-F238E27FC236}">
                    <a16:creationId xmlns:a16="http://schemas.microsoft.com/office/drawing/2014/main" id="{691AA9E3-1543-7BAD-0BC5-D2E3331522AD}"/>
                  </a:ext>
                </a:extLst>
              </p:cNvPr>
              <p:cNvSpPr txBox="1"/>
              <p:nvPr/>
            </p:nvSpPr>
            <p:spPr>
              <a:xfrm>
                <a:off x="8102431" y="631317"/>
                <a:ext cx="1041569"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i="1" noProof="0" smtClean="0">
                          <a:latin typeface="Cambria Math" panose="02040503050406030204" pitchFamily="18" charset="0"/>
                        </a:rPr>
                        <m:t> </m:t>
                      </m:r>
                      <m:r>
                        <a:rPr lang="en-US" sz="1600" i="1" noProof="0" smtClean="0">
                          <a:latin typeface="Cambria Math" panose="02040503050406030204" pitchFamily="18" charset="0"/>
                        </a:rPr>
                        <m:t>𝑦</m:t>
                      </m:r>
                    </m:oMath>
                  </m:oMathPara>
                </a14:m>
                <a:endParaRPr lang="en-US" sz="1600" noProof="0" dirty="0"/>
              </a:p>
            </p:txBody>
          </p:sp>
        </mc:Choice>
        <mc:Fallback xmlns="">
          <p:sp>
            <p:nvSpPr>
              <p:cNvPr id="20" name="Textfeld 19">
                <a:extLst>
                  <a:ext uri="{FF2B5EF4-FFF2-40B4-BE49-F238E27FC236}">
                    <a16:creationId xmlns:a16="http://schemas.microsoft.com/office/drawing/2014/main" id="{691AA9E3-1543-7BAD-0BC5-D2E3331522AD}"/>
                  </a:ext>
                </a:extLst>
              </p:cNvPr>
              <p:cNvSpPr txBox="1">
                <a:spLocks noRot="1" noChangeAspect="1" noMove="1" noResize="1" noEditPoints="1" noAdjustHandles="1" noChangeArrowheads="1" noChangeShapeType="1" noTextEdit="1"/>
              </p:cNvSpPr>
              <p:nvPr/>
            </p:nvSpPr>
            <p:spPr>
              <a:xfrm>
                <a:off x="8102431" y="631317"/>
                <a:ext cx="1041569" cy="338554"/>
              </a:xfrm>
              <a:prstGeom prst="rect">
                <a:avLst/>
              </a:prstGeom>
              <a:blipFill>
                <a:blip r:embed="rId6"/>
                <a:stretch>
                  <a:fillRect b="-17857"/>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1" name="Textfeld 20">
                <a:extLst>
                  <a:ext uri="{FF2B5EF4-FFF2-40B4-BE49-F238E27FC236}">
                    <a16:creationId xmlns:a16="http://schemas.microsoft.com/office/drawing/2014/main" id="{A552043F-4EEF-7B96-D11B-6959FAD544C2}"/>
                  </a:ext>
                </a:extLst>
              </p:cNvPr>
              <p:cNvSpPr txBox="1"/>
              <p:nvPr/>
            </p:nvSpPr>
            <p:spPr>
              <a:xfrm>
                <a:off x="4684391" y="682304"/>
                <a:ext cx="1041569"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i="1" noProof="0" smtClean="0">
                          <a:latin typeface="Cambria Math" panose="02040503050406030204" pitchFamily="18" charset="0"/>
                        </a:rPr>
                        <m:t> </m:t>
                      </m:r>
                      <m:r>
                        <a:rPr lang="en-US" sz="1600" b="0" i="1" noProof="0" smtClean="0">
                          <a:latin typeface="Cambria Math" panose="02040503050406030204" pitchFamily="18" charset="0"/>
                        </a:rPr>
                        <m:t>𝑟</m:t>
                      </m:r>
                    </m:oMath>
                  </m:oMathPara>
                </a14:m>
                <a:endParaRPr lang="en-US" sz="1600" noProof="0" dirty="0"/>
              </a:p>
            </p:txBody>
          </p:sp>
        </mc:Choice>
        <mc:Fallback xmlns="">
          <p:sp>
            <p:nvSpPr>
              <p:cNvPr id="21" name="Textfeld 20">
                <a:extLst>
                  <a:ext uri="{FF2B5EF4-FFF2-40B4-BE49-F238E27FC236}">
                    <a16:creationId xmlns:a16="http://schemas.microsoft.com/office/drawing/2014/main" id="{A552043F-4EEF-7B96-D11B-6959FAD544C2}"/>
                  </a:ext>
                </a:extLst>
              </p:cNvPr>
              <p:cNvSpPr txBox="1">
                <a:spLocks noRot="1" noChangeAspect="1" noMove="1" noResize="1" noEditPoints="1" noAdjustHandles="1" noChangeArrowheads="1" noChangeShapeType="1" noTextEdit="1"/>
              </p:cNvSpPr>
              <p:nvPr/>
            </p:nvSpPr>
            <p:spPr>
              <a:xfrm>
                <a:off x="4684391" y="682304"/>
                <a:ext cx="1041569" cy="338554"/>
              </a:xfrm>
              <a:prstGeom prst="rect">
                <a:avLst/>
              </a:prstGeom>
              <a:blipFill>
                <a:blip r:embed="rId7"/>
                <a:stretch>
                  <a:fillRect b="-14286"/>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2" name="Textfeld 21">
                <a:extLst>
                  <a:ext uri="{FF2B5EF4-FFF2-40B4-BE49-F238E27FC236}">
                    <a16:creationId xmlns:a16="http://schemas.microsoft.com/office/drawing/2014/main" id="{073F2ACF-9F4D-F656-F042-833261981C2F}"/>
                  </a:ext>
                </a:extLst>
              </p:cNvPr>
              <p:cNvSpPr txBox="1"/>
              <p:nvPr/>
            </p:nvSpPr>
            <p:spPr>
              <a:xfrm>
                <a:off x="5007321" y="847979"/>
                <a:ext cx="104156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800" i="1" noProof="0" smtClean="0">
                          <a:latin typeface="Cambria Math" panose="02040503050406030204" pitchFamily="18" charset="0"/>
                        </a:rPr>
                        <m:t> </m:t>
                      </m:r>
                    </m:oMath>
                  </m:oMathPara>
                </a14:m>
                <a:endParaRPr lang="en-US" sz="1800" noProof="0" dirty="0"/>
              </a:p>
            </p:txBody>
          </p:sp>
        </mc:Choice>
        <mc:Fallback xmlns="">
          <p:sp>
            <p:nvSpPr>
              <p:cNvPr id="22" name="Textfeld 21">
                <a:extLst>
                  <a:ext uri="{FF2B5EF4-FFF2-40B4-BE49-F238E27FC236}">
                    <a16:creationId xmlns:a16="http://schemas.microsoft.com/office/drawing/2014/main" id="{073F2ACF-9F4D-F656-F042-833261981C2F}"/>
                  </a:ext>
                </a:extLst>
              </p:cNvPr>
              <p:cNvSpPr txBox="1">
                <a:spLocks noRot="1" noChangeAspect="1" noMove="1" noResize="1" noEditPoints="1" noAdjustHandles="1" noChangeArrowheads="1" noChangeShapeType="1" noTextEdit="1"/>
              </p:cNvSpPr>
              <p:nvPr/>
            </p:nvSpPr>
            <p:spPr>
              <a:xfrm>
                <a:off x="5007321" y="847979"/>
                <a:ext cx="1041569" cy="369332"/>
              </a:xfrm>
              <a:prstGeom prst="rect">
                <a:avLst/>
              </a:prstGeom>
              <a:blipFill>
                <a:blip r:embed="rId8"/>
                <a:stretch>
                  <a:fillRect b="-20000"/>
                </a:stretch>
              </a:blipFill>
            </p:spPr>
            <p:txBody>
              <a:bodyPr/>
              <a:lstStyle/>
              <a:p>
                <a:r>
                  <a:rPr lang="de-DE">
                    <a:noFill/>
                  </a:rPr>
                  <a:t> </a:t>
                </a:r>
              </a:p>
            </p:txBody>
          </p:sp>
        </mc:Fallback>
      </mc:AlternateContent>
      <p:cxnSp>
        <p:nvCxnSpPr>
          <p:cNvPr id="23" name="Gerade Verbindung mit Pfeil 22">
            <a:extLst>
              <a:ext uri="{FF2B5EF4-FFF2-40B4-BE49-F238E27FC236}">
                <a16:creationId xmlns:a16="http://schemas.microsoft.com/office/drawing/2014/main" id="{C8AADF45-D926-FF55-4982-21EA57C429D3}"/>
              </a:ext>
            </a:extLst>
          </p:cNvPr>
          <p:cNvCxnSpPr>
            <a:cxnSpLocks/>
          </p:cNvCxnSpPr>
          <p:nvPr/>
        </p:nvCxnSpPr>
        <p:spPr>
          <a:xfrm>
            <a:off x="5047012" y="1004493"/>
            <a:ext cx="426882"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Gerade Verbindung mit Pfeil 24">
            <a:extLst>
              <a:ext uri="{FF2B5EF4-FFF2-40B4-BE49-F238E27FC236}">
                <a16:creationId xmlns:a16="http://schemas.microsoft.com/office/drawing/2014/main" id="{6C8FD85E-7D41-99F5-F5FC-5F5346D295B6}"/>
              </a:ext>
            </a:extLst>
          </p:cNvPr>
          <p:cNvCxnSpPr>
            <a:cxnSpLocks/>
          </p:cNvCxnSpPr>
          <p:nvPr/>
        </p:nvCxnSpPr>
        <p:spPr>
          <a:xfrm>
            <a:off x="8376282" y="979205"/>
            <a:ext cx="493868"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7" name="Textfeld 26">
                <a:extLst>
                  <a:ext uri="{FF2B5EF4-FFF2-40B4-BE49-F238E27FC236}">
                    <a16:creationId xmlns:a16="http://schemas.microsoft.com/office/drawing/2014/main" id="{96C0F0E2-3D08-2E80-E622-A8F5E639BDA3}"/>
                  </a:ext>
                </a:extLst>
              </p:cNvPr>
              <p:cNvSpPr txBox="1"/>
              <p:nvPr/>
            </p:nvSpPr>
            <p:spPr>
              <a:xfrm>
                <a:off x="7741493" y="3434965"/>
                <a:ext cx="1269578" cy="1077218"/>
              </a:xfrm>
              <a:prstGeom prst="rect">
                <a:avLst/>
              </a:prstGeom>
              <a:noFill/>
            </p:spPr>
            <p:txBody>
              <a:bodyPr wrap="none" rtlCol="0">
                <a:spAutoFit/>
              </a:bodyPr>
              <a:lstStyle/>
              <a:p>
                <a14:m>
                  <m:oMath xmlns:m="http://schemas.openxmlformats.org/officeDocument/2006/math">
                    <m:r>
                      <a:rPr lang="en-US" sz="1600" i="1" noProof="0" smtClean="0">
                        <a:latin typeface="Cambria Math" panose="02040503050406030204" pitchFamily="18" charset="0"/>
                      </a:rPr>
                      <m:t>𝑟</m:t>
                    </m:r>
                  </m:oMath>
                </a14:m>
                <a:r>
                  <a:rPr lang="en-US" sz="1600" noProof="0" dirty="0"/>
                  <a:t>: reference</a:t>
                </a:r>
              </a:p>
              <a:p>
                <a14:m>
                  <m:oMath xmlns:m="http://schemas.openxmlformats.org/officeDocument/2006/math">
                    <m:r>
                      <a:rPr lang="en-US" sz="1600" i="1" noProof="0" smtClean="0">
                        <a:latin typeface="Cambria Math" panose="02040503050406030204" pitchFamily="18" charset="0"/>
                      </a:rPr>
                      <m:t>𝑢</m:t>
                    </m:r>
                  </m:oMath>
                </a14:m>
                <a:r>
                  <a:rPr lang="en-US" sz="1600" noProof="0" dirty="0"/>
                  <a:t>: input</a:t>
                </a:r>
              </a:p>
              <a:p>
                <a14:m>
                  <m:oMath xmlns:m="http://schemas.openxmlformats.org/officeDocument/2006/math">
                    <m:r>
                      <a:rPr lang="en-US" sz="1600" i="1" noProof="0" smtClean="0">
                        <a:latin typeface="Cambria Math" panose="02040503050406030204" pitchFamily="18" charset="0"/>
                      </a:rPr>
                      <m:t>𝑦</m:t>
                    </m:r>
                  </m:oMath>
                </a14:m>
                <a:r>
                  <a:rPr lang="en-US" sz="1600" noProof="0" dirty="0"/>
                  <a:t>: output</a:t>
                </a:r>
              </a:p>
              <a:p>
                <a14:m>
                  <m:oMath xmlns:m="http://schemas.openxmlformats.org/officeDocument/2006/math">
                    <m:r>
                      <a:rPr lang="en-US" sz="1600" i="1" noProof="0" smtClean="0">
                        <a:latin typeface="Cambria Math" panose="02040503050406030204" pitchFamily="18" charset="0"/>
                      </a:rPr>
                      <m:t>𝑒</m:t>
                    </m:r>
                  </m:oMath>
                </a14:m>
                <a:r>
                  <a:rPr lang="en-US" sz="1600" noProof="0" dirty="0"/>
                  <a:t>: error</a:t>
                </a:r>
              </a:p>
            </p:txBody>
          </p:sp>
        </mc:Choice>
        <mc:Fallback xmlns="">
          <p:sp>
            <p:nvSpPr>
              <p:cNvPr id="27" name="Textfeld 26">
                <a:extLst>
                  <a:ext uri="{FF2B5EF4-FFF2-40B4-BE49-F238E27FC236}">
                    <a16:creationId xmlns:a16="http://schemas.microsoft.com/office/drawing/2014/main" id="{96C0F0E2-3D08-2E80-E622-A8F5E639BDA3}"/>
                  </a:ext>
                </a:extLst>
              </p:cNvPr>
              <p:cNvSpPr txBox="1">
                <a:spLocks noRot="1" noChangeAspect="1" noMove="1" noResize="1" noEditPoints="1" noAdjustHandles="1" noChangeArrowheads="1" noChangeShapeType="1" noTextEdit="1"/>
              </p:cNvSpPr>
              <p:nvPr/>
            </p:nvSpPr>
            <p:spPr>
              <a:xfrm>
                <a:off x="7741493" y="3434965"/>
                <a:ext cx="1269578" cy="1077218"/>
              </a:xfrm>
              <a:prstGeom prst="rect">
                <a:avLst/>
              </a:prstGeom>
              <a:blipFill>
                <a:blip r:embed="rId9"/>
                <a:stretch>
                  <a:fillRect t="-1163" r="-990" b="-5814"/>
                </a:stretch>
              </a:blipFill>
            </p:spPr>
            <p:txBody>
              <a:bodyPr/>
              <a:lstStyle/>
              <a:p>
                <a:r>
                  <a:rPr lang="de-DE">
                    <a:noFill/>
                  </a:rPr>
                  <a:t> </a:t>
                </a:r>
              </a:p>
            </p:txBody>
          </p:sp>
        </mc:Fallback>
      </mc:AlternateContent>
      <p:sp>
        <p:nvSpPr>
          <p:cNvPr id="31" name="Geschweifte Klammer links 30">
            <a:extLst>
              <a:ext uri="{FF2B5EF4-FFF2-40B4-BE49-F238E27FC236}">
                <a16:creationId xmlns:a16="http://schemas.microsoft.com/office/drawing/2014/main" id="{5BE5390B-CC65-3AFF-284A-AFDDA7ECD33B}"/>
              </a:ext>
            </a:extLst>
          </p:cNvPr>
          <p:cNvSpPr/>
          <p:nvPr/>
        </p:nvSpPr>
        <p:spPr>
          <a:xfrm rot="5400000">
            <a:off x="7678471" y="60851"/>
            <a:ext cx="155133" cy="1041569"/>
          </a:xfrm>
          <a:prstGeom prst="leftBrace">
            <a:avLst/>
          </a:prstGeom>
          <a:ln w="254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32" name="Textfeld 31">
            <a:extLst>
              <a:ext uri="{FF2B5EF4-FFF2-40B4-BE49-F238E27FC236}">
                <a16:creationId xmlns:a16="http://schemas.microsoft.com/office/drawing/2014/main" id="{C1DB3C93-5A43-EEA2-87FA-F7C0B4B4A7A7}"/>
              </a:ext>
            </a:extLst>
          </p:cNvPr>
          <p:cNvSpPr txBox="1"/>
          <p:nvPr/>
        </p:nvSpPr>
        <p:spPr>
          <a:xfrm>
            <a:off x="6855802" y="147842"/>
            <a:ext cx="1848583" cy="338554"/>
          </a:xfrm>
          <a:prstGeom prst="rect">
            <a:avLst/>
          </a:prstGeom>
          <a:noFill/>
        </p:spPr>
        <p:txBody>
          <a:bodyPr wrap="none" rtlCol="0">
            <a:spAutoFit/>
          </a:bodyPr>
          <a:lstStyle/>
          <a:p>
            <a:r>
              <a:rPr lang="en-US" sz="1600" i="1" noProof="0" dirty="0">
                <a:latin typeface="Segoe UI" panose="020B0502040204020203" pitchFamily="34" charset="0"/>
                <a:cs typeface="Segoe UI" panose="020B0502040204020203" pitchFamily="34" charset="0"/>
              </a:rPr>
              <a:t>Model of a system</a:t>
            </a:r>
          </a:p>
        </p:txBody>
      </p:sp>
      <p:sp>
        <p:nvSpPr>
          <p:cNvPr id="33" name="Textfeld 32">
            <a:extLst>
              <a:ext uri="{FF2B5EF4-FFF2-40B4-BE49-F238E27FC236}">
                <a16:creationId xmlns:a16="http://schemas.microsoft.com/office/drawing/2014/main" id="{C3B143C1-81A2-67F7-15C9-B7D80C2B7BAE}"/>
              </a:ext>
            </a:extLst>
          </p:cNvPr>
          <p:cNvSpPr txBox="1"/>
          <p:nvPr/>
        </p:nvSpPr>
        <p:spPr>
          <a:xfrm>
            <a:off x="5420551" y="1440395"/>
            <a:ext cx="1454244" cy="338554"/>
          </a:xfrm>
          <a:prstGeom prst="rect">
            <a:avLst/>
          </a:prstGeom>
          <a:noFill/>
        </p:spPr>
        <p:txBody>
          <a:bodyPr wrap="none" rtlCol="0">
            <a:spAutoFit/>
          </a:bodyPr>
          <a:lstStyle/>
          <a:p>
            <a:r>
              <a:rPr lang="en-US" sz="1600" i="1" noProof="0" dirty="0">
                <a:latin typeface="Segoe UI" panose="020B0502040204020203" pitchFamily="34" charset="0"/>
                <a:cs typeface="Segoe UI" panose="020B0502040204020203" pitchFamily="34" charset="0"/>
              </a:rPr>
              <a:t>Our controller</a:t>
            </a:r>
          </a:p>
        </p:txBody>
      </p:sp>
      <p:sp>
        <p:nvSpPr>
          <p:cNvPr id="34" name="Geschweifte Klammer links 33">
            <a:extLst>
              <a:ext uri="{FF2B5EF4-FFF2-40B4-BE49-F238E27FC236}">
                <a16:creationId xmlns:a16="http://schemas.microsoft.com/office/drawing/2014/main" id="{39CB147A-9EA5-432C-205B-5A5327060AA5}"/>
              </a:ext>
            </a:extLst>
          </p:cNvPr>
          <p:cNvSpPr/>
          <p:nvPr/>
        </p:nvSpPr>
        <p:spPr>
          <a:xfrm rot="16200000">
            <a:off x="6062861" y="739801"/>
            <a:ext cx="153826" cy="1331762"/>
          </a:xfrm>
          <a:prstGeom prst="leftBrace">
            <a:avLst/>
          </a:prstGeom>
          <a:ln w="254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35" name="Oval 34">
            <a:extLst>
              <a:ext uri="{FF2B5EF4-FFF2-40B4-BE49-F238E27FC236}">
                <a16:creationId xmlns:a16="http://schemas.microsoft.com/office/drawing/2014/main" id="{A71422C2-04A4-ED12-2EDD-65026F3C4AD0}"/>
              </a:ext>
            </a:extLst>
          </p:cNvPr>
          <p:cNvSpPr/>
          <p:nvPr/>
        </p:nvSpPr>
        <p:spPr>
          <a:xfrm>
            <a:off x="5250836" y="2342886"/>
            <a:ext cx="216000" cy="216000"/>
          </a:xfrm>
          <a:prstGeom prst="ellipse">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noProof="0" dirty="0"/>
          </a:p>
        </p:txBody>
      </p:sp>
      <p:cxnSp>
        <p:nvCxnSpPr>
          <p:cNvPr id="36" name="Gerade Verbindung mit Pfeil 35">
            <a:extLst>
              <a:ext uri="{FF2B5EF4-FFF2-40B4-BE49-F238E27FC236}">
                <a16:creationId xmlns:a16="http://schemas.microsoft.com/office/drawing/2014/main" id="{68596AE2-B6F3-F678-B0C7-45E3EE8FC252}"/>
              </a:ext>
            </a:extLst>
          </p:cNvPr>
          <p:cNvCxnSpPr>
            <a:cxnSpLocks/>
          </p:cNvCxnSpPr>
          <p:nvPr/>
        </p:nvCxnSpPr>
        <p:spPr>
          <a:xfrm>
            <a:off x="8415309" y="2446066"/>
            <a:ext cx="710814"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Textfeld 36">
                <a:extLst>
                  <a:ext uri="{FF2B5EF4-FFF2-40B4-BE49-F238E27FC236}">
                    <a16:creationId xmlns:a16="http://schemas.microsoft.com/office/drawing/2014/main" id="{AA3327E8-5C8A-1A6F-4F06-1FC455DBFE26}"/>
                  </a:ext>
                </a:extLst>
              </p:cNvPr>
              <p:cNvSpPr txBox="1"/>
              <p:nvPr/>
            </p:nvSpPr>
            <p:spPr>
              <a:xfrm>
                <a:off x="8259202" y="2105181"/>
                <a:ext cx="1041569"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i="1" noProof="0" smtClean="0">
                          <a:latin typeface="Cambria Math" panose="02040503050406030204" pitchFamily="18" charset="0"/>
                        </a:rPr>
                        <m:t> </m:t>
                      </m:r>
                      <m:r>
                        <a:rPr lang="en-US" sz="1600" i="1" noProof="0" smtClean="0">
                          <a:latin typeface="Cambria Math" panose="02040503050406030204" pitchFamily="18" charset="0"/>
                        </a:rPr>
                        <m:t>𝑦</m:t>
                      </m:r>
                    </m:oMath>
                  </m:oMathPara>
                </a14:m>
                <a:endParaRPr lang="en-US" sz="1600" noProof="0" dirty="0"/>
              </a:p>
            </p:txBody>
          </p:sp>
        </mc:Choice>
        <mc:Fallback xmlns="">
          <p:sp>
            <p:nvSpPr>
              <p:cNvPr id="37" name="Textfeld 36">
                <a:extLst>
                  <a:ext uri="{FF2B5EF4-FFF2-40B4-BE49-F238E27FC236}">
                    <a16:creationId xmlns:a16="http://schemas.microsoft.com/office/drawing/2014/main" id="{AA3327E8-5C8A-1A6F-4F06-1FC455DBFE26}"/>
                  </a:ext>
                </a:extLst>
              </p:cNvPr>
              <p:cNvSpPr txBox="1">
                <a:spLocks noRot="1" noChangeAspect="1" noMove="1" noResize="1" noEditPoints="1" noAdjustHandles="1" noChangeArrowheads="1" noChangeShapeType="1" noTextEdit="1"/>
              </p:cNvSpPr>
              <p:nvPr/>
            </p:nvSpPr>
            <p:spPr>
              <a:xfrm>
                <a:off x="8259202" y="2105181"/>
                <a:ext cx="1041569" cy="338554"/>
              </a:xfrm>
              <a:prstGeom prst="rect">
                <a:avLst/>
              </a:prstGeom>
              <a:blipFill>
                <a:blip r:embed="rId10"/>
                <a:stretch>
                  <a:fillRect b="-17857"/>
                </a:stretch>
              </a:blipFill>
            </p:spPr>
            <p:txBody>
              <a:bodyPr/>
              <a:lstStyle/>
              <a:p>
                <a:r>
                  <a:rPr lang="de-DE">
                    <a:noFill/>
                  </a:rPr>
                  <a:t> </a:t>
                </a:r>
              </a:p>
            </p:txBody>
          </p:sp>
        </mc:Fallback>
      </mc:AlternateContent>
      <p:grpSp>
        <p:nvGrpSpPr>
          <p:cNvPr id="38" name="Gruppieren 37">
            <a:extLst>
              <a:ext uri="{FF2B5EF4-FFF2-40B4-BE49-F238E27FC236}">
                <a16:creationId xmlns:a16="http://schemas.microsoft.com/office/drawing/2014/main" id="{BC93EEDD-9766-A71B-AC2B-3A31D2FD8ACF}"/>
              </a:ext>
            </a:extLst>
          </p:cNvPr>
          <p:cNvGrpSpPr/>
          <p:nvPr/>
        </p:nvGrpSpPr>
        <p:grpSpPr>
          <a:xfrm>
            <a:off x="7332239" y="2176406"/>
            <a:ext cx="1071771" cy="553007"/>
            <a:chOff x="2403054" y="3026666"/>
            <a:chExt cx="545710" cy="553007"/>
          </a:xfrm>
        </p:grpSpPr>
        <p:sp>
          <p:nvSpPr>
            <p:cNvPr id="39" name="Rechteck 38">
              <a:extLst>
                <a:ext uri="{FF2B5EF4-FFF2-40B4-BE49-F238E27FC236}">
                  <a16:creationId xmlns:a16="http://schemas.microsoft.com/office/drawing/2014/main" id="{2A3E32F5-3369-93F4-378C-CEF80C3045E8}"/>
                </a:ext>
              </a:extLst>
            </p:cNvPr>
            <p:cNvSpPr/>
            <p:nvPr/>
          </p:nvSpPr>
          <p:spPr>
            <a:xfrm>
              <a:off x="2403054" y="3026666"/>
              <a:ext cx="545710" cy="553007"/>
            </a:xfrm>
            <a:prstGeom prst="rect">
              <a:avLst/>
            </a:prstGeom>
            <a:no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noProof="0" dirty="0"/>
            </a:p>
          </p:txBody>
        </p:sp>
        <mc:AlternateContent xmlns:mc="http://schemas.openxmlformats.org/markup-compatibility/2006" xmlns:a14="http://schemas.microsoft.com/office/drawing/2010/main">
          <mc:Choice Requires="a14">
            <p:sp>
              <p:nvSpPr>
                <p:cNvPr id="40" name="Textfeld 39">
                  <a:extLst>
                    <a:ext uri="{FF2B5EF4-FFF2-40B4-BE49-F238E27FC236}">
                      <a16:creationId xmlns:a16="http://schemas.microsoft.com/office/drawing/2014/main" id="{60E0B7F5-4996-E6CF-8AA2-081CDDB54846}"/>
                    </a:ext>
                  </a:extLst>
                </p:cNvPr>
                <p:cNvSpPr txBox="1"/>
                <p:nvPr/>
              </p:nvSpPr>
              <p:spPr>
                <a:xfrm>
                  <a:off x="2459135" y="3107336"/>
                  <a:ext cx="42197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800" i="1" noProof="0" smtClean="0">
                            <a:latin typeface="Cambria Math" panose="02040503050406030204" pitchFamily="18" charset="0"/>
                            <a:cs typeface="Segoe UI" panose="020B0502040204020203" pitchFamily="34" charset="0"/>
                          </a:rPr>
                          <m:t>𝑃</m:t>
                        </m:r>
                        <m:r>
                          <a:rPr lang="en-US" sz="1800" b="0" i="1" noProof="0" smtClean="0">
                            <a:latin typeface="Cambria Math" panose="02040503050406030204" pitchFamily="18" charset="0"/>
                            <a:cs typeface="Segoe UI" panose="020B0502040204020203" pitchFamily="34" charset="0"/>
                          </a:rPr>
                          <m:t>(</m:t>
                        </m:r>
                        <m:r>
                          <m:rPr>
                            <m:sty m:val="p"/>
                          </m:rPr>
                          <a:rPr lang="en-US" sz="1800" b="0" i="1" noProof="0" smtClean="0">
                            <a:latin typeface="Cambria Math" panose="02040503050406030204" pitchFamily="18" charset="0"/>
                            <a:cs typeface="Segoe UI" panose="020B0502040204020203" pitchFamily="34" charset="0"/>
                          </a:rPr>
                          <m:t>s</m:t>
                        </m:r>
                        <m:r>
                          <a:rPr lang="en-US" sz="1800" b="0" i="1" noProof="0" smtClean="0">
                            <a:latin typeface="Cambria Math" panose="02040503050406030204" pitchFamily="18" charset="0"/>
                            <a:cs typeface="Segoe UI" panose="020B0502040204020203" pitchFamily="34" charset="0"/>
                          </a:rPr>
                          <m:t>)</m:t>
                        </m:r>
                      </m:oMath>
                    </m:oMathPara>
                  </a14:m>
                  <a:endParaRPr lang="en-US" noProof="0" dirty="0"/>
                </a:p>
              </p:txBody>
            </p:sp>
          </mc:Choice>
          <mc:Fallback xmlns="">
            <p:sp>
              <p:nvSpPr>
                <p:cNvPr id="40" name="Textfeld 39">
                  <a:extLst>
                    <a:ext uri="{FF2B5EF4-FFF2-40B4-BE49-F238E27FC236}">
                      <a16:creationId xmlns:a16="http://schemas.microsoft.com/office/drawing/2014/main" id="{60E0B7F5-4996-E6CF-8AA2-081CDDB54846}"/>
                    </a:ext>
                  </a:extLst>
                </p:cNvPr>
                <p:cNvSpPr txBox="1">
                  <a:spLocks noRot="1" noChangeAspect="1" noMove="1" noResize="1" noEditPoints="1" noAdjustHandles="1" noChangeArrowheads="1" noChangeShapeType="1" noTextEdit="1"/>
                </p:cNvSpPr>
                <p:nvPr/>
              </p:nvSpPr>
              <p:spPr>
                <a:xfrm>
                  <a:off x="2459135" y="3107336"/>
                  <a:ext cx="421972" cy="369332"/>
                </a:xfrm>
                <a:prstGeom prst="rect">
                  <a:avLst/>
                </a:prstGeom>
                <a:blipFill>
                  <a:blip r:embed="rId11"/>
                  <a:stretch>
                    <a:fillRect b="-20000"/>
                  </a:stretch>
                </a:blipFill>
              </p:spPr>
              <p:txBody>
                <a:bodyPr/>
                <a:lstStyle/>
                <a:p>
                  <a:r>
                    <a:rPr lang="de-DE">
                      <a:noFill/>
                    </a:rPr>
                    <a:t> </a:t>
                  </a:r>
                </a:p>
              </p:txBody>
            </p:sp>
          </mc:Fallback>
        </mc:AlternateContent>
      </p:grpSp>
      <p:grpSp>
        <p:nvGrpSpPr>
          <p:cNvPr id="41" name="Gruppieren 40">
            <a:extLst>
              <a:ext uri="{FF2B5EF4-FFF2-40B4-BE49-F238E27FC236}">
                <a16:creationId xmlns:a16="http://schemas.microsoft.com/office/drawing/2014/main" id="{223CDBC2-8B54-5A24-A63E-A502559E9496}"/>
              </a:ext>
            </a:extLst>
          </p:cNvPr>
          <p:cNvGrpSpPr/>
          <p:nvPr/>
        </p:nvGrpSpPr>
        <p:grpSpPr>
          <a:xfrm>
            <a:off x="5903333" y="2185550"/>
            <a:ext cx="1073758" cy="553007"/>
            <a:chOff x="2676164" y="3940223"/>
            <a:chExt cx="587951" cy="553007"/>
          </a:xfrm>
        </p:grpSpPr>
        <p:sp>
          <p:nvSpPr>
            <p:cNvPr id="42" name="Rechteck 41">
              <a:extLst>
                <a:ext uri="{FF2B5EF4-FFF2-40B4-BE49-F238E27FC236}">
                  <a16:creationId xmlns:a16="http://schemas.microsoft.com/office/drawing/2014/main" id="{45650162-5AB9-D28E-5D3F-66138C07A8D5}"/>
                </a:ext>
              </a:extLst>
            </p:cNvPr>
            <p:cNvSpPr/>
            <p:nvPr/>
          </p:nvSpPr>
          <p:spPr>
            <a:xfrm>
              <a:off x="2676164" y="3940223"/>
              <a:ext cx="587951" cy="553007"/>
            </a:xfrm>
            <a:prstGeom prst="rect">
              <a:avLst/>
            </a:prstGeom>
            <a:no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noProof="0" dirty="0"/>
            </a:p>
          </p:txBody>
        </p:sp>
        <mc:AlternateContent xmlns:mc="http://schemas.openxmlformats.org/markup-compatibility/2006" xmlns:a14="http://schemas.microsoft.com/office/drawing/2010/main">
          <mc:Choice Requires="a14">
            <p:sp>
              <p:nvSpPr>
                <p:cNvPr id="43" name="Textfeld 42">
                  <a:extLst>
                    <a:ext uri="{FF2B5EF4-FFF2-40B4-BE49-F238E27FC236}">
                      <a16:creationId xmlns:a16="http://schemas.microsoft.com/office/drawing/2014/main" id="{2EAC7F0D-8C6A-9523-36CE-5F0DB6C00BC1}"/>
                    </a:ext>
                  </a:extLst>
                </p:cNvPr>
                <p:cNvSpPr txBox="1"/>
                <p:nvPr/>
              </p:nvSpPr>
              <p:spPr>
                <a:xfrm>
                  <a:off x="2824753" y="3991237"/>
                  <a:ext cx="33866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800" i="1" noProof="0" smtClean="0">
                            <a:latin typeface="Cambria Math" panose="02040503050406030204" pitchFamily="18" charset="0"/>
                            <a:cs typeface="Segoe UI" panose="020B0502040204020203" pitchFamily="34" charset="0"/>
                          </a:rPr>
                          <m:t>𝐶</m:t>
                        </m:r>
                        <m:r>
                          <a:rPr lang="en-US" sz="1800" b="0" i="1" noProof="0" smtClean="0">
                            <a:latin typeface="Cambria Math" panose="02040503050406030204" pitchFamily="18" charset="0"/>
                            <a:cs typeface="Segoe UI" panose="020B0502040204020203" pitchFamily="34" charset="0"/>
                          </a:rPr>
                          <m:t>(</m:t>
                        </m:r>
                        <m:r>
                          <m:rPr>
                            <m:sty m:val="p"/>
                          </m:rPr>
                          <a:rPr lang="en-US" sz="1800" b="0" i="1" noProof="0" smtClean="0">
                            <a:latin typeface="Cambria Math" panose="02040503050406030204" pitchFamily="18" charset="0"/>
                            <a:cs typeface="Segoe UI" panose="020B0502040204020203" pitchFamily="34" charset="0"/>
                          </a:rPr>
                          <m:t>s</m:t>
                        </m:r>
                        <m:r>
                          <a:rPr lang="en-US" sz="1800" b="0" i="1" noProof="0" smtClean="0">
                            <a:latin typeface="Cambria Math" panose="02040503050406030204" pitchFamily="18" charset="0"/>
                            <a:cs typeface="Segoe UI" panose="020B0502040204020203" pitchFamily="34" charset="0"/>
                          </a:rPr>
                          <m:t>)</m:t>
                        </m:r>
                      </m:oMath>
                    </m:oMathPara>
                  </a14:m>
                  <a:endParaRPr lang="en-US" sz="1800" noProof="0" dirty="0">
                    <a:latin typeface="Segoe UI" panose="020B0502040204020203" pitchFamily="34" charset="0"/>
                    <a:cs typeface="Segoe UI" panose="020B0502040204020203" pitchFamily="34" charset="0"/>
                  </a:endParaRPr>
                </a:p>
              </p:txBody>
            </p:sp>
          </mc:Choice>
          <mc:Fallback xmlns="">
            <p:sp>
              <p:nvSpPr>
                <p:cNvPr id="43" name="Textfeld 42">
                  <a:extLst>
                    <a:ext uri="{FF2B5EF4-FFF2-40B4-BE49-F238E27FC236}">
                      <a16:creationId xmlns:a16="http://schemas.microsoft.com/office/drawing/2014/main" id="{2EAC7F0D-8C6A-9523-36CE-5F0DB6C00BC1}"/>
                    </a:ext>
                  </a:extLst>
                </p:cNvPr>
                <p:cNvSpPr txBox="1">
                  <a:spLocks noRot="1" noChangeAspect="1" noMove="1" noResize="1" noEditPoints="1" noAdjustHandles="1" noChangeArrowheads="1" noChangeShapeType="1" noTextEdit="1"/>
                </p:cNvSpPr>
                <p:nvPr/>
              </p:nvSpPr>
              <p:spPr>
                <a:xfrm>
                  <a:off x="2824753" y="3991237"/>
                  <a:ext cx="338666" cy="369332"/>
                </a:xfrm>
                <a:prstGeom prst="rect">
                  <a:avLst/>
                </a:prstGeom>
                <a:blipFill>
                  <a:blip r:embed="rId12"/>
                  <a:stretch>
                    <a:fillRect r="-4082" b="-20690"/>
                  </a:stretch>
                </a:blipFill>
              </p:spPr>
              <p:txBody>
                <a:bodyPr/>
                <a:lstStyle/>
                <a:p>
                  <a:r>
                    <a:rPr lang="de-DE">
                      <a:noFill/>
                    </a:rPr>
                    <a:t> </a:t>
                  </a:r>
                </a:p>
              </p:txBody>
            </p:sp>
          </mc:Fallback>
        </mc:AlternateContent>
      </p:grpSp>
      <p:cxnSp>
        <p:nvCxnSpPr>
          <p:cNvPr id="44" name="Gerade Verbindung mit Pfeil 43">
            <a:extLst>
              <a:ext uri="{FF2B5EF4-FFF2-40B4-BE49-F238E27FC236}">
                <a16:creationId xmlns:a16="http://schemas.microsoft.com/office/drawing/2014/main" id="{7A576AAA-8B20-A0F1-4B14-B4AEEDCAD2F4}"/>
              </a:ext>
            </a:extLst>
          </p:cNvPr>
          <p:cNvCxnSpPr>
            <a:cxnSpLocks/>
            <a:endCxn id="42" idx="1"/>
          </p:cNvCxnSpPr>
          <p:nvPr/>
        </p:nvCxnSpPr>
        <p:spPr>
          <a:xfrm>
            <a:off x="5461612" y="2462053"/>
            <a:ext cx="441721"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5" name="Textfeld 44">
                <a:extLst>
                  <a:ext uri="{FF2B5EF4-FFF2-40B4-BE49-F238E27FC236}">
                    <a16:creationId xmlns:a16="http://schemas.microsoft.com/office/drawing/2014/main" id="{D79F419F-8176-5AC8-C846-6913B08662A1}"/>
                  </a:ext>
                </a:extLst>
              </p:cNvPr>
              <p:cNvSpPr txBox="1"/>
              <p:nvPr/>
            </p:nvSpPr>
            <p:spPr>
              <a:xfrm>
                <a:off x="4437745" y="2106423"/>
                <a:ext cx="1041569"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i="1" noProof="0" smtClean="0">
                          <a:latin typeface="Cambria Math" panose="02040503050406030204" pitchFamily="18" charset="0"/>
                        </a:rPr>
                        <m:t> </m:t>
                      </m:r>
                      <m:r>
                        <a:rPr lang="en-US" sz="1600" b="0" i="1" noProof="0" smtClean="0">
                          <a:latin typeface="Cambria Math" panose="02040503050406030204" pitchFamily="18" charset="0"/>
                        </a:rPr>
                        <m:t>𝑟</m:t>
                      </m:r>
                    </m:oMath>
                  </m:oMathPara>
                </a14:m>
                <a:endParaRPr lang="en-US" sz="1600" noProof="0" dirty="0"/>
              </a:p>
            </p:txBody>
          </p:sp>
        </mc:Choice>
        <mc:Fallback xmlns="">
          <p:sp>
            <p:nvSpPr>
              <p:cNvPr id="45" name="Textfeld 44">
                <a:extLst>
                  <a:ext uri="{FF2B5EF4-FFF2-40B4-BE49-F238E27FC236}">
                    <a16:creationId xmlns:a16="http://schemas.microsoft.com/office/drawing/2014/main" id="{D79F419F-8176-5AC8-C846-6913B08662A1}"/>
                  </a:ext>
                </a:extLst>
              </p:cNvPr>
              <p:cNvSpPr txBox="1">
                <a:spLocks noRot="1" noChangeAspect="1" noMove="1" noResize="1" noEditPoints="1" noAdjustHandles="1" noChangeArrowheads="1" noChangeShapeType="1" noTextEdit="1"/>
              </p:cNvSpPr>
              <p:nvPr/>
            </p:nvSpPr>
            <p:spPr>
              <a:xfrm>
                <a:off x="4437745" y="2106423"/>
                <a:ext cx="1041569" cy="338554"/>
              </a:xfrm>
              <a:prstGeom prst="rect">
                <a:avLst/>
              </a:prstGeom>
              <a:blipFill>
                <a:blip r:embed="rId13"/>
                <a:stretch>
                  <a:fillRect b="-18519"/>
                </a:stretch>
              </a:blipFill>
            </p:spPr>
            <p:txBody>
              <a:bodyPr/>
              <a:lstStyle/>
              <a:p>
                <a:r>
                  <a:rPr lang="de-DE">
                    <a:noFill/>
                  </a:rPr>
                  <a:t> </a:t>
                </a:r>
              </a:p>
            </p:txBody>
          </p:sp>
        </mc:Fallback>
      </mc:AlternateContent>
      <p:cxnSp>
        <p:nvCxnSpPr>
          <p:cNvPr id="46" name="Gerade Verbindung mit Pfeil 45">
            <a:extLst>
              <a:ext uri="{FF2B5EF4-FFF2-40B4-BE49-F238E27FC236}">
                <a16:creationId xmlns:a16="http://schemas.microsoft.com/office/drawing/2014/main" id="{2C282B00-09B6-495F-F517-4B322941D70A}"/>
              </a:ext>
            </a:extLst>
          </p:cNvPr>
          <p:cNvCxnSpPr>
            <a:cxnSpLocks/>
          </p:cNvCxnSpPr>
          <p:nvPr/>
        </p:nvCxnSpPr>
        <p:spPr>
          <a:xfrm>
            <a:off x="4779679" y="2448775"/>
            <a:ext cx="471157" cy="211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7" name="Textfeld 46">
                <a:extLst>
                  <a:ext uri="{FF2B5EF4-FFF2-40B4-BE49-F238E27FC236}">
                    <a16:creationId xmlns:a16="http://schemas.microsoft.com/office/drawing/2014/main" id="{25042DB6-24EE-9052-A575-4E5085D9D375}"/>
                  </a:ext>
                </a:extLst>
              </p:cNvPr>
              <p:cNvSpPr txBox="1"/>
              <p:nvPr/>
            </p:nvSpPr>
            <p:spPr>
              <a:xfrm>
                <a:off x="5131303" y="2148049"/>
                <a:ext cx="1041569"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i="1" noProof="0" smtClean="0">
                          <a:latin typeface="Cambria Math" panose="02040503050406030204" pitchFamily="18" charset="0"/>
                        </a:rPr>
                        <m:t> </m:t>
                      </m:r>
                      <m:r>
                        <a:rPr lang="en-US" sz="1600" b="0" i="1" noProof="0" smtClean="0">
                          <a:latin typeface="Cambria Math" panose="02040503050406030204" pitchFamily="18" charset="0"/>
                        </a:rPr>
                        <m:t>𝑒</m:t>
                      </m:r>
                    </m:oMath>
                  </m:oMathPara>
                </a14:m>
                <a:endParaRPr lang="en-US" sz="1600" noProof="0" dirty="0"/>
              </a:p>
            </p:txBody>
          </p:sp>
        </mc:Choice>
        <mc:Fallback xmlns="">
          <p:sp>
            <p:nvSpPr>
              <p:cNvPr id="47" name="Textfeld 46">
                <a:extLst>
                  <a:ext uri="{FF2B5EF4-FFF2-40B4-BE49-F238E27FC236}">
                    <a16:creationId xmlns:a16="http://schemas.microsoft.com/office/drawing/2014/main" id="{25042DB6-24EE-9052-A575-4E5085D9D375}"/>
                  </a:ext>
                </a:extLst>
              </p:cNvPr>
              <p:cNvSpPr txBox="1">
                <a:spLocks noRot="1" noChangeAspect="1" noMove="1" noResize="1" noEditPoints="1" noAdjustHandles="1" noChangeArrowheads="1" noChangeShapeType="1" noTextEdit="1"/>
              </p:cNvSpPr>
              <p:nvPr/>
            </p:nvSpPr>
            <p:spPr>
              <a:xfrm>
                <a:off x="5131303" y="2148049"/>
                <a:ext cx="1041569" cy="338554"/>
              </a:xfrm>
              <a:prstGeom prst="rect">
                <a:avLst/>
              </a:prstGeom>
              <a:blipFill>
                <a:blip r:embed="rId14"/>
                <a:stretch>
                  <a:fillRect b="-17857"/>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48" name="Textfeld 47">
                <a:extLst>
                  <a:ext uri="{FF2B5EF4-FFF2-40B4-BE49-F238E27FC236}">
                    <a16:creationId xmlns:a16="http://schemas.microsoft.com/office/drawing/2014/main" id="{44DD0B26-DA83-31FA-AC57-43C4E90F0D8B}"/>
                  </a:ext>
                </a:extLst>
              </p:cNvPr>
              <p:cNvSpPr txBox="1"/>
              <p:nvPr/>
            </p:nvSpPr>
            <p:spPr>
              <a:xfrm>
                <a:off x="6632984" y="2123499"/>
                <a:ext cx="1041569"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i="1" noProof="0" smtClean="0">
                          <a:latin typeface="Cambria Math" panose="02040503050406030204" pitchFamily="18" charset="0"/>
                        </a:rPr>
                        <m:t> </m:t>
                      </m:r>
                      <m:r>
                        <a:rPr lang="en-US" sz="1600" b="0" i="1" noProof="0" smtClean="0">
                          <a:latin typeface="Cambria Math" panose="02040503050406030204" pitchFamily="18" charset="0"/>
                        </a:rPr>
                        <m:t>𝑢</m:t>
                      </m:r>
                    </m:oMath>
                  </m:oMathPara>
                </a14:m>
                <a:endParaRPr lang="en-US" sz="1600" noProof="0" dirty="0"/>
              </a:p>
            </p:txBody>
          </p:sp>
        </mc:Choice>
        <mc:Fallback xmlns="">
          <p:sp>
            <p:nvSpPr>
              <p:cNvPr id="48" name="Textfeld 47">
                <a:extLst>
                  <a:ext uri="{FF2B5EF4-FFF2-40B4-BE49-F238E27FC236}">
                    <a16:creationId xmlns:a16="http://schemas.microsoft.com/office/drawing/2014/main" id="{44DD0B26-DA83-31FA-AC57-43C4E90F0D8B}"/>
                  </a:ext>
                </a:extLst>
              </p:cNvPr>
              <p:cNvSpPr txBox="1">
                <a:spLocks noRot="1" noChangeAspect="1" noMove="1" noResize="1" noEditPoints="1" noAdjustHandles="1" noChangeArrowheads="1" noChangeShapeType="1" noTextEdit="1"/>
              </p:cNvSpPr>
              <p:nvPr/>
            </p:nvSpPr>
            <p:spPr>
              <a:xfrm>
                <a:off x="6632984" y="2123499"/>
                <a:ext cx="1041569" cy="338554"/>
              </a:xfrm>
              <a:prstGeom prst="rect">
                <a:avLst/>
              </a:prstGeom>
              <a:blipFill>
                <a:blip r:embed="rId15"/>
                <a:stretch>
                  <a:fillRect b="-18519"/>
                </a:stretch>
              </a:blipFill>
            </p:spPr>
            <p:txBody>
              <a:bodyPr/>
              <a:lstStyle/>
              <a:p>
                <a:r>
                  <a:rPr lang="de-DE">
                    <a:noFill/>
                  </a:rPr>
                  <a:t> </a:t>
                </a:r>
              </a:p>
            </p:txBody>
          </p:sp>
        </mc:Fallback>
      </mc:AlternateContent>
      <p:cxnSp>
        <p:nvCxnSpPr>
          <p:cNvPr id="49" name="Gerade Verbindung mit Pfeil 48">
            <a:extLst>
              <a:ext uri="{FF2B5EF4-FFF2-40B4-BE49-F238E27FC236}">
                <a16:creationId xmlns:a16="http://schemas.microsoft.com/office/drawing/2014/main" id="{D6251ECF-C55C-281B-BC5D-14A938F53012}"/>
              </a:ext>
            </a:extLst>
          </p:cNvPr>
          <p:cNvCxnSpPr>
            <a:cxnSpLocks/>
          </p:cNvCxnSpPr>
          <p:nvPr/>
        </p:nvCxnSpPr>
        <p:spPr>
          <a:xfrm>
            <a:off x="6976332" y="2436922"/>
            <a:ext cx="359541"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Gerade Verbindung 50">
            <a:extLst>
              <a:ext uri="{FF2B5EF4-FFF2-40B4-BE49-F238E27FC236}">
                <a16:creationId xmlns:a16="http://schemas.microsoft.com/office/drawing/2014/main" id="{FB680F81-7190-58C8-291C-C039A9E7FD3B}"/>
              </a:ext>
            </a:extLst>
          </p:cNvPr>
          <p:cNvCxnSpPr>
            <a:cxnSpLocks/>
          </p:cNvCxnSpPr>
          <p:nvPr/>
        </p:nvCxnSpPr>
        <p:spPr>
          <a:xfrm>
            <a:off x="8640691" y="2446066"/>
            <a:ext cx="0" cy="70679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2" name="Textfeld 51">
                <a:extLst>
                  <a:ext uri="{FF2B5EF4-FFF2-40B4-BE49-F238E27FC236}">
                    <a16:creationId xmlns:a16="http://schemas.microsoft.com/office/drawing/2014/main" id="{35A9A12B-DEF3-7240-CD72-915B288F6E7F}"/>
                  </a:ext>
                </a:extLst>
              </p:cNvPr>
              <p:cNvSpPr txBox="1"/>
              <p:nvPr/>
            </p:nvSpPr>
            <p:spPr>
              <a:xfrm>
                <a:off x="4993824" y="2427900"/>
                <a:ext cx="104156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800" i="1" noProof="0" smtClean="0">
                          <a:latin typeface="Cambria Math" panose="02040503050406030204" pitchFamily="18" charset="0"/>
                        </a:rPr>
                        <m:t> </m:t>
                      </m:r>
                      <m:r>
                        <a:rPr lang="en-US" sz="1800" b="0" i="1" noProof="0" smtClean="0">
                          <a:latin typeface="Cambria Math" panose="02040503050406030204" pitchFamily="18" charset="0"/>
                        </a:rPr>
                        <m:t>−</m:t>
                      </m:r>
                    </m:oMath>
                  </m:oMathPara>
                </a14:m>
                <a:endParaRPr lang="en-US" sz="1800" noProof="0" dirty="0"/>
              </a:p>
            </p:txBody>
          </p:sp>
        </mc:Choice>
        <mc:Fallback xmlns="">
          <p:sp>
            <p:nvSpPr>
              <p:cNvPr id="52" name="Textfeld 51">
                <a:extLst>
                  <a:ext uri="{FF2B5EF4-FFF2-40B4-BE49-F238E27FC236}">
                    <a16:creationId xmlns:a16="http://schemas.microsoft.com/office/drawing/2014/main" id="{35A9A12B-DEF3-7240-CD72-915B288F6E7F}"/>
                  </a:ext>
                </a:extLst>
              </p:cNvPr>
              <p:cNvSpPr txBox="1">
                <a:spLocks noRot="1" noChangeAspect="1" noMove="1" noResize="1" noEditPoints="1" noAdjustHandles="1" noChangeArrowheads="1" noChangeShapeType="1" noTextEdit="1"/>
              </p:cNvSpPr>
              <p:nvPr/>
            </p:nvSpPr>
            <p:spPr>
              <a:xfrm>
                <a:off x="4993824" y="2427900"/>
                <a:ext cx="1041569" cy="369332"/>
              </a:xfrm>
              <a:prstGeom prst="rect">
                <a:avLst/>
              </a:prstGeom>
              <a:blipFill>
                <a:blip r:embed="rId16"/>
                <a:stretch>
                  <a:fillRect b="-20000"/>
                </a:stretch>
              </a:blipFill>
            </p:spPr>
            <p:txBody>
              <a:bodyPr/>
              <a:lstStyle/>
              <a:p>
                <a:r>
                  <a:rPr lang="de-DE">
                    <a:noFill/>
                  </a:rPr>
                  <a:t> </a:t>
                </a:r>
              </a:p>
            </p:txBody>
          </p:sp>
        </mc:Fallback>
      </mc:AlternateContent>
      <p:cxnSp>
        <p:nvCxnSpPr>
          <p:cNvPr id="56" name="Gewinkelte Verbindung 55">
            <a:extLst>
              <a:ext uri="{FF2B5EF4-FFF2-40B4-BE49-F238E27FC236}">
                <a16:creationId xmlns:a16="http://schemas.microsoft.com/office/drawing/2014/main" id="{95C5D1A6-8B78-9D87-4F44-175602CCEADA}"/>
              </a:ext>
            </a:extLst>
          </p:cNvPr>
          <p:cNvCxnSpPr/>
          <p:nvPr/>
        </p:nvCxnSpPr>
        <p:spPr>
          <a:xfrm rot="10800000">
            <a:off x="5358837" y="2558887"/>
            <a:ext cx="3281855" cy="593979"/>
          </a:xfrm>
          <a:prstGeom prst="bentConnector3">
            <a:avLst>
              <a:gd name="adj1" fmla="val 99874"/>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8" name="Rechteck 57">
            <a:extLst>
              <a:ext uri="{FF2B5EF4-FFF2-40B4-BE49-F238E27FC236}">
                <a16:creationId xmlns:a16="http://schemas.microsoft.com/office/drawing/2014/main" id="{761311FA-C51A-1133-236D-72AD9540B008}"/>
              </a:ext>
            </a:extLst>
          </p:cNvPr>
          <p:cNvSpPr/>
          <p:nvPr/>
        </p:nvSpPr>
        <p:spPr>
          <a:xfrm>
            <a:off x="5345954" y="631317"/>
            <a:ext cx="3169396" cy="851278"/>
          </a:xfrm>
          <a:prstGeom prst="rect">
            <a:avLst/>
          </a:prstGeom>
          <a:noFill/>
          <a:ln w="25400">
            <a:solidFill>
              <a:schemeClr val="accent4"/>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0" name="Rechteck 59">
            <a:extLst>
              <a:ext uri="{FF2B5EF4-FFF2-40B4-BE49-F238E27FC236}">
                <a16:creationId xmlns:a16="http://schemas.microsoft.com/office/drawing/2014/main" id="{551666A0-03FF-FE7B-DFF3-4D1A4C49EB21}"/>
              </a:ext>
            </a:extLst>
          </p:cNvPr>
          <p:cNvSpPr/>
          <p:nvPr/>
        </p:nvSpPr>
        <p:spPr>
          <a:xfrm>
            <a:off x="5131303" y="2105181"/>
            <a:ext cx="3573082" cy="1242412"/>
          </a:xfrm>
          <a:prstGeom prst="rect">
            <a:avLst/>
          </a:prstGeom>
          <a:noFill/>
          <a:ln w="25400">
            <a:solidFill>
              <a:schemeClr val="accent5"/>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mc:AlternateContent xmlns:mc="http://schemas.openxmlformats.org/markup-compatibility/2006" xmlns:a14="http://schemas.microsoft.com/office/drawing/2010/main">
        <mc:Choice Requires="a14">
          <p:sp>
            <p:nvSpPr>
              <p:cNvPr id="61" name="Textfeld 60">
                <a:extLst>
                  <a:ext uri="{FF2B5EF4-FFF2-40B4-BE49-F238E27FC236}">
                    <a16:creationId xmlns:a16="http://schemas.microsoft.com/office/drawing/2014/main" id="{E745A483-2144-04BB-53D9-0E5DA9223F15}"/>
                  </a:ext>
                </a:extLst>
              </p:cNvPr>
              <p:cNvSpPr txBox="1"/>
              <p:nvPr/>
            </p:nvSpPr>
            <p:spPr>
              <a:xfrm>
                <a:off x="165324" y="3224454"/>
                <a:ext cx="6735009" cy="1879682"/>
              </a:xfrm>
              <a:prstGeom prst="rect">
                <a:avLst/>
              </a:prstGeom>
              <a:noFill/>
            </p:spPr>
            <p:txBody>
              <a:bodyPr wrap="square" rtlCol="0">
                <a:spAutoFit/>
              </a:bodyPr>
              <a:lstStyle/>
              <a:p>
                <a:r>
                  <a:rPr lang="en-US" sz="1600" noProof="0" dirty="0">
                    <a:latin typeface="Segoe UI" panose="020B0502040204020203" pitchFamily="34" charset="0"/>
                    <a:cs typeface="Segoe UI" panose="020B0502040204020203" pitchFamily="34" charset="0"/>
                  </a:rPr>
                  <a:t>The closed-loop TF r </a:t>
                </a:r>
                <a14:m>
                  <m:oMath xmlns:m="http://schemas.openxmlformats.org/officeDocument/2006/math">
                    <m:r>
                      <a:rPr lang="en-US" sz="1600" i="1" noProof="0">
                        <a:latin typeface="Cambria Math" panose="02040503050406030204" pitchFamily="18" charset="0"/>
                      </a:rPr>
                      <m:t>⟶</m:t>
                    </m:r>
                    <m:r>
                      <a:rPr lang="en-US" sz="1600" i="1" noProof="0">
                        <a:latin typeface="Cambria Math" panose="02040503050406030204" pitchFamily="18" charset="0"/>
                      </a:rPr>
                      <m:t>𝑦</m:t>
                    </m:r>
                  </m:oMath>
                </a14:m>
                <a:r>
                  <a:rPr lang="en-US" sz="1600" noProof="0" dirty="0">
                    <a:latin typeface="Segoe UI" panose="020B0502040204020203" pitchFamily="34" charset="0"/>
                    <a:cs typeface="Segoe UI" panose="020B0502040204020203" pitchFamily="34" charset="0"/>
                  </a:rPr>
                  <a:t> is derived like this:</a:t>
                </a:r>
                <a:br>
                  <a:rPr lang="en-US" noProof="0" dirty="0"/>
                </a:br>
                <a14:m>
                  <m:oMath xmlns:m="http://schemas.openxmlformats.org/officeDocument/2006/math">
                    <m:r>
                      <a:rPr lang="en-US" sz="1600" i="1" noProof="0" smtClean="0">
                        <a:latin typeface="Cambria Math" panose="02040503050406030204" pitchFamily="18" charset="0"/>
                      </a:rPr>
                      <m:t>𝑦</m:t>
                    </m:r>
                    <m:r>
                      <a:rPr lang="en-US" sz="1600" i="1" noProof="0" smtClean="0">
                        <a:latin typeface="Cambria Math" panose="02040503050406030204" pitchFamily="18" charset="0"/>
                      </a:rPr>
                      <m:t> = </m:t>
                    </m:r>
                    <m:r>
                      <a:rPr lang="en-US" sz="1600" i="1" noProof="0" smtClean="0">
                        <a:latin typeface="Cambria Math" panose="02040503050406030204" pitchFamily="18" charset="0"/>
                      </a:rPr>
                      <m:t>𝐶𝑃𝑒</m:t>
                    </m:r>
                    <m:r>
                      <a:rPr lang="en-US" sz="1600" i="1" noProof="0" smtClean="0">
                        <a:latin typeface="Cambria Math" panose="02040503050406030204" pitchFamily="18" charset="0"/>
                      </a:rPr>
                      <m:t> ,  </m:t>
                    </m:r>
                    <m:r>
                      <a:rPr lang="en-US" sz="1600" i="1" noProof="0" smtClean="0">
                        <a:latin typeface="Cambria Math" panose="02040503050406030204" pitchFamily="18" charset="0"/>
                      </a:rPr>
                      <m:t>𝑒</m:t>
                    </m:r>
                    <m:r>
                      <a:rPr lang="en-US" sz="1600" i="1" noProof="0" smtClean="0">
                        <a:latin typeface="Cambria Math" panose="02040503050406030204" pitchFamily="18" charset="0"/>
                      </a:rPr>
                      <m:t>=</m:t>
                    </m:r>
                    <m:r>
                      <a:rPr lang="en-US" sz="1600" i="1" noProof="0" smtClean="0">
                        <a:latin typeface="Cambria Math" panose="02040503050406030204" pitchFamily="18" charset="0"/>
                      </a:rPr>
                      <m:t>𝑟</m:t>
                    </m:r>
                    <m:r>
                      <a:rPr lang="en-US" sz="1600" i="1" noProof="0" smtClean="0">
                        <a:latin typeface="Cambria Math" panose="02040503050406030204" pitchFamily="18" charset="0"/>
                      </a:rPr>
                      <m:t>−</m:t>
                    </m:r>
                    <m:r>
                      <a:rPr lang="en-US" sz="1600" i="1" noProof="0" smtClean="0">
                        <a:latin typeface="Cambria Math" panose="02040503050406030204" pitchFamily="18" charset="0"/>
                      </a:rPr>
                      <m:t>𝑦</m:t>
                    </m:r>
                    <m:r>
                      <a:rPr lang="en-US" sz="1600" i="1" noProof="0" smtClean="0">
                        <a:latin typeface="Cambria Math" panose="02040503050406030204" pitchFamily="18" charset="0"/>
                      </a:rPr>
                      <m:t>  </m:t>
                    </m:r>
                  </m:oMath>
                </a14:m>
                <a:r>
                  <a:rPr lang="en-US" sz="1600" noProof="0" dirty="0"/>
                  <a:t>→ </a:t>
                </a:r>
                <a14:m>
                  <m:oMath xmlns:m="http://schemas.openxmlformats.org/officeDocument/2006/math">
                    <m:r>
                      <a:rPr lang="en-US" sz="1600" i="1" noProof="0" smtClean="0">
                        <a:latin typeface="Cambria Math" panose="02040503050406030204" pitchFamily="18" charset="0"/>
                      </a:rPr>
                      <m:t>𝑦</m:t>
                    </m:r>
                    <m:r>
                      <a:rPr lang="en-US" sz="1600" i="1" noProof="0" smtClean="0">
                        <a:latin typeface="Cambria Math" panose="02040503050406030204" pitchFamily="18" charset="0"/>
                      </a:rPr>
                      <m:t>=</m:t>
                    </m:r>
                    <m:r>
                      <a:rPr lang="en-US" sz="1600" i="1" noProof="0" smtClean="0">
                        <a:latin typeface="Cambria Math" panose="02040503050406030204" pitchFamily="18" charset="0"/>
                      </a:rPr>
                      <m:t>𝐶𝑃</m:t>
                    </m:r>
                    <m:d>
                      <m:dPr>
                        <m:ctrlPr>
                          <a:rPr lang="en-US" sz="1600" i="1" noProof="0" smtClean="0">
                            <a:latin typeface="Cambria Math" panose="02040503050406030204" pitchFamily="18" charset="0"/>
                          </a:rPr>
                        </m:ctrlPr>
                      </m:dPr>
                      <m:e>
                        <m:r>
                          <a:rPr lang="en-US" sz="1600" i="1" noProof="0" smtClean="0">
                            <a:latin typeface="Cambria Math" panose="02040503050406030204" pitchFamily="18" charset="0"/>
                          </a:rPr>
                          <m:t>𝑟</m:t>
                        </m:r>
                        <m:r>
                          <a:rPr lang="en-US" sz="1600" i="1" noProof="0" smtClean="0">
                            <a:latin typeface="Cambria Math" panose="02040503050406030204" pitchFamily="18" charset="0"/>
                          </a:rPr>
                          <m:t>−</m:t>
                        </m:r>
                        <m:r>
                          <a:rPr lang="en-US" sz="1600" i="1" noProof="0" smtClean="0">
                            <a:latin typeface="Cambria Math" panose="02040503050406030204" pitchFamily="18" charset="0"/>
                          </a:rPr>
                          <m:t>𝑦</m:t>
                        </m:r>
                      </m:e>
                    </m:d>
                    <m:r>
                      <a:rPr lang="en-US" sz="1600" i="1" noProof="0" smtClean="0">
                        <a:latin typeface="Cambria Math" panose="02040503050406030204" pitchFamily="18" charset="0"/>
                      </a:rPr>
                      <m:t> </m:t>
                    </m:r>
                  </m:oMath>
                </a14:m>
                <a:r>
                  <a:rPr lang="en-US" sz="1600" noProof="0" dirty="0"/>
                  <a:t>→ </a:t>
                </a:r>
                <a14:m>
                  <m:oMath xmlns:m="http://schemas.openxmlformats.org/officeDocument/2006/math">
                    <m:r>
                      <a:rPr lang="en-US" sz="1600" i="1" noProof="0" smtClean="0">
                        <a:latin typeface="Cambria Math" panose="02040503050406030204" pitchFamily="18" charset="0"/>
                      </a:rPr>
                      <m:t>𝑦</m:t>
                    </m:r>
                    <m:r>
                      <a:rPr lang="en-US" sz="1600" i="1" noProof="0" smtClean="0">
                        <a:latin typeface="Cambria Math" panose="02040503050406030204" pitchFamily="18" charset="0"/>
                      </a:rPr>
                      <m:t> + </m:t>
                    </m:r>
                    <m:r>
                      <a:rPr lang="en-US" sz="1600" i="1" noProof="0" smtClean="0">
                        <a:latin typeface="Cambria Math" panose="02040503050406030204" pitchFamily="18" charset="0"/>
                      </a:rPr>
                      <m:t>𝐶𝑃𝑦</m:t>
                    </m:r>
                    <m:r>
                      <a:rPr lang="en-US" sz="1600" i="1" noProof="0" smtClean="0">
                        <a:latin typeface="Cambria Math" panose="02040503050406030204" pitchFamily="18" charset="0"/>
                      </a:rPr>
                      <m:t> = </m:t>
                    </m:r>
                    <m:r>
                      <a:rPr lang="en-US" sz="1600" i="1" noProof="0" smtClean="0">
                        <a:latin typeface="Cambria Math" panose="02040503050406030204" pitchFamily="18" charset="0"/>
                      </a:rPr>
                      <m:t>𝐶𝑃𝑟</m:t>
                    </m:r>
                    <m:r>
                      <a:rPr lang="en-US" sz="1600" i="1" noProof="0" smtClean="0">
                        <a:latin typeface="Cambria Math" panose="02040503050406030204" pitchFamily="18" charset="0"/>
                      </a:rPr>
                      <m:t> →</m:t>
                    </m:r>
                    <m:r>
                      <a:rPr lang="en-US" sz="1600" i="1" noProof="0" smtClean="0">
                        <a:latin typeface="Cambria Math" panose="02040503050406030204" pitchFamily="18" charset="0"/>
                      </a:rPr>
                      <m:t>𝑦</m:t>
                    </m:r>
                    <m:r>
                      <a:rPr lang="en-US" sz="1600" i="1" noProof="0" smtClean="0">
                        <a:latin typeface="Cambria Math" panose="02040503050406030204" pitchFamily="18" charset="0"/>
                      </a:rPr>
                      <m:t>=</m:t>
                    </m:r>
                    <m:f>
                      <m:fPr>
                        <m:ctrlPr>
                          <a:rPr lang="en-US" sz="1600" i="1" noProof="0" smtClean="0">
                            <a:latin typeface="Cambria Math" panose="02040503050406030204" pitchFamily="18" charset="0"/>
                          </a:rPr>
                        </m:ctrlPr>
                      </m:fPr>
                      <m:num>
                        <m:r>
                          <a:rPr lang="en-US" sz="1600" b="0" i="1" noProof="0" smtClean="0">
                            <a:latin typeface="Cambria Math" panose="02040503050406030204" pitchFamily="18" charset="0"/>
                          </a:rPr>
                          <m:t>𝐶𝑃</m:t>
                        </m:r>
                      </m:num>
                      <m:den>
                        <m:r>
                          <a:rPr lang="en-US" sz="1600" b="0" i="1" noProof="0" smtClean="0">
                            <a:latin typeface="Cambria Math" panose="02040503050406030204" pitchFamily="18" charset="0"/>
                          </a:rPr>
                          <m:t>1+</m:t>
                        </m:r>
                        <m:r>
                          <a:rPr lang="en-US" sz="1600" b="0" i="1" noProof="0" smtClean="0">
                            <a:latin typeface="Cambria Math" panose="02040503050406030204" pitchFamily="18" charset="0"/>
                          </a:rPr>
                          <m:t>𝐶𝑃</m:t>
                        </m:r>
                      </m:den>
                    </m:f>
                    <m:r>
                      <a:rPr lang="en-US" sz="1600" i="1" noProof="0" smtClean="0">
                        <a:latin typeface="Cambria Math" panose="02040503050406030204" pitchFamily="18" charset="0"/>
                      </a:rPr>
                      <m:t>𝑟</m:t>
                    </m:r>
                  </m:oMath>
                </a14:m>
                <a:endParaRPr lang="en-US" sz="1600" noProof="0" dirty="0"/>
              </a:p>
              <a:p>
                <a:r>
                  <a:rPr lang="en-US" sz="1600" noProof="0" dirty="0">
                    <a:latin typeface="Segoe UI" panose="020B0502040204020203" pitchFamily="34" charset="0"/>
                    <a:cs typeface="Segoe UI" panose="020B0502040204020203" pitchFamily="34" charset="0"/>
                  </a:rPr>
                  <a:t>We call this TF </a:t>
                </a:r>
                <a:r>
                  <a:rPr lang="en-US" sz="1600" noProof="0" dirty="0">
                    <a:solidFill>
                      <a:schemeClr val="accent5"/>
                    </a:solidFill>
                    <a:latin typeface="Segoe UI" panose="020B0502040204020203" pitchFamily="34" charset="0"/>
                    <a:cs typeface="Segoe UI" panose="020B0502040204020203" pitchFamily="34" charset="0"/>
                  </a:rPr>
                  <a:t>Complementary Sensitivity </a:t>
                </a:r>
                <a14:m>
                  <m:oMath xmlns:m="http://schemas.openxmlformats.org/officeDocument/2006/math">
                    <m:r>
                      <a:rPr lang="en-US" sz="1600" i="1" noProof="0" smtClean="0">
                        <a:solidFill>
                          <a:schemeClr val="accent5"/>
                        </a:solidFill>
                        <a:latin typeface="Cambria Math" panose="02040503050406030204" pitchFamily="18" charset="0"/>
                        <a:cs typeface="Segoe UI" panose="020B0502040204020203" pitchFamily="34" charset="0"/>
                      </a:rPr>
                      <m:t>𝑇</m:t>
                    </m:r>
                    <m:d>
                      <m:dPr>
                        <m:ctrlPr>
                          <a:rPr lang="en-US" sz="1600" i="1" noProof="0" smtClean="0">
                            <a:solidFill>
                              <a:schemeClr val="accent5"/>
                            </a:solidFill>
                            <a:latin typeface="Cambria Math" panose="02040503050406030204" pitchFamily="18" charset="0"/>
                            <a:cs typeface="Segoe UI" panose="020B0502040204020203" pitchFamily="34" charset="0"/>
                          </a:rPr>
                        </m:ctrlPr>
                      </m:dPr>
                      <m:e>
                        <m:r>
                          <a:rPr lang="en-US" sz="1600" i="1" noProof="0" smtClean="0">
                            <a:solidFill>
                              <a:schemeClr val="accent5"/>
                            </a:solidFill>
                            <a:latin typeface="Cambria Math" panose="02040503050406030204" pitchFamily="18" charset="0"/>
                            <a:cs typeface="Segoe UI" panose="020B0502040204020203" pitchFamily="34" charset="0"/>
                          </a:rPr>
                          <m:t>𝑠</m:t>
                        </m:r>
                      </m:e>
                    </m:d>
                  </m:oMath>
                </a14:m>
                <a:endParaRPr lang="en-US" sz="1600" noProof="0" dirty="0">
                  <a:latin typeface="Segoe UI" panose="020B0502040204020203" pitchFamily="34" charset="0"/>
                  <a:cs typeface="Segoe UI" panose="020B0502040204020203" pitchFamily="34" charset="0"/>
                </a:endParaRPr>
              </a:p>
              <a:p>
                <a:pPr/>
                <a14:m>
                  <m:oMathPara xmlns:m="http://schemas.openxmlformats.org/officeDocument/2006/math">
                    <m:oMathParaPr>
                      <m:jc m:val="centerGroup"/>
                    </m:oMathParaPr>
                    <m:oMath xmlns:m="http://schemas.openxmlformats.org/officeDocument/2006/math">
                      <m:r>
                        <a:rPr lang="en-US" sz="1600" b="1" i="1" noProof="0" smtClean="0">
                          <a:solidFill>
                            <a:schemeClr val="accent5"/>
                          </a:solidFill>
                          <a:latin typeface="Cambria Math" panose="02040503050406030204" pitchFamily="18" charset="0"/>
                        </a:rPr>
                        <m:t>𝑻</m:t>
                      </m:r>
                      <m:d>
                        <m:dPr>
                          <m:ctrlPr>
                            <a:rPr lang="en-US" sz="1600" b="1" i="1" noProof="0" smtClean="0">
                              <a:solidFill>
                                <a:schemeClr val="accent5"/>
                              </a:solidFill>
                              <a:latin typeface="Cambria Math" panose="02040503050406030204" pitchFamily="18" charset="0"/>
                            </a:rPr>
                          </m:ctrlPr>
                        </m:dPr>
                        <m:e>
                          <m:r>
                            <a:rPr lang="en-US" sz="1600" b="1" i="1" noProof="0" smtClean="0">
                              <a:solidFill>
                                <a:schemeClr val="accent5"/>
                              </a:solidFill>
                              <a:latin typeface="Cambria Math" panose="02040503050406030204" pitchFamily="18" charset="0"/>
                            </a:rPr>
                            <m:t>𝒔</m:t>
                          </m:r>
                        </m:e>
                      </m:d>
                      <m:r>
                        <a:rPr lang="en-US" sz="1600" b="1" i="1" noProof="0" smtClean="0">
                          <a:solidFill>
                            <a:schemeClr val="accent5"/>
                          </a:solidFill>
                          <a:latin typeface="Cambria Math" panose="02040503050406030204" pitchFamily="18" charset="0"/>
                        </a:rPr>
                        <m:t>=</m:t>
                      </m:r>
                      <m:f>
                        <m:fPr>
                          <m:ctrlPr>
                            <a:rPr lang="en-US" sz="1600" b="1" i="1" noProof="0" smtClean="0">
                              <a:solidFill>
                                <a:schemeClr val="accent5"/>
                              </a:solidFill>
                              <a:latin typeface="Cambria Math" panose="02040503050406030204" pitchFamily="18" charset="0"/>
                            </a:rPr>
                          </m:ctrlPr>
                        </m:fPr>
                        <m:num>
                          <m:r>
                            <a:rPr lang="en-US" sz="1600" b="1" i="1" noProof="0" smtClean="0">
                              <a:solidFill>
                                <a:schemeClr val="accent5"/>
                              </a:solidFill>
                              <a:latin typeface="Cambria Math" panose="02040503050406030204" pitchFamily="18" charset="0"/>
                            </a:rPr>
                            <m:t>𝑪</m:t>
                          </m:r>
                          <m:d>
                            <m:dPr>
                              <m:ctrlPr>
                                <a:rPr lang="en-US" sz="1600" b="1" i="1" noProof="0" smtClean="0">
                                  <a:solidFill>
                                    <a:schemeClr val="accent5"/>
                                  </a:solidFill>
                                  <a:latin typeface="Cambria Math" panose="02040503050406030204" pitchFamily="18" charset="0"/>
                                </a:rPr>
                              </m:ctrlPr>
                            </m:dPr>
                            <m:e>
                              <m:r>
                                <a:rPr lang="en-US" sz="1600" b="1" i="1" noProof="0" smtClean="0">
                                  <a:solidFill>
                                    <a:schemeClr val="accent5"/>
                                  </a:solidFill>
                                  <a:latin typeface="Cambria Math" panose="02040503050406030204" pitchFamily="18" charset="0"/>
                                </a:rPr>
                                <m:t>𝒔</m:t>
                              </m:r>
                            </m:e>
                          </m:d>
                          <m:r>
                            <a:rPr lang="en-US" sz="1600" b="1" i="1" noProof="0" smtClean="0">
                              <a:solidFill>
                                <a:schemeClr val="accent5"/>
                              </a:solidFill>
                              <a:latin typeface="Cambria Math" panose="02040503050406030204" pitchFamily="18" charset="0"/>
                            </a:rPr>
                            <m:t>𝑷</m:t>
                          </m:r>
                          <m:d>
                            <m:dPr>
                              <m:ctrlPr>
                                <a:rPr lang="en-US" sz="1600" b="1" i="1" noProof="0" smtClean="0">
                                  <a:solidFill>
                                    <a:schemeClr val="accent5"/>
                                  </a:solidFill>
                                  <a:latin typeface="Cambria Math" panose="02040503050406030204" pitchFamily="18" charset="0"/>
                                </a:rPr>
                              </m:ctrlPr>
                            </m:dPr>
                            <m:e>
                              <m:r>
                                <a:rPr lang="en-US" sz="1600" b="1" i="1" noProof="0" smtClean="0">
                                  <a:solidFill>
                                    <a:schemeClr val="accent5"/>
                                  </a:solidFill>
                                  <a:latin typeface="Cambria Math" panose="02040503050406030204" pitchFamily="18" charset="0"/>
                                </a:rPr>
                                <m:t>𝒔</m:t>
                              </m:r>
                            </m:e>
                          </m:d>
                        </m:num>
                        <m:den>
                          <m:r>
                            <a:rPr lang="en-US" sz="1600" b="1" i="1" noProof="0" smtClean="0">
                              <a:solidFill>
                                <a:schemeClr val="accent5"/>
                              </a:solidFill>
                              <a:latin typeface="Cambria Math" panose="02040503050406030204" pitchFamily="18" charset="0"/>
                            </a:rPr>
                            <m:t>𝟏</m:t>
                          </m:r>
                          <m:r>
                            <a:rPr lang="en-US" sz="1600" b="1" i="1" noProof="0" smtClean="0">
                              <a:solidFill>
                                <a:schemeClr val="accent5"/>
                              </a:solidFill>
                              <a:latin typeface="Cambria Math" panose="02040503050406030204" pitchFamily="18" charset="0"/>
                            </a:rPr>
                            <m:t>+</m:t>
                          </m:r>
                          <m:r>
                            <a:rPr lang="en-US" sz="1600" b="1" i="1" noProof="0" smtClean="0">
                              <a:solidFill>
                                <a:schemeClr val="accent5"/>
                              </a:solidFill>
                              <a:latin typeface="Cambria Math" panose="02040503050406030204" pitchFamily="18" charset="0"/>
                            </a:rPr>
                            <m:t>𝑪</m:t>
                          </m:r>
                          <m:d>
                            <m:dPr>
                              <m:ctrlPr>
                                <a:rPr lang="en-US" sz="1600" b="1" i="1" noProof="0" smtClean="0">
                                  <a:solidFill>
                                    <a:schemeClr val="accent5"/>
                                  </a:solidFill>
                                  <a:latin typeface="Cambria Math" panose="02040503050406030204" pitchFamily="18" charset="0"/>
                                </a:rPr>
                              </m:ctrlPr>
                            </m:dPr>
                            <m:e>
                              <m:r>
                                <a:rPr lang="en-US" sz="1600" b="1" i="1" noProof="0" smtClean="0">
                                  <a:solidFill>
                                    <a:schemeClr val="accent5"/>
                                  </a:solidFill>
                                  <a:latin typeface="Cambria Math" panose="02040503050406030204" pitchFamily="18" charset="0"/>
                                </a:rPr>
                                <m:t>𝒔</m:t>
                              </m:r>
                            </m:e>
                          </m:d>
                          <m:r>
                            <a:rPr lang="en-US" sz="1600" b="1" i="1" noProof="0" smtClean="0">
                              <a:solidFill>
                                <a:schemeClr val="accent5"/>
                              </a:solidFill>
                              <a:latin typeface="Cambria Math" panose="02040503050406030204" pitchFamily="18" charset="0"/>
                            </a:rPr>
                            <m:t>𝑷</m:t>
                          </m:r>
                          <m:d>
                            <m:dPr>
                              <m:ctrlPr>
                                <a:rPr lang="en-US" sz="1600" b="1" i="1" noProof="0" smtClean="0">
                                  <a:solidFill>
                                    <a:schemeClr val="accent5"/>
                                  </a:solidFill>
                                  <a:latin typeface="Cambria Math" panose="02040503050406030204" pitchFamily="18" charset="0"/>
                                </a:rPr>
                              </m:ctrlPr>
                            </m:dPr>
                            <m:e>
                              <m:r>
                                <a:rPr lang="en-US" sz="1600" b="1" i="1" noProof="0" smtClean="0">
                                  <a:solidFill>
                                    <a:schemeClr val="accent5"/>
                                  </a:solidFill>
                                  <a:latin typeface="Cambria Math" panose="02040503050406030204" pitchFamily="18" charset="0"/>
                                </a:rPr>
                                <m:t>𝒔</m:t>
                              </m:r>
                            </m:e>
                          </m:d>
                        </m:den>
                      </m:f>
                      <m:r>
                        <a:rPr lang="en-US" sz="1600" b="1" i="1" noProof="0" smtClean="0">
                          <a:solidFill>
                            <a:schemeClr val="accent5"/>
                          </a:solidFill>
                          <a:latin typeface="Cambria Math" panose="02040503050406030204" pitchFamily="18" charset="0"/>
                        </a:rPr>
                        <m:t>=</m:t>
                      </m:r>
                      <m:f>
                        <m:fPr>
                          <m:ctrlPr>
                            <a:rPr lang="en-US" sz="1600" b="1" i="1" noProof="0" smtClean="0">
                              <a:solidFill>
                                <a:schemeClr val="accent5"/>
                              </a:solidFill>
                              <a:latin typeface="Cambria Math" panose="02040503050406030204" pitchFamily="18" charset="0"/>
                            </a:rPr>
                          </m:ctrlPr>
                        </m:fPr>
                        <m:num>
                          <m:r>
                            <a:rPr lang="en-US" sz="1600" b="1" i="1" noProof="0" smtClean="0">
                              <a:solidFill>
                                <a:schemeClr val="accent5"/>
                              </a:solidFill>
                              <a:latin typeface="Cambria Math" panose="02040503050406030204" pitchFamily="18" charset="0"/>
                            </a:rPr>
                            <m:t>𝑳</m:t>
                          </m:r>
                          <m:d>
                            <m:dPr>
                              <m:ctrlPr>
                                <a:rPr lang="en-US" sz="1600" b="1" i="1" noProof="0" smtClean="0">
                                  <a:solidFill>
                                    <a:schemeClr val="accent5"/>
                                  </a:solidFill>
                                  <a:latin typeface="Cambria Math" panose="02040503050406030204" pitchFamily="18" charset="0"/>
                                </a:rPr>
                              </m:ctrlPr>
                            </m:dPr>
                            <m:e>
                              <m:r>
                                <a:rPr lang="en-US" sz="1600" b="1" i="1" noProof="0" smtClean="0">
                                  <a:solidFill>
                                    <a:schemeClr val="accent5"/>
                                  </a:solidFill>
                                  <a:latin typeface="Cambria Math" panose="02040503050406030204" pitchFamily="18" charset="0"/>
                                </a:rPr>
                                <m:t>𝒔</m:t>
                              </m:r>
                            </m:e>
                          </m:d>
                        </m:num>
                        <m:den>
                          <m:r>
                            <a:rPr lang="en-US" sz="1600" b="1" i="1" noProof="0" smtClean="0">
                              <a:solidFill>
                                <a:schemeClr val="accent5"/>
                              </a:solidFill>
                              <a:latin typeface="Cambria Math" panose="02040503050406030204" pitchFamily="18" charset="0"/>
                            </a:rPr>
                            <m:t>𝟏</m:t>
                          </m:r>
                          <m:r>
                            <a:rPr lang="en-US" sz="1600" b="1" i="1" noProof="0" smtClean="0">
                              <a:solidFill>
                                <a:schemeClr val="accent5"/>
                              </a:solidFill>
                              <a:latin typeface="Cambria Math" panose="02040503050406030204" pitchFamily="18" charset="0"/>
                            </a:rPr>
                            <m:t>+</m:t>
                          </m:r>
                          <m:r>
                            <a:rPr lang="en-US" sz="1600" b="1" i="1" noProof="0" smtClean="0">
                              <a:solidFill>
                                <a:schemeClr val="accent5"/>
                              </a:solidFill>
                              <a:latin typeface="Cambria Math" panose="02040503050406030204" pitchFamily="18" charset="0"/>
                            </a:rPr>
                            <m:t>𝑳</m:t>
                          </m:r>
                          <m:d>
                            <m:dPr>
                              <m:ctrlPr>
                                <a:rPr lang="en-US" sz="1600" b="1" i="1" noProof="0" smtClean="0">
                                  <a:solidFill>
                                    <a:schemeClr val="accent5"/>
                                  </a:solidFill>
                                  <a:latin typeface="Cambria Math" panose="02040503050406030204" pitchFamily="18" charset="0"/>
                                </a:rPr>
                              </m:ctrlPr>
                            </m:dPr>
                            <m:e>
                              <m:r>
                                <a:rPr lang="en-US" sz="1600" b="1" i="1" noProof="0" smtClean="0">
                                  <a:solidFill>
                                    <a:schemeClr val="accent5"/>
                                  </a:solidFill>
                                  <a:latin typeface="Cambria Math" panose="02040503050406030204" pitchFamily="18" charset="0"/>
                                </a:rPr>
                                <m:t>𝒔</m:t>
                              </m:r>
                            </m:e>
                          </m:d>
                        </m:den>
                      </m:f>
                    </m:oMath>
                  </m:oMathPara>
                </a14:m>
                <a:endParaRPr lang="en-US" sz="1600" noProof="0" dirty="0">
                  <a:latin typeface="Segoe UI" panose="020B0502040204020203" pitchFamily="34" charset="0"/>
                  <a:cs typeface="Segoe UI" panose="020B0502040204020203" pitchFamily="34" charset="0"/>
                </a:endParaRPr>
              </a:p>
              <a:p>
                <a:endParaRPr lang="en-US" noProof="0" dirty="0"/>
              </a:p>
              <a:p>
                <a:endParaRPr lang="en-US" noProof="0" dirty="0"/>
              </a:p>
            </p:txBody>
          </p:sp>
        </mc:Choice>
        <mc:Fallback xmlns="">
          <p:sp>
            <p:nvSpPr>
              <p:cNvPr id="61" name="Textfeld 60">
                <a:extLst>
                  <a:ext uri="{FF2B5EF4-FFF2-40B4-BE49-F238E27FC236}">
                    <a16:creationId xmlns:a16="http://schemas.microsoft.com/office/drawing/2014/main" id="{E745A483-2144-04BB-53D9-0E5DA9223F15}"/>
                  </a:ext>
                </a:extLst>
              </p:cNvPr>
              <p:cNvSpPr txBox="1">
                <a:spLocks noRot="1" noChangeAspect="1" noMove="1" noResize="1" noEditPoints="1" noAdjustHandles="1" noChangeArrowheads="1" noChangeShapeType="1" noTextEdit="1"/>
              </p:cNvSpPr>
              <p:nvPr/>
            </p:nvSpPr>
            <p:spPr>
              <a:xfrm>
                <a:off x="165324" y="3224454"/>
                <a:ext cx="6735009" cy="1879682"/>
              </a:xfrm>
              <a:prstGeom prst="rect">
                <a:avLst/>
              </a:prstGeom>
              <a:blipFill>
                <a:blip r:embed="rId17"/>
                <a:stretch>
                  <a:fillRect l="-376" t="-671"/>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6" name="Textfeld 5">
                <a:extLst>
                  <a:ext uri="{FF2B5EF4-FFF2-40B4-BE49-F238E27FC236}">
                    <a16:creationId xmlns:a16="http://schemas.microsoft.com/office/drawing/2014/main" id="{AB307285-BD5F-8ADB-8523-5082159C2EF8}"/>
                  </a:ext>
                </a:extLst>
              </p:cNvPr>
              <p:cNvSpPr txBox="1"/>
              <p:nvPr/>
            </p:nvSpPr>
            <p:spPr>
              <a:xfrm>
                <a:off x="5297123" y="311919"/>
                <a:ext cx="574132"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1" i="1" noProof="0">
                          <a:solidFill>
                            <a:schemeClr val="accent4"/>
                          </a:solidFill>
                          <a:latin typeface="Cambria Math" panose="02040503050406030204" pitchFamily="18" charset="0"/>
                        </a:rPr>
                        <m:t>𝑳</m:t>
                      </m:r>
                      <m:d>
                        <m:dPr>
                          <m:ctrlPr>
                            <a:rPr lang="en-US" b="1" i="1" noProof="0">
                              <a:solidFill>
                                <a:schemeClr val="accent4"/>
                              </a:solidFill>
                              <a:latin typeface="Cambria Math" panose="02040503050406030204" pitchFamily="18" charset="0"/>
                            </a:rPr>
                          </m:ctrlPr>
                        </m:dPr>
                        <m:e>
                          <m:r>
                            <a:rPr lang="en-US" b="1" i="1" noProof="0">
                              <a:solidFill>
                                <a:schemeClr val="accent4"/>
                              </a:solidFill>
                              <a:latin typeface="Cambria Math" panose="02040503050406030204" pitchFamily="18" charset="0"/>
                            </a:rPr>
                            <m:t>𝒔</m:t>
                          </m:r>
                        </m:e>
                      </m:d>
                    </m:oMath>
                  </m:oMathPara>
                </a14:m>
                <a:endParaRPr lang="en-US" noProof="0" dirty="0"/>
              </a:p>
            </p:txBody>
          </p:sp>
        </mc:Choice>
        <mc:Fallback xmlns="">
          <p:sp>
            <p:nvSpPr>
              <p:cNvPr id="6" name="Textfeld 5">
                <a:extLst>
                  <a:ext uri="{FF2B5EF4-FFF2-40B4-BE49-F238E27FC236}">
                    <a16:creationId xmlns:a16="http://schemas.microsoft.com/office/drawing/2014/main" id="{AB307285-BD5F-8ADB-8523-5082159C2EF8}"/>
                  </a:ext>
                </a:extLst>
              </p:cNvPr>
              <p:cNvSpPr txBox="1">
                <a:spLocks noRot="1" noChangeAspect="1" noMove="1" noResize="1" noEditPoints="1" noAdjustHandles="1" noChangeArrowheads="1" noChangeShapeType="1" noTextEdit="1"/>
              </p:cNvSpPr>
              <p:nvPr/>
            </p:nvSpPr>
            <p:spPr>
              <a:xfrm>
                <a:off x="5297123" y="311919"/>
                <a:ext cx="574132" cy="307777"/>
              </a:xfrm>
              <a:prstGeom prst="rect">
                <a:avLst/>
              </a:prstGeom>
              <a:blipFill>
                <a:blip r:embed="rId18"/>
                <a:stretch>
                  <a:fillRect/>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7" name="Textfeld 6">
                <a:extLst>
                  <a:ext uri="{FF2B5EF4-FFF2-40B4-BE49-F238E27FC236}">
                    <a16:creationId xmlns:a16="http://schemas.microsoft.com/office/drawing/2014/main" id="{2C52C009-5C42-0D38-D4F6-572D4B9CD46A}"/>
                  </a:ext>
                </a:extLst>
              </p:cNvPr>
              <p:cNvSpPr txBox="1"/>
              <p:nvPr/>
            </p:nvSpPr>
            <p:spPr>
              <a:xfrm>
                <a:off x="5047012" y="1779567"/>
                <a:ext cx="585352"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1" i="1" noProof="0" smtClean="0">
                          <a:solidFill>
                            <a:schemeClr val="accent5"/>
                          </a:solidFill>
                          <a:latin typeface="Cambria Math" panose="02040503050406030204" pitchFamily="18" charset="0"/>
                        </a:rPr>
                        <m:t>𝑻</m:t>
                      </m:r>
                      <m:d>
                        <m:dPr>
                          <m:ctrlPr>
                            <a:rPr lang="en-US" b="1" i="1" noProof="0" smtClean="0">
                              <a:solidFill>
                                <a:schemeClr val="accent5"/>
                              </a:solidFill>
                              <a:latin typeface="Cambria Math" panose="02040503050406030204" pitchFamily="18" charset="0"/>
                            </a:rPr>
                          </m:ctrlPr>
                        </m:dPr>
                        <m:e>
                          <m:r>
                            <a:rPr lang="en-US" b="1" i="1" noProof="0" smtClean="0">
                              <a:solidFill>
                                <a:schemeClr val="accent5"/>
                              </a:solidFill>
                              <a:latin typeface="Cambria Math" panose="02040503050406030204" pitchFamily="18" charset="0"/>
                            </a:rPr>
                            <m:t>𝒔</m:t>
                          </m:r>
                        </m:e>
                      </m:d>
                    </m:oMath>
                  </m:oMathPara>
                </a14:m>
                <a:endParaRPr lang="en-US" noProof="0" dirty="0"/>
              </a:p>
            </p:txBody>
          </p:sp>
        </mc:Choice>
        <mc:Fallback xmlns="">
          <p:sp>
            <p:nvSpPr>
              <p:cNvPr id="7" name="Textfeld 6">
                <a:extLst>
                  <a:ext uri="{FF2B5EF4-FFF2-40B4-BE49-F238E27FC236}">
                    <a16:creationId xmlns:a16="http://schemas.microsoft.com/office/drawing/2014/main" id="{2C52C009-5C42-0D38-D4F6-572D4B9CD46A}"/>
                  </a:ext>
                </a:extLst>
              </p:cNvPr>
              <p:cNvSpPr txBox="1">
                <a:spLocks noRot="1" noChangeAspect="1" noMove="1" noResize="1" noEditPoints="1" noAdjustHandles="1" noChangeArrowheads="1" noChangeShapeType="1" noTextEdit="1"/>
              </p:cNvSpPr>
              <p:nvPr/>
            </p:nvSpPr>
            <p:spPr>
              <a:xfrm>
                <a:off x="5047012" y="1779567"/>
                <a:ext cx="585352" cy="307777"/>
              </a:xfrm>
              <a:prstGeom prst="rect">
                <a:avLst/>
              </a:prstGeom>
              <a:blipFill>
                <a:blip r:embed="rId19"/>
                <a:stretch>
                  <a:fillRect/>
                </a:stretch>
              </a:blipFill>
            </p:spPr>
            <p:txBody>
              <a:bodyPr/>
              <a:lstStyle/>
              <a:p>
                <a:r>
                  <a:rPr lang="de-DE">
                    <a:noFill/>
                  </a:rPr>
                  <a:t> </a:t>
                </a:r>
              </a:p>
            </p:txBody>
          </p:sp>
        </mc:Fallback>
      </mc:AlternateContent>
      <p:cxnSp>
        <p:nvCxnSpPr>
          <p:cNvPr id="10" name="Gewinkelte Verbindung 9">
            <a:extLst>
              <a:ext uri="{FF2B5EF4-FFF2-40B4-BE49-F238E27FC236}">
                <a16:creationId xmlns:a16="http://schemas.microsoft.com/office/drawing/2014/main" id="{460E223E-5EF2-FD28-7C57-7255449D1132}"/>
              </a:ext>
            </a:extLst>
          </p:cNvPr>
          <p:cNvCxnSpPr>
            <a:cxnSpLocks/>
            <a:endCxn id="13" idx="2"/>
          </p:cNvCxnSpPr>
          <p:nvPr/>
        </p:nvCxnSpPr>
        <p:spPr>
          <a:xfrm rot="16200000" flipV="1">
            <a:off x="7659173" y="1381445"/>
            <a:ext cx="553008" cy="333509"/>
          </a:xfrm>
          <a:prstGeom prst="bentConnector3">
            <a:avLst>
              <a:gd name="adj1" fmla="val 685"/>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6" name="Textfeld 25">
            <a:extLst>
              <a:ext uri="{FF2B5EF4-FFF2-40B4-BE49-F238E27FC236}">
                <a16:creationId xmlns:a16="http://schemas.microsoft.com/office/drawing/2014/main" id="{8FBBEDCA-E24B-A040-7255-74DE8E0D4B12}"/>
              </a:ext>
            </a:extLst>
          </p:cNvPr>
          <p:cNvSpPr txBox="1"/>
          <p:nvPr/>
        </p:nvSpPr>
        <p:spPr>
          <a:xfrm>
            <a:off x="8102431" y="1563266"/>
            <a:ext cx="1023691" cy="400110"/>
          </a:xfrm>
          <a:prstGeom prst="rect">
            <a:avLst/>
          </a:prstGeom>
          <a:noFill/>
        </p:spPr>
        <p:txBody>
          <a:bodyPr wrap="square" rtlCol="0">
            <a:spAutoFit/>
          </a:bodyPr>
          <a:lstStyle/>
          <a:p>
            <a:r>
              <a:rPr lang="en-US" sz="1000" noProof="0" dirty="0">
                <a:solidFill>
                  <a:schemeClr val="bg1">
                    <a:lumMod val="50000"/>
                  </a:schemeClr>
                </a:solidFill>
                <a:latin typeface="Segoe UI" panose="020B0502040204020203" pitchFamily="34" charset="0"/>
                <a:cs typeface="Segoe UI" panose="020B0502040204020203" pitchFamily="34" charset="0"/>
              </a:rPr>
              <a:t>We called it G(s) until now</a:t>
            </a:r>
          </a:p>
        </p:txBody>
      </p:sp>
    </p:spTree>
    <p:extLst>
      <p:ext uri="{BB962C8B-B14F-4D97-AF65-F5344CB8AC3E}">
        <p14:creationId xmlns:p14="http://schemas.microsoft.com/office/powerpoint/2010/main" val="42110234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8497985-16C3-2E4C-097B-46BB0CFE6F87}"/>
              </a:ext>
            </a:extLst>
          </p:cNvPr>
          <p:cNvSpPr>
            <a:spLocks noGrp="1"/>
          </p:cNvSpPr>
          <p:nvPr>
            <p:ph type="title"/>
          </p:nvPr>
        </p:nvSpPr>
        <p:spPr/>
        <p:txBody>
          <a:bodyPr/>
          <a:lstStyle/>
          <a:p>
            <a:r>
              <a:rPr lang="en-US" noProof="0" dirty="0"/>
              <a:t>Key Relations</a:t>
            </a:r>
          </a:p>
        </p:txBody>
      </p:sp>
      <mc:AlternateContent xmlns:mc="http://schemas.openxmlformats.org/markup-compatibility/2006" xmlns:a14="http://schemas.microsoft.com/office/drawing/2010/main">
        <mc:Choice Requires="a14">
          <p:sp>
            <p:nvSpPr>
              <p:cNvPr id="3" name="Inhaltsplatzhalter 2">
                <a:extLst>
                  <a:ext uri="{FF2B5EF4-FFF2-40B4-BE49-F238E27FC236}">
                    <a16:creationId xmlns:a16="http://schemas.microsoft.com/office/drawing/2014/main" id="{ECBF315D-67C2-FECA-A6D2-536A86144EE2}"/>
                  </a:ext>
                </a:extLst>
              </p:cNvPr>
              <p:cNvSpPr>
                <a:spLocks noGrp="1"/>
              </p:cNvSpPr>
              <p:nvPr>
                <p:ph idx="1"/>
              </p:nvPr>
            </p:nvSpPr>
            <p:spPr/>
            <p:txBody>
              <a:bodyPr/>
              <a:lstStyle/>
              <a:p>
                <a:pPr marL="0" indent="0">
                  <a:buNone/>
                </a:pPr>
                <a:r>
                  <a:rPr lang="en-US" noProof="0" dirty="0"/>
                  <a:t>Summarized are the key relations:</a:t>
                </a:r>
              </a:p>
              <a:p>
                <a:pPr marL="0" indent="0">
                  <a:buNone/>
                </a:pPr>
                <a:endParaRPr lang="en-US" noProof="0" dirty="0"/>
              </a:p>
              <a:p>
                <a:pPr marL="0" indent="0">
                  <a:buNone/>
                </a:pPr>
                <a:endParaRPr lang="en-US" noProof="0" dirty="0"/>
              </a:p>
              <a:p>
                <a:pPr marL="0" indent="0">
                  <a:buNone/>
                </a:pPr>
                <a:endParaRPr lang="en-US" noProof="0" dirty="0"/>
              </a:p>
              <a:p>
                <a:pPr marL="0" indent="0">
                  <a:buNone/>
                </a:pPr>
                <a:endParaRPr lang="en-US" noProof="0" dirty="0"/>
              </a:p>
              <a:p>
                <a:pPr marL="0" indent="0">
                  <a:buNone/>
                </a:pPr>
                <a:endParaRPr lang="en-US" noProof="0" dirty="0"/>
              </a:p>
              <a:p>
                <a:pPr marL="0" indent="0">
                  <a:buNone/>
                </a:pPr>
                <a:r>
                  <a:rPr lang="en-US" noProof="0" dirty="0">
                    <a:solidFill>
                      <a:srgbClr val="FF0000"/>
                    </a:solidFill>
                  </a:rPr>
                  <a:t>Important: Closed loop and open loop poles are not always equal!</a:t>
                </a:r>
              </a:p>
              <a:p>
                <a:pPr marL="0" indent="0">
                  <a:buNone/>
                </a:pPr>
                <a14:m>
                  <m:oMath xmlns:m="http://schemas.openxmlformats.org/officeDocument/2006/math">
                    <m:r>
                      <a:rPr lang="en-US" i="1" noProof="0" smtClean="0">
                        <a:solidFill>
                          <a:srgbClr val="FF0000"/>
                        </a:solidFill>
                        <a:latin typeface="Cambria Math" panose="02040503050406030204" pitchFamily="18" charset="0"/>
                      </a:rPr>
                      <m:t>1+</m:t>
                    </m:r>
                    <m:r>
                      <a:rPr lang="en-US" i="1" noProof="0" smtClean="0">
                        <a:solidFill>
                          <a:srgbClr val="FF0000"/>
                        </a:solidFill>
                        <a:latin typeface="Cambria Math" panose="02040503050406030204" pitchFamily="18" charset="0"/>
                      </a:rPr>
                      <m:t>𝐿</m:t>
                    </m:r>
                    <m:r>
                      <a:rPr lang="en-US" i="1" noProof="0" smtClean="0">
                        <a:solidFill>
                          <a:srgbClr val="FF0000"/>
                        </a:solidFill>
                        <a:latin typeface="Cambria Math" panose="02040503050406030204" pitchFamily="18" charset="0"/>
                      </a:rPr>
                      <m:t>(</m:t>
                    </m:r>
                    <m:r>
                      <a:rPr lang="en-US" i="1" noProof="0" smtClean="0">
                        <a:solidFill>
                          <a:srgbClr val="FF0000"/>
                        </a:solidFill>
                        <a:latin typeface="Cambria Math" panose="02040503050406030204" pitchFamily="18" charset="0"/>
                      </a:rPr>
                      <m:t>𝑠</m:t>
                    </m:r>
                    <m:r>
                      <a:rPr lang="en-US" i="1" noProof="0" smtClean="0">
                        <a:solidFill>
                          <a:srgbClr val="FF0000"/>
                        </a:solidFill>
                        <a:latin typeface="Cambria Math" panose="02040503050406030204" pitchFamily="18" charset="0"/>
                      </a:rPr>
                      <m:t>)=0 </m:t>
                    </m:r>
                  </m:oMath>
                </a14:m>
                <a:r>
                  <a:rPr lang="en-US" noProof="0" dirty="0">
                    <a:solidFill>
                      <a:srgbClr val="FF0000"/>
                    </a:solidFill>
                  </a:rPr>
                  <a:t>gives us poles of closed loop transfer function</a:t>
                </a:r>
              </a:p>
            </p:txBody>
          </p:sp>
        </mc:Choice>
        <mc:Fallback xmlns="">
          <p:sp>
            <p:nvSpPr>
              <p:cNvPr id="3" name="Inhaltsplatzhalter 2">
                <a:extLst>
                  <a:ext uri="{FF2B5EF4-FFF2-40B4-BE49-F238E27FC236}">
                    <a16:creationId xmlns:a16="http://schemas.microsoft.com/office/drawing/2014/main" id="{ECBF315D-67C2-FECA-A6D2-536A86144EE2}"/>
                  </a:ext>
                </a:extLst>
              </p:cNvPr>
              <p:cNvSpPr>
                <a:spLocks noGrp="1" noRot="1" noChangeAspect="1" noMove="1" noResize="1" noEditPoints="1" noAdjustHandles="1" noChangeArrowheads="1" noChangeShapeType="1" noTextEdit="1"/>
              </p:cNvSpPr>
              <p:nvPr>
                <p:ph idx="1"/>
              </p:nvPr>
            </p:nvSpPr>
            <p:spPr>
              <a:blipFill>
                <a:blip r:embed="rId2"/>
                <a:stretch>
                  <a:fillRect l="-643" t="-2335"/>
                </a:stretch>
              </a:blipFill>
            </p:spPr>
            <p:txBody>
              <a:bodyPr/>
              <a:lstStyle/>
              <a:p>
                <a:r>
                  <a:rPr lang="de-DE">
                    <a:noFill/>
                  </a:rPr>
                  <a:t> </a:t>
                </a:r>
              </a:p>
            </p:txBody>
          </p:sp>
        </mc:Fallback>
      </mc:AlternateContent>
      <p:sp>
        <p:nvSpPr>
          <p:cNvPr id="4" name="Fußzeilenplatzhalter 3">
            <a:extLst>
              <a:ext uri="{FF2B5EF4-FFF2-40B4-BE49-F238E27FC236}">
                <a16:creationId xmlns:a16="http://schemas.microsoft.com/office/drawing/2014/main" id="{F82B7A38-7630-C4E8-2CDD-6B1BAF71BB95}"/>
              </a:ext>
            </a:extLst>
          </p:cNvPr>
          <p:cNvSpPr>
            <a:spLocks noGrp="1"/>
          </p:cNvSpPr>
          <p:nvPr>
            <p:ph type="ftr" sz="quarter" idx="11"/>
          </p:nvPr>
        </p:nvSpPr>
        <p:spPr/>
        <p:txBody>
          <a:bodyPr/>
          <a:lstStyle/>
          <a:p>
            <a:pPr defTabSz="342900">
              <a:buClrTx/>
            </a:pPr>
            <a:r>
              <a:rPr lang="en-US" kern="1200" noProof="0" dirty="0">
                <a:solidFill>
                  <a:srgbClr val="101623">
                    <a:tint val="75000"/>
                  </a:srgbClr>
                </a:solidFill>
                <a:latin typeface="Calibri" panose="020F0502020204030204"/>
                <a:ea typeface="+mn-ea"/>
                <a:cs typeface="+mn-cs"/>
              </a:rPr>
              <a:t>Kissan Varatharajan - </a:t>
            </a:r>
            <a:r>
              <a:rPr lang="en-US" kern="1200" noProof="0" dirty="0" err="1">
                <a:solidFill>
                  <a:srgbClr val="101623">
                    <a:tint val="75000"/>
                  </a:srgbClr>
                </a:solidFill>
                <a:latin typeface="Calibri" panose="020F0502020204030204"/>
                <a:ea typeface="+mn-ea"/>
                <a:cs typeface="+mn-cs"/>
              </a:rPr>
              <a:t>kissanv.github.io</a:t>
            </a:r>
            <a:endParaRPr lang="en-US" kern="1200" noProof="0" dirty="0">
              <a:solidFill>
                <a:srgbClr val="101623">
                  <a:tint val="75000"/>
                </a:srgbClr>
              </a:solidFill>
              <a:latin typeface="Calibri" panose="020F0502020204030204"/>
              <a:ea typeface="+mn-ea"/>
              <a:cs typeface="+mn-cs"/>
            </a:endParaRPr>
          </a:p>
        </p:txBody>
      </p:sp>
      <p:sp>
        <p:nvSpPr>
          <p:cNvPr id="5" name="Foliennummernplatzhalter 4">
            <a:extLst>
              <a:ext uri="{FF2B5EF4-FFF2-40B4-BE49-F238E27FC236}">
                <a16:creationId xmlns:a16="http://schemas.microsoft.com/office/drawing/2014/main" id="{5F725030-442C-8BF1-ED95-B12C52A6F01A}"/>
              </a:ext>
            </a:extLst>
          </p:cNvPr>
          <p:cNvSpPr>
            <a:spLocks noGrp="1"/>
          </p:cNvSpPr>
          <p:nvPr>
            <p:ph type="sldNum" sz="quarter" idx="12"/>
          </p:nvPr>
        </p:nvSpPr>
        <p:spPr/>
        <p:txBody>
          <a:bodyPr/>
          <a:lstStyle/>
          <a:p>
            <a:pPr defTabSz="342900">
              <a:buClrTx/>
            </a:pPr>
            <a:fld id="{36EAFFE7-40E2-CA47-82C0-73D0FC591208}" type="slidenum">
              <a:rPr lang="en-US" kern="1200" noProof="0" smtClean="0">
                <a:solidFill>
                  <a:srgbClr val="101623">
                    <a:tint val="75000"/>
                  </a:srgbClr>
                </a:solidFill>
                <a:latin typeface="Calibri" panose="020F0502020204030204"/>
                <a:ea typeface="+mn-ea"/>
                <a:cs typeface="+mn-cs"/>
              </a:rPr>
              <a:pPr defTabSz="342900">
                <a:buClrTx/>
              </a:pPr>
              <a:t>13</a:t>
            </a:fld>
            <a:endParaRPr lang="en-US" kern="1200" noProof="0" dirty="0">
              <a:solidFill>
                <a:srgbClr val="101623">
                  <a:tint val="75000"/>
                </a:srgbClr>
              </a:solidFill>
              <a:latin typeface="Calibri" panose="020F0502020204030204"/>
              <a:ea typeface="+mn-ea"/>
              <a:cs typeface="+mn-cs"/>
            </a:endParaRPr>
          </a:p>
        </p:txBody>
      </p:sp>
      <p:sp>
        <p:nvSpPr>
          <p:cNvPr id="6" name="Oval 5">
            <a:extLst>
              <a:ext uri="{FF2B5EF4-FFF2-40B4-BE49-F238E27FC236}">
                <a16:creationId xmlns:a16="http://schemas.microsoft.com/office/drawing/2014/main" id="{D44FE3D1-7384-A7E3-68D8-1C8F1CFAD84A}"/>
              </a:ext>
            </a:extLst>
          </p:cNvPr>
          <p:cNvSpPr/>
          <p:nvPr/>
        </p:nvSpPr>
        <p:spPr>
          <a:xfrm>
            <a:off x="5219759" y="469333"/>
            <a:ext cx="216000" cy="216000"/>
          </a:xfrm>
          <a:prstGeom prst="ellipse">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noProof="0" dirty="0"/>
          </a:p>
        </p:txBody>
      </p:sp>
      <p:cxnSp>
        <p:nvCxnSpPr>
          <p:cNvPr id="7" name="Gerade Verbindung mit Pfeil 6">
            <a:extLst>
              <a:ext uri="{FF2B5EF4-FFF2-40B4-BE49-F238E27FC236}">
                <a16:creationId xmlns:a16="http://schemas.microsoft.com/office/drawing/2014/main" id="{94785A76-908E-1FD1-8876-389BEE385199}"/>
              </a:ext>
            </a:extLst>
          </p:cNvPr>
          <p:cNvCxnSpPr>
            <a:cxnSpLocks/>
          </p:cNvCxnSpPr>
          <p:nvPr/>
        </p:nvCxnSpPr>
        <p:spPr>
          <a:xfrm>
            <a:off x="8384232" y="572513"/>
            <a:ext cx="710814"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8" name="Gruppieren 7">
            <a:extLst>
              <a:ext uri="{FF2B5EF4-FFF2-40B4-BE49-F238E27FC236}">
                <a16:creationId xmlns:a16="http://schemas.microsoft.com/office/drawing/2014/main" id="{11956F51-1CF9-1659-05E5-CDF22F0B0261}"/>
              </a:ext>
            </a:extLst>
          </p:cNvPr>
          <p:cNvGrpSpPr/>
          <p:nvPr/>
        </p:nvGrpSpPr>
        <p:grpSpPr>
          <a:xfrm>
            <a:off x="7301162" y="302853"/>
            <a:ext cx="1071771" cy="553007"/>
            <a:chOff x="2403054" y="3026666"/>
            <a:chExt cx="545710" cy="553007"/>
          </a:xfrm>
        </p:grpSpPr>
        <p:sp>
          <p:nvSpPr>
            <p:cNvPr id="9" name="Rechteck 8">
              <a:extLst>
                <a:ext uri="{FF2B5EF4-FFF2-40B4-BE49-F238E27FC236}">
                  <a16:creationId xmlns:a16="http://schemas.microsoft.com/office/drawing/2014/main" id="{22113DE3-BF1C-F0C8-2D09-34EC7336BB78}"/>
                </a:ext>
              </a:extLst>
            </p:cNvPr>
            <p:cNvSpPr/>
            <p:nvPr/>
          </p:nvSpPr>
          <p:spPr>
            <a:xfrm>
              <a:off x="2403054" y="3026666"/>
              <a:ext cx="545710" cy="553007"/>
            </a:xfrm>
            <a:prstGeom prst="rect">
              <a:avLst/>
            </a:prstGeom>
            <a:no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noProof="0" dirty="0"/>
            </a:p>
          </p:txBody>
        </p:sp>
        <mc:AlternateContent xmlns:mc="http://schemas.openxmlformats.org/markup-compatibility/2006" xmlns:a14="http://schemas.microsoft.com/office/drawing/2010/main">
          <mc:Choice Requires="a14">
            <p:sp>
              <p:nvSpPr>
                <p:cNvPr id="10" name="Textfeld 9">
                  <a:extLst>
                    <a:ext uri="{FF2B5EF4-FFF2-40B4-BE49-F238E27FC236}">
                      <a16:creationId xmlns:a16="http://schemas.microsoft.com/office/drawing/2014/main" id="{518B667B-13AE-1BC5-5EDE-F1EB7997951C}"/>
                    </a:ext>
                  </a:extLst>
                </p:cNvPr>
                <p:cNvSpPr txBox="1"/>
                <p:nvPr/>
              </p:nvSpPr>
              <p:spPr>
                <a:xfrm>
                  <a:off x="2459135" y="3107336"/>
                  <a:ext cx="42197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800" i="1" noProof="0" smtClean="0">
                            <a:latin typeface="Cambria Math" panose="02040503050406030204" pitchFamily="18" charset="0"/>
                            <a:cs typeface="Segoe UI" panose="020B0502040204020203" pitchFamily="34" charset="0"/>
                          </a:rPr>
                          <m:t>𝑃</m:t>
                        </m:r>
                        <m:r>
                          <a:rPr lang="en-US" sz="1800" b="0" i="1" noProof="0" smtClean="0">
                            <a:latin typeface="Cambria Math" panose="02040503050406030204" pitchFamily="18" charset="0"/>
                            <a:cs typeface="Segoe UI" panose="020B0502040204020203" pitchFamily="34" charset="0"/>
                          </a:rPr>
                          <m:t>(</m:t>
                        </m:r>
                        <m:r>
                          <m:rPr>
                            <m:sty m:val="p"/>
                          </m:rPr>
                          <a:rPr lang="en-US" sz="1800" b="0" i="1" noProof="0" smtClean="0">
                            <a:latin typeface="Cambria Math" panose="02040503050406030204" pitchFamily="18" charset="0"/>
                            <a:cs typeface="Segoe UI" panose="020B0502040204020203" pitchFamily="34" charset="0"/>
                          </a:rPr>
                          <m:t>s</m:t>
                        </m:r>
                        <m:r>
                          <a:rPr lang="en-US" sz="1800" b="0" i="1" noProof="0" smtClean="0">
                            <a:latin typeface="Cambria Math" panose="02040503050406030204" pitchFamily="18" charset="0"/>
                            <a:cs typeface="Segoe UI" panose="020B0502040204020203" pitchFamily="34" charset="0"/>
                          </a:rPr>
                          <m:t>)</m:t>
                        </m:r>
                      </m:oMath>
                    </m:oMathPara>
                  </a14:m>
                  <a:endParaRPr lang="en-US" noProof="0" dirty="0"/>
                </a:p>
              </p:txBody>
            </p:sp>
          </mc:Choice>
          <mc:Fallback xmlns="">
            <p:sp>
              <p:nvSpPr>
                <p:cNvPr id="10" name="Textfeld 9">
                  <a:extLst>
                    <a:ext uri="{FF2B5EF4-FFF2-40B4-BE49-F238E27FC236}">
                      <a16:creationId xmlns:a16="http://schemas.microsoft.com/office/drawing/2014/main" id="{518B667B-13AE-1BC5-5EDE-F1EB7997951C}"/>
                    </a:ext>
                  </a:extLst>
                </p:cNvPr>
                <p:cNvSpPr txBox="1">
                  <a:spLocks noRot="1" noChangeAspect="1" noMove="1" noResize="1" noEditPoints="1" noAdjustHandles="1" noChangeArrowheads="1" noChangeShapeType="1" noTextEdit="1"/>
                </p:cNvSpPr>
                <p:nvPr/>
              </p:nvSpPr>
              <p:spPr>
                <a:xfrm>
                  <a:off x="2459135" y="3107336"/>
                  <a:ext cx="421972" cy="369332"/>
                </a:xfrm>
                <a:prstGeom prst="rect">
                  <a:avLst/>
                </a:prstGeom>
                <a:blipFill>
                  <a:blip r:embed="rId3"/>
                  <a:stretch>
                    <a:fillRect b="-16667"/>
                  </a:stretch>
                </a:blipFill>
              </p:spPr>
              <p:txBody>
                <a:bodyPr/>
                <a:lstStyle/>
                <a:p>
                  <a:r>
                    <a:rPr lang="de-DE">
                      <a:noFill/>
                    </a:rPr>
                    <a:t> </a:t>
                  </a:r>
                </a:p>
              </p:txBody>
            </p:sp>
          </mc:Fallback>
        </mc:AlternateContent>
      </p:grpSp>
      <p:grpSp>
        <p:nvGrpSpPr>
          <p:cNvPr id="11" name="Gruppieren 10">
            <a:extLst>
              <a:ext uri="{FF2B5EF4-FFF2-40B4-BE49-F238E27FC236}">
                <a16:creationId xmlns:a16="http://schemas.microsoft.com/office/drawing/2014/main" id="{34B385BF-E554-6853-3A91-4C1ADBDD21CD}"/>
              </a:ext>
            </a:extLst>
          </p:cNvPr>
          <p:cNvGrpSpPr/>
          <p:nvPr/>
        </p:nvGrpSpPr>
        <p:grpSpPr>
          <a:xfrm>
            <a:off x="5872256" y="311997"/>
            <a:ext cx="1073758" cy="553007"/>
            <a:chOff x="2676164" y="3940223"/>
            <a:chExt cx="587951" cy="553007"/>
          </a:xfrm>
        </p:grpSpPr>
        <p:sp>
          <p:nvSpPr>
            <p:cNvPr id="12" name="Rechteck 11">
              <a:extLst>
                <a:ext uri="{FF2B5EF4-FFF2-40B4-BE49-F238E27FC236}">
                  <a16:creationId xmlns:a16="http://schemas.microsoft.com/office/drawing/2014/main" id="{63841CEB-EE51-0523-2A60-4329CDE160A5}"/>
                </a:ext>
              </a:extLst>
            </p:cNvPr>
            <p:cNvSpPr/>
            <p:nvPr/>
          </p:nvSpPr>
          <p:spPr>
            <a:xfrm>
              <a:off x="2676164" y="3940223"/>
              <a:ext cx="587951" cy="553007"/>
            </a:xfrm>
            <a:prstGeom prst="rect">
              <a:avLst/>
            </a:prstGeom>
            <a:no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noProof="0" dirty="0"/>
            </a:p>
          </p:txBody>
        </p:sp>
        <mc:AlternateContent xmlns:mc="http://schemas.openxmlformats.org/markup-compatibility/2006" xmlns:a14="http://schemas.microsoft.com/office/drawing/2010/main">
          <mc:Choice Requires="a14">
            <p:sp>
              <p:nvSpPr>
                <p:cNvPr id="13" name="Textfeld 12">
                  <a:extLst>
                    <a:ext uri="{FF2B5EF4-FFF2-40B4-BE49-F238E27FC236}">
                      <a16:creationId xmlns:a16="http://schemas.microsoft.com/office/drawing/2014/main" id="{E77ECB04-1F51-A418-A2FD-94FC9A23D615}"/>
                    </a:ext>
                  </a:extLst>
                </p:cNvPr>
                <p:cNvSpPr txBox="1"/>
                <p:nvPr/>
              </p:nvSpPr>
              <p:spPr>
                <a:xfrm>
                  <a:off x="2824753" y="3991237"/>
                  <a:ext cx="33866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800" i="1" noProof="0" smtClean="0">
                            <a:latin typeface="Cambria Math" panose="02040503050406030204" pitchFamily="18" charset="0"/>
                            <a:cs typeface="Segoe UI" panose="020B0502040204020203" pitchFamily="34" charset="0"/>
                          </a:rPr>
                          <m:t>𝐶</m:t>
                        </m:r>
                        <m:r>
                          <a:rPr lang="en-US" sz="1800" b="0" i="1" noProof="0" smtClean="0">
                            <a:latin typeface="Cambria Math" panose="02040503050406030204" pitchFamily="18" charset="0"/>
                            <a:cs typeface="Segoe UI" panose="020B0502040204020203" pitchFamily="34" charset="0"/>
                          </a:rPr>
                          <m:t>(</m:t>
                        </m:r>
                        <m:r>
                          <m:rPr>
                            <m:sty m:val="p"/>
                          </m:rPr>
                          <a:rPr lang="en-US" sz="1800" b="0" i="1" noProof="0" smtClean="0">
                            <a:latin typeface="Cambria Math" panose="02040503050406030204" pitchFamily="18" charset="0"/>
                            <a:cs typeface="Segoe UI" panose="020B0502040204020203" pitchFamily="34" charset="0"/>
                          </a:rPr>
                          <m:t>s</m:t>
                        </m:r>
                        <m:r>
                          <a:rPr lang="en-US" sz="1800" b="0" i="1" noProof="0" smtClean="0">
                            <a:latin typeface="Cambria Math" panose="02040503050406030204" pitchFamily="18" charset="0"/>
                            <a:cs typeface="Segoe UI" panose="020B0502040204020203" pitchFamily="34" charset="0"/>
                          </a:rPr>
                          <m:t>)</m:t>
                        </m:r>
                      </m:oMath>
                    </m:oMathPara>
                  </a14:m>
                  <a:endParaRPr lang="en-US" sz="1800" noProof="0" dirty="0">
                    <a:latin typeface="Segoe UI" panose="020B0502040204020203" pitchFamily="34" charset="0"/>
                    <a:cs typeface="Segoe UI" panose="020B0502040204020203" pitchFamily="34" charset="0"/>
                  </a:endParaRPr>
                </a:p>
              </p:txBody>
            </p:sp>
          </mc:Choice>
          <mc:Fallback xmlns="">
            <p:sp>
              <p:nvSpPr>
                <p:cNvPr id="13" name="Textfeld 12">
                  <a:extLst>
                    <a:ext uri="{FF2B5EF4-FFF2-40B4-BE49-F238E27FC236}">
                      <a16:creationId xmlns:a16="http://schemas.microsoft.com/office/drawing/2014/main" id="{E77ECB04-1F51-A418-A2FD-94FC9A23D615}"/>
                    </a:ext>
                  </a:extLst>
                </p:cNvPr>
                <p:cNvSpPr txBox="1">
                  <a:spLocks noRot="1" noChangeAspect="1" noMove="1" noResize="1" noEditPoints="1" noAdjustHandles="1" noChangeArrowheads="1" noChangeShapeType="1" noTextEdit="1"/>
                </p:cNvSpPr>
                <p:nvPr/>
              </p:nvSpPr>
              <p:spPr>
                <a:xfrm>
                  <a:off x="2824753" y="3991237"/>
                  <a:ext cx="338666" cy="369332"/>
                </a:xfrm>
                <a:prstGeom prst="rect">
                  <a:avLst/>
                </a:prstGeom>
                <a:blipFill>
                  <a:blip r:embed="rId4"/>
                  <a:stretch>
                    <a:fillRect r="-2000" b="-16667"/>
                  </a:stretch>
                </a:blipFill>
              </p:spPr>
              <p:txBody>
                <a:bodyPr/>
                <a:lstStyle/>
                <a:p>
                  <a:r>
                    <a:rPr lang="de-DE">
                      <a:noFill/>
                    </a:rPr>
                    <a:t> </a:t>
                  </a:r>
                </a:p>
              </p:txBody>
            </p:sp>
          </mc:Fallback>
        </mc:AlternateContent>
      </p:grpSp>
      <p:cxnSp>
        <p:nvCxnSpPr>
          <p:cNvPr id="14" name="Gerade Verbindung mit Pfeil 13">
            <a:extLst>
              <a:ext uri="{FF2B5EF4-FFF2-40B4-BE49-F238E27FC236}">
                <a16:creationId xmlns:a16="http://schemas.microsoft.com/office/drawing/2014/main" id="{A2D88E4D-64D3-7A0E-9310-82A898697F34}"/>
              </a:ext>
            </a:extLst>
          </p:cNvPr>
          <p:cNvCxnSpPr>
            <a:cxnSpLocks/>
            <a:endCxn id="12" idx="1"/>
          </p:cNvCxnSpPr>
          <p:nvPr/>
        </p:nvCxnSpPr>
        <p:spPr>
          <a:xfrm>
            <a:off x="5430535" y="588500"/>
            <a:ext cx="441721"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Gerade Verbindung mit Pfeil 14">
            <a:extLst>
              <a:ext uri="{FF2B5EF4-FFF2-40B4-BE49-F238E27FC236}">
                <a16:creationId xmlns:a16="http://schemas.microsoft.com/office/drawing/2014/main" id="{50E8055C-E0BA-4801-C4F2-65713C2BD90C}"/>
              </a:ext>
            </a:extLst>
          </p:cNvPr>
          <p:cNvCxnSpPr>
            <a:cxnSpLocks/>
          </p:cNvCxnSpPr>
          <p:nvPr/>
        </p:nvCxnSpPr>
        <p:spPr>
          <a:xfrm>
            <a:off x="4748602" y="575222"/>
            <a:ext cx="471157" cy="211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Textfeld 15">
                <a:extLst>
                  <a:ext uri="{FF2B5EF4-FFF2-40B4-BE49-F238E27FC236}">
                    <a16:creationId xmlns:a16="http://schemas.microsoft.com/office/drawing/2014/main" id="{7CBA4521-C425-9118-3CA7-35F4D7A75518}"/>
                  </a:ext>
                </a:extLst>
              </p:cNvPr>
              <p:cNvSpPr txBox="1"/>
              <p:nvPr/>
            </p:nvSpPr>
            <p:spPr>
              <a:xfrm>
                <a:off x="5100226" y="274496"/>
                <a:ext cx="1041569"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i="1" noProof="0" smtClean="0">
                          <a:latin typeface="Cambria Math" panose="02040503050406030204" pitchFamily="18" charset="0"/>
                        </a:rPr>
                        <m:t> </m:t>
                      </m:r>
                      <m:r>
                        <a:rPr lang="en-US" sz="1600" b="0" i="1" noProof="0" smtClean="0">
                          <a:latin typeface="Cambria Math" panose="02040503050406030204" pitchFamily="18" charset="0"/>
                        </a:rPr>
                        <m:t>𝑒</m:t>
                      </m:r>
                    </m:oMath>
                  </m:oMathPara>
                </a14:m>
                <a:endParaRPr lang="en-US" sz="1600" noProof="0" dirty="0"/>
              </a:p>
            </p:txBody>
          </p:sp>
        </mc:Choice>
        <mc:Fallback xmlns="">
          <p:sp>
            <p:nvSpPr>
              <p:cNvPr id="16" name="Textfeld 15">
                <a:extLst>
                  <a:ext uri="{FF2B5EF4-FFF2-40B4-BE49-F238E27FC236}">
                    <a16:creationId xmlns:a16="http://schemas.microsoft.com/office/drawing/2014/main" id="{7CBA4521-C425-9118-3CA7-35F4D7A75518}"/>
                  </a:ext>
                </a:extLst>
              </p:cNvPr>
              <p:cNvSpPr txBox="1">
                <a:spLocks noRot="1" noChangeAspect="1" noMove="1" noResize="1" noEditPoints="1" noAdjustHandles="1" noChangeArrowheads="1" noChangeShapeType="1" noTextEdit="1"/>
              </p:cNvSpPr>
              <p:nvPr/>
            </p:nvSpPr>
            <p:spPr>
              <a:xfrm>
                <a:off x="5100226" y="274496"/>
                <a:ext cx="1041569" cy="338554"/>
              </a:xfrm>
              <a:prstGeom prst="rect">
                <a:avLst/>
              </a:prstGeom>
              <a:blipFill>
                <a:blip r:embed="rId5"/>
                <a:stretch>
                  <a:fillRect b="-14286"/>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17" name="Textfeld 16">
                <a:extLst>
                  <a:ext uri="{FF2B5EF4-FFF2-40B4-BE49-F238E27FC236}">
                    <a16:creationId xmlns:a16="http://schemas.microsoft.com/office/drawing/2014/main" id="{53420A60-B713-D17E-8E19-904B253C3C9A}"/>
                  </a:ext>
                </a:extLst>
              </p:cNvPr>
              <p:cNvSpPr txBox="1"/>
              <p:nvPr/>
            </p:nvSpPr>
            <p:spPr>
              <a:xfrm>
                <a:off x="6601907" y="249946"/>
                <a:ext cx="1041569"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i="1" noProof="0" smtClean="0">
                          <a:latin typeface="Cambria Math" panose="02040503050406030204" pitchFamily="18" charset="0"/>
                        </a:rPr>
                        <m:t> </m:t>
                      </m:r>
                      <m:r>
                        <a:rPr lang="en-US" sz="1600" b="0" i="1" noProof="0" smtClean="0">
                          <a:latin typeface="Cambria Math" panose="02040503050406030204" pitchFamily="18" charset="0"/>
                        </a:rPr>
                        <m:t>𝑢</m:t>
                      </m:r>
                    </m:oMath>
                  </m:oMathPara>
                </a14:m>
                <a:endParaRPr lang="en-US" sz="1600" noProof="0" dirty="0"/>
              </a:p>
            </p:txBody>
          </p:sp>
        </mc:Choice>
        <mc:Fallback xmlns="">
          <p:sp>
            <p:nvSpPr>
              <p:cNvPr id="17" name="Textfeld 16">
                <a:extLst>
                  <a:ext uri="{FF2B5EF4-FFF2-40B4-BE49-F238E27FC236}">
                    <a16:creationId xmlns:a16="http://schemas.microsoft.com/office/drawing/2014/main" id="{53420A60-B713-D17E-8E19-904B253C3C9A}"/>
                  </a:ext>
                </a:extLst>
              </p:cNvPr>
              <p:cNvSpPr txBox="1">
                <a:spLocks noRot="1" noChangeAspect="1" noMove="1" noResize="1" noEditPoints="1" noAdjustHandles="1" noChangeArrowheads="1" noChangeShapeType="1" noTextEdit="1"/>
              </p:cNvSpPr>
              <p:nvPr/>
            </p:nvSpPr>
            <p:spPr>
              <a:xfrm>
                <a:off x="6601907" y="249946"/>
                <a:ext cx="1041569" cy="338554"/>
              </a:xfrm>
              <a:prstGeom prst="rect">
                <a:avLst/>
              </a:prstGeom>
              <a:blipFill>
                <a:blip r:embed="rId6"/>
                <a:stretch>
                  <a:fillRect b="-14286"/>
                </a:stretch>
              </a:blipFill>
            </p:spPr>
            <p:txBody>
              <a:bodyPr/>
              <a:lstStyle/>
              <a:p>
                <a:r>
                  <a:rPr lang="de-DE">
                    <a:noFill/>
                  </a:rPr>
                  <a:t> </a:t>
                </a:r>
              </a:p>
            </p:txBody>
          </p:sp>
        </mc:Fallback>
      </mc:AlternateContent>
      <p:cxnSp>
        <p:nvCxnSpPr>
          <p:cNvPr id="18" name="Gerade Verbindung mit Pfeil 17">
            <a:extLst>
              <a:ext uri="{FF2B5EF4-FFF2-40B4-BE49-F238E27FC236}">
                <a16:creationId xmlns:a16="http://schemas.microsoft.com/office/drawing/2014/main" id="{3CE19E81-65B8-8220-A60A-36A692B8F76E}"/>
              </a:ext>
            </a:extLst>
          </p:cNvPr>
          <p:cNvCxnSpPr>
            <a:cxnSpLocks/>
          </p:cNvCxnSpPr>
          <p:nvPr/>
        </p:nvCxnSpPr>
        <p:spPr>
          <a:xfrm>
            <a:off x="6945255" y="563369"/>
            <a:ext cx="359541"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Gerade Verbindung 18">
            <a:extLst>
              <a:ext uri="{FF2B5EF4-FFF2-40B4-BE49-F238E27FC236}">
                <a16:creationId xmlns:a16="http://schemas.microsoft.com/office/drawing/2014/main" id="{64A88FB1-D27A-0801-D4AC-A6A8C2799D61}"/>
              </a:ext>
            </a:extLst>
          </p:cNvPr>
          <p:cNvCxnSpPr>
            <a:cxnSpLocks/>
          </p:cNvCxnSpPr>
          <p:nvPr/>
        </p:nvCxnSpPr>
        <p:spPr>
          <a:xfrm>
            <a:off x="8609614" y="572513"/>
            <a:ext cx="0" cy="70679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 name="Textfeld 19">
                <a:extLst>
                  <a:ext uri="{FF2B5EF4-FFF2-40B4-BE49-F238E27FC236}">
                    <a16:creationId xmlns:a16="http://schemas.microsoft.com/office/drawing/2014/main" id="{540F5078-8F78-6692-616B-423A2B23E777}"/>
                  </a:ext>
                </a:extLst>
              </p:cNvPr>
              <p:cNvSpPr txBox="1"/>
              <p:nvPr/>
            </p:nvSpPr>
            <p:spPr>
              <a:xfrm>
                <a:off x="4962747" y="554347"/>
                <a:ext cx="104156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800" i="1" noProof="0" smtClean="0">
                          <a:latin typeface="Cambria Math" panose="02040503050406030204" pitchFamily="18" charset="0"/>
                        </a:rPr>
                        <m:t> </m:t>
                      </m:r>
                      <m:r>
                        <a:rPr lang="en-US" sz="1800" b="0" i="1" noProof="0" smtClean="0">
                          <a:latin typeface="Cambria Math" panose="02040503050406030204" pitchFamily="18" charset="0"/>
                        </a:rPr>
                        <m:t>−</m:t>
                      </m:r>
                    </m:oMath>
                  </m:oMathPara>
                </a14:m>
                <a:endParaRPr lang="en-US" sz="1800" noProof="0" dirty="0"/>
              </a:p>
            </p:txBody>
          </p:sp>
        </mc:Choice>
        <mc:Fallback xmlns="">
          <p:sp>
            <p:nvSpPr>
              <p:cNvPr id="20" name="Textfeld 19">
                <a:extLst>
                  <a:ext uri="{FF2B5EF4-FFF2-40B4-BE49-F238E27FC236}">
                    <a16:creationId xmlns:a16="http://schemas.microsoft.com/office/drawing/2014/main" id="{540F5078-8F78-6692-616B-423A2B23E777}"/>
                  </a:ext>
                </a:extLst>
              </p:cNvPr>
              <p:cNvSpPr txBox="1">
                <a:spLocks noRot="1" noChangeAspect="1" noMove="1" noResize="1" noEditPoints="1" noAdjustHandles="1" noChangeArrowheads="1" noChangeShapeType="1" noTextEdit="1"/>
              </p:cNvSpPr>
              <p:nvPr/>
            </p:nvSpPr>
            <p:spPr>
              <a:xfrm>
                <a:off x="4962747" y="554347"/>
                <a:ext cx="1041569" cy="369332"/>
              </a:xfrm>
              <a:prstGeom prst="rect">
                <a:avLst/>
              </a:prstGeom>
              <a:blipFill>
                <a:blip r:embed="rId7"/>
                <a:stretch>
                  <a:fillRect b="-20000"/>
                </a:stretch>
              </a:blipFill>
            </p:spPr>
            <p:txBody>
              <a:bodyPr/>
              <a:lstStyle/>
              <a:p>
                <a:r>
                  <a:rPr lang="de-DE">
                    <a:noFill/>
                  </a:rPr>
                  <a:t> </a:t>
                </a:r>
              </a:p>
            </p:txBody>
          </p:sp>
        </mc:Fallback>
      </mc:AlternateContent>
      <p:cxnSp>
        <p:nvCxnSpPr>
          <p:cNvPr id="21" name="Gewinkelte Verbindung 20">
            <a:extLst>
              <a:ext uri="{FF2B5EF4-FFF2-40B4-BE49-F238E27FC236}">
                <a16:creationId xmlns:a16="http://schemas.microsoft.com/office/drawing/2014/main" id="{66CC7B24-4203-3415-5441-5310AA8B5D31}"/>
              </a:ext>
            </a:extLst>
          </p:cNvPr>
          <p:cNvCxnSpPr/>
          <p:nvPr/>
        </p:nvCxnSpPr>
        <p:spPr>
          <a:xfrm rot="10800000">
            <a:off x="5327760" y="685334"/>
            <a:ext cx="3281855" cy="593979"/>
          </a:xfrm>
          <a:prstGeom prst="bentConnector3">
            <a:avLst>
              <a:gd name="adj1" fmla="val 99874"/>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Rechteck 21">
            <a:extLst>
              <a:ext uri="{FF2B5EF4-FFF2-40B4-BE49-F238E27FC236}">
                <a16:creationId xmlns:a16="http://schemas.microsoft.com/office/drawing/2014/main" id="{07835104-8FB8-AD87-3297-8B3D067BF412}"/>
              </a:ext>
            </a:extLst>
          </p:cNvPr>
          <p:cNvSpPr/>
          <p:nvPr/>
        </p:nvSpPr>
        <p:spPr>
          <a:xfrm>
            <a:off x="5100226" y="231628"/>
            <a:ext cx="3573082" cy="1242412"/>
          </a:xfrm>
          <a:prstGeom prst="rect">
            <a:avLst/>
          </a:prstGeom>
          <a:noFill/>
          <a:ln w="25400">
            <a:solidFill>
              <a:schemeClr val="accent5"/>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3" name="Rechteck 22">
            <a:extLst>
              <a:ext uri="{FF2B5EF4-FFF2-40B4-BE49-F238E27FC236}">
                <a16:creationId xmlns:a16="http://schemas.microsoft.com/office/drawing/2014/main" id="{58F37EDB-18C0-AE79-6BAE-AF31FFECC7FA}"/>
              </a:ext>
            </a:extLst>
          </p:cNvPr>
          <p:cNvSpPr/>
          <p:nvPr/>
        </p:nvSpPr>
        <p:spPr>
          <a:xfrm>
            <a:off x="5739570" y="268614"/>
            <a:ext cx="2726350" cy="646358"/>
          </a:xfrm>
          <a:prstGeom prst="rect">
            <a:avLst/>
          </a:prstGeom>
          <a:noFill/>
          <a:ln w="25400">
            <a:solidFill>
              <a:schemeClr val="accent4"/>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mc:AlternateContent xmlns:mc="http://schemas.openxmlformats.org/markup-compatibility/2006">
        <mc:Choice xmlns:a14="http://schemas.microsoft.com/office/drawing/2010/main" Requires="a14">
          <p:sp>
            <p:nvSpPr>
              <p:cNvPr id="24" name="Textfeld 23">
                <a:extLst>
                  <a:ext uri="{FF2B5EF4-FFF2-40B4-BE49-F238E27FC236}">
                    <a16:creationId xmlns:a16="http://schemas.microsoft.com/office/drawing/2014/main" id="{141DD044-DC70-6E20-9A8C-42EE68A6202B}"/>
                  </a:ext>
                </a:extLst>
              </p:cNvPr>
              <p:cNvSpPr txBox="1"/>
              <p:nvPr/>
            </p:nvSpPr>
            <p:spPr>
              <a:xfrm>
                <a:off x="8330098" y="283727"/>
                <a:ext cx="1041569"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i="1" noProof="0" smtClean="0">
                          <a:latin typeface="Cambria Math" panose="02040503050406030204" pitchFamily="18" charset="0"/>
                        </a:rPr>
                        <m:t> </m:t>
                      </m:r>
                      <m:r>
                        <a:rPr lang="en-US" sz="1600" i="1" noProof="0" smtClean="0">
                          <a:latin typeface="Cambria Math" panose="02040503050406030204" pitchFamily="18" charset="0"/>
                        </a:rPr>
                        <m:t>𝑦</m:t>
                      </m:r>
                    </m:oMath>
                  </m:oMathPara>
                </a14:m>
                <a:endParaRPr lang="en-US" sz="1600" noProof="0" dirty="0"/>
              </a:p>
            </p:txBody>
          </p:sp>
        </mc:Choice>
        <mc:Fallback>
          <p:sp>
            <p:nvSpPr>
              <p:cNvPr id="24" name="Textfeld 23">
                <a:extLst>
                  <a:ext uri="{FF2B5EF4-FFF2-40B4-BE49-F238E27FC236}">
                    <a16:creationId xmlns:a16="http://schemas.microsoft.com/office/drawing/2014/main" id="{141DD044-DC70-6E20-9A8C-42EE68A6202B}"/>
                  </a:ext>
                </a:extLst>
              </p:cNvPr>
              <p:cNvSpPr txBox="1">
                <a:spLocks noRot="1" noChangeAspect="1" noMove="1" noResize="1" noEditPoints="1" noAdjustHandles="1" noChangeArrowheads="1" noChangeShapeType="1" noTextEdit="1"/>
              </p:cNvSpPr>
              <p:nvPr/>
            </p:nvSpPr>
            <p:spPr>
              <a:xfrm>
                <a:off x="8330098" y="283727"/>
                <a:ext cx="1041569" cy="338554"/>
              </a:xfrm>
              <a:prstGeom prst="rect">
                <a:avLst/>
              </a:prstGeom>
              <a:blipFill>
                <a:blip r:embed="rId8"/>
                <a:stretch>
                  <a:fillRect b="-18519"/>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5" name="Textfeld 24">
                <a:extLst>
                  <a:ext uri="{FF2B5EF4-FFF2-40B4-BE49-F238E27FC236}">
                    <a16:creationId xmlns:a16="http://schemas.microsoft.com/office/drawing/2014/main" id="{7E5B074C-09F3-3BBB-3F4F-367C67BF5D85}"/>
                  </a:ext>
                </a:extLst>
              </p:cNvPr>
              <p:cNvSpPr txBox="1"/>
              <p:nvPr/>
            </p:nvSpPr>
            <p:spPr>
              <a:xfrm>
                <a:off x="4230177" y="200952"/>
                <a:ext cx="1041569"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i="1" noProof="0" smtClean="0">
                          <a:latin typeface="Cambria Math" panose="02040503050406030204" pitchFamily="18" charset="0"/>
                        </a:rPr>
                        <m:t> </m:t>
                      </m:r>
                      <m:r>
                        <a:rPr lang="en-US" sz="1600" b="0" i="1" noProof="0" smtClean="0">
                          <a:latin typeface="Cambria Math" panose="02040503050406030204" pitchFamily="18" charset="0"/>
                        </a:rPr>
                        <m:t>𝑟</m:t>
                      </m:r>
                    </m:oMath>
                  </m:oMathPara>
                </a14:m>
                <a:endParaRPr lang="en-US" sz="1600" noProof="0" dirty="0"/>
              </a:p>
            </p:txBody>
          </p:sp>
        </mc:Choice>
        <mc:Fallback xmlns="">
          <p:sp>
            <p:nvSpPr>
              <p:cNvPr id="25" name="Textfeld 24">
                <a:extLst>
                  <a:ext uri="{FF2B5EF4-FFF2-40B4-BE49-F238E27FC236}">
                    <a16:creationId xmlns:a16="http://schemas.microsoft.com/office/drawing/2014/main" id="{7E5B074C-09F3-3BBB-3F4F-367C67BF5D85}"/>
                  </a:ext>
                </a:extLst>
              </p:cNvPr>
              <p:cNvSpPr txBox="1">
                <a:spLocks noRot="1" noChangeAspect="1" noMove="1" noResize="1" noEditPoints="1" noAdjustHandles="1" noChangeArrowheads="1" noChangeShapeType="1" noTextEdit="1"/>
              </p:cNvSpPr>
              <p:nvPr/>
            </p:nvSpPr>
            <p:spPr>
              <a:xfrm>
                <a:off x="4230177" y="200952"/>
                <a:ext cx="1041569" cy="338554"/>
              </a:xfrm>
              <a:prstGeom prst="rect">
                <a:avLst/>
              </a:prstGeom>
              <a:blipFill>
                <a:blip r:embed="rId9"/>
                <a:stretch>
                  <a:fillRect b="-17857"/>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6" name="Textfeld 25">
                <a:extLst>
                  <a:ext uri="{FF2B5EF4-FFF2-40B4-BE49-F238E27FC236}">
                    <a16:creationId xmlns:a16="http://schemas.microsoft.com/office/drawing/2014/main" id="{BF0893E9-8125-EB56-84B4-555E8A2974A5}"/>
                  </a:ext>
                </a:extLst>
              </p:cNvPr>
              <p:cNvSpPr txBox="1"/>
              <p:nvPr/>
            </p:nvSpPr>
            <p:spPr>
              <a:xfrm>
                <a:off x="5035658" y="1480862"/>
                <a:ext cx="585352"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1" i="1" noProof="0" smtClean="0">
                          <a:solidFill>
                            <a:schemeClr val="accent5"/>
                          </a:solidFill>
                          <a:latin typeface="Cambria Math" panose="02040503050406030204" pitchFamily="18" charset="0"/>
                        </a:rPr>
                        <m:t>𝑻</m:t>
                      </m:r>
                      <m:d>
                        <m:dPr>
                          <m:ctrlPr>
                            <a:rPr lang="en-US" b="1" i="1" noProof="0" smtClean="0">
                              <a:solidFill>
                                <a:schemeClr val="accent5"/>
                              </a:solidFill>
                              <a:latin typeface="Cambria Math" panose="02040503050406030204" pitchFamily="18" charset="0"/>
                            </a:rPr>
                          </m:ctrlPr>
                        </m:dPr>
                        <m:e>
                          <m:r>
                            <a:rPr lang="en-US" b="1" i="1" noProof="0" smtClean="0">
                              <a:solidFill>
                                <a:schemeClr val="accent5"/>
                              </a:solidFill>
                              <a:latin typeface="Cambria Math" panose="02040503050406030204" pitchFamily="18" charset="0"/>
                            </a:rPr>
                            <m:t>𝒔</m:t>
                          </m:r>
                        </m:e>
                      </m:d>
                    </m:oMath>
                  </m:oMathPara>
                </a14:m>
                <a:endParaRPr lang="en-US" noProof="0" dirty="0"/>
              </a:p>
            </p:txBody>
          </p:sp>
        </mc:Choice>
        <mc:Fallback xmlns="">
          <p:sp>
            <p:nvSpPr>
              <p:cNvPr id="26" name="Textfeld 25">
                <a:extLst>
                  <a:ext uri="{FF2B5EF4-FFF2-40B4-BE49-F238E27FC236}">
                    <a16:creationId xmlns:a16="http://schemas.microsoft.com/office/drawing/2014/main" id="{BF0893E9-8125-EB56-84B4-555E8A2974A5}"/>
                  </a:ext>
                </a:extLst>
              </p:cNvPr>
              <p:cNvSpPr txBox="1">
                <a:spLocks noRot="1" noChangeAspect="1" noMove="1" noResize="1" noEditPoints="1" noAdjustHandles="1" noChangeArrowheads="1" noChangeShapeType="1" noTextEdit="1"/>
              </p:cNvSpPr>
              <p:nvPr/>
            </p:nvSpPr>
            <p:spPr>
              <a:xfrm>
                <a:off x="5035658" y="1480862"/>
                <a:ext cx="585352" cy="307777"/>
              </a:xfrm>
              <a:prstGeom prst="rect">
                <a:avLst/>
              </a:prstGeom>
              <a:blipFill>
                <a:blip r:embed="rId10"/>
                <a:stretch>
                  <a:fillRect/>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7" name="Textfeld 26">
                <a:extLst>
                  <a:ext uri="{FF2B5EF4-FFF2-40B4-BE49-F238E27FC236}">
                    <a16:creationId xmlns:a16="http://schemas.microsoft.com/office/drawing/2014/main" id="{5296833E-54D5-7897-B02D-399640B389AF}"/>
                  </a:ext>
                </a:extLst>
              </p:cNvPr>
              <p:cNvSpPr txBox="1"/>
              <p:nvPr/>
            </p:nvSpPr>
            <p:spPr>
              <a:xfrm>
                <a:off x="5585190" y="883284"/>
                <a:ext cx="574132"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1" i="1" noProof="0">
                          <a:solidFill>
                            <a:schemeClr val="accent4"/>
                          </a:solidFill>
                          <a:latin typeface="Cambria Math" panose="02040503050406030204" pitchFamily="18" charset="0"/>
                        </a:rPr>
                        <m:t>𝑳</m:t>
                      </m:r>
                      <m:d>
                        <m:dPr>
                          <m:ctrlPr>
                            <a:rPr lang="en-US" b="1" i="1" noProof="0">
                              <a:solidFill>
                                <a:schemeClr val="accent4"/>
                              </a:solidFill>
                              <a:latin typeface="Cambria Math" panose="02040503050406030204" pitchFamily="18" charset="0"/>
                            </a:rPr>
                          </m:ctrlPr>
                        </m:dPr>
                        <m:e>
                          <m:r>
                            <a:rPr lang="en-US" b="1" i="1" noProof="0">
                              <a:solidFill>
                                <a:schemeClr val="accent4"/>
                              </a:solidFill>
                              <a:latin typeface="Cambria Math" panose="02040503050406030204" pitchFamily="18" charset="0"/>
                            </a:rPr>
                            <m:t>𝒔</m:t>
                          </m:r>
                        </m:e>
                      </m:d>
                    </m:oMath>
                  </m:oMathPara>
                </a14:m>
                <a:endParaRPr lang="en-US" noProof="0" dirty="0"/>
              </a:p>
            </p:txBody>
          </p:sp>
        </mc:Choice>
        <mc:Fallback xmlns="">
          <p:sp>
            <p:nvSpPr>
              <p:cNvPr id="27" name="Textfeld 26">
                <a:extLst>
                  <a:ext uri="{FF2B5EF4-FFF2-40B4-BE49-F238E27FC236}">
                    <a16:creationId xmlns:a16="http://schemas.microsoft.com/office/drawing/2014/main" id="{5296833E-54D5-7897-B02D-399640B389AF}"/>
                  </a:ext>
                </a:extLst>
              </p:cNvPr>
              <p:cNvSpPr txBox="1">
                <a:spLocks noRot="1" noChangeAspect="1" noMove="1" noResize="1" noEditPoints="1" noAdjustHandles="1" noChangeArrowheads="1" noChangeShapeType="1" noTextEdit="1"/>
              </p:cNvSpPr>
              <p:nvPr/>
            </p:nvSpPr>
            <p:spPr>
              <a:xfrm>
                <a:off x="5585190" y="883284"/>
                <a:ext cx="574132" cy="307777"/>
              </a:xfrm>
              <a:prstGeom prst="rect">
                <a:avLst/>
              </a:prstGeom>
              <a:blipFill>
                <a:blip r:embed="rId11"/>
                <a:stretch>
                  <a:fillRect/>
                </a:stretch>
              </a:blipFill>
            </p:spPr>
            <p:txBody>
              <a:bodyPr/>
              <a:lstStyle/>
              <a:p>
                <a:r>
                  <a:rPr lang="de-DE">
                    <a:noFill/>
                  </a:rPr>
                  <a:t> </a:t>
                </a:r>
              </a:p>
            </p:txBody>
          </p:sp>
        </mc:Fallback>
      </mc:AlternateContent>
      <mc:AlternateContent xmlns:mc="http://schemas.openxmlformats.org/markup-compatibility/2006">
        <mc:Choice xmlns:a14="http://schemas.microsoft.com/office/drawing/2010/main" Requires="a14">
          <p:sp>
            <p:nvSpPr>
              <p:cNvPr id="28" name="Textfeld 27">
                <a:extLst>
                  <a:ext uri="{FF2B5EF4-FFF2-40B4-BE49-F238E27FC236}">
                    <a16:creationId xmlns:a16="http://schemas.microsoft.com/office/drawing/2014/main" id="{6E8F7C31-8506-D720-2A1D-2E41E7156075}"/>
                  </a:ext>
                </a:extLst>
              </p:cNvPr>
              <p:cNvSpPr txBox="1"/>
              <p:nvPr/>
            </p:nvSpPr>
            <p:spPr>
              <a:xfrm>
                <a:off x="628650" y="2074184"/>
                <a:ext cx="9039195" cy="1231747"/>
              </a:xfrm>
              <a:prstGeom prst="rect">
                <a:avLst/>
              </a:prstGeom>
              <a:noFill/>
            </p:spPr>
            <p:txBody>
              <a:bodyPr wrap="square" rtlCol="0">
                <a:spAutoFit/>
              </a:bodyPr>
              <a:lstStyle/>
              <a:p>
                <a:r>
                  <a:rPr lang="en-US" sz="1800" noProof="0" dirty="0"/>
                  <a:t>Open-Loop TF: 			</a:t>
                </a:r>
                <a14:m>
                  <m:oMath xmlns:m="http://schemas.openxmlformats.org/officeDocument/2006/math">
                    <m:r>
                      <a:rPr lang="en-US" sz="1800" i="1" noProof="0" smtClean="0">
                        <a:latin typeface="Cambria Math" panose="02040503050406030204" pitchFamily="18" charset="0"/>
                      </a:rPr>
                      <m:t>𝐿</m:t>
                    </m:r>
                    <m:d>
                      <m:dPr>
                        <m:ctrlPr>
                          <a:rPr lang="en-US" sz="1800" i="1" noProof="0" smtClean="0">
                            <a:latin typeface="Cambria Math" panose="02040503050406030204" pitchFamily="18" charset="0"/>
                          </a:rPr>
                        </m:ctrlPr>
                      </m:dPr>
                      <m:e>
                        <m:r>
                          <a:rPr lang="en-US" sz="1800" i="1" noProof="0">
                            <a:latin typeface="Cambria Math" panose="02040503050406030204" pitchFamily="18" charset="0"/>
                          </a:rPr>
                          <m:t>𝑠</m:t>
                        </m:r>
                      </m:e>
                    </m:d>
                    <m:r>
                      <a:rPr lang="en-US" sz="1800" i="1" noProof="0">
                        <a:latin typeface="Cambria Math" panose="02040503050406030204" pitchFamily="18" charset="0"/>
                      </a:rPr>
                      <m:t>=</m:t>
                    </m:r>
                    <m:r>
                      <a:rPr lang="en-US" sz="1800" i="1" noProof="0">
                        <a:latin typeface="Cambria Math" panose="02040503050406030204" pitchFamily="18" charset="0"/>
                      </a:rPr>
                      <m:t>𝑃</m:t>
                    </m:r>
                    <m:d>
                      <m:dPr>
                        <m:ctrlPr>
                          <a:rPr lang="en-US" sz="1800" i="1" noProof="0">
                            <a:latin typeface="Cambria Math" panose="02040503050406030204" pitchFamily="18" charset="0"/>
                          </a:rPr>
                        </m:ctrlPr>
                      </m:dPr>
                      <m:e>
                        <m:r>
                          <a:rPr lang="en-US" sz="1800" i="1" noProof="0">
                            <a:latin typeface="Cambria Math" panose="02040503050406030204" pitchFamily="18" charset="0"/>
                          </a:rPr>
                          <m:t>𝑠</m:t>
                        </m:r>
                      </m:e>
                    </m:d>
                    <m:r>
                      <a:rPr lang="en-US" sz="1800" i="1" noProof="0">
                        <a:latin typeface="Cambria Math" panose="02040503050406030204" pitchFamily="18" charset="0"/>
                      </a:rPr>
                      <m:t>𝐶</m:t>
                    </m:r>
                    <m:d>
                      <m:dPr>
                        <m:ctrlPr>
                          <a:rPr lang="en-US" sz="1800" i="1" noProof="0">
                            <a:latin typeface="Cambria Math" panose="02040503050406030204" pitchFamily="18" charset="0"/>
                          </a:rPr>
                        </m:ctrlPr>
                      </m:dPr>
                      <m:e>
                        <m:r>
                          <a:rPr lang="en-US" sz="1800" i="1" noProof="0">
                            <a:latin typeface="Cambria Math" panose="02040503050406030204" pitchFamily="18" charset="0"/>
                          </a:rPr>
                          <m:t>𝑠</m:t>
                        </m:r>
                      </m:e>
                    </m:d>
                  </m:oMath>
                </a14:m>
                <a:r>
                  <a:rPr lang="en-US" sz="1800" noProof="0" dirty="0"/>
                  <a:t>        	</a:t>
                </a:r>
                <a14:m>
                  <m:oMath xmlns:m="http://schemas.openxmlformats.org/officeDocument/2006/math">
                    <m:r>
                      <a:rPr lang="en-US" sz="1800" i="1" noProof="0" smtClean="0">
                        <a:latin typeface="Cambria Math" panose="02040503050406030204" pitchFamily="18" charset="0"/>
                      </a:rPr>
                      <m:t>(</m:t>
                    </m:r>
                    <m:r>
                      <a:rPr lang="en-US" sz="1800" i="1" noProof="0">
                        <a:latin typeface="Cambria Math" panose="02040503050406030204" pitchFamily="18" charset="0"/>
                      </a:rPr>
                      <m:t>𝑒</m:t>
                    </m:r>
                    <m:r>
                      <a:rPr lang="en-US" sz="1800" i="1" noProof="0">
                        <a:latin typeface="Cambria Math" panose="02040503050406030204" pitchFamily="18" charset="0"/>
                      </a:rPr>
                      <m:t> → </m:t>
                    </m:r>
                    <m:r>
                      <a:rPr lang="en-US" sz="1800" i="1" noProof="0">
                        <a:latin typeface="Cambria Math" panose="02040503050406030204" pitchFamily="18" charset="0"/>
                      </a:rPr>
                      <m:t>𝑦</m:t>
                    </m:r>
                    <m:r>
                      <a:rPr lang="en-US" sz="1800" i="1" noProof="0">
                        <a:latin typeface="Cambria Math" panose="02040503050406030204" pitchFamily="18" charset="0"/>
                      </a:rPr>
                      <m:t>)</m:t>
                    </m:r>
                  </m:oMath>
                </a14:m>
                <a:endParaRPr lang="en-US" sz="1800" noProof="0" dirty="0"/>
              </a:p>
              <a:p>
                <a:r>
                  <a:rPr lang="en-US" sz="1800" noProof="0" dirty="0"/>
                  <a:t>Sensitivity:  			</a:t>
                </a:r>
                <a14:m>
                  <m:oMath xmlns:m="http://schemas.openxmlformats.org/officeDocument/2006/math">
                    <m:r>
                      <a:rPr lang="en-US" sz="1800" i="1" noProof="0" smtClean="0">
                        <a:latin typeface="Cambria Math" panose="02040503050406030204" pitchFamily="18" charset="0"/>
                      </a:rPr>
                      <m:t>𝑆</m:t>
                    </m:r>
                    <m:d>
                      <m:dPr>
                        <m:ctrlPr>
                          <a:rPr lang="en-US" sz="1800" i="1" noProof="0" smtClean="0">
                            <a:latin typeface="Cambria Math" panose="02040503050406030204" pitchFamily="18" charset="0"/>
                          </a:rPr>
                        </m:ctrlPr>
                      </m:dPr>
                      <m:e>
                        <m:r>
                          <a:rPr lang="en-US" sz="1800" i="1" noProof="0" smtClean="0">
                            <a:latin typeface="Cambria Math" panose="02040503050406030204" pitchFamily="18" charset="0"/>
                          </a:rPr>
                          <m:t>𝑠</m:t>
                        </m:r>
                      </m:e>
                    </m:d>
                    <m:r>
                      <a:rPr lang="en-US" sz="1800" i="1" noProof="0" smtClean="0">
                        <a:latin typeface="Cambria Math" panose="02040503050406030204" pitchFamily="18" charset="0"/>
                      </a:rPr>
                      <m:t>=</m:t>
                    </m:r>
                    <m:f>
                      <m:fPr>
                        <m:ctrlPr>
                          <a:rPr lang="en-US" sz="1800" i="1" noProof="0" smtClean="0">
                            <a:latin typeface="Cambria Math" panose="02040503050406030204" pitchFamily="18" charset="0"/>
                          </a:rPr>
                        </m:ctrlPr>
                      </m:fPr>
                      <m:num>
                        <m:r>
                          <a:rPr lang="en-US" sz="1800" i="1" noProof="0" smtClean="0">
                            <a:latin typeface="Cambria Math" panose="02040503050406030204" pitchFamily="18" charset="0"/>
                          </a:rPr>
                          <m:t>1</m:t>
                        </m:r>
                      </m:num>
                      <m:den>
                        <m:r>
                          <a:rPr lang="en-US" sz="1800" i="1" noProof="0" smtClean="0">
                            <a:latin typeface="Cambria Math" panose="02040503050406030204" pitchFamily="18" charset="0"/>
                          </a:rPr>
                          <m:t>1+</m:t>
                        </m:r>
                        <m:r>
                          <a:rPr lang="en-US" sz="1800" i="1" noProof="0" smtClean="0">
                            <a:latin typeface="Cambria Math" panose="02040503050406030204" pitchFamily="18" charset="0"/>
                          </a:rPr>
                          <m:t>𝐿</m:t>
                        </m:r>
                        <m:d>
                          <m:dPr>
                            <m:ctrlPr>
                              <a:rPr lang="en-US" sz="1800" i="1" noProof="0" smtClean="0">
                                <a:latin typeface="Cambria Math" panose="02040503050406030204" pitchFamily="18" charset="0"/>
                              </a:rPr>
                            </m:ctrlPr>
                          </m:dPr>
                          <m:e>
                            <m:r>
                              <a:rPr lang="en-US" sz="1800" i="1" noProof="0" smtClean="0">
                                <a:latin typeface="Cambria Math" panose="02040503050406030204" pitchFamily="18" charset="0"/>
                              </a:rPr>
                              <m:t>𝑠</m:t>
                            </m:r>
                          </m:e>
                        </m:d>
                      </m:den>
                    </m:f>
                    <m:r>
                      <a:rPr lang="en-US" sz="1800" i="1" noProof="0" smtClean="0">
                        <a:latin typeface="Cambria Math" panose="02040503050406030204" pitchFamily="18" charset="0"/>
                      </a:rPr>
                      <m:t> </m:t>
                    </m:r>
                  </m:oMath>
                </a14:m>
                <a:r>
                  <a:rPr lang="en-US" sz="1800" noProof="0" dirty="0"/>
                  <a:t>		</a:t>
                </a:r>
                <a14:m>
                  <m:oMath xmlns:m="http://schemas.openxmlformats.org/officeDocument/2006/math">
                    <m:r>
                      <a:rPr lang="en-US" sz="1800" i="1" noProof="0" smtClean="0">
                        <a:latin typeface="Cambria Math" panose="02040503050406030204" pitchFamily="18" charset="0"/>
                      </a:rPr>
                      <m:t>(</m:t>
                    </m:r>
                    <m:r>
                      <a:rPr lang="en-US" sz="1800" i="1" noProof="0">
                        <a:latin typeface="Cambria Math" panose="02040503050406030204" pitchFamily="18" charset="0"/>
                      </a:rPr>
                      <m:t>𝑟</m:t>
                    </m:r>
                    <m:r>
                      <a:rPr lang="en-US" sz="1800" i="1" noProof="0">
                        <a:latin typeface="Cambria Math" panose="02040503050406030204" pitchFamily="18" charset="0"/>
                      </a:rPr>
                      <m:t> → </m:t>
                    </m:r>
                    <m:r>
                      <a:rPr lang="en-US" sz="1800" i="1" noProof="0">
                        <a:latin typeface="Cambria Math" panose="02040503050406030204" pitchFamily="18" charset="0"/>
                      </a:rPr>
                      <m:t>𝑒</m:t>
                    </m:r>
                    <m:r>
                      <a:rPr lang="en-US" sz="1800" i="1" noProof="0">
                        <a:latin typeface="Cambria Math" panose="02040503050406030204" pitchFamily="18" charset="0"/>
                      </a:rPr>
                      <m:t>)</m:t>
                    </m:r>
                  </m:oMath>
                </a14:m>
                <a:endParaRPr lang="en-US" sz="1800" noProof="0" dirty="0"/>
              </a:p>
              <a:p>
                <a:r>
                  <a:rPr lang="en-US" sz="1800" noProof="0" dirty="0"/>
                  <a:t>Complementary Sensitivity: 	</a:t>
                </a:r>
                <a14:m>
                  <m:oMath xmlns:m="http://schemas.openxmlformats.org/officeDocument/2006/math">
                    <m:r>
                      <a:rPr lang="en-US" sz="1800" i="1" noProof="0" smtClean="0">
                        <a:latin typeface="Cambria Math" panose="02040503050406030204" pitchFamily="18" charset="0"/>
                      </a:rPr>
                      <m:t>𝑇</m:t>
                    </m:r>
                    <m:d>
                      <m:dPr>
                        <m:ctrlPr>
                          <a:rPr lang="en-US" sz="1800" i="1" noProof="0" smtClean="0">
                            <a:latin typeface="Cambria Math" panose="02040503050406030204" pitchFamily="18" charset="0"/>
                          </a:rPr>
                        </m:ctrlPr>
                      </m:dPr>
                      <m:e>
                        <m:r>
                          <a:rPr lang="en-US" sz="1800" i="1" noProof="0" smtClean="0">
                            <a:latin typeface="Cambria Math" panose="02040503050406030204" pitchFamily="18" charset="0"/>
                          </a:rPr>
                          <m:t>𝑠</m:t>
                        </m:r>
                      </m:e>
                    </m:d>
                    <m:r>
                      <a:rPr lang="en-US" sz="1800" noProof="0" smtClean="0">
                        <a:latin typeface="Cambria Math" panose="02040503050406030204" pitchFamily="18" charset="0"/>
                      </a:rPr>
                      <m:t>=</m:t>
                    </m:r>
                    <m:f>
                      <m:fPr>
                        <m:ctrlPr>
                          <a:rPr lang="en-US" sz="1800" i="1" noProof="0" smtClean="0">
                            <a:latin typeface="Cambria Math" panose="02040503050406030204" pitchFamily="18" charset="0"/>
                          </a:rPr>
                        </m:ctrlPr>
                      </m:fPr>
                      <m:num>
                        <m:r>
                          <a:rPr lang="en-US" sz="1800" i="1" noProof="0" smtClean="0">
                            <a:latin typeface="Cambria Math" panose="02040503050406030204" pitchFamily="18" charset="0"/>
                          </a:rPr>
                          <m:t>𝐿</m:t>
                        </m:r>
                        <m:d>
                          <m:dPr>
                            <m:ctrlPr>
                              <a:rPr lang="en-US" sz="1800" i="1" noProof="0" smtClean="0">
                                <a:latin typeface="Cambria Math" panose="02040503050406030204" pitchFamily="18" charset="0"/>
                              </a:rPr>
                            </m:ctrlPr>
                          </m:dPr>
                          <m:e>
                            <m:r>
                              <a:rPr lang="en-US" sz="1800" i="1" noProof="0" smtClean="0">
                                <a:latin typeface="Cambria Math" panose="02040503050406030204" pitchFamily="18" charset="0"/>
                              </a:rPr>
                              <m:t>𝑠</m:t>
                            </m:r>
                          </m:e>
                        </m:d>
                      </m:num>
                      <m:den>
                        <m:r>
                          <a:rPr lang="en-US" sz="1800" noProof="0" smtClean="0">
                            <a:solidFill>
                              <a:srgbClr val="FF0000"/>
                            </a:solidFill>
                            <a:latin typeface="Cambria Math" panose="02040503050406030204" pitchFamily="18" charset="0"/>
                          </a:rPr>
                          <m:t>1+</m:t>
                        </m:r>
                        <m:r>
                          <a:rPr lang="en-US" sz="1800" i="1" noProof="0" smtClean="0">
                            <a:solidFill>
                              <a:srgbClr val="FF0000"/>
                            </a:solidFill>
                            <a:latin typeface="Cambria Math" panose="02040503050406030204" pitchFamily="18" charset="0"/>
                          </a:rPr>
                          <m:t>𝐿</m:t>
                        </m:r>
                        <m:d>
                          <m:dPr>
                            <m:ctrlPr>
                              <a:rPr lang="en-US" sz="1800" i="1" noProof="0" smtClean="0">
                                <a:solidFill>
                                  <a:srgbClr val="FF0000"/>
                                </a:solidFill>
                                <a:latin typeface="Cambria Math" panose="02040503050406030204" pitchFamily="18" charset="0"/>
                              </a:rPr>
                            </m:ctrlPr>
                          </m:dPr>
                          <m:e>
                            <m:r>
                              <a:rPr lang="en-US" sz="1800" i="1" noProof="0" smtClean="0">
                                <a:solidFill>
                                  <a:srgbClr val="FF0000"/>
                                </a:solidFill>
                                <a:latin typeface="Cambria Math" panose="02040503050406030204" pitchFamily="18" charset="0"/>
                              </a:rPr>
                              <m:t>𝑠</m:t>
                            </m:r>
                          </m:e>
                        </m:d>
                      </m:den>
                    </m:f>
                    <m:r>
                      <a:rPr lang="en-US" sz="1800" i="1" noProof="0" smtClean="0">
                        <a:latin typeface="Cambria Math" panose="02040503050406030204" pitchFamily="18" charset="0"/>
                      </a:rPr>
                      <m:t> 	</m:t>
                    </m:r>
                  </m:oMath>
                </a14:m>
                <a:r>
                  <a:rPr lang="en-US" sz="1800" noProof="0" dirty="0"/>
                  <a:t>		</a:t>
                </a:r>
                <a14:m>
                  <m:oMath xmlns:m="http://schemas.openxmlformats.org/officeDocument/2006/math">
                    <m:d>
                      <m:dPr>
                        <m:ctrlPr>
                          <a:rPr lang="en-US" sz="1800" i="1" noProof="0" smtClean="0">
                            <a:latin typeface="Cambria Math" panose="02040503050406030204" pitchFamily="18" charset="0"/>
                          </a:rPr>
                        </m:ctrlPr>
                      </m:dPr>
                      <m:e>
                        <m:r>
                          <a:rPr lang="en-US" sz="1800" i="1" noProof="0">
                            <a:latin typeface="Cambria Math" panose="02040503050406030204" pitchFamily="18" charset="0"/>
                          </a:rPr>
                          <m:t>𝑟</m:t>
                        </m:r>
                        <m:r>
                          <a:rPr lang="en-US" sz="1800" i="1" noProof="0">
                            <a:latin typeface="Cambria Math" panose="02040503050406030204" pitchFamily="18" charset="0"/>
                          </a:rPr>
                          <m:t>→</m:t>
                        </m:r>
                        <m:r>
                          <a:rPr lang="en-US" sz="1800" i="1" noProof="0">
                            <a:latin typeface="Cambria Math" panose="02040503050406030204" pitchFamily="18" charset="0"/>
                          </a:rPr>
                          <m:t>𝑦</m:t>
                        </m:r>
                      </m:e>
                    </m:d>
                  </m:oMath>
                </a14:m>
                <a:endParaRPr lang="en-US" sz="1800" noProof="0" dirty="0"/>
              </a:p>
            </p:txBody>
          </p:sp>
        </mc:Choice>
        <mc:Fallback>
          <p:sp>
            <p:nvSpPr>
              <p:cNvPr id="28" name="Textfeld 27">
                <a:extLst>
                  <a:ext uri="{FF2B5EF4-FFF2-40B4-BE49-F238E27FC236}">
                    <a16:creationId xmlns:a16="http://schemas.microsoft.com/office/drawing/2014/main" id="{6E8F7C31-8506-D720-2A1D-2E41E7156075}"/>
                  </a:ext>
                </a:extLst>
              </p:cNvPr>
              <p:cNvSpPr txBox="1">
                <a:spLocks noRot="1" noChangeAspect="1" noMove="1" noResize="1" noEditPoints="1" noAdjustHandles="1" noChangeArrowheads="1" noChangeShapeType="1" noTextEdit="1"/>
              </p:cNvSpPr>
              <p:nvPr/>
            </p:nvSpPr>
            <p:spPr>
              <a:xfrm>
                <a:off x="628650" y="2074184"/>
                <a:ext cx="9039195" cy="1231747"/>
              </a:xfrm>
              <a:prstGeom prst="rect">
                <a:avLst/>
              </a:prstGeom>
              <a:blipFill>
                <a:blip r:embed="rId12"/>
                <a:stretch>
                  <a:fillRect l="-561" t="-2041"/>
                </a:stretch>
              </a:blipFill>
            </p:spPr>
            <p:txBody>
              <a:bodyPr/>
              <a:lstStyle/>
              <a:p>
                <a:r>
                  <a:rPr lang="de-DE">
                    <a:noFill/>
                  </a:rPr>
                  <a:t> </a:t>
                </a:r>
              </a:p>
            </p:txBody>
          </p:sp>
        </mc:Fallback>
      </mc:AlternateContent>
    </p:spTree>
    <p:extLst>
      <p:ext uri="{BB962C8B-B14F-4D97-AF65-F5344CB8AC3E}">
        <p14:creationId xmlns:p14="http://schemas.microsoft.com/office/powerpoint/2010/main" val="40867857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Inhaltsplatzhalter 2">
                <a:extLst>
                  <a:ext uri="{FF2B5EF4-FFF2-40B4-BE49-F238E27FC236}">
                    <a16:creationId xmlns:a16="http://schemas.microsoft.com/office/drawing/2014/main" id="{35E9509E-F2AB-107B-E31F-A1EB0ED72518}"/>
                  </a:ext>
                </a:extLst>
              </p:cNvPr>
              <p:cNvSpPr>
                <a:spLocks noGrp="1"/>
              </p:cNvSpPr>
              <p:nvPr>
                <p:ph idx="1"/>
              </p:nvPr>
            </p:nvSpPr>
            <p:spPr>
              <a:xfrm>
                <a:off x="716452" y="1096345"/>
                <a:ext cx="7886700" cy="3746903"/>
              </a:xfrm>
            </p:spPr>
            <p:txBody>
              <a:bodyPr>
                <a:normAutofit/>
              </a:bodyPr>
              <a:lstStyle/>
              <a:p>
                <a:pPr marL="0" indent="0">
                  <a:buNone/>
                </a:pPr>
                <a:r>
                  <a:rPr lang="en-US" noProof="0" dirty="0"/>
                  <a:t>The essential question is now; how does feedback affect our system?</a:t>
                </a:r>
              </a:p>
              <a:p>
                <a:pPr marL="0" indent="0">
                  <a:buNone/>
                </a:pPr>
                <a:r>
                  <a:rPr lang="en-US" u="sng" noProof="0" dirty="0"/>
                  <a:t>Example:</a:t>
                </a:r>
                <a:r>
                  <a:rPr lang="en-US" noProof="0" dirty="0"/>
                  <a:t> </a:t>
                </a:r>
              </a:p>
              <a:p>
                <a:r>
                  <a:rPr lang="en-US" noProof="0" dirty="0"/>
                  <a:t>With the feedback, the open-loop is:</a:t>
                </a:r>
              </a:p>
              <a:p>
                <a:pPr marL="0" indent="0">
                  <a:buNone/>
                </a:pPr>
                <a14:m>
                  <m:oMath xmlns:m="http://schemas.openxmlformats.org/officeDocument/2006/math">
                    <m:r>
                      <a:rPr lang="en-US" i="1" noProof="0" smtClean="0">
                        <a:latin typeface="Cambria Math" panose="02040503050406030204" pitchFamily="18" charset="0"/>
                      </a:rPr>
                      <m:t>⟶</m:t>
                    </m:r>
                  </m:oMath>
                </a14:m>
                <a:r>
                  <a:rPr lang="en-US" noProof="0" dirty="0"/>
                  <a:t> Unstable, no matter the gain!</a:t>
                </a:r>
              </a:p>
              <a:p>
                <a:r>
                  <a:rPr lang="en-US" noProof="0" dirty="0"/>
                  <a:t>If we now close the loop the TF becomes:</a:t>
                </a:r>
              </a:p>
              <a:p>
                <a:endParaRPr lang="en-US" noProof="0" dirty="0"/>
              </a:p>
              <a:p>
                <a:endParaRPr lang="en-US" noProof="0" dirty="0"/>
              </a:p>
              <a:p>
                <a:endParaRPr lang="en-US" noProof="0" dirty="0"/>
              </a:p>
              <a:p>
                <a:endParaRPr lang="en-US" noProof="0" dirty="0"/>
              </a:p>
              <a:p>
                <a:pPr marL="0" indent="0">
                  <a:buNone/>
                </a:pPr>
                <a:endParaRPr lang="en-US" noProof="0" dirty="0"/>
              </a:p>
            </p:txBody>
          </p:sp>
        </mc:Choice>
        <mc:Fallback xmlns="">
          <p:sp>
            <p:nvSpPr>
              <p:cNvPr id="3" name="Inhaltsplatzhalter 2">
                <a:extLst>
                  <a:ext uri="{FF2B5EF4-FFF2-40B4-BE49-F238E27FC236}">
                    <a16:creationId xmlns:a16="http://schemas.microsoft.com/office/drawing/2014/main" id="{35E9509E-F2AB-107B-E31F-A1EB0ED72518}"/>
                  </a:ext>
                </a:extLst>
              </p:cNvPr>
              <p:cNvSpPr>
                <a:spLocks noGrp="1" noRot="1" noChangeAspect="1" noMove="1" noResize="1" noEditPoints="1" noAdjustHandles="1" noChangeArrowheads="1" noChangeShapeType="1" noTextEdit="1"/>
              </p:cNvSpPr>
              <p:nvPr>
                <p:ph idx="1"/>
              </p:nvPr>
            </p:nvSpPr>
            <p:spPr>
              <a:xfrm>
                <a:off x="716452" y="1096345"/>
                <a:ext cx="7886700" cy="3746903"/>
              </a:xfrm>
              <a:blipFill>
                <a:blip r:embed="rId2"/>
                <a:stretch>
                  <a:fillRect l="-643" t="-1689"/>
                </a:stretch>
              </a:blipFill>
            </p:spPr>
            <p:txBody>
              <a:bodyPr/>
              <a:lstStyle/>
              <a:p>
                <a:r>
                  <a:rPr lang="de-DE">
                    <a:noFill/>
                  </a:rPr>
                  <a:t> </a:t>
                </a:r>
              </a:p>
            </p:txBody>
          </p:sp>
        </mc:Fallback>
      </mc:AlternateContent>
      <p:sp>
        <p:nvSpPr>
          <p:cNvPr id="4" name="Fußzeilenplatzhalter 3">
            <a:extLst>
              <a:ext uri="{FF2B5EF4-FFF2-40B4-BE49-F238E27FC236}">
                <a16:creationId xmlns:a16="http://schemas.microsoft.com/office/drawing/2014/main" id="{20F499C2-7B71-5EBB-51F9-2C961A63213C}"/>
              </a:ext>
            </a:extLst>
          </p:cNvPr>
          <p:cNvSpPr>
            <a:spLocks noGrp="1"/>
          </p:cNvSpPr>
          <p:nvPr>
            <p:ph type="ftr" sz="quarter" idx="11"/>
          </p:nvPr>
        </p:nvSpPr>
        <p:spPr/>
        <p:txBody>
          <a:bodyPr/>
          <a:lstStyle/>
          <a:p>
            <a:pPr defTabSz="342900">
              <a:buClrTx/>
            </a:pPr>
            <a:r>
              <a:rPr lang="en-US" kern="1200" noProof="0" dirty="0">
                <a:solidFill>
                  <a:srgbClr val="101623">
                    <a:tint val="75000"/>
                  </a:srgbClr>
                </a:solidFill>
                <a:latin typeface="Calibri" panose="020F0502020204030204"/>
                <a:ea typeface="+mn-ea"/>
                <a:cs typeface="+mn-cs"/>
              </a:rPr>
              <a:t>Kissan Varatharajan - </a:t>
            </a:r>
            <a:r>
              <a:rPr lang="en-US" kern="1200" noProof="0" dirty="0" err="1">
                <a:solidFill>
                  <a:srgbClr val="101623">
                    <a:tint val="75000"/>
                  </a:srgbClr>
                </a:solidFill>
                <a:latin typeface="Calibri" panose="020F0502020204030204"/>
                <a:ea typeface="+mn-ea"/>
                <a:cs typeface="+mn-cs"/>
              </a:rPr>
              <a:t>kissanv.github.io</a:t>
            </a:r>
            <a:endParaRPr lang="en-US" kern="1200" noProof="0" dirty="0">
              <a:solidFill>
                <a:srgbClr val="101623">
                  <a:tint val="75000"/>
                </a:srgbClr>
              </a:solidFill>
              <a:latin typeface="Calibri" panose="020F0502020204030204"/>
              <a:ea typeface="+mn-ea"/>
              <a:cs typeface="+mn-cs"/>
            </a:endParaRPr>
          </a:p>
        </p:txBody>
      </p:sp>
      <p:sp>
        <p:nvSpPr>
          <p:cNvPr id="5" name="Foliennummernplatzhalter 4">
            <a:extLst>
              <a:ext uri="{FF2B5EF4-FFF2-40B4-BE49-F238E27FC236}">
                <a16:creationId xmlns:a16="http://schemas.microsoft.com/office/drawing/2014/main" id="{2932BA00-B342-0AF0-07E1-B520774D8CA1}"/>
              </a:ext>
            </a:extLst>
          </p:cNvPr>
          <p:cNvSpPr>
            <a:spLocks noGrp="1"/>
          </p:cNvSpPr>
          <p:nvPr>
            <p:ph type="sldNum" sz="quarter" idx="12"/>
          </p:nvPr>
        </p:nvSpPr>
        <p:spPr/>
        <p:txBody>
          <a:bodyPr/>
          <a:lstStyle/>
          <a:p>
            <a:pPr defTabSz="342900">
              <a:buClrTx/>
            </a:pPr>
            <a:fld id="{36EAFFE7-40E2-CA47-82C0-73D0FC591208}" type="slidenum">
              <a:rPr lang="en-US" kern="1200" noProof="0" smtClean="0">
                <a:solidFill>
                  <a:srgbClr val="101623">
                    <a:tint val="75000"/>
                  </a:srgbClr>
                </a:solidFill>
                <a:latin typeface="Calibri" panose="020F0502020204030204"/>
                <a:ea typeface="+mn-ea"/>
                <a:cs typeface="+mn-cs"/>
              </a:rPr>
              <a:pPr defTabSz="342900">
                <a:buClrTx/>
              </a:pPr>
              <a:t>14</a:t>
            </a:fld>
            <a:endParaRPr lang="en-US" kern="1200" noProof="0" dirty="0">
              <a:solidFill>
                <a:srgbClr val="101623">
                  <a:tint val="75000"/>
                </a:srgbClr>
              </a:solidFill>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7" name="Textfeld 6">
                <a:extLst>
                  <a:ext uri="{FF2B5EF4-FFF2-40B4-BE49-F238E27FC236}">
                    <a16:creationId xmlns:a16="http://schemas.microsoft.com/office/drawing/2014/main" id="{5F9AAF32-3BDE-C56B-E77D-FAC3A6891A00}"/>
                  </a:ext>
                </a:extLst>
              </p:cNvPr>
              <p:cNvSpPr txBox="1"/>
              <p:nvPr/>
            </p:nvSpPr>
            <p:spPr>
              <a:xfrm>
                <a:off x="4764744" y="1644522"/>
                <a:ext cx="1498167" cy="61831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800" i="1" noProof="0">
                          <a:latin typeface="Cambria Math" panose="02040503050406030204" pitchFamily="18" charset="0"/>
                        </a:rPr>
                        <m:t>𝐿</m:t>
                      </m:r>
                      <m:d>
                        <m:dPr>
                          <m:ctrlPr>
                            <a:rPr lang="en-US" sz="1800" i="1" noProof="0">
                              <a:latin typeface="Cambria Math" panose="02040503050406030204" pitchFamily="18" charset="0"/>
                            </a:rPr>
                          </m:ctrlPr>
                        </m:dPr>
                        <m:e>
                          <m:r>
                            <a:rPr lang="en-US" sz="1800" i="1" noProof="0">
                              <a:latin typeface="Cambria Math" panose="02040503050406030204" pitchFamily="18" charset="0"/>
                            </a:rPr>
                            <m:t>𝑠</m:t>
                          </m:r>
                        </m:e>
                      </m:d>
                      <m:r>
                        <a:rPr lang="en-US" sz="1800" i="1" noProof="0">
                          <a:latin typeface="Cambria Math" panose="02040503050406030204" pitchFamily="18" charset="0"/>
                        </a:rPr>
                        <m:t>=</m:t>
                      </m:r>
                      <m:f>
                        <m:fPr>
                          <m:ctrlPr>
                            <a:rPr lang="en-US" sz="1800" i="1" noProof="0">
                              <a:latin typeface="Cambria Math" panose="02040503050406030204" pitchFamily="18" charset="0"/>
                            </a:rPr>
                          </m:ctrlPr>
                        </m:fPr>
                        <m:num>
                          <m:r>
                            <a:rPr lang="en-US" sz="1800" i="1" noProof="0">
                              <a:latin typeface="Cambria Math" panose="02040503050406030204" pitchFamily="18" charset="0"/>
                            </a:rPr>
                            <m:t>𝑘</m:t>
                          </m:r>
                        </m:num>
                        <m:den>
                          <m:r>
                            <a:rPr lang="en-US" sz="1800" i="1" noProof="0">
                              <a:latin typeface="Cambria Math" panose="02040503050406030204" pitchFamily="18" charset="0"/>
                            </a:rPr>
                            <m:t>𝑠</m:t>
                          </m:r>
                          <m:r>
                            <a:rPr lang="en-US" sz="1800" i="1" noProof="0">
                              <a:latin typeface="Cambria Math" panose="02040503050406030204" pitchFamily="18" charset="0"/>
                            </a:rPr>
                            <m:t>−1</m:t>
                          </m:r>
                        </m:den>
                      </m:f>
                    </m:oMath>
                  </m:oMathPara>
                </a14:m>
                <a:endParaRPr lang="en-US" sz="1800" noProof="0" dirty="0"/>
              </a:p>
            </p:txBody>
          </p:sp>
        </mc:Choice>
        <mc:Fallback xmlns="">
          <p:sp>
            <p:nvSpPr>
              <p:cNvPr id="7" name="Textfeld 6">
                <a:extLst>
                  <a:ext uri="{FF2B5EF4-FFF2-40B4-BE49-F238E27FC236}">
                    <a16:creationId xmlns:a16="http://schemas.microsoft.com/office/drawing/2014/main" id="{5F9AAF32-3BDE-C56B-E77D-FAC3A6891A00}"/>
                  </a:ext>
                </a:extLst>
              </p:cNvPr>
              <p:cNvSpPr txBox="1">
                <a:spLocks noRot="1" noChangeAspect="1" noMove="1" noResize="1" noEditPoints="1" noAdjustHandles="1" noChangeArrowheads="1" noChangeShapeType="1" noTextEdit="1"/>
              </p:cNvSpPr>
              <p:nvPr/>
            </p:nvSpPr>
            <p:spPr>
              <a:xfrm>
                <a:off x="4764744" y="1644522"/>
                <a:ext cx="1498167" cy="618311"/>
              </a:xfrm>
              <a:prstGeom prst="rect">
                <a:avLst/>
              </a:prstGeom>
              <a:blipFill>
                <a:blip r:embed="rId3"/>
                <a:stretch>
                  <a:fillRect b="-4000"/>
                </a:stretch>
              </a:blipFill>
            </p:spPr>
            <p:txBody>
              <a:bodyPr/>
              <a:lstStyle/>
              <a:p>
                <a:r>
                  <a:rPr lang="de-DE">
                    <a:noFill/>
                  </a:rPr>
                  <a:t> </a:t>
                </a:r>
              </a:p>
            </p:txBody>
          </p:sp>
        </mc:Fallback>
      </mc:AlternateContent>
      <p:sp>
        <p:nvSpPr>
          <p:cNvPr id="8" name="Textfeld 7">
            <a:extLst>
              <a:ext uri="{FF2B5EF4-FFF2-40B4-BE49-F238E27FC236}">
                <a16:creationId xmlns:a16="http://schemas.microsoft.com/office/drawing/2014/main" id="{7B038599-B6ED-E81D-4449-00F062286104}"/>
              </a:ext>
            </a:extLst>
          </p:cNvPr>
          <p:cNvSpPr txBox="1"/>
          <p:nvPr/>
        </p:nvSpPr>
        <p:spPr>
          <a:xfrm>
            <a:off x="6701733" y="1593676"/>
            <a:ext cx="2273379" cy="307777"/>
          </a:xfrm>
          <a:prstGeom prst="rect">
            <a:avLst/>
          </a:prstGeom>
          <a:noFill/>
        </p:spPr>
        <p:txBody>
          <a:bodyPr wrap="none" rtlCol="0">
            <a:spAutoFit/>
          </a:bodyPr>
          <a:lstStyle/>
          <a:p>
            <a:r>
              <a:rPr lang="en-US" i="1" noProof="0" dirty="0"/>
              <a:t>Pole-Zero Plot Open-Loop</a:t>
            </a:r>
          </a:p>
        </p:txBody>
      </p:sp>
      <p:grpSp>
        <p:nvGrpSpPr>
          <p:cNvPr id="45" name="Gruppieren 44">
            <a:extLst>
              <a:ext uri="{FF2B5EF4-FFF2-40B4-BE49-F238E27FC236}">
                <a16:creationId xmlns:a16="http://schemas.microsoft.com/office/drawing/2014/main" id="{D7904003-E889-B631-1048-6771ABB07654}"/>
              </a:ext>
            </a:extLst>
          </p:cNvPr>
          <p:cNvGrpSpPr/>
          <p:nvPr/>
        </p:nvGrpSpPr>
        <p:grpSpPr>
          <a:xfrm>
            <a:off x="7220317" y="1862682"/>
            <a:ext cx="1628750" cy="1418135"/>
            <a:chOff x="7361985" y="1853741"/>
            <a:chExt cx="1628750" cy="1418135"/>
          </a:xfrm>
        </p:grpSpPr>
        <mc:AlternateContent xmlns:mc="http://schemas.openxmlformats.org/markup-compatibility/2006" xmlns:a14="http://schemas.microsoft.com/office/drawing/2010/main">
          <mc:Choice Requires="a14">
            <p:sp>
              <p:nvSpPr>
                <p:cNvPr id="41" name="Textfeld 40">
                  <a:extLst>
                    <a:ext uri="{FF2B5EF4-FFF2-40B4-BE49-F238E27FC236}">
                      <a16:creationId xmlns:a16="http://schemas.microsoft.com/office/drawing/2014/main" id="{CDC88A5B-8B0C-C8E7-5AF6-AC974C5277AE}"/>
                    </a:ext>
                  </a:extLst>
                </p:cNvPr>
                <p:cNvSpPr txBox="1"/>
                <p:nvPr/>
              </p:nvSpPr>
              <p:spPr>
                <a:xfrm>
                  <a:off x="8558437" y="2746805"/>
                  <a:ext cx="432298"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noProof="0" smtClean="0">
                            <a:latin typeface="Cambria Math" panose="02040503050406030204" pitchFamily="18" charset="0"/>
                          </a:rPr>
                          <m:t>𝑅𝑒</m:t>
                        </m:r>
                      </m:oMath>
                    </m:oMathPara>
                  </a14:m>
                  <a:endParaRPr lang="en-US" noProof="0" dirty="0"/>
                </a:p>
              </p:txBody>
            </p:sp>
          </mc:Choice>
          <mc:Fallback xmlns="">
            <p:sp>
              <p:nvSpPr>
                <p:cNvPr id="41" name="Textfeld 40">
                  <a:extLst>
                    <a:ext uri="{FF2B5EF4-FFF2-40B4-BE49-F238E27FC236}">
                      <a16:creationId xmlns:a16="http://schemas.microsoft.com/office/drawing/2014/main" id="{CDC88A5B-8B0C-C8E7-5AF6-AC974C5277AE}"/>
                    </a:ext>
                  </a:extLst>
                </p:cNvPr>
                <p:cNvSpPr txBox="1">
                  <a:spLocks noRot="1" noChangeAspect="1" noMove="1" noResize="1" noEditPoints="1" noAdjustHandles="1" noChangeArrowheads="1" noChangeShapeType="1" noTextEdit="1"/>
                </p:cNvSpPr>
                <p:nvPr/>
              </p:nvSpPr>
              <p:spPr>
                <a:xfrm>
                  <a:off x="8558437" y="2746805"/>
                  <a:ext cx="432298" cy="307777"/>
                </a:xfrm>
                <a:prstGeom prst="rect">
                  <a:avLst/>
                </a:prstGeom>
                <a:blipFill>
                  <a:blip r:embed="rId4"/>
                  <a:stretch>
                    <a:fillRect/>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42" name="Textfeld 41">
                  <a:extLst>
                    <a:ext uri="{FF2B5EF4-FFF2-40B4-BE49-F238E27FC236}">
                      <a16:creationId xmlns:a16="http://schemas.microsoft.com/office/drawing/2014/main" id="{A09BBB28-A14F-1A82-83BD-54FDB017060C}"/>
                    </a:ext>
                  </a:extLst>
                </p:cNvPr>
                <p:cNvSpPr txBox="1"/>
                <p:nvPr/>
              </p:nvSpPr>
              <p:spPr>
                <a:xfrm>
                  <a:off x="7757177" y="1853741"/>
                  <a:ext cx="445828"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noProof="0" smtClean="0">
                            <a:latin typeface="Cambria Math" panose="02040503050406030204" pitchFamily="18" charset="0"/>
                          </a:rPr>
                          <m:t>𝐼𝑚</m:t>
                        </m:r>
                      </m:oMath>
                    </m:oMathPara>
                  </a14:m>
                  <a:endParaRPr lang="en-US" noProof="0" dirty="0"/>
                </a:p>
              </p:txBody>
            </p:sp>
          </mc:Choice>
          <mc:Fallback xmlns="">
            <p:sp>
              <p:nvSpPr>
                <p:cNvPr id="42" name="Textfeld 41">
                  <a:extLst>
                    <a:ext uri="{FF2B5EF4-FFF2-40B4-BE49-F238E27FC236}">
                      <a16:creationId xmlns:a16="http://schemas.microsoft.com/office/drawing/2014/main" id="{A09BBB28-A14F-1A82-83BD-54FDB017060C}"/>
                    </a:ext>
                  </a:extLst>
                </p:cNvPr>
                <p:cNvSpPr txBox="1">
                  <a:spLocks noRot="1" noChangeAspect="1" noMove="1" noResize="1" noEditPoints="1" noAdjustHandles="1" noChangeArrowheads="1" noChangeShapeType="1" noTextEdit="1"/>
                </p:cNvSpPr>
                <p:nvPr/>
              </p:nvSpPr>
              <p:spPr>
                <a:xfrm>
                  <a:off x="7757177" y="1853741"/>
                  <a:ext cx="445828" cy="307777"/>
                </a:xfrm>
                <a:prstGeom prst="rect">
                  <a:avLst/>
                </a:prstGeom>
                <a:blipFill>
                  <a:blip r:embed="rId5"/>
                  <a:stretch>
                    <a:fillRect/>
                  </a:stretch>
                </a:blipFill>
              </p:spPr>
              <p:txBody>
                <a:bodyPr/>
                <a:lstStyle/>
                <a:p>
                  <a:r>
                    <a:rPr lang="de-DE">
                      <a:noFill/>
                    </a:rPr>
                    <a:t> </a:t>
                  </a:r>
                </a:p>
              </p:txBody>
            </p:sp>
          </mc:Fallback>
        </mc:AlternateContent>
        <p:grpSp>
          <p:nvGrpSpPr>
            <p:cNvPr id="44" name="Gruppieren 43">
              <a:extLst>
                <a:ext uri="{FF2B5EF4-FFF2-40B4-BE49-F238E27FC236}">
                  <a16:creationId xmlns:a16="http://schemas.microsoft.com/office/drawing/2014/main" id="{393093FA-3EC5-4E08-1FFD-524925630510}"/>
                </a:ext>
              </a:extLst>
            </p:cNvPr>
            <p:cNvGrpSpPr/>
            <p:nvPr/>
          </p:nvGrpSpPr>
          <p:grpSpPr>
            <a:xfrm>
              <a:off x="7361985" y="2090371"/>
              <a:ext cx="1359059" cy="1181505"/>
              <a:chOff x="7115243" y="2166770"/>
              <a:chExt cx="1359059" cy="1181505"/>
            </a:xfrm>
          </p:grpSpPr>
          <p:grpSp>
            <p:nvGrpSpPr>
              <p:cNvPr id="40" name="Gruppieren 39">
                <a:extLst>
                  <a:ext uri="{FF2B5EF4-FFF2-40B4-BE49-F238E27FC236}">
                    <a16:creationId xmlns:a16="http://schemas.microsoft.com/office/drawing/2014/main" id="{BCC398FE-83AB-9249-E14B-26D03E8F1515}"/>
                  </a:ext>
                </a:extLst>
              </p:cNvPr>
              <p:cNvGrpSpPr/>
              <p:nvPr/>
            </p:nvGrpSpPr>
            <p:grpSpPr>
              <a:xfrm>
                <a:off x="7115243" y="2166770"/>
                <a:ext cx="1359059" cy="1181505"/>
                <a:chOff x="6151127" y="2160421"/>
                <a:chExt cx="1359059" cy="1181505"/>
              </a:xfrm>
            </p:grpSpPr>
            <p:cxnSp>
              <p:nvCxnSpPr>
                <p:cNvPr id="38" name="Gerade Verbindung mit Pfeil 37">
                  <a:extLst>
                    <a:ext uri="{FF2B5EF4-FFF2-40B4-BE49-F238E27FC236}">
                      <a16:creationId xmlns:a16="http://schemas.microsoft.com/office/drawing/2014/main" id="{1C380148-29FF-733A-D844-AE6E241A1A79}"/>
                    </a:ext>
                  </a:extLst>
                </p:cNvPr>
                <p:cNvCxnSpPr>
                  <a:cxnSpLocks/>
                </p:cNvCxnSpPr>
                <p:nvPr/>
              </p:nvCxnSpPr>
              <p:spPr>
                <a:xfrm flipV="1">
                  <a:off x="6599861" y="2160421"/>
                  <a:ext cx="0" cy="118150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Gerade Verbindung mit Pfeil 38">
                  <a:extLst>
                    <a:ext uri="{FF2B5EF4-FFF2-40B4-BE49-F238E27FC236}">
                      <a16:creationId xmlns:a16="http://schemas.microsoft.com/office/drawing/2014/main" id="{CF7B029D-7143-1261-E0EB-C9FB5E22B172}"/>
                    </a:ext>
                  </a:extLst>
                </p:cNvPr>
                <p:cNvCxnSpPr>
                  <a:cxnSpLocks/>
                </p:cNvCxnSpPr>
                <p:nvPr/>
              </p:nvCxnSpPr>
              <p:spPr>
                <a:xfrm>
                  <a:off x="6151127" y="2817020"/>
                  <a:ext cx="1359059"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43" name="Textfeld 42">
                <a:extLst>
                  <a:ext uri="{FF2B5EF4-FFF2-40B4-BE49-F238E27FC236}">
                    <a16:creationId xmlns:a16="http://schemas.microsoft.com/office/drawing/2014/main" id="{40C4CCC7-D336-8822-EEA7-135EDCCCF1BF}"/>
                  </a:ext>
                </a:extLst>
              </p:cNvPr>
              <p:cNvSpPr txBox="1"/>
              <p:nvPr/>
            </p:nvSpPr>
            <p:spPr>
              <a:xfrm>
                <a:off x="7758249" y="2571750"/>
                <a:ext cx="325730" cy="430887"/>
              </a:xfrm>
              <a:prstGeom prst="rect">
                <a:avLst/>
              </a:prstGeom>
              <a:noFill/>
            </p:spPr>
            <p:txBody>
              <a:bodyPr wrap="none" rtlCol="0">
                <a:spAutoFit/>
              </a:bodyPr>
              <a:lstStyle/>
              <a:p>
                <a:r>
                  <a:rPr lang="en-US" sz="2200" noProof="0" dirty="0">
                    <a:solidFill>
                      <a:srgbClr val="FF0000"/>
                    </a:solidFill>
                  </a:rPr>
                  <a:t>x</a:t>
                </a:r>
              </a:p>
            </p:txBody>
          </p:sp>
        </p:grpSp>
      </p:grpSp>
      <mc:AlternateContent xmlns:mc="http://schemas.openxmlformats.org/markup-compatibility/2006" xmlns:a14="http://schemas.microsoft.com/office/drawing/2010/main">
        <mc:Choice Requires="a14">
          <p:sp>
            <p:nvSpPr>
              <p:cNvPr id="46" name="Textfeld 45">
                <a:extLst>
                  <a:ext uri="{FF2B5EF4-FFF2-40B4-BE49-F238E27FC236}">
                    <a16:creationId xmlns:a16="http://schemas.microsoft.com/office/drawing/2014/main" id="{2B22F1BF-89C7-7374-E62C-4FF377F91597}"/>
                  </a:ext>
                </a:extLst>
              </p:cNvPr>
              <p:cNvSpPr txBox="1"/>
              <p:nvPr/>
            </p:nvSpPr>
            <p:spPr>
              <a:xfrm>
                <a:off x="716452" y="2880668"/>
                <a:ext cx="6444333" cy="1582549"/>
              </a:xfrm>
              <a:prstGeom prst="rect">
                <a:avLst/>
              </a:prstGeom>
              <a:noFill/>
            </p:spPr>
            <p:txBody>
              <a:bodyPr wrap="square" rtlCol="0">
                <a:spAutoFit/>
              </a:bodyPr>
              <a:lstStyle/>
              <a:p>
                <a:pPr algn="r"/>
                <a14:m>
                  <m:oMathPara xmlns:m="http://schemas.openxmlformats.org/officeDocument/2006/math">
                    <m:oMathParaPr>
                      <m:jc m:val="centerGroup"/>
                    </m:oMathParaPr>
                    <m:oMath xmlns:m="http://schemas.openxmlformats.org/officeDocument/2006/math">
                      <m:r>
                        <a:rPr lang="en-US" sz="1800" i="1" noProof="0" smtClean="0">
                          <a:latin typeface="Cambria Math" panose="02040503050406030204" pitchFamily="18" charset="0"/>
                        </a:rPr>
                        <m:t>𝑇</m:t>
                      </m:r>
                      <m:d>
                        <m:dPr>
                          <m:ctrlPr>
                            <a:rPr lang="en-US" sz="1800" i="1" noProof="0" smtClean="0">
                              <a:latin typeface="Cambria Math" panose="02040503050406030204" pitchFamily="18" charset="0"/>
                            </a:rPr>
                          </m:ctrlPr>
                        </m:dPr>
                        <m:e>
                          <m:r>
                            <a:rPr lang="en-US" sz="1800" i="1" noProof="0" smtClean="0">
                              <a:latin typeface="Cambria Math" panose="02040503050406030204" pitchFamily="18" charset="0"/>
                            </a:rPr>
                            <m:t>𝑠</m:t>
                          </m:r>
                        </m:e>
                      </m:d>
                      <m:r>
                        <a:rPr lang="en-US" sz="1800" i="1" noProof="0" smtClean="0">
                          <a:latin typeface="Cambria Math" panose="02040503050406030204" pitchFamily="18" charset="0"/>
                        </a:rPr>
                        <m:t>=</m:t>
                      </m:r>
                      <m:f>
                        <m:fPr>
                          <m:ctrlPr>
                            <a:rPr lang="en-US" sz="1800" i="1" noProof="0" smtClean="0">
                              <a:latin typeface="Cambria Math" panose="02040503050406030204" pitchFamily="18" charset="0"/>
                            </a:rPr>
                          </m:ctrlPr>
                        </m:fPr>
                        <m:num>
                          <m:r>
                            <a:rPr lang="en-US" sz="1800" i="1" noProof="0" smtClean="0">
                              <a:latin typeface="Cambria Math" panose="02040503050406030204" pitchFamily="18" charset="0"/>
                            </a:rPr>
                            <m:t>𝐿</m:t>
                          </m:r>
                          <m:d>
                            <m:dPr>
                              <m:ctrlPr>
                                <a:rPr lang="en-US" sz="1800" i="1" noProof="0" smtClean="0">
                                  <a:latin typeface="Cambria Math" panose="02040503050406030204" pitchFamily="18" charset="0"/>
                                </a:rPr>
                              </m:ctrlPr>
                            </m:dPr>
                            <m:e>
                              <m:r>
                                <a:rPr lang="en-US" sz="1800" i="1" noProof="0" smtClean="0">
                                  <a:latin typeface="Cambria Math" panose="02040503050406030204" pitchFamily="18" charset="0"/>
                                </a:rPr>
                                <m:t>𝑠</m:t>
                              </m:r>
                            </m:e>
                          </m:d>
                        </m:num>
                        <m:den>
                          <m:r>
                            <a:rPr lang="en-US" sz="1800" i="1" noProof="0" smtClean="0">
                              <a:latin typeface="Cambria Math" panose="02040503050406030204" pitchFamily="18" charset="0"/>
                            </a:rPr>
                            <m:t>1+</m:t>
                          </m:r>
                          <m:r>
                            <a:rPr lang="en-US" sz="1800" i="1" noProof="0" smtClean="0">
                              <a:latin typeface="Cambria Math" panose="02040503050406030204" pitchFamily="18" charset="0"/>
                            </a:rPr>
                            <m:t>𝐿</m:t>
                          </m:r>
                          <m:d>
                            <m:dPr>
                              <m:ctrlPr>
                                <a:rPr lang="en-US" sz="1800" i="1" noProof="0" smtClean="0">
                                  <a:latin typeface="Cambria Math" panose="02040503050406030204" pitchFamily="18" charset="0"/>
                                </a:rPr>
                              </m:ctrlPr>
                            </m:dPr>
                            <m:e>
                              <m:r>
                                <a:rPr lang="en-US" sz="1800" i="1" noProof="0" smtClean="0">
                                  <a:latin typeface="Cambria Math" panose="02040503050406030204" pitchFamily="18" charset="0"/>
                                </a:rPr>
                                <m:t>𝑠</m:t>
                              </m:r>
                            </m:e>
                          </m:d>
                        </m:den>
                      </m:f>
                      <m:r>
                        <a:rPr lang="en-US" sz="1800" i="1" noProof="0" smtClean="0">
                          <a:latin typeface="Cambria Math" panose="02040503050406030204" pitchFamily="18" charset="0"/>
                        </a:rPr>
                        <m:t>=</m:t>
                      </m:r>
                      <m:f>
                        <m:fPr>
                          <m:ctrlPr>
                            <a:rPr lang="en-US" sz="1800" i="1" noProof="0" smtClean="0">
                              <a:latin typeface="Cambria Math" panose="02040503050406030204" pitchFamily="18" charset="0"/>
                            </a:rPr>
                          </m:ctrlPr>
                        </m:fPr>
                        <m:num>
                          <m:f>
                            <m:fPr>
                              <m:ctrlPr>
                                <a:rPr lang="en-US" sz="1800" i="1" noProof="0" smtClean="0">
                                  <a:latin typeface="Cambria Math" panose="02040503050406030204" pitchFamily="18" charset="0"/>
                                </a:rPr>
                              </m:ctrlPr>
                            </m:fPr>
                            <m:num>
                              <m:r>
                                <a:rPr lang="en-US" sz="1800" i="1" noProof="0" smtClean="0">
                                  <a:latin typeface="Cambria Math" panose="02040503050406030204" pitchFamily="18" charset="0"/>
                                </a:rPr>
                                <m:t>𝑘</m:t>
                              </m:r>
                            </m:num>
                            <m:den>
                              <m:r>
                                <a:rPr lang="en-US" sz="1800" i="1" noProof="0" smtClean="0">
                                  <a:latin typeface="Cambria Math" panose="02040503050406030204" pitchFamily="18" charset="0"/>
                                </a:rPr>
                                <m:t>𝑠</m:t>
                              </m:r>
                              <m:r>
                                <a:rPr lang="en-US" sz="1800" i="1" noProof="0" smtClean="0">
                                  <a:latin typeface="Cambria Math" panose="02040503050406030204" pitchFamily="18" charset="0"/>
                                </a:rPr>
                                <m:t>−1</m:t>
                              </m:r>
                            </m:den>
                          </m:f>
                        </m:num>
                        <m:den>
                          <m:r>
                            <a:rPr lang="en-US" sz="1800" i="1" noProof="0" smtClean="0">
                              <a:latin typeface="Cambria Math" panose="02040503050406030204" pitchFamily="18" charset="0"/>
                            </a:rPr>
                            <m:t>1+</m:t>
                          </m:r>
                          <m:f>
                            <m:fPr>
                              <m:ctrlPr>
                                <a:rPr lang="en-US" sz="1800" i="1" noProof="0" smtClean="0">
                                  <a:latin typeface="Cambria Math" panose="02040503050406030204" pitchFamily="18" charset="0"/>
                                </a:rPr>
                              </m:ctrlPr>
                            </m:fPr>
                            <m:num>
                              <m:r>
                                <a:rPr lang="en-US" sz="1800" i="1" noProof="0" smtClean="0">
                                  <a:latin typeface="Cambria Math" panose="02040503050406030204" pitchFamily="18" charset="0"/>
                                </a:rPr>
                                <m:t>𝑘</m:t>
                              </m:r>
                            </m:num>
                            <m:den>
                              <m:r>
                                <a:rPr lang="en-US" sz="1800" i="1" noProof="0" smtClean="0">
                                  <a:latin typeface="Cambria Math" panose="02040503050406030204" pitchFamily="18" charset="0"/>
                                </a:rPr>
                                <m:t>𝑠</m:t>
                              </m:r>
                              <m:r>
                                <a:rPr lang="en-US" sz="1800" i="1" noProof="0" smtClean="0">
                                  <a:latin typeface="Cambria Math" panose="02040503050406030204" pitchFamily="18" charset="0"/>
                                </a:rPr>
                                <m:t>−1</m:t>
                              </m:r>
                            </m:den>
                          </m:f>
                        </m:den>
                      </m:f>
                      <m:r>
                        <a:rPr lang="en-US" sz="1800" i="1" noProof="0" smtClean="0">
                          <a:latin typeface="Cambria Math" panose="02040503050406030204" pitchFamily="18" charset="0"/>
                        </a:rPr>
                        <m:t>=</m:t>
                      </m:r>
                      <m:f>
                        <m:fPr>
                          <m:ctrlPr>
                            <a:rPr lang="en-US" sz="1800" i="1" noProof="0" smtClean="0">
                              <a:latin typeface="Cambria Math" panose="02040503050406030204" pitchFamily="18" charset="0"/>
                            </a:rPr>
                          </m:ctrlPr>
                        </m:fPr>
                        <m:num>
                          <m:r>
                            <a:rPr lang="en-US" sz="1800" i="1" noProof="0" smtClean="0">
                              <a:latin typeface="Cambria Math" panose="02040503050406030204" pitchFamily="18" charset="0"/>
                            </a:rPr>
                            <m:t>𝑘</m:t>
                          </m:r>
                        </m:num>
                        <m:den>
                          <m:r>
                            <a:rPr lang="en-US" sz="1800" i="1" noProof="0" smtClean="0">
                              <a:latin typeface="Cambria Math" panose="02040503050406030204" pitchFamily="18" charset="0"/>
                            </a:rPr>
                            <m:t>𝑠</m:t>
                          </m:r>
                          <m:r>
                            <a:rPr lang="en-US" sz="1800" i="1" noProof="0" smtClean="0">
                              <a:latin typeface="Cambria Math" panose="02040503050406030204" pitchFamily="18" charset="0"/>
                            </a:rPr>
                            <m:t>−1</m:t>
                          </m:r>
                        </m:den>
                      </m:f>
                      <m:r>
                        <a:rPr lang="en-US" sz="1800" i="1" noProof="0" smtClean="0">
                          <a:latin typeface="Cambria Math" panose="02040503050406030204" pitchFamily="18" charset="0"/>
                        </a:rPr>
                        <m:t>⋅</m:t>
                      </m:r>
                      <m:f>
                        <m:fPr>
                          <m:ctrlPr>
                            <a:rPr lang="en-US" sz="1800" i="1" noProof="0">
                              <a:latin typeface="Cambria Math" panose="02040503050406030204" pitchFamily="18" charset="0"/>
                            </a:rPr>
                          </m:ctrlPr>
                        </m:fPr>
                        <m:num>
                          <m:r>
                            <a:rPr lang="en-US" sz="1800" i="1" noProof="0">
                              <a:latin typeface="Cambria Math" panose="02040503050406030204" pitchFamily="18" charset="0"/>
                            </a:rPr>
                            <m:t>𝑠</m:t>
                          </m:r>
                          <m:r>
                            <a:rPr lang="en-US" sz="1800" i="1" noProof="0">
                              <a:latin typeface="Cambria Math" panose="02040503050406030204" pitchFamily="18" charset="0"/>
                            </a:rPr>
                            <m:t>−1</m:t>
                          </m:r>
                        </m:num>
                        <m:den>
                          <m:d>
                            <m:dPr>
                              <m:ctrlPr>
                                <a:rPr lang="en-US" sz="1800" i="1" noProof="0">
                                  <a:latin typeface="Cambria Math" panose="02040503050406030204" pitchFamily="18" charset="0"/>
                                </a:rPr>
                              </m:ctrlPr>
                            </m:dPr>
                            <m:e>
                              <m:r>
                                <a:rPr lang="en-US" sz="1800" i="1" noProof="0">
                                  <a:latin typeface="Cambria Math" panose="02040503050406030204" pitchFamily="18" charset="0"/>
                                </a:rPr>
                                <m:t>𝑠</m:t>
                              </m:r>
                              <m:r>
                                <a:rPr lang="en-US" sz="1800" i="1" noProof="0">
                                  <a:latin typeface="Cambria Math" panose="02040503050406030204" pitchFamily="18" charset="0"/>
                                </a:rPr>
                                <m:t>−1</m:t>
                              </m:r>
                            </m:e>
                          </m:d>
                          <m:r>
                            <a:rPr lang="en-US" sz="1800" i="1" noProof="0">
                              <a:latin typeface="Cambria Math" panose="02040503050406030204" pitchFamily="18" charset="0"/>
                            </a:rPr>
                            <m:t>+</m:t>
                          </m:r>
                          <m:r>
                            <a:rPr lang="en-US" sz="1800" i="1" noProof="0">
                              <a:latin typeface="Cambria Math" panose="02040503050406030204" pitchFamily="18" charset="0"/>
                            </a:rPr>
                            <m:t>𝑘</m:t>
                          </m:r>
                        </m:den>
                      </m:f>
                      <m:r>
                        <a:rPr lang="en-US" sz="1800" i="1" noProof="0" smtClean="0">
                          <a:latin typeface="Cambria Math" panose="02040503050406030204" pitchFamily="18" charset="0"/>
                        </a:rPr>
                        <m:t>=</m:t>
                      </m:r>
                      <m:f>
                        <m:fPr>
                          <m:ctrlPr>
                            <a:rPr lang="en-US" sz="1800" i="1" noProof="0" smtClean="0">
                              <a:latin typeface="Cambria Math" panose="02040503050406030204" pitchFamily="18" charset="0"/>
                            </a:rPr>
                          </m:ctrlPr>
                        </m:fPr>
                        <m:num>
                          <m:r>
                            <a:rPr lang="en-US" sz="1800" i="1" noProof="0" smtClean="0">
                              <a:latin typeface="Cambria Math" panose="02040503050406030204" pitchFamily="18" charset="0"/>
                            </a:rPr>
                            <m:t>𝑘</m:t>
                          </m:r>
                        </m:num>
                        <m:den>
                          <m:r>
                            <a:rPr lang="en-US" sz="1800" i="1" noProof="0" smtClean="0">
                              <a:latin typeface="Cambria Math" panose="02040503050406030204" pitchFamily="18" charset="0"/>
                            </a:rPr>
                            <m:t>𝑠</m:t>
                          </m:r>
                          <m:r>
                            <a:rPr lang="en-US" sz="1800" i="1" noProof="0" smtClean="0">
                              <a:latin typeface="Cambria Math" panose="02040503050406030204" pitchFamily="18" charset="0"/>
                            </a:rPr>
                            <m:t>+</m:t>
                          </m:r>
                          <m:r>
                            <a:rPr lang="en-US" sz="1800" i="1" noProof="0" smtClean="0">
                              <a:latin typeface="Cambria Math" panose="02040503050406030204" pitchFamily="18" charset="0"/>
                            </a:rPr>
                            <m:t>𝑘</m:t>
                          </m:r>
                          <m:r>
                            <a:rPr lang="en-US" sz="1800" i="1" noProof="0" smtClean="0">
                              <a:latin typeface="Cambria Math" panose="02040503050406030204" pitchFamily="18" charset="0"/>
                            </a:rPr>
                            <m:t>−1</m:t>
                          </m:r>
                        </m:den>
                      </m:f>
                    </m:oMath>
                  </m:oMathPara>
                </a14:m>
                <a:endParaRPr lang="en-US" noProof="0" dirty="0"/>
              </a:p>
              <a:p>
                <a:br>
                  <a:rPr lang="en-US" sz="1800" noProof="0" dirty="0"/>
                </a:br>
                <a:endParaRPr lang="en-US" sz="1800" noProof="0" dirty="0"/>
              </a:p>
            </p:txBody>
          </p:sp>
        </mc:Choice>
        <mc:Fallback xmlns="">
          <p:sp>
            <p:nvSpPr>
              <p:cNvPr id="46" name="Textfeld 45">
                <a:extLst>
                  <a:ext uri="{FF2B5EF4-FFF2-40B4-BE49-F238E27FC236}">
                    <a16:creationId xmlns:a16="http://schemas.microsoft.com/office/drawing/2014/main" id="{2B22F1BF-89C7-7374-E62C-4FF377F91597}"/>
                  </a:ext>
                </a:extLst>
              </p:cNvPr>
              <p:cNvSpPr txBox="1">
                <a:spLocks noRot="1" noChangeAspect="1" noMove="1" noResize="1" noEditPoints="1" noAdjustHandles="1" noChangeArrowheads="1" noChangeShapeType="1" noTextEdit="1"/>
              </p:cNvSpPr>
              <p:nvPr/>
            </p:nvSpPr>
            <p:spPr>
              <a:xfrm>
                <a:off x="716452" y="2880668"/>
                <a:ext cx="6444333" cy="1582549"/>
              </a:xfrm>
              <a:prstGeom prst="rect">
                <a:avLst/>
              </a:prstGeom>
              <a:blipFill>
                <a:blip r:embed="rId6"/>
                <a:stretch>
                  <a:fillRect/>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34" name="Titel 1">
                <a:extLst>
                  <a:ext uri="{FF2B5EF4-FFF2-40B4-BE49-F238E27FC236}">
                    <a16:creationId xmlns:a16="http://schemas.microsoft.com/office/drawing/2014/main" id="{B4D5C452-3DB1-0D4A-7639-7539F9739EAF}"/>
                  </a:ext>
                </a:extLst>
              </p:cNvPr>
              <p:cNvSpPr>
                <a:spLocks noGrp="1"/>
              </p:cNvSpPr>
              <p:nvPr>
                <p:ph type="title"/>
              </p:nvPr>
            </p:nvSpPr>
            <p:spPr>
              <a:xfrm>
                <a:off x="628650" y="273844"/>
                <a:ext cx="7886700" cy="994172"/>
              </a:xfrm>
            </p:spPr>
            <p:txBody>
              <a:bodyPr/>
              <a:lstStyle/>
              <a:p>
                <a:r>
                  <a:rPr lang="en-US" noProof="0" dirty="0"/>
                  <a:t>Effects of Proportional Control </a:t>
                </a:r>
                <a14:m>
                  <m:oMath xmlns:m="http://schemas.openxmlformats.org/officeDocument/2006/math">
                    <m:r>
                      <a:rPr lang="en-US" i="1" noProof="0" smtClean="0">
                        <a:latin typeface="Cambria Math" panose="02040503050406030204" pitchFamily="18" charset="0"/>
                      </a:rPr>
                      <m:t>𝐶</m:t>
                    </m:r>
                    <m:r>
                      <a:rPr lang="en-US" i="1" noProof="0" smtClean="0">
                        <a:latin typeface="Cambria Math" panose="02040503050406030204" pitchFamily="18" charset="0"/>
                      </a:rPr>
                      <m:t>(</m:t>
                    </m:r>
                    <m:r>
                      <a:rPr lang="en-US" i="1" noProof="0" smtClean="0">
                        <a:latin typeface="Cambria Math" panose="02040503050406030204" pitchFamily="18" charset="0"/>
                      </a:rPr>
                      <m:t>𝑠</m:t>
                    </m:r>
                    <m:r>
                      <a:rPr lang="en-US" i="1" noProof="0" smtClean="0">
                        <a:latin typeface="Cambria Math" panose="02040503050406030204" pitchFamily="18" charset="0"/>
                      </a:rPr>
                      <m:t>)=</m:t>
                    </m:r>
                    <m:r>
                      <a:rPr lang="en-US" i="1" noProof="0" smtClean="0">
                        <a:latin typeface="Cambria Math" panose="02040503050406030204" pitchFamily="18" charset="0"/>
                      </a:rPr>
                      <m:t>𝑘</m:t>
                    </m:r>
                  </m:oMath>
                </a14:m>
                <a:endParaRPr lang="en-US" noProof="0" dirty="0"/>
              </a:p>
            </p:txBody>
          </p:sp>
        </mc:Choice>
        <mc:Fallback xmlns="">
          <p:sp>
            <p:nvSpPr>
              <p:cNvPr id="34" name="Titel 1">
                <a:extLst>
                  <a:ext uri="{FF2B5EF4-FFF2-40B4-BE49-F238E27FC236}">
                    <a16:creationId xmlns:a16="http://schemas.microsoft.com/office/drawing/2014/main" id="{B4D5C452-3DB1-0D4A-7639-7539F9739EAF}"/>
                  </a:ext>
                </a:extLst>
              </p:cNvPr>
              <p:cNvSpPr>
                <a:spLocks noGrp="1" noRot="1" noChangeAspect="1" noMove="1" noResize="1" noEditPoints="1" noAdjustHandles="1" noChangeArrowheads="1" noChangeShapeType="1" noTextEdit="1"/>
              </p:cNvSpPr>
              <p:nvPr>
                <p:ph type="title"/>
              </p:nvPr>
            </p:nvSpPr>
            <p:spPr>
              <a:xfrm>
                <a:off x="628650" y="273844"/>
                <a:ext cx="7886700" cy="994172"/>
              </a:xfrm>
              <a:blipFill>
                <a:blip r:embed="rId7"/>
                <a:stretch>
                  <a:fillRect l="-2090"/>
                </a:stretch>
              </a:blipFill>
            </p:spPr>
            <p:txBody>
              <a:bodyPr/>
              <a:lstStyle/>
              <a:p>
                <a:r>
                  <a:rPr lang="de-DE">
                    <a:noFill/>
                  </a:rPr>
                  <a:t> </a:t>
                </a:r>
              </a:p>
            </p:txBody>
          </p:sp>
        </mc:Fallback>
      </mc:AlternateContent>
    </p:spTree>
    <p:extLst>
      <p:ext uri="{BB962C8B-B14F-4D97-AF65-F5344CB8AC3E}">
        <p14:creationId xmlns:p14="http://schemas.microsoft.com/office/powerpoint/2010/main" val="39515735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44DB759-0617-371F-51D6-B4339F0B1F46}"/>
              </a:ext>
            </a:extLst>
          </p:cNvPr>
          <p:cNvSpPr>
            <a:spLocks noGrp="1"/>
          </p:cNvSpPr>
          <p:nvPr>
            <p:ph type="title"/>
          </p:nvPr>
        </p:nvSpPr>
        <p:spPr/>
        <p:txBody>
          <a:bodyPr/>
          <a:lstStyle/>
          <a:p>
            <a:r>
              <a:rPr lang="en-US" noProof="0" dirty="0"/>
              <a:t>Effects of Proportional Control</a:t>
            </a:r>
          </a:p>
        </p:txBody>
      </p:sp>
      <mc:AlternateContent xmlns:mc="http://schemas.openxmlformats.org/markup-compatibility/2006" xmlns:a14="http://schemas.microsoft.com/office/drawing/2010/main">
        <mc:Choice Requires="a14">
          <p:sp>
            <p:nvSpPr>
              <p:cNvPr id="3" name="Inhaltsplatzhalter 2">
                <a:extLst>
                  <a:ext uri="{FF2B5EF4-FFF2-40B4-BE49-F238E27FC236}">
                    <a16:creationId xmlns:a16="http://schemas.microsoft.com/office/drawing/2014/main" id="{AC2D01C5-F434-7F38-4E48-4BC28E922884}"/>
                  </a:ext>
                </a:extLst>
              </p:cNvPr>
              <p:cNvSpPr>
                <a:spLocks noGrp="1"/>
              </p:cNvSpPr>
              <p:nvPr>
                <p:ph idx="1"/>
              </p:nvPr>
            </p:nvSpPr>
            <p:spPr>
              <a:xfrm>
                <a:off x="628650" y="1369219"/>
                <a:ext cx="8314628" cy="3263504"/>
              </a:xfrm>
            </p:spPr>
            <p:txBody>
              <a:bodyPr/>
              <a:lstStyle/>
              <a:p>
                <a:r>
                  <a:rPr lang="en-US" noProof="0" dirty="0"/>
                  <a:t>Where are the poles now? </a:t>
                </a:r>
                <a14:m>
                  <m:oMath xmlns:m="http://schemas.openxmlformats.org/officeDocument/2006/math">
                    <m:r>
                      <a:rPr lang="en-US" i="1" noProof="0">
                        <a:latin typeface="Cambria Math" panose="02040503050406030204" pitchFamily="18" charset="0"/>
                      </a:rPr>
                      <m:t>⟶</m:t>
                    </m:r>
                  </m:oMath>
                </a14:m>
                <a:r>
                  <a:rPr lang="en-US" noProof="0" dirty="0"/>
                  <a:t> denominator = 0, </a:t>
                </a:r>
                <a14:m>
                  <m:oMath xmlns:m="http://schemas.openxmlformats.org/officeDocument/2006/math">
                    <m:r>
                      <a:rPr lang="en-US" i="1" noProof="0" smtClean="0">
                        <a:latin typeface="Cambria Math" panose="02040503050406030204" pitchFamily="18" charset="0"/>
                      </a:rPr>
                      <m:t>𝑠</m:t>
                    </m:r>
                    <m:r>
                      <a:rPr lang="en-US" i="1" noProof="0">
                        <a:latin typeface="Cambria Math" panose="02040503050406030204" pitchFamily="18" charset="0"/>
                      </a:rPr>
                      <m:t>+</m:t>
                    </m:r>
                    <m:r>
                      <a:rPr lang="en-US" i="1" noProof="0">
                        <a:latin typeface="Cambria Math" panose="02040503050406030204" pitchFamily="18" charset="0"/>
                      </a:rPr>
                      <m:t>𝑘</m:t>
                    </m:r>
                    <m:r>
                      <a:rPr lang="en-US" i="1" noProof="0">
                        <a:latin typeface="Cambria Math" panose="02040503050406030204" pitchFamily="18" charset="0"/>
                      </a:rPr>
                      <m:t>−1=0⇒</m:t>
                    </m:r>
                    <m:r>
                      <a:rPr lang="en-US" b="0" i="1" noProof="0" smtClean="0">
                        <a:latin typeface="Cambria Math" panose="02040503050406030204" pitchFamily="18" charset="0"/>
                      </a:rPr>
                      <m:t>𝑠</m:t>
                    </m:r>
                    <m:r>
                      <a:rPr lang="en-US" i="1" noProof="0">
                        <a:latin typeface="Cambria Math" panose="02040503050406030204" pitchFamily="18" charset="0"/>
                      </a:rPr>
                      <m:t>=1−</m:t>
                    </m:r>
                    <m:r>
                      <a:rPr lang="en-US" i="1" noProof="0">
                        <a:latin typeface="Cambria Math" panose="02040503050406030204" pitchFamily="18" charset="0"/>
                      </a:rPr>
                      <m:t>𝑘</m:t>
                    </m:r>
                  </m:oMath>
                </a14:m>
                <a:r>
                  <a:rPr lang="en-US" noProof="0" dirty="0"/>
                  <a:t>	 </a:t>
                </a:r>
              </a:p>
              <a:p>
                <a:pPr>
                  <a:buFont typeface="Wingdings" pitchFamily="2" charset="2"/>
                  <a:buChar char="à"/>
                </a:pPr>
                <a:r>
                  <a:rPr lang="en-US" noProof="0" dirty="0">
                    <a:sym typeface="Wingdings" pitchFamily="2" charset="2"/>
                  </a:rPr>
                  <a:t> It depends on the gain </a:t>
                </a:r>
                <a14:m>
                  <m:oMath xmlns:m="http://schemas.openxmlformats.org/officeDocument/2006/math">
                    <m:r>
                      <a:rPr lang="en-US" i="1" noProof="0">
                        <a:latin typeface="Cambria Math" panose="02040503050406030204" pitchFamily="18" charset="0"/>
                        <a:sym typeface="Wingdings" pitchFamily="2" charset="2"/>
                      </a:rPr>
                      <m:t>𝑘</m:t>
                    </m:r>
                  </m:oMath>
                </a14:m>
                <a:r>
                  <a:rPr lang="en-US" noProof="0" dirty="0">
                    <a:sym typeface="Wingdings" pitchFamily="2" charset="2"/>
                  </a:rPr>
                  <a:t>!</a:t>
                </a:r>
                <a:r>
                  <a:rPr lang="en-US" noProof="0" dirty="0"/>
                  <a:t>	</a:t>
                </a:r>
              </a:p>
              <a:p>
                <a:r>
                  <a:rPr lang="en-US" noProof="0" dirty="0"/>
                  <a:t>In this case the closed-loop becomes stable for </a:t>
                </a:r>
                <a14:m>
                  <m:oMath xmlns:m="http://schemas.openxmlformats.org/officeDocument/2006/math">
                    <m:r>
                      <a:rPr lang="en-US" i="1" noProof="0" smtClean="0">
                        <a:latin typeface="Cambria Math" panose="02040503050406030204" pitchFamily="18" charset="0"/>
                      </a:rPr>
                      <m:t>𝑘</m:t>
                    </m:r>
                    <m:r>
                      <a:rPr lang="en-US" i="1" noProof="0" smtClean="0">
                        <a:latin typeface="Cambria Math" panose="02040503050406030204" pitchFamily="18" charset="0"/>
                      </a:rPr>
                      <m:t>∈</m:t>
                    </m:r>
                    <m:d>
                      <m:dPr>
                        <m:ctrlPr>
                          <a:rPr lang="en-US" i="1" noProof="0" smtClean="0">
                            <a:latin typeface="Cambria Math" panose="02040503050406030204" pitchFamily="18" charset="0"/>
                          </a:rPr>
                        </m:ctrlPr>
                      </m:dPr>
                      <m:e>
                        <m:r>
                          <a:rPr lang="en-US" i="1" noProof="0" smtClean="0">
                            <a:latin typeface="Cambria Math" panose="02040503050406030204" pitchFamily="18" charset="0"/>
                          </a:rPr>
                          <m:t>1,∞</m:t>
                        </m:r>
                      </m:e>
                    </m:d>
                  </m:oMath>
                </a14:m>
                <a:endParaRPr lang="en-US" noProof="0" dirty="0"/>
              </a:p>
              <a:p>
                <a:pPr marL="0" indent="0">
                  <a:buNone/>
                </a:pPr>
                <a:endParaRPr lang="en-US" noProof="0" dirty="0"/>
              </a:p>
              <a:p>
                <a:pPr marL="0" indent="0">
                  <a:buNone/>
                </a:pPr>
                <a:endParaRPr lang="en-US" noProof="0" dirty="0"/>
              </a:p>
              <a:p>
                <a:r>
                  <a:rPr lang="en-US" noProof="0" dirty="0"/>
                  <a:t>This is our next important plot…</a:t>
                </a:r>
              </a:p>
              <a:p>
                <a:r>
                  <a:rPr lang="en-US" noProof="0" dirty="0"/>
                  <a:t>A plot that shows the position of poles and zeros over different gains </a:t>
                </a:r>
                <a14:m>
                  <m:oMath xmlns:m="http://schemas.openxmlformats.org/officeDocument/2006/math">
                    <m:r>
                      <a:rPr lang="en-US" i="1" noProof="0" smtClean="0">
                        <a:latin typeface="Cambria Math" panose="02040503050406030204" pitchFamily="18" charset="0"/>
                      </a:rPr>
                      <m:t>𝑘</m:t>
                    </m:r>
                  </m:oMath>
                </a14:m>
                <a:r>
                  <a:rPr lang="en-US" noProof="0" dirty="0"/>
                  <a:t>, is called a </a:t>
                </a:r>
                <a:r>
                  <a:rPr lang="en-US" b="1" u="sng" noProof="0" dirty="0"/>
                  <a:t>Root-Locus Plot</a:t>
                </a:r>
              </a:p>
              <a:p>
                <a:pPr marL="0" indent="0">
                  <a:buNone/>
                </a:pPr>
                <a:endParaRPr lang="en-US" noProof="0" dirty="0"/>
              </a:p>
            </p:txBody>
          </p:sp>
        </mc:Choice>
        <mc:Fallback xmlns="">
          <p:sp>
            <p:nvSpPr>
              <p:cNvPr id="3" name="Inhaltsplatzhalter 2">
                <a:extLst>
                  <a:ext uri="{FF2B5EF4-FFF2-40B4-BE49-F238E27FC236}">
                    <a16:creationId xmlns:a16="http://schemas.microsoft.com/office/drawing/2014/main" id="{AC2D01C5-F434-7F38-4E48-4BC28E922884}"/>
                  </a:ext>
                </a:extLst>
              </p:cNvPr>
              <p:cNvSpPr>
                <a:spLocks noGrp="1" noRot="1" noChangeAspect="1" noMove="1" noResize="1" noEditPoints="1" noAdjustHandles="1" noChangeArrowheads="1" noChangeShapeType="1" noTextEdit="1"/>
              </p:cNvSpPr>
              <p:nvPr>
                <p:ph idx="1"/>
              </p:nvPr>
            </p:nvSpPr>
            <p:spPr>
              <a:xfrm>
                <a:off x="628650" y="1369219"/>
                <a:ext cx="8314628" cy="3263504"/>
              </a:xfrm>
              <a:blipFill>
                <a:blip r:embed="rId2"/>
                <a:stretch>
                  <a:fillRect l="-457" t="-2335"/>
                </a:stretch>
              </a:blipFill>
            </p:spPr>
            <p:txBody>
              <a:bodyPr/>
              <a:lstStyle/>
              <a:p>
                <a:r>
                  <a:rPr lang="de-DE">
                    <a:noFill/>
                  </a:rPr>
                  <a:t> </a:t>
                </a:r>
              </a:p>
            </p:txBody>
          </p:sp>
        </mc:Fallback>
      </mc:AlternateContent>
      <p:sp>
        <p:nvSpPr>
          <p:cNvPr id="4" name="Fußzeilenplatzhalter 3">
            <a:extLst>
              <a:ext uri="{FF2B5EF4-FFF2-40B4-BE49-F238E27FC236}">
                <a16:creationId xmlns:a16="http://schemas.microsoft.com/office/drawing/2014/main" id="{9B517992-6915-5C5B-6D16-C972151BD477}"/>
              </a:ext>
            </a:extLst>
          </p:cNvPr>
          <p:cNvSpPr>
            <a:spLocks noGrp="1"/>
          </p:cNvSpPr>
          <p:nvPr>
            <p:ph type="ftr" sz="quarter" idx="11"/>
          </p:nvPr>
        </p:nvSpPr>
        <p:spPr/>
        <p:txBody>
          <a:bodyPr/>
          <a:lstStyle/>
          <a:p>
            <a:pPr defTabSz="342900">
              <a:buClrTx/>
            </a:pPr>
            <a:r>
              <a:rPr lang="en-US" kern="1200" noProof="0" dirty="0">
                <a:solidFill>
                  <a:srgbClr val="101623">
                    <a:tint val="75000"/>
                  </a:srgbClr>
                </a:solidFill>
                <a:latin typeface="Calibri" panose="020F0502020204030204"/>
                <a:ea typeface="+mn-ea"/>
                <a:cs typeface="+mn-cs"/>
              </a:rPr>
              <a:t>Kissan Varatharajan - </a:t>
            </a:r>
            <a:r>
              <a:rPr lang="en-US" kern="1200" noProof="0" dirty="0" err="1">
                <a:solidFill>
                  <a:srgbClr val="101623">
                    <a:tint val="75000"/>
                  </a:srgbClr>
                </a:solidFill>
                <a:latin typeface="Calibri" panose="020F0502020204030204"/>
                <a:ea typeface="+mn-ea"/>
                <a:cs typeface="+mn-cs"/>
              </a:rPr>
              <a:t>kissanv.github.io</a:t>
            </a:r>
            <a:endParaRPr lang="en-US" kern="1200" noProof="0" dirty="0">
              <a:solidFill>
                <a:srgbClr val="101623">
                  <a:tint val="75000"/>
                </a:srgbClr>
              </a:solidFill>
              <a:latin typeface="Calibri" panose="020F0502020204030204"/>
              <a:ea typeface="+mn-ea"/>
              <a:cs typeface="+mn-cs"/>
            </a:endParaRPr>
          </a:p>
        </p:txBody>
      </p:sp>
      <p:sp>
        <p:nvSpPr>
          <p:cNvPr id="5" name="Foliennummernplatzhalter 4">
            <a:extLst>
              <a:ext uri="{FF2B5EF4-FFF2-40B4-BE49-F238E27FC236}">
                <a16:creationId xmlns:a16="http://schemas.microsoft.com/office/drawing/2014/main" id="{36A4520C-C0E2-6E4E-58F3-0241116459A4}"/>
              </a:ext>
            </a:extLst>
          </p:cNvPr>
          <p:cNvSpPr>
            <a:spLocks noGrp="1"/>
          </p:cNvSpPr>
          <p:nvPr>
            <p:ph type="sldNum" sz="quarter" idx="12"/>
          </p:nvPr>
        </p:nvSpPr>
        <p:spPr/>
        <p:txBody>
          <a:bodyPr/>
          <a:lstStyle/>
          <a:p>
            <a:pPr defTabSz="342900">
              <a:buClrTx/>
            </a:pPr>
            <a:fld id="{36EAFFE7-40E2-CA47-82C0-73D0FC591208}" type="slidenum">
              <a:rPr lang="en-US" kern="1200" noProof="0" smtClean="0">
                <a:solidFill>
                  <a:srgbClr val="101623">
                    <a:tint val="75000"/>
                  </a:srgbClr>
                </a:solidFill>
                <a:latin typeface="Calibri" panose="020F0502020204030204"/>
                <a:ea typeface="+mn-ea"/>
                <a:cs typeface="+mn-cs"/>
              </a:rPr>
              <a:pPr defTabSz="342900">
                <a:buClrTx/>
              </a:pPr>
              <a:t>15</a:t>
            </a:fld>
            <a:endParaRPr lang="en-US" kern="1200" noProof="0" dirty="0">
              <a:solidFill>
                <a:srgbClr val="101623">
                  <a:tint val="75000"/>
                </a:srgbClr>
              </a:solidFill>
              <a:latin typeface="Calibri" panose="020F0502020204030204"/>
              <a:ea typeface="+mn-ea"/>
              <a:cs typeface="+mn-cs"/>
            </a:endParaRPr>
          </a:p>
        </p:txBody>
      </p:sp>
      <p:grpSp>
        <p:nvGrpSpPr>
          <p:cNvPr id="6" name="Gruppieren 5">
            <a:extLst>
              <a:ext uri="{FF2B5EF4-FFF2-40B4-BE49-F238E27FC236}">
                <a16:creationId xmlns:a16="http://schemas.microsoft.com/office/drawing/2014/main" id="{00224671-FDBC-0960-E4B5-C9D5C7A3B52E}"/>
              </a:ext>
            </a:extLst>
          </p:cNvPr>
          <p:cNvGrpSpPr/>
          <p:nvPr/>
        </p:nvGrpSpPr>
        <p:grpSpPr>
          <a:xfrm>
            <a:off x="7283941" y="1983951"/>
            <a:ext cx="1826141" cy="1420887"/>
            <a:chOff x="7164594" y="1853741"/>
            <a:chExt cx="1826141" cy="1420887"/>
          </a:xfrm>
        </p:grpSpPr>
        <mc:AlternateContent xmlns:mc="http://schemas.openxmlformats.org/markup-compatibility/2006" xmlns:a14="http://schemas.microsoft.com/office/drawing/2010/main">
          <mc:Choice Requires="a14">
            <p:sp>
              <p:nvSpPr>
                <p:cNvPr id="7" name="Textfeld 6">
                  <a:extLst>
                    <a:ext uri="{FF2B5EF4-FFF2-40B4-BE49-F238E27FC236}">
                      <a16:creationId xmlns:a16="http://schemas.microsoft.com/office/drawing/2014/main" id="{096DCEC6-BDB1-FAD5-D584-BE8FFC169F1D}"/>
                    </a:ext>
                  </a:extLst>
                </p:cNvPr>
                <p:cNvSpPr txBox="1"/>
                <p:nvPr/>
              </p:nvSpPr>
              <p:spPr>
                <a:xfrm>
                  <a:off x="8558437" y="2746805"/>
                  <a:ext cx="432298"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noProof="0" smtClean="0">
                            <a:latin typeface="Cambria Math" panose="02040503050406030204" pitchFamily="18" charset="0"/>
                          </a:rPr>
                          <m:t>𝑅𝑒</m:t>
                        </m:r>
                      </m:oMath>
                    </m:oMathPara>
                  </a14:m>
                  <a:endParaRPr lang="en-US" noProof="0" dirty="0"/>
                </a:p>
              </p:txBody>
            </p:sp>
          </mc:Choice>
          <mc:Fallback xmlns="">
            <p:sp>
              <p:nvSpPr>
                <p:cNvPr id="7" name="Textfeld 6">
                  <a:extLst>
                    <a:ext uri="{FF2B5EF4-FFF2-40B4-BE49-F238E27FC236}">
                      <a16:creationId xmlns:a16="http://schemas.microsoft.com/office/drawing/2014/main" id="{096DCEC6-BDB1-FAD5-D584-BE8FFC169F1D}"/>
                    </a:ext>
                  </a:extLst>
                </p:cNvPr>
                <p:cNvSpPr txBox="1">
                  <a:spLocks noRot="1" noChangeAspect="1" noMove="1" noResize="1" noEditPoints="1" noAdjustHandles="1" noChangeArrowheads="1" noChangeShapeType="1" noTextEdit="1"/>
                </p:cNvSpPr>
                <p:nvPr/>
              </p:nvSpPr>
              <p:spPr>
                <a:xfrm>
                  <a:off x="8558437" y="2746805"/>
                  <a:ext cx="432298" cy="307777"/>
                </a:xfrm>
                <a:prstGeom prst="rect">
                  <a:avLst/>
                </a:prstGeom>
                <a:blipFill>
                  <a:blip r:embed="rId3"/>
                  <a:stretch>
                    <a:fillRect/>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8" name="Textfeld 7">
                  <a:extLst>
                    <a:ext uri="{FF2B5EF4-FFF2-40B4-BE49-F238E27FC236}">
                      <a16:creationId xmlns:a16="http://schemas.microsoft.com/office/drawing/2014/main" id="{5B004403-DF93-0686-FB8C-5E9D0027E201}"/>
                    </a:ext>
                  </a:extLst>
                </p:cNvPr>
                <p:cNvSpPr txBox="1"/>
                <p:nvPr/>
              </p:nvSpPr>
              <p:spPr>
                <a:xfrm>
                  <a:off x="7757177" y="1853741"/>
                  <a:ext cx="445828"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noProof="0" smtClean="0">
                            <a:latin typeface="Cambria Math" panose="02040503050406030204" pitchFamily="18" charset="0"/>
                          </a:rPr>
                          <m:t>𝐼𝑚</m:t>
                        </m:r>
                      </m:oMath>
                    </m:oMathPara>
                  </a14:m>
                  <a:endParaRPr lang="en-US" noProof="0" dirty="0"/>
                </a:p>
              </p:txBody>
            </p:sp>
          </mc:Choice>
          <mc:Fallback xmlns="">
            <p:sp>
              <p:nvSpPr>
                <p:cNvPr id="8" name="Textfeld 7">
                  <a:extLst>
                    <a:ext uri="{FF2B5EF4-FFF2-40B4-BE49-F238E27FC236}">
                      <a16:creationId xmlns:a16="http://schemas.microsoft.com/office/drawing/2014/main" id="{5B004403-DF93-0686-FB8C-5E9D0027E201}"/>
                    </a:ext>
                  </a:extLst>
                </p:cNvPr>
                <p:cNvSpPr txBox="1">
                  <a:spLocks noRot="1" noChangeAspect="1" noMove="1" noResize="1" noEditPoints="1" noAdjustHandles="1" noChangeArrowheads="1" noChangeShapeType="1" noTextEdit="1"/>
                </p:cNvSpPr>
                <p:nvPr/>
              </p:nvSpPr>
              <p:spPr>
                <a:xfrm>
                  <a:off x="7757177" y="1853741"/>
                  <a:ext cx="445828" cy="307777"/>
                </a:xfrm>
                <a:prstGeom prst="rect">
                  <a:avLst/>
                </a:prstGeom>
                <a:blipFill>
                  <a:blip r:embed="rId4"/>
                  <a:stretch>
                    <a:fillRect/>
                  </a:stretch>
                </a:blipFill>
              </p:spPr>
              <p:txBody>
                <a:bodyPr/>
                <a:lstStyle/>
                <a:p>
                  <a:r>
                    <a:rPr lang="de-DE">
                      <a:noFill/>
                    </a:rPr>
                    <a:t> </a:t>
                  </a:r>
                </a:p>
              </p:txBody>
            </p:sp>
          </mc:Fallback>
        </mc:AlternateContent>
        <p:grpSp>
          <p:nvGrpSpPr>
            <p:cNvPr id="9" name="Gruppieren 8">
              <a:extLst>
                <a:ext uri="{FF2B5EF4-FFF2-40B4-BE49-F238E27FC236}">
                  <a16:creationId xmlns:a16="http://schemas.microsoft.com/office/drawing/2014/main" id="{9D7C79D9-B26E-BCEE-E12B-C441C3AEECA9}"/>
                </a:ext>
              </a:extLst>
            </p:cNvPr>
            <p:cNvGrpSpPr/>
            <p:nvPr/>
          </p:nvGrpSpPr>
          <p:grpSpPr>
            <a:xfrm>
              <a:off x="7164594" y="2090371"/>
              <a:ext cx="1556450" cy="1184257"/>
              <a:chOff x="6917852" y="2166770"/>
              <a:chExt cx="1556450" cy="1184257"/>
            </a:xfrm>
          </p:grpSpPr>
          <p:grpSp>
            <p:nvGrpSpPr>
              <p:cNvPr id="10" name="Gruppieren 9">
                <a:extLst>
                  <a:ext uri="{FF2B5EF4-FFF2-40B4-BE49-F238E27FC236}">
                    <a16:creationId xmlns:a16="http://schemas.microsoft.com/office/drawing/2014/main" id="{BF4A2059-D64E-528F-41EC-32D027E5A379}"/>
                  </a:ext>
                </a:extLst>
              </p:cNvPr>
              <p:cNvGrpSpPr/>
              <p:nvPr/>
            </p:nvGrpSpPr>
            <p:grpSpPr>
              <a:xfrm>
                <a:off x="6917852" y="2166770"/>
                <a:ext cx="1556450" cy="1184257"/>
                <a:chOff x="5953736" y="2160421"/>
                <a:chExt cx="1556450" cy="1184257"/>
              </a:xfrm>
            </p:grpSpPr>
            <p:cxnSp>
              <p:nvCxnSpPr>
                <p:cNvPr id="12" name="Gerade Verbindung mit Pfeil 11">
                  <a:extLst>
                    <a:ext uri="{FF2B5EF4-FFF2-40B4-BE49-F238E27FC236}">
                      <a16:creationId xmlns:a16="http://schemas.microsoft.com/office/drawing/2014/main" id="{7C661317-752B-128F-6508-26C4B719EC31}"/>
                    </a:ext>
                  </a:extLst>
                </p:cNvPr>
                <p:cNvCxnSpPr>
                  <a:cxnSpLocks/>
                </p:cNvCxnSpPr>
                <p:nvPr/>
              </p:nvCxnSpPr>
              <p:spPr>
                <a:xfrm flipV="1">
                  <a:off x="6599861" y="2160421"/>
                  <a:ext cx="0" cy="118425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Gerade Verbindung mit Pfeil 12">
                  <a:extLst>
                    <a:ext uri="{FF2B5EF4-FFF2-40B4-BE49-F238E27FC236}">
                      <a16:creationId xmlns:a16="http://schemas.microsoft.com/office/drawing/2014/main" id="{ADCC1B9E-A664-8D04-B6DD-F6F9D6C8E83A}"/>
                    </a:ext>
                  </a:extLst>
                </p:cNvPr>
                <p:cNvCxnSpPr>
                  <a:cxnSpLocks/>
                </p:cNvCxnSpPr>
                <p:nvPr/>
              </p:nvCxnSpPr>
              <p:spPr>
                <a:xfrm>
                  <a:off x="5953736" y="2817020"/>
                  <a:ext cx="155645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1" name="Textfeld 10">
                <a:extLst>
                  <a:ext uri="{FF2B5EF4-FFF2-40B4-BE49-F238E27FC236}">
                    <a16:creationId xmlns:a16="http://schemas.microsoft.com/office/drawing/2014/main" id="{D582AC91-D3EE-3794-C66E-B37D8F4220B6}"/>
                  </a:ext>
                </a:extLst>
              </p:cNvPr>
              <p:cNvSpPr txBox="1"/>
              <p:nvPr/>
            </p:nvSpPr>
            <p:spPr>
              <a:xfrm>
                <a:off x="7758249" y="2571750"/>
                <a:ext cx="325730" cy="430887"/>
              </a:xfrm>
              <a:prstGeom prst="rect">
                <a:avLst/>
              </a:prstGeom>
              <a:noFill/>
            </p:spPr>
            <p:txBody>
              <a:bodyPr wrap="none" rtlCol="0">
                <a:spAutoFit/>
              </a:bodyPr>
              <a:lstStyle/>
              <a:p>
                <a:r>
                  <a:rPr lang="en-US" sz="2200" noProof="0" dirty="0">
                    <a:solidFill>
                      <a:srgbClr val="FF0000"/>
                    </a:solidFill>
                  </a:rPr>
                  <a:t>x</a:t>
                </a:r>
              </a:p>
            </p:txBody>
          </p:sp>
        </p:grpSp>
      </p:grpSp>
      <p:sp>
        <p:nvSpPr>
          <p:cNvPr id="14" name="Textfeld 13">
            <a:extLst>
              <a:ext uri="{FF2B5EF4-FFF2-40B4-BE49-F238E27FC236}">
                <a16:creationId xmlns:a16="http://schemas.microsoft.com/office/drawing/2014/main" id="{75A11973-4D65-B67B-5CF8-C3BCFFCFEF18}"/>
              </a:ext>
            </a:extLst>
          </p:cNvPr>
          <p:cNvSpPr txBox="1"/>
          <p:nvPr/>
        </p:nvSpPr>
        <p:spPr>
          <a:xfrm>
            <a:off x="6664621" y="1792921"/>
            <a:ext cx="2393604" cy="307777"/>
          </a:xfrm>
          <a:prstGeom prst="rect">
            <a:avLst/>
          </a:prstGeom>
          <a:noFill/>
        </p:spPr>
        <p:txBody>
          <a:bodyPr wrap="none" rtlCol="0">
            <a:spAutoFit/>
          </a:bodyPr>
          <a:lstStyle/>
          <a:p>
            <a:r>
              <a:rPr lang="en-US" i="1" noProof="0" dirty="0"/>
              <a:t>Pole-Zero Plot Closed-Loop</a:t>
            </a:r>
          </a:p>
        </p:txBody>
      </p:sp>
      <p:cxnSp>
        <p:nvCxnSpPr>
          <p:cNvPr id="15" name="Gerade Verbindung mit Pfeil 14">
            <a:extLst>
              <a:ext uri="{FF2B5EF4-FFF2-40B4-BE49-F238E27FC236}">
                <a16:creationId xmlns:a16="http://schemas.microsoft.com/office/drawing/2014/main" id="{42269DDA-A748-43F4-AE8D-B033530FFD23}"/>
              </a:ext>
            </a:extLst>
          </p:cNvPr>
          <p:cNvCxnSpPr/>
          <p:nvPr/>
        </p:nvCxnSpPr>
        <p:spPr>
          <a:xfrm flipH="1">
            <a:off x="7393770" y="2869832"/>
            <a:ext cx="900353" cy="0"/>
          </a:xfrm>
          <a:prstGeom prst="straightConnector1">
            <a:avLst/>
          </a:prstGeom>
          <a:ln w="317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45047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016323D-A67B-972A-0E14-4CA5EAC78B91}"/>
              </a:ext>
            </a:extLst>
          </p:cNvPr>
          <p:cNvSpPr>
            <a:spLocks noGrp="1"/>
          </p:cNvSpPr>
          <p:nvPr>
            <p:ph type="ctrTitle"/>
          </p:nvPr>
        </p:nvSpPr>
        <p:spPr/>
        <p:txBody>
          <a:bodyPr/>
          <a:lstStyle/>
          <a:p>
            <a:r>
              <a:rPr lang="en-US" noProof="0" dirty="0"/>
              <a:t>2. Root Locus</a:t>
            </a:r>
          </a:p>
        </p:txBody>
      </p:sp>
      <p:sp>
        <p:nvSpPr>
          <p:cNvPr id="3" name="Untertitel 2">
            <a:extLst>
              <a:ext uri="{FF2B5EF4-FFF2-40B4-BE49-F238E27FC236}">
                <a16:creationId xmlns:a16="http://schemas.microsoft.com/office/drawing/2014/main" id="{871A2F78-6FDE-7425-D5B0-C4652E3B1356}"/>
              </a:ext>
            </a:extLst>
          </p:cNvPr>
          <p:cNvSpPr>
            <a:spLocks noGrp="1"/>
          </p:cNvSpPr>
          <p:nvPr>
            <p:ph type="subTitle" idx="1"/>
          </p:nvPr>
        </p:nvSpPr>
        <p:spPr/>
        <p:txBody>
          <a:bodyPr/>
          <a:lstStyle/>
          <a:p>
            <a:endParaRPr lang="en-US" noProof="0" dirty="0"/>
          </a:p>
        </p:txBody>
      </p:sp>
      <p:sp>
        <p:nvSpPr>
          <p:cNvPr id="4" name="Fußzeilenplatzhalter 3">
            <a:extLst>
              <a:ext uri="{FF2B5EF4-FFF2-40B4-BE49-F238E27FC236}">
                <a16:creationId xmlns:a16="http://schemas.microsoft.com/office/drawing/2014/main" id="{1AFA28EE-B066-FA52-BC89-D26A7353479B}"/>
              </a:ext>
            </a:extLst>
          </p:cNvPr>
          <p:cNvSpPr>
            <a:spLocks noGrp="1"/>
          </p:cNvSpPr>
          <p:nvPr>
            <p:ph type="ftr" sz="quarter" idx="11"/>
          </p:nvPr>
        </p:nvSpPr>
        <p:spPr/>
        <p:txBody>
          <a:bodyPr/>
          <a:lstStyle/>
          <a:p>
            <a:pPr defTabSz="342900">
              <a:buClrTx/>
            </a:pPr>
            <a:r>
              <a:rPr lang="en-US" kern="1200" noProof="0" dirty="0">
                <a:solidFill>
                  <a:srgbClr val="101623">
                    <a:tint val="75000"/>
                  </a:srgbClr>
                </a:solidFill>
                <a:latin typeface="Calibri" panose="020F0502020204030204"/>
                <a:ea typeface="+mn-ea"/>
                <a:cs typeface="+mn-cs"/>
              </a:rPr>
              <a:t>Kissan Varatharajan - </a:t>
            </a:r>
            <a:r>
              <a:rPr lang="en-US" kern="1200" noProof="0" dirty="0" err="1">
                <a:solidFill>
                  <a:srgbClr val="101623">
                    <a:tint val="75000"/>
                  </a:srgbClr>
                </a:solidFill>
                <a:latin typeface="Calibri" panose="020F0502020204030204"/>
                <a:ea typeface="+mn-ea"/>
                <a:cs typeface="+mn-cs"/>
              </a:rPr>
              <a:t>kissanv.github.io</a:t>
            </a:r>
            <a:endParaRPr lang="en-US" kern="1200" noProof="0" dirty="0">
              <a:solidFill>
                <a:srgbClr val="101623">
                  <a:tint val="75000"/>
                </a:srgbClr>
              </a:solidFill>
              <a:latin typeface="Calibri" panose="020F0502020204030204"/>
              <a:ea typeface="+mn-ea"/>
              <a:cs typeface="+mn-cs"/>
            </a:endParaRPr>
          </a:p>
        </p:txBody>
      </p:sp>
      <p:sp>
        <p:nvSpPr>
          <p:cNvPr id="5" name="Foliennummernplatzhalter 4">
            <a:extLst>
              <a:ext uri="{FF2B5EF4-FFF2-40B4-BE49-F238E27FC236}">
                <a16:creationId xmlns:a16="http://schemas.microsoft.com/office/drawing/2014/main" id="{26364BA5-66E2-3837-1A74-6983482F4952}"/>
              </a:ext>
            </a:extLst>
          </p:cNvPr>
          <p:cNvSpPr>
            <a:spLocks noGrp="1"/>
          </p:cNvSpPr>
          <p:nvPr>
            <p:ph type="sldNum" sz="quarter" idx="12"/>
          </p:nvPr>
        </p:nvSpPr>
        <p:spPr/>
        <p:txBody>
          <a:bodyPr/>
          <a:lstStyle/>
          <a:p>
            <a:pPr defTabSz="342900">
              <a:buClrTx/>
            </a:pPr>
            <a:fld id="{36EAFFE7-40E2-CA47-82C0-73D0FC591208}" type="slidenum">
              <a:rPr lang="en-US" kern="1200" noProof="0" smtClean="0">
                <a:solidFill>
                  <a:srgbClr val="101623">
                    <a:tint val="75000"/>
                  </a:srgbClr>
                </a:solidFill>
                <a:latin typeface="Calibri" panose="020F0502020204030204"/>
                <a:ea typeface="+mn-ea"/>
                <a:cs typeface="+mn-cs"/>
              </a:rPr>
              <a:pPr defTabSz="342900">
                <a:buClrTx/>
              </a:pPr>
              <a:t>16</a:t>
            </a:fld>
            <a:endParaRPr lang="en-US" kern="1200" noProof="0" dirty="0">
              <a:solidFill>
                <a:srgbClr val="101623">
                  <a:tint val="75000"/>
                </a:srgbClr>
              </a:solidFill>
              <a:latin typeface="Calibri" panose="020F0502020204030204"/>
              <a:ea typeface="+mn-ea"/>
              <a:cs typeface="+mn-cs"/>
            </a:endParaRPr>
          </a:p>
        </p:txBody>
      </p:sp>
    </p:spTree>
    <p:extLst>
      <p:ext uri="{BB962C8B-B14F-4D97-AF65-F5344CB8AC3E}">
        <p14:creationId xmlns:p14="http://schemas.microsoft.com/office/powerpoint/2010/main" val="5436777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3431223-0F6C-4C4E-680F-A496EA71D723}"/>
              </a:ext>
            </a:extLst>
          </p:cNvPr>
          <p:cNvSpPr>
            <a:spLocks noGrp="1"/>
          </p:cNvSpPr>
          <p:nvPr>
            <p:ph type="title"/>
          </p:nvPr>
        </p:nvSpPr>
        <p:spPr/>
        <p:txBody>
          <a:bodyPr/>
          <a:lstStyle/>
          <a:p>
            <a:r>
              <a:rPr lang="en-US" noProof="0" dirty="0"/>
              <a:t>Proportional Feedback</a:t>
            </a:r>
          </a:p>
        </p:txBody>
      </p:sp>
      <mc:AlternateContent xmlns:mc="http://schemas.openxmlformats.org/markup-compatibility/2006" xmlns:a14="http://schemas.microsoft.com/office/drawing/2010/main">
        <mc:Choice Requires="a14">
          <p:sp>
            <p:nvSpPr>
              <p:cNvPr id="3" name="Inhaltsplatzhalter 2">
                <a:extLst>
                  <a:ext uri="{FF2B5EF4-FFF2-40B4-BE49-F238E27FC236}">
                    <a16:creationId xmlns:a16="http://schemas.microsoft.com/office/drawing/2014/main" id="{B231D8E2-1B30-46B7-4F40-1BAC7CB2A14F}"/>
                  </a:ext>
                </a:extLst>
              </p:cNvPr>
              <p:cNvSpPr>
                <a:spLocks noGrp="1"/>
              </p:cNvSpPr>
              <p:nvPr>
                <p:ph idx="1"/>
              </p:nvPr>
            </p:nvSpPr>
            <p:spPr>
              <a:xfrm>
                <a:off x="635618" y="1131760"/>
                <a:ext cx="8316578" cy="3905122"/>
              </a:xfrm>
            </p:spPr>
            <p:txBody>
              <a:bodyPr>
                <a:normAutofit/>
              </a:bodyPr>
              <a:lstStyle/>
              <a:p>
                <a:r>
                  <a:rPr lang="en-US" sz="1600" noProof="0" dirty="0"/>
                  <a:t>We're back with proportional control: </a:t>
                </a:r>
                <a14:m>
                  <m:oMath xmlns:m="http://schemas.openxmlformats.org/officeDocument/2006/math">
                    <m:r>
                      <a:rPr lang="en-US" sz="1600" i="1" noProof="0" smtClean="0">
                        <a:latin typeface="Cambria Math" panose="02040503050406030204" pitchFamily="18" charset="0"/>
                      </a:rPr>
                      <m:t>𝐶</m:t>
                    </m:r>
                    <m:d>
                      <m:dPr>
                        <m:ctrlPr>
                          <a:rPr lang="en-US" sz="1600" i="1" noProof="0" smtClean="0">
                            <a:latin typeface="Cambria Math" panose="02040503050406030204" pitchFamily="18" charset="0"/>
                          </a:rPr>
                        </m:ctrlPr>
                      </m:dPr>
                      <m:e>
                        <m:r>
                          <a:rPr lang="en-US" sz="1600" i="1" noProof="0" smtClean="0">
                            <a:latin typeface="Cambria Math" panose="02040503050406030204" pitchFamily="18" charset="0"/>
                          </a:rPr>
                          <m:t>𝑠</m:t>
                        </m:r>
                      </m:e>
                    </m:d>
                    <m:r>
                      <a:rPr lang="en-US" sz="1600" i="1" noProof="0" smtClean="0">
                        <a:latin typeface="Cambria Math" panose="02040503050406030204" pitchFamily="18" charset="0"/>
                      </a:rPr>
                      <m:t>=</m:t>
                    </m:r>
                    <m:r>
                      <a:rPr lang="en-US" sz="1600" i="1" noProof="0" smtClean="0">
                        <a:latin typeface="Cambria Math" panose="02040503050406030204" pitchFamily="18" charset="0"/>
                      </a:rPr>
                      <m:t>𝑘</m:t>
                    </m:r>
                  </m:oMath>
                </a14:m>
                <a:endParaRPr lang="en-US" sz="1600" noProof="0" dirty="0"/>
              </a:p>
              <a:p>
                <a:r>
                  <a:rPr lang="en-US" sz="1600" noProof="0" dirty="0"/>
                  <a:t>As mentioned earlier we're interested how the system behaves (especially the </a:t>
                </a:r>
                <a:r>
                  <a:rPr lang="en-US" sz="1600" u="sng" noProof="0" dirty="0"/>
                  <a:t>poles</a:t>
                </a:r>
                <a:r>
                  <a:rPr lang="en-US" sz="1600" noProof="0" dirty="0"/>
                  <a:t>) if we change </a:t>
                </a:r>
                <a14:m>
                  <m:oMath xmlns:m="http://schemas.openxmlformats.org/officeDocument/2006/math">
                    <m:r>
                      <a:rPr lang="en-US" sz="1600" i="1" noProof="0" smtClean="0">
                        <a:latin typeface="Cambria Math" panose="02040503050406030204" pitchFamily="18" charset="0"/>
                      </a:rPr>
                      <m:t>𝑘</m:t>
                    </m:r>
                  </m:oMath>
                </a14:m>
                <a:endParaRPr lang="en-US" sz="1600" noProof="0" dirty="0"/>
              </a:p>
              <a:p>
                <a:endParaRPr lang="en-US" sz="1600" noProof="0" dirty="0"/>
              </a:p>
              <a:p>
                <a:r>
                  <a:rPr lang="en-US" sz="1600" noProof="0" dirty="0"/>
                  <a:t>Root Locus plots show how poles of the closed loop system vary with </a:t>
                </a:r>
                <a14:m>
                  <m:oMath xmlns:m="http://schemas.openxmlformats.org/officeDocument/2006/math">
                    <m:r>
                      <a:rPr lang="en-US" sz="1600" i="1" noProof="0" smtClean="0">
                        <a:latin typeface="Cambria Math" panose="02040503050406030204" pitchFamily="18" charset="0"/>
                      </a:rPr>
                      <m:t>𝑘</m:t>
                    </m:r>
                  </m:oMath>
                </a14:m>
                <a:endParaRPr lang="en-US" sz="1600" noProof="0" dirty="0"/>
              </a:p>
              <a:p>
                <a:r>
                  <a:rPr lang="en-US" sz="1600" noProof="0" dirty="0"/>
                  <a:t>Let's consider: </a:t>
                </a:r>
                <a14:m>
                  <m:oMath xmlns:m="http://schemas.openxmlformats.org/officeDocument/2006/math">
                    <m:r>
                      <a:rPr lang="en-US" sz="1600" i="1" noProof="0" smtClean="0">
                        <a:latin typeface="Cambria Math" panose="02040503050406030204" pitchFamily="18" charset="0"/>
                      </a:rPr>
                      <m:t>𝑇</m:t>
                    </m:r>
                    <m:d>
                      <m:dPr>
                        <m:ctrlPr>
                          <a:rPr lang="en-US" sz="1600" i="1" noProof="0" smtClean="0">
                            <a:latin typeface="Cambria Math" panose="02040503050406030204" pitchFamily="18" charset="0"/>
                          </a:rPr>
                        </m:ctrlPr>
                      </m:dPr>
                      <m:e>
                        <m:r>
                          <a:rPr lang="en-US" sz="1600" i="1" noProof="0" smtClean="0">
                            <a:latin typeface="Cambria Math" panose="02040503050406030204" pitchFamily="18" charset="0"/>
                          </a:rPr>
                          <m:t>𝑠</m:t>
                        </m:r>
                      </m:e>
                    </m:d>
                    <m:r>
                      <a:rPr lang="en-US" sz="1600" i="1" noProof="0" smtClean="0">
                        <a:latin typeface="Cambria Math" panose="02040503050406030204" pitchFamily="18" charset="0"/>
                      </a:rPr>
                      <m:t>=</m:t>
                    </m:r>
                    <m:f>
                      <m:fPr>
                        <m:ctrlPr>
                          <a:rPr lang="en-US" sz="1600" i="1" noProof="0" smtClean="0">
                            <a:latin typeface="Cambria Math" panose="02040503050406030204" pitchFamily="18" charset="0"/>
                          </a:rPr>
                        </m:ctrlPr>
                      </m:fPr>
                      <m:num>
                        <m:r>
                          <a:rPr lang="en-US" sz="1600" i="1" noProof="0" smtClean="0">
                            <a:latin typeface="Cambria Math" panose="02040503050406030204" pitchFamily="18" charset="0"/>
                          </a:rPr>
                          <m:t>𝑘𝑃</m:t>
                        </m:r>
                        <m:d>
                          <m:dPr>
                            <m:ctrlPr>
                              <a:rPr lang="en-US" sz="1600" i="1" noProof="0" smtClean="0">
                                <a:latin typeface="Cambria Math" panose="02040503050406030204" pitchFamily="18" charset="0"/>
                              </a:rPr>
                            </m:ctrlPr>
                          </m:dPr>
                          <m:e>
                            <m:r>
                              <a:rPr lang="en-US" sz="1600" i="1" noProof="0" smtClean="0">
                                <a:latin typeface="Cambria Math" panose="02040503050406030204" pitchFamily="18" charset="0"/>
                              </a:rPr>
                              <m:t>𝑠</m:t>
                            </m:r>
                          </m:e>
                        </m:d>
                      </m:num>
                      <m:den>
                        <m:r>
                          <a:rPr lang="en-US" sz="1600" i="1" noProof="0" smtClean="0">
                            <a:latin typeface="Cambria Math" panose="02040503050406030204" pitchFamily="18" charset="0"/>
                          </a:rPr>
                          <m:t>1+</m:t>
                        </m:r>
                        <m:r>
                          <a:rPr lang="en-US" sz="1600" i="1" noProof="0" smtClean="0">
                            <a:latin typeface="Cambria Math" panose="02040503050406030204" pitchFamily="18" charset="0"/>
                          </a:rPr>
                          <m:t>𝑘𝑃</m:t>
                        </m:r>
                        <m:d>
                          <m:dPr>
                            <m:ctrlPr>
                              <a:rPr lang="en-US" sz="1600" i="1" noProof="0" smtClean="0">
                                <a:solidFill>
                                  <a:schemeClr val="accent2"/>
                                </a:solidFill>
                                <a:latin typeface="Cambria Math" panose="02040503050406030204" pitchFamily="18" charset="0"/>
                              </a:rPr>
                            </m:ctrlPr>
                          </m:dPr>
                          <m:e>
                            <m:r>
                              <a:rPr lang="en-US" sz="1600" i="1" noProof="0" smtClean="0">
                                <a:solidFill>
                                  <a:schemeClr val="accent2"/>
                                </a:solidFill>
                                <a:latin typeface="Cambria Math" panose="02040503050406030204" pitchFamily="18" charset="0"/>
                              </a:rPr>
                              <m:t>𝑠</m:t>
                            </m:r>
                          </m:e>
                        </m:d>
                      </m:den>
                    </m:f>
                  </m:oMath>
                </a14:m>
                <a:r>
                  <a:rPr lang="en-US" sz="1600" noProof="0" dirty="0"/>
                  <a:t> and </a:t>
                </a:r>
                <a14:m>
                  <m:oMath xmlns:m="http://schemas.openxmlformats.org/officeDocument/2006/math">
                    <m:r>
                      <a:rPr lang="en-US" sz="1600" i="1" noProof="0" smtClean="0">
                        <a:solidFill>
                          <a:schemeClr val="accent2"/>
                        </a:solidFill>
                        <a:latin typeface="Cambria Math" panose="02040503050406030204" pitchFamily="18" charset="0"/>
                      </a:rPr>
                      <m:t>𝑃</m:t>
                    </m:r>
                    <m:d>
                      <m:dPr>
                        <m:ctrlPr>
                          <a:rPr lang="en-US" sz="1600" i="1" noProof="0" smtClean="0">
                            <a:solidFill>
                              <a:schemeClr val="accent2"/>
                            </a:solidFill>
                            <a:latin typeface="Cambria Math" panose="02040503050406030204" pitchFamily="18" charset="0"/>
                          </a:rPr>
                        </m:ctrlPr>
                      </m:dPr>
                      <m:e>
                        <m:r>
                          <a:rPr lang="en-US" sz="1600" i="1" noProof="0" smtClean="0">
                            <a:solidFill>
                              <a:schemeClr val="accent2"/>
                            </a:solidFill>
                            <a:latin typeface="Cambria Math" panose="02040503050406030204" pitchFamily="18" charset="0"/>
                          </a:rPr>
                          <m:t>𝑠</m:t>
                        </m:r>
                      </m:e>
                    </m:d>
                    <m:r>
                      <a:rPr lang="en-US" sz="1600" i="1" noProof="0" smtClean="0">
                        <a:latin typeface="Cambria Math" panose="02040503050406030204" pitchFamily="18" charset="0"/>
                      </a:rPr>
                      <m:t>=</m:t>
                    </m:r>
                    <m:f>
                      <m:fPr>
                        <m:ctrlPr>
                          <a:rPr lang="en-US" sz="1600" i="1" noProof="0" smtClean="0">
                            <a:latin typeface="Cambria Math" panose="02040503050406030204" pitchFamily="18" charset="0"/>
                          </a:rPr>
                        </m:ctrlPr>
                      </m:fPr>
                      <m:num>
                        <m:r>
                          <a:rPr lang="en-US" sz="1600" i="1" noProof="0" smtClean="0">
                            <a:latin typeface="Cambria Math" panose="02040503050406030204" pitchFamily="18" charset="0"/>
                          </a:rPr>
                          <m:t>𝑁</m:t>
                        </m:r>
                        <m:d>
                          <m:dPr>
                            <m:ctrlPr>
                              <a:rPr lang="en-US" sz="1600" i="1" noProof="0" smtClean="0">
                                <a:latin typeface="Cambria Math" panose="02040503050406030204" pitchFamily="18" charset="0"/>
                              </a:rPr>
                            </m:ctrlPr>
                          </m:dPr>
                          <m:e>
                            <m:r>
                              <a:rPr lang="en-US" sz="1600" i="1" noProof="0" smtClean="0">
                                <a:latin typeface="Cambria Math" panose="02040503050406030204" pitchFamily="18" charset="0"/>
                              </a:rPr>
                              <m:t>𝑠</m:t>
                            </m:r>
                          </m:e>
                        </m:d>
                      </m:num>
                      <m:den>
                        <m:r>
                          <a:rPr lang="en-US" sz="1600" i="1" noProof="0" smtClean="0">
                            <a:latin typeface="Cambria Math" panose="02040503050406030204" pitchFamily="18" charset="0"/>
                          </a:rPr>
                          <m:t>𝐷</m:t>
                        </m:r>
                        <m:d>
                          <m:dPr>
                            <m:ctrlPr>
                              <a:rPr lang="en-US" sz="1600" i="1" noProof="0" smtClean="0">
                                <a:latin typeface="Cambria Math" panose="02040503050406030204" pitchFamily="18" charset="0"/>
                              </a:rPr>
                            </m:ctrlPr>
                          </m:dPr>
                          <m:e>
                            <m:r>
                              <a:rPr lang="en-US" sz="1600" i="1" noProof="0" smtClean="0">
                                <a:latin typeface="Cambria Math" panose="02040503050406030204" pitchFamily="18" charset="0"/>
                              </a:rPr>
                              <m:t>𝑠</m:t>
                            </m:r>
                          </m:e>
                        </m:d>
                      </m:den>
                    </m:f>
                  </m:oMath>
                </a14:m>
                <a:endParaRPr lang="en-US" sz="1600" noProof="0" dirty="0"/>
              </a:p>
              <a:p>
                <a:r>
                  <a:rPr lang="en-US" sz="1600" noProof="0" dirty="0"/>
                  <a:t>For stability let's check the denominator of the closed loop:</a:t>
                </a:r>
              </a:p>
              <a:p>
                <a:r>
                  <a:rPr lang="en-US" sz="1600" noProof="0" dirty="0"/>
                  <a:t>If </a:t>
                </a:r>
                <a14:m>
                  <m:oMath xmlns:m="http://schemas.openxmlformats.org/officeDocument/2006/math">
                    <m:r>
                      <a:rPr lang="en-US" sz="1600" b="1" i="1" noProof="0" smtClean="0">
                        <a:latin typeface="Cambria Math" panose="02040503050406030204" pitchFamily="18" charset="0"/>
                      </a:rPr>
                      <m:t>𝒌</m:t>
                    </m:r>
                    <m:r>
                      <a:rPr lang="en-US" sz="1600" b="1" i="1" noProof="0" smtClean="0">
                        <a:latin typeface="Cambria Math" panose="02040503050406030204" pitchFamily="18" charset="0"/>
                      </a:rPr>
                      <m:t>=</m:t>
                    </m:r>
                    <m:r>
                      <a:rPr lang="en-US" sz="1600" b="1" i="1" noProof="0" smtClean="0">
                        <a:latin typeface="Cambria Math" panose="02040503050406030204" pitchFamily="18" charset="0"/>
                      </a:rPr>
                      <m:t>𝟎</m:t>
                    </m:r>
                    <m:r>
                      <a:rPr lang="en-US" sz="1600" b="1" i="1" noProof="0" smtClean="0">
                        <a:latin typeface="Cambria Math" panose="02040503050406030204" pitchFamily="18" charset="0"/>
                      </a:rPr>
                      <m:t> </m:t>
                    </m:r>
                    <m:r>
                      <a:rPr lang="en-US" sz="1600" i="1" noProof="0" smtClean="0">
                        <a:latin typeface="Cambria Math" panose="02040503050406030204" pitchFamily="18" charset="0"/>
                      </a:rPr>
                      <m:t>⟶</m:t>
                    </m:r>
                  </m:oMath>
                </a14:m>
                <a:r>
                  <a:rPr lang="en-US" sz="1600" noProof="0" dirty="0"/>
                  <a:t> poles are determined by </a:t>
                </a:r>
                <a14:m>
                  <m:oMath xmlns:m="http://schemas.openxmlformats.org/officeDocument/2006/math">
                    <m:r>
                      <a:rPr lang="en-US" sz="1600" i="1" noProof="0" smtClean="0">
                        <a:latin typeface="Cambria Math" panose="02040503050406030204" pitchFamily="18" charset="0"/>
                      </a:rPr>
                      <m:t>𝐷</m:t>
                    </m:r>
                    <m:r>
                      <a:rPr lang="en-US" sz="1600" i="1" noProof="0" smtClean="0">
                        <a:latin typeface="Cambria Math" panose="02040503050406030204" pitchFamily="18" charset="0"/>
                      </a:rPr>
                      <m:t>=0</m:t>
                    </m:r>
                  </m:oMath>
                </a14:m>
                <a:r>
                  <a:rPr lang="en-US" sz="1600" noProof="0" dirty="0"/>
                  <a:t>, </a:t>
                </a:r>
                <a:r>
                  <a:rPr lang="en-US" sz="1600" b="1" noProof="0" dirty="0"/>
                  <a:t>same</a:t>
                </a:r>
                <a:r>
                  <a:rPr lang="en-US" sz="1600" noProof="0" dirty="0"/>
                  <a:t> </a:t>
                </a:r>
                <a:r>
                  <a:rPr lang="en-US" sz="1600" b="1" noProof="0" dirty="0"/>
                  <a:t>as open-loop!</a:t>
                </a:r>
              </a:p>
              <a:p>
                <a:r>
                  <a:rPr lang="en-US" sz="1600" noProof="0" dirty="0"/>
                  <a:t>If</a:t>
                </a:r>
                <a:r>
                  <a:rPr lang="en-US" sz="1600" b="1" noProof="0" dirty="0"/>
                  <a:t> </a:t>
                </a:r>
                <a14:m>
                  <m:oMath xmlns:m="http://schemas.openxmlformats.org/officeDocument/2006/math">
                    <m:r>
                      <a:rPr lang="en-US" sz="1600" b="1" i="1" noProof="0" smtClean="0">
                        <a:latin typeface="Cambria Math" panose="02040503050406030204" pitchFamily="18" charset="0"/>
                      </a:rPr>
                      <m:t>𝒌</m:t>
                    </m:r>
                    <m:r>
                      <a:rPr lang="en-US" sz="1600" b="1" i="1" noProof="0" smtClean="0">
                        <a:latin typeface="Cambria Math" panose="02040503050406030204" pitchFamily="18" charset="0"/>
                      </a:rPr>
                      <m:t>=</m:t>
                    </m:r>
                    <m:r>
                      <m:rPr>
                        <m:nor/>
                      </m:rPr>
                      <a:rPr lang="en-US" sz="1600" b="1" noProof="0" smtClean="0"/>
                      <m:t>∞</m:t>
                    </m:r>
                    <m:r>
                      <a:rPr lang="en-US" sz="1600" i="1" noProof="0" smtClean="0">
                        <a:latin typeface="Cambria Math" panose="02040503050406030204" pitchFamily="18" charset="0"/>
                      </a:rPr>
                      <m:t>⟶</m:t>
                    </m:r>
                  </m:oMath>
                </a14:m>
                <a:r>
                  <a:rPr lang="en-US" sz="1600" noProof="0" dirty="0"/>
                  <a:t> denom. becomes negligible compared to </a:t>
                </a:r>
                <a:r>
                  <a:rPr lang="en-US" sz="1600" noProof="0" dirty="0" err="1"/>
                  <a:t>nomin</a:t>
                </a:r>
                <a:r>
                  <a:rPr lang="en-US" sz="1600" noProof="0" dirty="0"/>
                  <a:t>. </a:t>
                </a:r>
                <a14:m>
                  <m:oMath xmlns:m="http://schemas.openxmlformats.org/officeDocument/2006/math">
                    <m:r>
                      <a:rPr lang="en-US" sz="1600" i="1" noProof="0" smtClean="0">
                        <a:latin typeface="Cambria Math" panose="02040503050406030204" pitchFamily="18" charset="0"/>
                      </a:rPr>
                      <m:t>⟶</m:t>
                    </m:r>
                  </m:oMath>
                </a14:m>
                <a:r>
                  <a:rPr lang="en-US" sz="1600" noProof="0" dirty="0"/>
                  <a:t> </a:t>
                </a:r>
                <a:r>
                  <a:rPr lang="en-US" sz="1600" b="1" noProof="0" dirty="0"/>
                  <a:t>CL-Poles = OL-Zeros</a:t>
                </a:r>
              </a:p>
            </p:txBody>
          </p:sp>
        </mc:Choice>
        <mc:Fallback xmlns="">
          <p:sp>
            <p:nvSpPr>
              <p:cNvPr id="3" name="Inhaltsplatzhalter 2">
                <a:extLst>
                  <a:ext uri="{FF2B5EF4-FFF2-40B4-BE49-F238E27FC236}">
                    <a16:creationId xmlns:a16="http://schemas.microsoft.com/office/drawing/2014/main" id="{B231D8E2-1B30-46B7-4F40-1BAC7CB2A14F}"/>
                  </a:ext>
                </a:extLst>
              </p:cNvPr>
              <p:cNvSpPr>
                <a:spLocks noGrp="1" noRot="1" noChangeAspect="1" noMove="1" noResize="1" noEditPoints="1" noAdjustHandles="1" noChangeArrowheads="1" noChangeShapeType="1" noTextEdit="1"/>
              </p:cNvSpPr>
              <p:nvPr>
                <p:ph idx="1"/>
              </p:nvPr>
            </p:nvSpPr>
            <p:spPr>
              <a:xfrm>
                <a:off x="635618" y="1131760"/>
                <a:ext cx="8316578" cy="3905122"/>
              </a:xfrm>
              <a:blipFill>
                <a:blip r:embed="rId2"/>
                <a:stretch>
                  <a:fillRect l="-152" t="-1299" r="-761"/>
                </a:stretch>
              </a:blipFill>
            </p:spPr>
            <p:txBody>
              <a:bodyPr/>
              <a:lstStyle/>
              <a:p>
                <a:r>
                  <a:rPr lang="de-DE">
                    <a:noFill/>
                  </a:rPr>
                  <a:t> </a:t>
                </a:r>
              </a:p>
            </p:txBody>
          </p:sp>
        </mc:Fallback>
      </mc:AlternateContent>
      <p:sp>
        <p:nvSpPr>
          <p:cNvPr id="4" name="Fußzeilenplatzhalter 3">
            <a:extLst>
              <a:ext uri="{FF2B5EF4-FFF2-40B4-BE49-F238E27FC236}">
                <a16:creationId xmlns:a16="http://schemas.microsoft.com/office/drawing/2014/main" id="{D7815F6A-CE83-350E-3679-DBFB024D82FA}"/>
              </a:ext>
            </a:extLst>
          </p:cNvPr>
          <p:cNvSpPr>
            <a:spLocks noGrp="1"/>
          </p:cNvSpPr>
          <p:nvPr>
            <p:ph type="ftr" sz="quarter" idx="11"/>
          </p:nvPr>
        </p:nvSpPr>
        <p:spPr/>
        <p:txBody>
          <a:bodyPr/>
          <a:lstStyle/>
          <a:p>
            <a:pPr defTabSz="342900">
              <a:buClrTx/>
            </a:pPr>
            <a:r>
              <a:rPr lang="en-US" kern="1200" noProof="0" dirty="0">
                <a:solidFill>
                  <a:srgbClr val="101623">
                    <a:tint val="75000"/>
                  </a:srgbClr>
                </a:solidFill>
                <a:latin typeface="Calibri" panose="020F0502020204030204"/>
                <a:ea typeface="+mn-ea"/>
                <a:cs typeface="+mn-cs"/>
              </a:rPr>
              <a:t>Kissan Varatharajan - </a:t>
            </a:r>
            <a:r>
              <a:rPr lang="en-US" kern="1200" noProof="0" dirty="0" err="1">
                <a:solidFill>
                  <a:srgbClr val="101623">
                    <a:tint val="75000"/>
                  </a:srgbClr>
                </a:solidFill>
                <a:latin typeface="Calibri" panose="020F0502020204030204"/>
                <a:ea typeface="+mn-ea"/>
                <a:cs typeface="+mn-cs"/>
              </a:rPr>
              <a:t>kissanv.github.io</a:t>
            </a:r>
            <a:endParaRPr lang="en-US" kern="1200" noProof="0" dirty="0">
              <a:solidFill>
                <a:srgbClr val="101623">
                  <a:tint val="75000"/>
                </a:srgbClr>
              </a:solidFill>
              <a:latin typeface="Calibri" panose="020F0502020204030204"/>
              <a:ea typeface="+mn-ea"/>
              <a:cs typeface="+mn-cs"/>
            </a:endParaRPr>
          </a:p>
        </p:txBody>
      </p:sp>
      <p:sp>
        <p:nvSpPr>
          <p:cNvPr id="5" name="Foliennummernplatzhalter 4">
            <a:extLst>
              <a:ext uri="{FF2B5EF4-FFF2-40B4-BE49-F238E27FC236}">
                <a16:creationId xmlns:a16="http://schemas.microsoft.com/office/drawing/2014/main" id="{15AA2A98-3E0D-0522-4A63-EED8FE5411CD}"/>
              </a:ext>
            </a:extLst>
          </p:cNvPr>
          <p:cNvSpPr>
            <a:spLocks noGrp="1"/>
          </p:cNvSpPr>
          <p:nvPr>
            <p:ph type="sldNum" sz="quarter" idx="12"/>
          </p:nvPr>
        </p:nvSpPr>
        <p:spPr/>
        <p:txBody>
          <a:bodyPr/>
          <a:lstStyle/>
          <a:p>
            <a:pPr defTabSz="342900">
              <a:buClrTx/>
            </a:pPr>
            <a:fld id="{36EAFFE7-40E2-CA47-82C0-73D0FC591208}" type="slidenum">
              <a:rPr lang="en-US" kern="1200" noProof="0" smtClean="0">
                <a:solidFill>
                  <a:srgbClr val="101623">
                    <a:tint val="75000"/>
                  </a:srgbClr>
                </a:solidFill>
                <a:latin typeface="Calibri" panose="020F0502020204030204"/>
                <a:ea typeface="+mn-ea"/>
                <a:cs typeface="+mn-cs"/>
              </a:rPr>
              <a:pPr defTabSz="342900">
                <a:buClrTx/>
              </a:pPr>
              <a:t>17</a:t>
            </a:fld>
            <a:endParaRPr lang="en-US" kern="1200" noProof="0" dirty="0">
              <a:solidFill>
                <a:srgbClr val="101623">
                  <a:tint val="75000"/>
                </a:srgbClr>
              </a:solidFill>
              <a:latin typeface="Calibri" panose="020F0502020204030204"/>
              <a:ea typeface="+mn-ea"/>
              <a:cs typeface="+mn-cs"/>
            </a:endParaRPr>
          </a:p>
        </p:txBody>
      </p:sp>
      <p:grpSp>
        <p:nvGrpSpPr>
          <p:cNvPr id="42" name="Gruppieren 41">
            <a:extLst>
              <a:ext uri="{FF2B5EF4-FFF2-40B4-BE49-F238E27FC236}">
                <a16:creationId xmlns:a16="http://schemas.microsoft.com/office/drawing/2014/main" id="{8128717B-3799-3D92-464A-8C6A276FD825}"/>
              </a:ext>
            </a:extLst>
          </p:cNvPr>
          <p:cNvGrpSpPr/>
          <p:nvPr/>
        </p:nvGrpSpPr>
        <p:grpSpPr>
          <a:xfrm>
            <a:off x="4891261" y="102393"/>
            <a:ext cx="4060935" cy="1029367"/>
            <a:chOff x="4891261" y="102393"/>
            <a:chExt cx="4060935" cy="1029367"/>
          </a:xfrm>
        </p:grpSpPr>
        <p:sp>
          <p:nvSpPr>
            <p:cNvPr id="6" name="Oval 5">
              <a:extLst>
                <a:ext uri="{FF2B5EF4-FFF2-40B4-BE49-F238E27FC236}">
                  <a16:creationId xmlns:a16="http://schemas.microsoft.com/office/drawing/2014/main" id="{7BED94D5-4575-2F1B-3F88-25C6EEEFCEDB}"/>
                </a:ext>
              </a:extLst>
            </p:cNvPr>
            <p:cNvSpPr/>
            <p:nvPr/>
          </p:nvSpPr>
          <p:spPr>
            <a:xfrm>
              <a:off x="5362418" y="321780"/>
              <a:ext cx="216000" cy="216000"/>
            </a:xfrm>
            <a:prstGeom prst="ellipse">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noProof="0" dirty="0"/>
            </a:p>
          </p:txBody>
        </p:sp>
        <p:cxnSp>
          <p:nvCxnSpPr>
            <p:cNvPr id="7" name="Gerade Verbindung mit Pfeil 6">
              <a:extLst>
                <a:ext uri="{FF2B5EF4-FFF2-40B4-BE49-F238E27FC236}">
                  <a16:creationId xmlns:a16="http://schemas.microsoft.com/office/drawing/2014/main" id="{92FAE427-D639-FD63-5B42-E3DD67201CF6}"/>
                </a:ext>
              </a:extLst>
            </p:cNvPr>
            <p:cNvCxnSpPr>
              <a:cxnSpLocks/>
            </p:cNvCxnSpPr>
            <p:nvPr/>
          </p:nvCxnSpPr>
          <p:spPr>
            <a:xfrm>
              <a:off x="8241382" y="424960"/>
              <a:ext cx="710814"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8" name="Gruppieren 7">
              <a:extLst>
                <a:ext uri="{FF2B5EF4-FFF2-40B4-BE49-F238E27FC236}">
                  <a16:creationId xmlns:a16="http://schemas.microsoft.com/office/drawing/2014/main" id="{246773DE-752B-5CF7-A168-2E252606BC00}"/>
                </a:ext>
              </a:extLst>
            </p:cNvPr>
            <p:cNvGrpSpPr/>
            <p:nvPr/>
          </p:nvGrpSpPr>
          <p:grpSpPr>
            <a:xfrm>
              <a:off x="7354668" y="164444"/>
              <a:ext cx="886714" cy="553007"/>
              <a:chOff x="2403054" y="3026666"/>
              <a:chExt cx="545710" cy="553007"/>
            </a:xfrm>
          </p:grpSpPr>
          <p:sp>
            <p:nvSpPr>
              <p:cNvPr id="9" name="Rechteck 8">
                <a:extLst>
                  <a:ext uri="{FF2B5EF4-FFF2-40B4-BE49-F238E27FC236}">
                    <a16:creationId xmlns:a16="http://schemas.microsoft.com/office/drawing/2014/main" id="{B98C07CC-4AC4-1769-950F-05EAB6BC4CCA}"/>
                  </a:ext>
                </a:extLst>
              </p:cNvPr>
              <p:cNvSpPr/>
              <p:nvPr/>
            </p:nvSpPr>
            <p:spPr>
              <a:xfrm>
                <a:off x="2403054" y="3026666"/>
                <a:ext cx="545710" cy="553007"/>
              </a:xfrm>
              <a:prstGeom prst="rect">
                <a:avLst/>
              </a:prstGeom>
              <a:no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noProof="0" dirty="0"/>
              </a:p>
            </p:txBody>
          </p:sp>
          <mc:AlternateContent xmlns:mc="http://schemas.openxmlformats.org/markup-compatibility/2006" xmlns:a14="http://schemas.microsoft.com/office/drawing/2010/main">
            <mc:Choice Requires="a14">
              <p:sp>
                <p:nvSpPr>
                  <p:cNvPr id="10" name="Textfeld 9">
                    <a:extLst>
                      <a:ext uri="{FF2B5EF4-FFF2-40B4-BE49-F238E27FC236}">
                        <a16:creationId xmlns:a16="http://schemas.microsoft.com/office/drawing/2014/main" id="{1842A42C-A9C8-4B70-B04E-FCD5E70A37F6}"/>
                      </a:ext>
                    </a:extLst>
                  </p:cNvPr>
                  <p:cNvSpPr txBox="1"/>
                  <p:nvPr/>
                </p:nvSpPr>
                <p:spPr>
                  <a:xfrm>
                    <a:off x="2459135" y="3107336"/>
                    <a:ext cx="42197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800" i="1" noProof="0" smtClean="0">
                              <a:latin typeface="Cambria Math" panose="02040503050406030204" pitchFamily="18" charset="0"/>
                              <a:cs typeface="Segoe UI" panose="020B0502040204020203" pitchFamily="34" charset="0"/>
                            </a:rPr>
                            <m:t>𝑃</m:t>
                          </m:r>
                          <m:r>
                            <a:rPr lang="en-US" sz="1800" b="0" i="1" noProof="0" smtClean="0">
                              <a:latin typeface="Cambria Math" panose="02040503050406030204" pitchFamily="18" charset="0"/>
                              <a:cs typeface="Segoe UI" panose="020B0502040204020203" pitchFamily="34" charset="0"/>
                            </a:rPr>
                            <m:t>(</m:t>
                          </m:r>
                          <m:r>
                            <m:rPr>
                              <m:sty m:val="p"/>
                            </m:rPr>
                            <a:rPr lang="en-US" sz="1800" b="0" i="1" noProof="0" smtClean="0">
                              <a:latin typeface="Cambria Math" panose="02040503050406030204" pitchFamily="18" charset="0"/>
                              <a:cs typeface="Segoe UI" panose="020B0502040204020203" pitchFamily="34" charset="0"/>
                            </a:rPr>
                            <m:t>s</m:t>
                          </m:r>
                          <m:r>
                            <a:rPr lang="en-US" sz="1800" b="0" i="1" noProof="0" smtClean="0">
                              <a:latin typeface="Cambria Math" panose="02040503050406030204" pitchFamily="18" charset="0"/>
                              <a:cs typeface="Segoe UI" panose="020B0502040204020203" pitchFamily="34" charset="0"/>
                            </a:rPr>
                            <m:t>)</m:t>
                          </m:r>
                        </m:oMath>
                      </m:oMathPara>
                    </a14:m>
                    <a:endParaRPr lang="en-US" noProof="0" dirty="0"/>
                  </a:p>
                </p:txBody>
              </p:sp>
            </mc:Choice>
            <mc:Fallback xmlns="">
              <p:sp>
                <p:nvSpPr>
                  <p:cNvPr id="10" name="Textfeld 9">
                    <a:extLst>
                      <a:ext uri="{FF2B5EF4-FFF2-40B4-BE49-F238E27FC236}">
                        <a16:creationId xmlns:a16="http://schemas.microsoft.com/office/drawing/2014/main" id="{1842A42C-A9C8-4B70-B04E-FCD5E70A37F6}"/>
                      </a:ext>
                    </a:extLst>
                  </p:cNvPr>
                  <p:cNvSpPr txBox="1">
                    <a:spLocks noRot="1" noChangeAspect="1" noMove="1" noResize="1" noEditPoints="1" noAdjustHandles="1" noChangeArrowheads="1" noChangeShapeType="1" noTextEdit="1"/>
                  </p:cNvSpPr>
                  <p:nvPr/>
                </p:nvSpPr>
                <p:spPr>
                  <a:xfrm>
                    <a:off x="2459135" y="3107336"/>
                    <a:ext cx="421972" cy="369332"/>
                  </a:xfrm>
                  <a:prstGeom prst="rect">
                    <a:avLst/>
                  </a:prstGeom>
                  <a:blipFill>
                    <a:blip r:embed="rId3"/>
                    <a:stretch>
                      <a:fillRect b="-16667"/>
                    </a:stretch>
                  </a:blipFill>
                </p:spPr>
                <p:txBody>
                  <a:bodyPr/>
                  <a:lstStyle/>
                  <a:p>
                    <a:r>
                      <a:rPr lang="de-DE">
                        <a:noFill/>
                      </a:rPr>
                      <a:t> </a:t>
                    </a:r>
                  </a:p>
                </p:txBody>
              </p:sp>
            </mc:Fallback>
          </mc:AlternateContent>
        </p:grpSp>
        <p:grpSp>
          <p:nvGrpSpPr>
            <p:cNvPr id="11" name="Gruppieren 10">
              <a:extLst>
                <a:ext uri="{FF2B5EF4-FFF2-40B4-BE49-F238E27FC236}">
                  <a16:creationId xmlns:a16="http://schemas.microsoft.com/office/drawing/2014/main" id="{8FBA38ED-21A2-A43A-7771-2DEA509F7652}"/>
                </a:ext>
              </a:extLst>
            </p:cNvPr>
            <p:cNvGrpSpPr/>
            <p:nvPr/>
          </p:nvGrpSpPr>
          <p:grpSpPr>
            <a:xfrm>
              <a:off x="6014915" y="164444"/>
              <a:ext cx="943472" cy="553007"/>
              <a:chOff x="2676164" y="3940223"/>
              <a:chExt cx="587951" cy="553007"/>
            </a:xfrm>
          </p:grpSpPr>
          <p:sp>
            <p:nvSpPr>
              <p:cNvPr id="12" name="Rechteck 11">
                <a:extLst>
                  <a:ext uri="{FF2B5EF4-FFF2-40B4-BE49-F238E27FC236}">
                    <a16:creationId xmlns:a16="http://schemas.microsoft.com/office/drawing/2014/main" id="{BD79261E-2A73-3F5C-F394-5B451B615905}"/>
                  </a:ext>
                </a:extLst>
              </p:cNvPr>
              <p:cNvSpPr/>
              <p:nvPr/>
            </p:nvSpPr>
            <p:spPr>
              <a:xfrm>
                <a:off x="2676164" y="3940223"/>
                <a:ext cx="587951" cy="553007"/>
              </a:xfrm>
              <a:prstGeom prst="rect">
                <a:avLst/>
              </a:prstGeom>
              <a:no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noProof="0" dirty="0"/>
              </a:p>
            </p:txBody>
          </p:sp>
          <mc:AlternateContent xmlns:mc="http://schemas.openxmlformats.org/markup-compatibility/2006" xmlns:a14="http://schemas.microsoft.com/office/drawing/2010/main">
            <mc:Choice Requires="a14">
              <p:sp>
                <p:nvSpPr>
                  <p:cNvPr id="13" name="Textfeld 12">
                    <a:extLst>
                      <a:ext uri="{FF2B5EF4-FFF2-40B4-BE49-F238E27FC236}">
                        <a16:creationId xmlns:a16="http://schemas.microsoft.com/office/drawing/2014/main" id="{CE736069-ADC1-5E69-43BE-5D9A373FC01F}"/>
                      </a:ext>
                    </a:extLst>
                  </p:cNvPr>
                  <p:cNvSpPr txBox="1"/>
                  <p:nvPr/>
                </p:nvSpPr>
                <p:spPr>
                  <a:xfrm>
                    <a:off x="2869111" y="4006502"/>
                    <a:ext cx="23016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800" b="0" i="1" noProof="0" smtClean="0">
                              <a:latin typeface="Cambria Math" panose="02040503050406030204" pitchFamily="18" charset="0"/>
                              <a:cs typeface="Segoe UI" panose="020B0502040204020203" pitchFamily="34" charset="0"/>
                            </a:rPr>
                            <m:t>𝑘</m:t>
                          </m:r>
                        </m:oMath>
                      </m:oMathPara>
                    </a14:m>
                    <a:endParaRPr lang="en-US" noProof="0" dirty="0"/>
                  </a:p>
                </p:txBody>
              </p:sp>
            </mc:Choice>
            <mc:Fallback xmlns="">
              <p:sp>
                <p:nvSpPr>
                  <p:cNvPr id="13" name="Textfeld 12">
                    <a:extLst>
                      <a:ext uri="{FF2B5EF4-FFF2-40B4-BE49-F238E27FC236}">
                        <a16:creationId xmlns:a16="http://schemas.microsoft.com/office/drawing/2014/main" id="{CE736069-ADC1-5E69-43BE-5D9A373FC01F}"/>
                      </a:ext>
                    </a:extLst>
                  </p:cNvPr>
                  <p:cNvSpPr txBox="1">
                    <a:spLocks noRot="1" noChangeAspect="1" noMove="1" noResize="1" noEditPoints="1" noAdjustHandles="1" noChangeArrowheads="1" noChangeShapeType="1" noTextEdit="1"/>
                  </p:cNvSpPr>
                  <p:nvPr/>
                </p:nvSpPr>
                <p:spPr>
                  <a:xfrm>
                    <a:off x="2869111" y="4006502"/>
                    <a:ext cx="230160" cy="369332"/>
                  </a:xfrm>
                  <a:prstGeom prst="rect">
                    <a:avLst/>
                  </a:prstGeom>
                  <a:blipFill>
                    <a:blip r:embed="rId4"/>
                    <a:stretch>
                      <a:fillRect/>
                    </a:stretch>
                  </a:blipFill>
                </p:spPr>
                <p:txBody>
                  <a:bodyPr/>
                  <a:lstStyle/>
                  <a:p>
                    <a:r>
                      <a:rPr lang="de-DE">
                        <a:noFill/>
                      </a:rPr>
                      <a:t> </a:t>
                    </a:r>
                  </a:p>
                </p:txBody>
              </p:sp>
            </mc:Fallback>
          </mc:AlternateContent>
        </p:grpSp>
        <p:cxnSp>
          <p:nvCxnSpPr>
            <p:cNvPr id="14" name="Gerade Verbindung mit Pfeil 13">
              <a:extLst>
                <a:ext uri="{FF2B5EF4-FFF2-40B4-BE49-F238E27FC236}">
                  <a16:creationId xmlns:a16="http://schemas.microsoft.com/office/drawing/2014/main" id="{DD50BCE8-9F6B-6B68-9AFE-5A292AC30FC3}"/>
                </a:ext>
              </a:extLst>
            </p:cNvPr>
            <p:cNvCxnSpPr>
              <a:cxnSpLocks/>
              <a:endCxn id="12" idx="1"/>
            </p:cNvCxnSpPr>
            <p:nvPr/>
          </p:nvCxnSpPr>
          <p:spPr>
            <a:xfrm>
              <a:off x="5573194" y="440947"/>
              <a:ext cx="441721"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Gerade Verbindung mit Pfeil 14">
              <a:extLst>
                <a:ext uri="{FF2B5EF4-FFF2-40B4-BE49-F238E27FC236}">
                  <a16:creationId xmlns:a16="http://schemas.microsoft.com/office/drawing/2014/main" id="{4FFF89B8-8DCA-9A55-1A8D-8EEB101B0CA6}"/>
                </a:ext>
              </a:extLst>
            </p:cNvPr>
            <p:cNvCxnSpPr>
              <a:cxnSpLocks/>
            </p:cNvCxnSpPr>
            <p:nvPr/>
          </p:nvCxnSpPr>
          <p:spPr>
            <a:xfrm>
              <a:off x="4891261" y="427669"/>
              <a:ext cx="471157" cy="211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Textfeld 15">
                  <a:extLst>
                    <a:ext uri="{FF2B5EF4-FFF2-40B4-BE49-F238E27FC236}">
                      <a16:creationId xmlns:a16="http://schemas.microsoft.com/office/drawing/2014/main" id="{702866DB-22BD-7A9D-03C1-D9D40C262809}"/>
                    </a:ext>
                  </a:extLst>
                </p:cNvPr>
                <p:cNvSpPr txBox="1"/>
                <p:nvPr/>
              </p:nvSpPr>
              <p:spPr>
                <a:xfrm>
                  <a:off x="5242885" y="126943"/>
                  <a:ext cx="1041569"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i="1" noProof="0" smtClean="0">
                            <a:latin typeface="Cambria Math" panose="02040503050406030204" pitchFamily="18" charset="0"/>
                          </a:rPr>
                          <m:t> </m:t>
                        </m:r>
                        <m:r>
                          <a:rPr lang="en-US" sz="1600" b="0" i="1" noProof="0" smtClean="0">
                            <a:latin typeface="Cambria Math" panose="02040503050406030204" pitchFamily="18" charset="0"/>
                          </a:rPr>
                          <m:t>𝑒</m:t>
                        </m:r>
                      </m:oMath>
                    </m:oMathPara>
                  </a14:m>
                  <a:endParaRPr lang="en-US" sz="1600" noProof="0" dirty="0"/>
                </a:p>
              </p:txBody>
            </p:sp>
          </mc:Choice>
          <mc:Fallback xmlns="">
            <p:sp>
              <p:nvSpPr>
                <p:cNvPr id="16" name="Textfeld 15">
                  <a:extLst>
                    <a:ext uri="{FF2B5EF4-FFF2-40B4-BE49-F238E27FC236}">
                      <a16:creationId xmlns:a16="http://schemas.microsoft.com/office/drawing/2014/main" id="{702866DB-22BD-7A9D-03C1-D9D40C262809}"/>
                    </a:ext>
                  </a:extLst>
                </p:cNvPr>
                <p:cNvSpPr txBox="1">
                  <a:spLocks noRot="1" noChangeAspect="1" noMove="1" noResize="1" noEditPoints="1" noAdjustHandles="1" noChangeArrowheads="1" noChangeShapeType="1" noTextEdit="1"/>
                </p:cNvSpPr>
                <p:nvPr/>
              </p:nvSpPr>
              <p:spPr>
                <a:xfrm>
                  <a:off x="5242885" y="126943"/>
                  <a:ext cx="1041569" cy="338554"/>
                </a:xfrm>
                <a:prstGeom prst="rect">
                  <a:avLst/>
                </a:prstGeom>
                <a:blipFill>
                  <a:blip r:embed="rId5"/>
                  <a:stretch>
                    <a:fillRect b="-18519"/>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17" name="Textfeld 16">
                  <a:extLst>
                    <a:ext uri="{FF2B5EF4-FFF2-40B4-BE49-F238E27FC236}">
                      <a16:creationId xmlns:a16="http://schemas.microsoft.com/office/drawing/2014/main" id="{38CEF287-BE15-D8B6-350C-AB70D1D2F6A1}"/>
                    </a:ext>
                  </a:extLst>
                </p:cNvPr>
                <p:cNvSpPr txBox="1"/>
                <p:nvPr/>
              </p:nvSpPr>
              <p:spPr>
                <a:xfrm>
                  <a:off x="6640490" y="102393"/>
                  <a:ext cx="1041569"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i="1" noProof="0" smtClean="0">
                            <a:latin typeface="Cambria Math" panose="02040503050406030204" pitchFamily="18" charset="0"/>
                          </a:rPr>
                          <m:t> </m:t>
                        </m:r>
                        <m:r>
                          <a:rPr lang="en-US" sz="1600" b="0" i="1" noProof="0" smtClean="0">
                            <a:latin typeface="Cambria Math" panose="02040503050406030204" pitchFamily="18" charset="0"/>
                          </a:rPr>
                          <m:t>𝑢</m:t>
                        </m:r>
                      </m:oMath>
                    </m:oMathPara>
                  </a14:m>
                  <a:endParaRPr lang="en-US" sz="1600" noProof="0" dirty="0"/>
                </a:p>
              </p:txBody>
            </p:sp>
          </mc:Choice>
          <mc:Fallback xmlns="">
            <p:sp>
              <p:nvSpPr>
                <p:cNvPr id="17" name="Textfeld 16">
                  <a:extLst>
                    <a:ext uri="{FF2B5EF4-FFF2-40B4-BE49-F238E27FC236}">
                      <a16:creationId xmlns:a16="http://schemas.microsoft.com/office/drawing/2014/main" id="{38CEF287-BE15-D8B6-350C-AB70D1D2F6A1}"/>
                    </a:ext>
                  </a:extLst>
                </p:cNvPr>
                <p:cNvSpPr txBox="1">
                  <a:spLocks noRot="1" noChangeAspect="1" noMove="1" noResize="1" noEditPoints="1" noAdjustHandles="1" noChangeArrowheads="1" noChangeShapeType="1" noTextEdit="1"/>
                </p:cNvSpPr>
                <p:nvPr/>
              </p:nvSpPr>
              <p:spPr>
                <a:xfrm>
                  <a:off x="6640490" y="102393"/>
                  <a:ext cx="1041569" cy="338554"/>
                </a:xfrm>
                <a:prstGeom prst="rect">
                  <a:avLst/>
                </a:prstGeom>
                <a:blipFill>
                  <a:blip r:embed="rId6"/>
                  <a:stretch>
                    <a:fillRect b="-18519"/>
                  </a:stretch>
                </a:blipFill>
              </p:spPr>
              <p:txBody>
                <a:bodyPr/>
                <a:lstStyle/>
                <a:p>
                  <a:r>
                    <a:rPr lang="de-DE">
                      <a:noFill/>
                    </a:rPr>
                    <a:t> </a:t>
                  </a:r>
                </a:p>
              </p:txBody>
            </p:sp>
          </mc:Fallback>
        </mc:AlternateContent>
        <p:cxnSp>
          <p:nvCxnSpPr>
            <p:cNvPr id="18" name="Gerade Verbindung mit Pfeil 17">
              <a:extLst>
                <a:ext uri="{FF2B5EF4-FFF2-40B4-BE49-F238E27FC236}">
                  <a16:creationId xmlns:a16="http://schemas.microsoft.com/office/drawing/2014/main" id="{FA1AE7D5-82F5-3F6C-47F4-2A6CCC849336}"/>
                </a:ext>
              </a:extLst>
            </p:cNvPr>
            <p:cNvCxnSpPr>
              <a:cxnSpLocks/>
            </p:cNvCxnSpPr>
            <p:nvPr/>
          </p:nvCxnSpPr>
          <p:spPr>
            <a:xfrm>
              <a:off x="6968970" y="415816"/>
              <a:ext cx="359541"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Gerade Verbindung 18">
              <a:extLst>
                <a:ext uri="{FF2B5EF4-FFF2-40B4-BE49-F238E27FC236}">
                  <a16:creationId xmlns:a16="http://schemas.microsoft.com/office/drawing/2014/main" id="{97F30C0C-00C6-8DC7-949F-6FFA69E04199}"/>
                </a:ext>
              </a:extLst>
            </p:cNvPr>
            <p:cNvCxnSpPr>
              <a:cxnSpLocks/>
            </p:cNvCxnSpPr>
            <p:nvPr/>
          </p:nvCxnSpPr>
          <p:spPr>
            <a:xfrm>
              <a:off x="8515349" y="424960"/>
              <a:ext cx="0" cy="7068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 name="Textfeld 19">
                  <a:extLst>
                    <a:ext uri="{FF2B5EF4-FFF2-40B4-BE49-F238E27FC236}">
                      <a16:creationId xmlns:a16="http://schemas.microsoft.com/office/drawing/2014/main" id="{3BEFB96A-C30C-A3B5-8810-CE29A3E94A98}"/>
                    </a:ext>
                  </a:extLst>
                </p:cNvPr>
                <p:cNvSpPr txBox="1"/>
                <p:nvPr/>
              </p:nvSpPr>
              <p:spPr>
                <a:xfrm>
                  <a:off x="5105406" y="406794"/>
                  <a:ext cx="104156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800" i="1" noProof="0" smtClean="0">
                            <a:latin typeface="Cambria Math" panose="02040503050406030204" pitchFamily="18" charset="0"/>
                          </a:rPr>
                          <m:t> </m:t>
                        </m:r>
                        <m:r>
                          <a:rPr lang="en-US" sz="1800" b="0" i="1" noProof="0" smtClean="0">
                            <a:latin typeface="Cambria Math" panose="02040503050406030204" pitchFamily="18" charset="0"/>
                          </a:rPr>
                          <m:t>−</m:t>
                        </m:r>
                      </m:oMath>
                    </m:oMathPara>
                  </a14:m>
                  <a:endParaRPr lang="en-US" sz="1800" noProof="0" dirty="0"/>
                </a:p>
              </p:txBody>
            </p:sp>
          </mc:Choice>
          <mc:Fallback xmlns="">
            <p:sp>
              <p:nvSpPr>
                <p:cNvPr id="20" name="Textfeld 19">
                  <a:extLst>
                    <a:ext uri="{FF2B5EF4-FFF2-40B4-BE49-F238E27FC236}">
                      <a16:creationId xmlns:a16="http://schemas.microsoft.com/office/drawing/2014/main" id="{3BEFB96A-C30C-A3B5-8810-CE29A3E94A98}"/>
                    </a:ext>
                  </a:extLst>
                </p:cNvPr>
                <p:cNvSpPr txBox="1">
                  <a:spLocks noRot="1" noChangeAspect="1" noMove="1" noResize="1" noEditPoints="1" noAdjustHandles="1" noChangeArrowheads="1" noChangeShapeType="1" noTextEdit="1"/>
                </p:cNvSpPr>
                <p:nvPr/>
              </p:nvSpPr>
              <p:spPr>
                <a:xfrm>
                  <a:off x="5105406" y="406794"/>
                  <a:ext cx="1041569" cy="369332"/>
                </a:xfrm>
                <a:prstGeom prst="rect">
                  <a:avLst/>
                </a:prstGeom>
                <a:blipFill>
                  <a:blip r:embed="rId7"/>
                  <a:stretch>
                    <a:fillRect b="-20690"/>
                  </a:stretch>
                </a:blipFill>
              </p:spPr>
              <p:txBody>
                <a:bodyPr/>
                <a:lstStyle/>
                <a:p>
                  <a:r>
                    <a:rPr lang="de-DE">
                      <a:noFill/>
                    </a:rPr>
                    <a:t> </a:t>
                  </a:r>
                </a:p>
              </p:txBody>
            </p:sp>
          </mc:Fallback>
        </mc:AlternateContent>
        <p:cxnSp>
          <p:nvCxnSpPr>
            <p:cNvPr id="26" name="Gewinkelte Verbindung 25">
              <a:extLst>
                <a:ext uri="{FF2B5EF4-FFF2-40B4-BE49-F238E27FC236}">
                  <a16:creationId xmlns:a16="http://schemas.microsoft.com/office/drawing/2014/main" id="{74469CBC-8FF1-72D1-A6F8-5135724B1162}"/>
                </a:ext>
              </a:extLst>
            </p:cNvPr>
            <p:cNvCxnSpPr/>
            <p:nvPr/>
          </p:nvCxnSpPr>
          <p:spPr>
            <a:xfrm rot="10800000">
              <a:off x="5470419" y="537780"/>
              <a:ext cx="3044931" cy="593980"/>
            </a:xfrm>
            <a:prstGeom prst="bentConnector3">
              <a:avLst>
                <a:gd name="adj1" fmla="val 100050"/>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29" name="Gewinkelte Verbindung 28">
            <a:extLst>
              <a:ext uri="{FF2B5EF4-FFF2-40B4-BE49-F238E27FC236}">
                <a16:creationId xmlns:a16="http://schemas.microsoft.com/office/drawing/2014/main" id="{8BB29829-B445-AA59-E3DD-DF722B48950E}"/>
              </a:ext>
            </a:extLst>
          </p:cNvPr>
          <p:cNvCxnSpPr>
            <a:cxnSpLocks/>
            <a:stCxn id="36" idx="0"/>
          </p:cNvCxnSpPr>
          <p:nvPr/>
        </p:nvCxnSpPr>
        <p:spPr>
          <a:xfrm rot="16200000" flipV="1">
            <a:off x="8182332" y="1742387"/>
            <a:ext cx="200010" cy="189631"/>
          </a:xfrm>
          <a:prstGeom prst="bentConnector3">
            <a:avLst>
              <a:gd name="adj1" fmla="val 33786"/>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6" name="Textfeld 35">
            <a:extLst>
              <a:ext uri="{FF2B5EF4-FFF2-40B4-BE49-F238E27FC236}">
                <a16:creationId xmlns:a16="http://schemas.microsoft.com/office/drawing/2014/main" id="{EC6F4212-4CDA-E2E9-A9B1-64C1840666AC}"/>
              </a:ext>
            </a:extLst>
          </p:cNvPr>
          <p:cNvSpPr txBox="1"/>
          <p:nvPr/>
        </p:nvSpPr>
        <p:spPr>
          <a:xfrm>
            <a:off x="7682059" y="1937208"/>
            <a:ext cx="1390185" cy="461665"/>
          </a:xfrm>
          <a:prstGeom prst="rect">
            <a:avLst/>
          </a:prstGeom>
          <a:noFill/>
        </p:spPr>
        <p:txBody>
          <a:bodyPr wrap="square" rtlCol="0">
            <a:spAutoFit/>
          </a:bodyPr>
          <a:lstStyle/>
          <a:p>
            <a:r>
              <a:rPr lang="en-US" sz="1200" noProof="0" dirty="0">
                <a:solidFill>
                  <a:srgbClr val="FF0000"/>
                </a:solidFill>
              </a:rPr>
              <a:t>This determines</a:t>
            </a:r>
          </a:p>
          <a:p>
            <a:r>
              <a:rPr lang="en-US" sz="1200" noProof="0" dirty="0">
                <a:solidFill>
                  <a:srgbClr val="FF0000"/>
                </a:solidFill>
              </a:rPr>
              <a:t>stability</a:t>
            </a:r>
          </a:p>
        </p:txBody>
      </p:sp>
      <p:grpSp>
        <p:nvGrpSpPr>
          <p:cNvPr id="39" name="Gruppieren 38">
            <a:extLst>
              <a:ext uri="{FF2B5EF4-FFF2-40B4-BE49-F238E27FC236}">
                <a16:creationId xmlns:a16="http://schemas.microsoft.com/office/drawing/2014/main" id="{32D964B8-C517-980A-E117-3A8EF4F5FF66}"/>
              </a:ext>
            </a:extLst>
          </p:cNvPr>
          <p:cNvGrpSpPr/>
          <p:nvPr/>
        </p:nvGrpSpPr>
        <p:grpSpPr>
          <a:xfrm>
            <a:off x="4962807" y="2607581"/>
            <a:ext cx="2723452" cy="467168"/>
            <a:chOff x="5517930" y="2763512"/>
            <a:chExt cx="2723452" cy="467168"/>
          </a:xfrm>
        </p:grpSpPr>
        <p:sp>
          <p:nvSpPr>
            <p:cNvPr id="37" name="Geschweifte Klammer links 36">
              <a:extLst>
                <a:ext uri="{FF2B5EF4-FFF2-40B4-BE49-F238E27FC236}">
                  <a16:creationId xmlns:a16="http://schemas.microsoft.com/office/drawing/2014/main" id="{E8107EA2-46BB-B954-EA17-CFCC35FD012E}"/>
                </a:ext>
              </a:extLst>
            </p:cNvPr>
            <p:cNvSpPr/>
            <p:nvPr/>
          </p:nvSpPr>
          <p:spPr>
            <a:xfrm>
              <a:off x="5517930" y="2763512"/>
              <a:ext cx="102631" cy="461665"/>
            </a:xfrm>
            <a:prstGeom prst="lef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mc:AlternateContent xmlns:mc="http://schemas.openxmlformats.org/markup-compatibility/2006" xmlns:a14="http://schemas.microsoft.com/office/drawing/2010/main">
          <mc:Choice Requires="a14">
            <p:sp>
              <p:nvSpPr>
                <p:cNvPr id="38" name="Textfeld 37">
                  <a:extLst>
                    <a:ext uri="{FF2B5EF4-FFF2-40B4-BE49-F238E27FC236}">
                      <a16:creationId xmlns:a16="http://schemas.microsoft.com/office/drawing/2014/main" id="{EDAECE8A-54CB-F5F3-9117-AACA067409DB}"/>
                    </a:ext>
                  </a:extLst>
                </p:cNvPr>
                <p:cNvSpPr txBox="1"/>
                <p:nvPr/>
              </p:nvSpPr>
              <p:spPr>
                <a:xfrm>
                  <a:off x="5565732" y="2769015"/>
                  <a:ext cx="2675650" cy="461665"/>
                </a:xfrm>
                <a:prstGeom prst="rect">
                  <a:avLst/>
                </a:prstGeom>
                <a:noFill/>
              </p:spPr>
              <p:txBody>
                <a:bodyPr wrap="square" rtlCol="0">
                  <a:spAutoFit/>
                </a:bodyPr>
                <a:lstStyle/>
                <a:p>
                  <a14:m>
                    <m:oMath xmlns:m="http://schemas.openxmlformats.org/officeDocument/2006/math">
                      <m:r>
                        <a:rPr lang="en-US" sz="1200" i="1" noProof="0" smtClean="0">
                          <a:latin typeface="Cambria Math" panose="02040503050406030204" pitchFamily="18" charset="0"/>
                        </a:rPr>
                        <m:t>𝑁</m:t>
                      </m:r>
                      <m:d>
                        <m:dPr>
                          <m:ctrlPr>
                            <a:rPr lang="en-US" sz="1200" i="1" noProof="0" smtClean="0">
                              <a:latin typeface="Cambria Math" panose="02040503050406030204" pitchFamily="18" charset="0"/>
                            </a:rPr>
                          </m:ctrlPr>
                        </m:dPr>
                        <m:e>
                          <m:r>
                            <a:rPr lang="en-US" sz="1200" i="1" noProof="0" smtClean="0">
                              <a:latin typeface="Cambria Math" panose="02040503050406030204" pitchFamily="18" charset="0"/>
                            </a:rPr>
                            <m:t>𝑠</m:t>
                          </m:r>
                        </m:e>
                      </m:d>
                    </m:oMath>
                  </a14:m>
                  <a:r>
                    <a:rPr lang="en-US" sz="1200" noProof="0" dirty="0"/>
                    <a:t> := Nominator </a:t>
                  </a:r>
                </a:p>
                <a:p>
                  <a14:m>
                    <m:oMath xmlns:m="http://schemas.openxmlformats.org/officeDocument/2006/math">
                      <m:r>
                        <a:rPr lang="en-US" sz="1200" i="1" noProof="0" smtClean="0">
                          <a:latin typeface="Cambria Math" panose="02040503050406030204" pitchFamily="18" charset="0"/>
                        </a:rPr>
                        <m:t>𝐷</m:t>
                      </m:r>
                      <m:d>
                        <m:dPr>
                          <m:ctrlPr>
                            <a:rPr lang="en-US" sz="1200" i="1" noProof="0" smtClean="0">
                              <a:latin typeface="Cambria Math" panose="02040503050406030204" pitchFamily="18" charset="0"/>
                            </a:rPr>
                          </m:ctrlPr>
                        </m:dPr>
                        <m:e>
                          <m:r>
                            <a:rPr lang="en-US" sz="1200" i="1" noProof="0" smtClean="0">
                              <a:latin typeface="Cambria Math" panose="02040503050406030204" pitchFamily="18" charset="0"/>
                            </a:rPr>
                            <m:t>𝑠</m:t>
                          </m:r>
                        </m:e>
                      </m:d>
                    </m:oMath>
                  </a14:m>
                  <a:r>
                    <a:rPr lang="en-US" sz="1200" noProof="0" dirty="0"/>
                    <a:t> := Denominator</a:t>
                  </a:r>
                </a:p>
              </p:txBody>
            </p:sp>
          </mc:Choice>
          <mc:Fallback xmlns="">
            <p:sp>
              <p:nvSpPr>
                <p:cNvPr id="38" name="Textfeld 37">
                  <a:extLst>
                    <a:ext uri="{FF2B5EF4-FFF2-40B4-BE49-F238E27FC236}">
                      <a16:creationId xmlns:a16="http://schemas.microsoft.com/office/drawing/2014/main" id="{EDAECE8A-54CB-F5F3-9117-AACA067409DB}"/>
                    </a:ext>
                  </a:extLst>
                </p:cNvPr>
                <p:cNvSpPr txBox="1">
                  <a:spLocks noRot="1" noChangeAspect="1" noMove="1" noResize="1" noEditPoints="1" noAdjustHandles="1" noChangeArrowheads="1" noChangeShapeType="1" noTextEdit="1"/>
                </p:cNvSpPr>
                <p:nvPr/>
              </p:nvSpPr>
              <p:spPr>
                <a:xfrm>
                  <a:off x="5565732" y="2769015"/>
                  <a:ext cx="2675650" cy="461665"/>
                </a:xfrm>
                <a:prstGeom prst="rect">
                  <a:avLst/>
                </a:prstGeom>
                <a:blipFill>
                  <a:blip r:embed="rId8"/>
                  <a:stretch>
                    <a:fillRect b="-10811"/>
                  </a:stretch>
                </a:blipFill>
              </p:spPr>
              <p:txBody>
                <a:bodyPr/>
                <a:lstStyle/>
                <a:p>
                  <a:r>
                    <a:rPr lang="de-DE">
                      <a:noFill/>
                    </a:rPr>
                    <a:t> </a:t>
                  </a:r>
                </a:p>
              </p:txBody>
            </p:sp>
          </mc:Fallback>
        </mc:AlternateContent>
      </p:grpSp>
      <mc:AlternateContent xmlns:mc="http://schemas.openxmlformats.org/markup-compatibility/2006" xmlns:a14="http://schemas.microsoft.com/office/drawing/2010/main">
        <mc:Choice Requires="a14">
          <p:sp>
            <p:nvSpPr>
              <p:cNvPr id="40" name="Textfeld 39">
                <a:extLst>
                  <a:ext uri="{FF2B5EF4-FFF2-40B4-BE49-F238E27FC236}">
                    <a16:creationId xmlns:a16="http://schemas.microsoft.com/office/drawing/2014/main" id="{D062F857-81AC-0A76-B185-A87E8A79F4AB}"/>
                  </a:ext>
                </a:extLst>
              </p:cNvPr>
              <p:cNvSpPr txBox="1"/>
              <p:nvPr/>
            </p:nvSpPr>
            <p:spPr>
              <a:xfrm>
                <a:off x="6146975" y="2937304"/>
                <a:ext cx="2680862" cy="5517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600" i="1" noProof="0" smtClean="0">
                          <a:latin typeface="Cambria Math" panose="02040503050406030204" pitchFamily="18" charset="0"/>
                        </a:rPr>
                        <m:t>1+</m:t>
                      </m:r>
                      <m:r>
                        <a:rPr lang="en-US" sz="1600" i="1" noProof="0" smtClean="0">
                          <a:latin typeface="Cambria Math" panose="02040503050406030204" pitchFamily="18" charset="0"/>
                        </a:rPr>
                        <m:t>𝑘</m:t>
                      </m:r>
                      <m:f>
                        <m:fPr>
                          <m:ctrlPr>
                            <a:rPr lang="en-US" sz="1600" i="1" noProof="0" smtClean="0">
                              <a:latin typeface="Cambria Math" panose="02040503050406030204" pitchFamily="18" charset="0"/>
                            </a:rPr>
                          </m:ctrlPr>
                        </m:fPr>
                        <m:num>
                          <m:r>
                            <a:rPr lang="en-US" sz="1600" i="1" noProof="0" smtClean="0">
                              <a:latin typeface="Cambria Math" panose="02040503050406030204" pitchFamily="18" charset="0"/>
                            </a:rPr>
                            <m:t>𝑁</m:t>
                          </m:r>
                        </m:num>
                        <m:den>
                          <m:r>
                            <a:rPr lang="en-US" sz="1600" i="1" noProof="0" smtClean="0">
                              <a:latin typeface="Cambria Math" panose="02040503050406030204" pitchFamily="18" charset="0"/>
                            </a:rPr>
                            <m:t>𝐷</m:t>
                          </m:r>
                        </m:den>
                      </m:f>
                      <m:r>
                        <a:rPr lang="en-US" sz="1600" i="1" noProof="0" smtClean="0">
                          <a:latin typeface="Cambria Math" panose="02040503050406030204" pitchFamily="18" charset="0"/>
                        </a:rPr>
                        <m:t>=0⟺</m:t>
                      </m:r>
                      <m:r>
                        <a:rPr lang="en-US" sz="1600" i="1" noProof="0" smtClean="0">
                          <a:latin typeface="Cambria Math" panose="02040503050406030204" pitchFamily="18" charset="0"/>
                        </a:rPr>
                        <m:t>𝐷</m:t>
                      </m:r>
                      <m:r>
                        <a:rPr lang="en-US" sz="1600" i="1" noProof="0" smtClean="0">
                          <a:latin typeface="Cambria Math" panose="02040503050406030204" pitchFamily="18" charset="0"/>
                        </a:rPr>
                        <m:t>+</m:t>
                      </m:r>
                      <m:r>
                        <a:rPr lang="en-US" sz="1600" i="1" noProof="0" smtClean="0">
                          <a:latin typeface="Cambria Math" panose="02040503050406030204" pitchFamily="18" charset="0"/>
                        </a:rPr>
                        <m:t>𝑘𝑁</m:t>
                      </m:r>
                      <m:r>
                        <a:rPr lang="en-US" sz="1600" i="1" noProof="0" smtClean="0">
                          <a:latin typeface="Cambria Math" panose="02040503050406030204" pitchFamily="18" charset="0"/>
                        </a:rPr>
                        <m:t>=0</m:t>
                      </m:r>
                    </m:oMath>
                  </m:oMathPara>
                </a14:m>
                <a:endParaRPr lang="en-US" noProof="0" dirty="0"/>
              </a:p>
            </p:txBody>
          </p:sp>
        </mc:Choice>
        <mc:Fallback xmlns="">
          <p:sp>
            <p:nvSpPr>
              <p:cNvPr id="40" name="Textfeld 39">
                <a:extLst>
                  <a:ext uri="{FF2B5EF4-FFF2-40B4-BE49-F238E27FC236}">
                    <a16:creationId xmlns:a16="http://schemas.microsoft.com/office/drawing/2014/main" id="{D062F857-81AC-0A76-B185-A87E8A79F4AB}"/>
                  </a:ext>
                </a:extLst>
              </p:cNvPr>
              <p:cNvSpPr txBox="1">
                <a:spLocks noRot="1" noChangeAspect="1" noMove="1" noResize="1" noEditPoints="1" noAdjustHandles="1" noChangeArrowheads="1" noChangeShapeType="1" noTextEdit="1"/>
              </p:cNvSpPr>
              <p:nvPr/>
            </p:nvSpPr>
            <p:spPr>
              <a:xfrm>
                <a:off x="6146975" y="2937304"/>
                <a:ext cx="2680862" cy="551754"/>
              </a:xfrm>
              <a:prstGeom prst="rect">
                <a:avLst/>
              </a:prstGeom>
              <a:blipFill>
                <a:blip r:embed="rId9"/>
                <a:stretch>
                  <a:fillRect b="-2273"/>
                </a:stretch>
              </a:blipFill>
            </p:spPr>
            <p:txBody>
              <a:bodyPr/>
              <a:lstStyle/>
              <a:p>
                <a:r>
                  <a:rPr lang="de-DE">
                    <a:noFill/>
                  </a:rPr>
                  <a:t> </a:t>
                </a:r>
              </a:p>
            </p:txBody>
          </p:sp>
        </mc:Fallback>
      </mc:AlternateContent>
      <p:sp>
        <p:nvSpPr>
          <p:cNvPr id="43" name="Textfeld 42">
            <a:extLst>
              <a:ext uri="{FF2B5EF4-FFF2-40B4-BE49-F238E27FC236}">
                <a16:creationId xmlns:a16="http://schemas.microsoft.com/office/drawing/2014/main" id="{AB65B221-D959-11AB-44CF-7AC7E1F7DD2A}"/>
              </a:ext>
            </a:extLst>
          </p:cNvPr>
          <p:cNvSpPr txBox="1"/>
          <p:nvPr/>
        </p:nvSpPr>
        <p:spPr>
          <a:xfrm>
            <a:off x="640537" y="4237204"/>
            <a:ext cx="5940443" cy="369332"/>
          </a:xfrm>
          <a:prstGeom prst="rect">
            <a:avLst/>
          </a:prstGeom>
          <a:noFill/>
        </p:spPr>
        <p:txBody>
          <a:bodyPr wrap="square" rtlCol="0">
            <a:spAutoFit/>
          </a:bodyPr>
          <a:lstStyle/>
          <a:p>
            <a:r>
              <a:rPr lang="en-US" sz="1800" noProof="0" dirty="0">
                <a:latin typeface="Segoe UI" panose="020B0502040204020203" pitchFamily="34" charset="0"/>
                <a:cs typeface="Segoe UI" panose="020B0502040204020203" pitchFamily="34" charset="0"/>
              </a:rPr>
              <a:t>Let's summarize these rules on the next slide…</a:t>
            </a:r>
          </a:p>
        </p:txBody>
      </p:sp>
    </p:spTree>
    <p:extLst>
      <p:ext uri="{BB962C8B-B14F-4D97-AF65-F5344CB8AC3E}">
        <p14:creationId xmlns:p14="http://schemas.microsoft.com/office/powerpoint/2010/main" val="24443242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C4BC5C3-5531-BC40-893C-10DE81A1BD19}"/>
              </a:ext>
            </a:extLst>
          </p:cNvPr>
          <p:cNvSpPr>
            <a:spLocks noGrp="1"/>
          </p:cNvSpPr>
          <p:nvPr>
            <p:ph type="title"/>
          </p:nvPr>
        </p:nvSpPr>
        <p:spPr/>
        <p:txBody>
          <a:bodyPr/>
          <a:lstStyle/>
          <a:p>
            <a:r>
              <a:rPr lang="en-US" noProof="0" dirty="0"/>
              <a:t>Root Locus Rules</a:t>
            </a:r>
          </a:p>
        </p:txBody>
      </p:sp>
      <p:pic>
        <p:nvPicPr>
          <p:cNvPr id="7" name="Inhaltsplatzhalter 6" descr="Ein Bild, das Text, Schrift, Screenshot, Dokument enthält.&#10;&#10;KI-generierte Inhalte können fehlerhaft sein.">
            <a:extLst>
              <a:ext uri="{FF2B5EF4-FFF2-40B4-BE49-F238E27FC236}">
                <a16:creationId xmlns:a16="http://schemas.microsoft.com/office/drawing/2014/main" id="{8259A467-FBBA-AA1C-CA93-C17CEC9D084B}"/>
              </a:ext>
            </a:extLst>
          </p:cNvPr>
          <p:cNvPicPr>
            <a:picLocks noGrp="1" noChangeAspect="1"/>
          </p:cNvPicPr>
          <p:nvPr>
            <p:ph idx="1"/>
          </p:nvPr>
        </p:nvPicPr>
        <p:blipFill>
          <a:blip r:embed="rId2"/>
          <a:srcRect l="4869"/>
          <a:stretch>
            <a:fillRect/>
          </a:stretch>
        </p:blipFill>
        <p:spPr>
          <a:xfrm>
            <a:off x="628650" y="1125471"/>
            <a:ext cx="8378594" cy="3556257"/>
          </a:xfrm>
        </p:spPr>
      </p:pic>
      <p:sp>
        <p:nvSpPr>
          <p:cNvPr id="4" name="Fußzeilenplatzhalter 3">
            <a:extLst>
              <a:ext uri="{FF2B5EF4-FFF2-40B4-BE49-F238E27FC236}">
                <a16:creationId xmlns:a16="http://schemas.microsoft.com/office/drawing/2014/main" id="{A8564D69-EE54-8E9C-CF47-43E832454E28}"/>
              </a:ext>
            </a:extLst>
          </p:cNvPr>
          <p:cNvSpPr>
            <a:spLocks noGrp="1"/>
          </p:cNvSpPr>
          <p:nvPr>
            <p:ph type="ftr" sz="quarter" idx="11"/>
          </p:nvPr>
        </p:nvSpPr>
        <p:spPr/>
        <p:txBody>
          <a:bodyPr/>
          <a:lstStyle/>
          <a:p>
            <a:pPr defTabSz="342900">
              <a:buClrTx/>
            </a:pPr>
            <a:r>
              <a:rPr lang="en-US" kern="1200" noProof="0" dirty="0">
                <a:solidFill>
                  <a:srgbClr val="101623">
                    <a:tint val="75000"/>
                  </a:srgbClr>
                </a:solidFill>
                <a:latin typeface="Calibri" panose="020F0502020204030204"/>
                <a:ea typeface="+mn-ea"/>
                <a:cs typeface="+mn-cs"/>
              </a:rPr>
              <a:t>Kissan Varatharajan - </a:t>
            </a:r>
            <a:r>
              <a:rPr lang="en-US" kern="1200" noProof="0" dirty="0" err="1">
                <a:solidFill>
                  <a:srgbClr val="101623">
                    <a:tint val="75000"/>
                  </a:srgbClr>
                </a:solidFill>
                <a:latin typeface="Calibri" panose="020F0502020204030204"/>
                <a:ea typeface="+mn-ea"/>
                <a:cs typeface="+mn-cs"/>
              </a:rPr>
              <a:t>kissanv.github.io</a:t>
            </a:r>
            <a:endParaRPr lang="en-US" kern="1200" noProof="0" dirty="0">
              <a:solidFill>
                <a:srgbClr val="101623">
                  <a:tint val="75000"/>
                </a:srgbClr>
              </a:solidFill>
              <a:latin typeface="Calibri" panose="020F0502020204030204"/>
              <a:ea typeface="+mn-ea"/>
              <a:cs typeface="+mn-cs"/>
            </a:endParaRPr>
          </a:p>
        </p:txBody>
      </p:sp>
      <p:sp>
        <p:nvSpPr>
          <p:cNvPr id="5" name="Foliennummernplatzhalter 4">
            <a:extLst>
              <a:ext uri="{FF2B5EF4-FFF2-40B4-BE49-F238E27FC236}">
                <a16:creationId xmlns:a16="http://schemas.microsoft.com/office/drawing/2014/main" id="{33157EA0-9D3C-5940-9FC7-1F69CAA92599}"/>
              </a:ext>
            </a:extLst>
          </p:cNvPr>
          <p:cNvSpPr>
            <a:spLocks noGrp="1"/>
          </p:cNvSpPr>
          <p:nvPr>
            <p:ph type="sldNum" sz="quarter" idx="12"/>
          </p:nvPr>
        </p:nvSpPr>
        <p:spPr/>
        <p:txBody>
          <a:bodyPr/>
          <a:lstStyle/>
          <a:p>
            <a:pPr defTabSz="342900">
              <a:buClrTx/>
            </a:pPr>
            <a:fld id="{36EAFFE7-40E2-CA47-82C0-73D0FC591208}" type="slidenum">
              <a:rPr lang="en-US" kern="1200" noProof="0" smtClean="0">
                <a:solidFill>
                  <a:srgbClr val="101623">
                    <a:tint val="75000"/>
                  </a:srgbClr>
                </a:solidFill>
                <a:latin typeface="Calibri" panose="020F0502020204030204"/>
                <a:ea typeface="+mn-ea"/>
                <a:cs typeface="+mn-cs"/>
              </a:rPr>
              <a:pPr defTabSz="342900">
                <a:buClrTx/>
              </a:pPr>
              <a:t>18</a:t>
            </a:fld>
            <a:endParaRPr lang="en-US" kern="1200" noProof="0" dirty="0">
              <a:solidFill>
                <a:srgbClr val="101623">
                  <a:tint val="75000"/>
                </a:srgbClr>
              </a:solidFill>
              <a:latin typeface="Calibri" panose="020F0502020204030204"/>
              <a:ea typeface="+mn-ea"/>
              <a:cs typeface="+mn-cs"/>
            </a:endParaRPr>
          </a:p>
        </p:txBody>
      </p:sp>
    </p:spTree>
    <p:extLst>
      <p:ext uri="{BB962C8B-B14F-4D97-AF65-F5344CB8AC3E}">
        <p14:creationId xmlns:p14="http://schemas.microsoft.com/office/powerpoint/2010/main" val="8411392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3D2E963-1323-C2A0-04E9-95CEF3DCCB69}"/>
              </a:ext>
            </a:extLst>
          </p:cNvPr>
          <p:cNvSpPr>
            <a:spLocks noGrp="1"/>
          </p:cNvSpPr>
          <p:nvPr>
            <p:ph type="title"/>
          </p:nvPr>
        </p:nvSpPr>
        <p:spPr>
          <a:xfrm>
            <a:off x="628650" y="557448"/>
            <a:ext cx="7886700" cy="994172"/>
          </a:xfrm>
        </p:spPr>
        <p:txBody>
          <a:bodyPr/>
          <a:lstStyle/>
          <a:p>
            <a:r>
              <a:rPr lang="en-US" noProof="0" dirty="0"/>
              <a:t>Root Locus Properties</a:t>
            </a:r>
          </a:p>
        </p:txBody>
      </p:sp>
      <mc:AlternateContent xmlns:mc="http://schemas.openxmlformats.org/markup-compatibility/2006" xmlns:a14="http://schemas.microsoft.com/office/drawing/2010/main">
        <mc:Choice Requires="a14">
          <p:sp>
            <p:nvSpPr>
              <p:cNvPr id="3" name="Inhaltsplatzhalter 2">
                <a:extLst>
                  <a:ext uri="{FF2B5EF4-FFF2-40B4-BE49-F238E27FC236}">
                    <a16:creationId xmlns:a16="http://schemas.microsoft.com/office/drawing/2014/main" id="{49E9A379-7CF6-9082-FD7B-F3C7C5A43358}"/>
                  </a:ext>
                </a:extLst>
              </p:cNvPr>
              <p:cNvSpPr>
                <a:spLocks noGrp="1"/>
              </p:cNvSpPr>
              <p:nvPr>
                <p:ph idx="1"/>
              </p:nvPr>
            </p:nvSpPr>
            <p:spPr>
              <a:xfrm>
                <a:off x="488540" y="1686309"/>
                <a:ext cx="8323326" cy="3774281"/>
              </a:xfrm>
            </p:spPr>
            <p:txBody>
              <a:bodyPr/>
              <a:lstStyle/>
              <a:p>
                <a:r>
                  <a:rPr lang="en-US" noProof="0" dirty="0"/>
                  <a:t>Root Locus is symmetric </a:t>
                </a:r>
                <a:r>
                  <a:rPr lang="en-US" noProof="0" dirty="0" err="1"/>
                  <a:t>w.r.t.</a:t>
                </a:r>
                <a:r>
                  <a:rPr lang="en-US" noProof="0" dirty="0"/>
                  <a:t> the real axis</a:t>
                </a:r>
              </a:p>
              <a:p>
                <a:r>
                  <a:rPr lang="en-US" noProof="0" dirty="0"/>
                  <a:t>If two poles collide, they rotate about 90°</a:t>
                </a:r>
              </a:p>
              <a:p>
                <a:r>
                  <a:rPr lang="en-US" noProof="0" dirty="0"/>
                  <a:t>The locus goes from open-loop poles </a:t>
                </a:r>
                <a14:m>
                  <m:oMath xmlns:m="http://schemas.openxmlformats.org/officeDocument/2006/math">
                    <m:r>
                      <a:rPr lang="en-US" i="1" noProof="0" smtClean="0">
                        <a:latin typeface="Cambria Math" panose="02040503050406030204" pitchFamily="18" charset="0"/>
                      </a:rPr>
                      <m:t>(</m:t>
                    </m:r>
                    <m:r>
                      <a:rPr lang="en-US" i="1" noProof="0" smtClean="0">
                        <a:latin typeface="Cambria Math" panose="02040503050406030204" pitchFamily="18" charset="0"/>
                      </a:rPr>
                      <m:t>𝑘</m:t>
                    </m:r>
                    <m:r>
                      <a:rPr lang="en-US" i="1" noProof="0" smtClean="0">
                        <a:latin typeface="Cambria Math" panose="02040503050406030204" pitchFamily="18" charset="0"/>
                      </a:rPr>
                      <m:t>=0)</m:t>
                    </m:r>
                  </m:oMath>
                </a14:m>
                <a:r>
                  <a:rPr lang="en-US" noProof="0" dirty="0"/>
                  <a:t> to open-loop zeros </a:t>
                </a:r>
                <a14:m>
                  <m:oMath xmlns:m="http://schemas.openxmlformats.org/officeDocument/2006/math">
                    <m:d>
                      <m:dPr>
                        <m:ctrlPr>
                          <a:rPr lang="en-US" i="1" noProof="0" smtClean="0">
                            <a:latin typeface="Cambria Math" panose="02040503050406030204" pitchFamily="18" charset="0"/>
                          </a:rPr>
                        </m:ctrlPr>
                      </m:dPr>
                      <m:e>
                        <m:d>
                          <m:dPr>
                            <m:begChr m:val="|"/>
                            <m:endChr m:val="|"/>
                            <m:ctrlPr>
                              <a:rPr lang="en-US" i="1" noProof="0" smtClean="0">
                                <a:latin typeface="Cambria Math" panose="02040503050406030204" pitchFamily="18" charset="0"/>
                              </a:rPr>
                            </m:ctrlPr>
                          </m:dPr>
                          <m:e>
                            <m:r>
                              <a:rPr lang="en-US" i="1" noProof="0" smtClean="0">
                                <a:latin typeface="Cambria Math" panose="02040503050406030204" pitchFamily="18" charset="0"/>
                              </a:rPr>
                              <m:t>𝑘</m:t>
                            </m:r>
                          </m:e>
                        </m:d>
                        <m:r>
                          <a:rPr lang="en-US" i="1" noProof="0" smtClean="0">
                            <a:latin typeface="Cambria Math" panose="02040503050406030204" pitchFamily="18" charset="0"/>
                          </a:rPr>
                          <m:t>→∞</m:t>
                        </m:r>
                      </m:e>
                    </m:d>
                  </m:oMath>
                </a14:m>
                <a:endParaRPr lang="en-US" noProof="0" dirty="0"/>
              </a:p>
              <a:p>
                <a:r>
                  <a:rPr lang="en-US" noProof="0" dirty="0"/>
                  <a:t>For </a:t>
                </a:r>
                <a14:m>
                  <m:oMath xmlns:m="http://schemas.openxmlformats.org/officeDocument/2006/math">
                    <m:sSub>
                      <m:sSubPr>
                        <m:ctrlPr>
                          <a:rPr lang="en-US" b="1" i="1" noProof="0" smtClean="0">
                            <a:solidFill>
                              <a:srgbClr val="FF0000"/>
                            </a:solidFill>
                            <a:latin typeface="Cambria Math" panose="02040503050406030204" pitchFamily="18" charset="0"/>
                          </a:rPr>
                        </m:ctrlPr>
                      </m:sSubPr>
                      <m:e>
                        <m:r>
                          <a:rPr lang="en-US" b="1" i="1" noProof="0" smtClean="0">
                            <a:solidFill>
                              <a:srgbClr val="FF0000"/>
                            </a:solidFill>
                            <a:latin typeface="Cambria Math" panose="02040503050406030204" pitchFamily="18" charset="0"/>
                          </a:rPr>
                          <m:t>𝒌</m:t>
                        </m:r>
                      </m:e>
                      <m:sub>
                        <m:r>
                          <a:rPr lang="en-US" b="1" i="1" noProof="0" smtClean="0">
                            <a:solidFill>
                              <a:srgbClr val="FF0000"/>
                            </a:solidFill>
                            <a:latin typeface="Cambria Math" panose="02040503050406030204" pitchFamily="18" charset="0"/>
                          </a:rPr>
                          <m:t>𝒓𝒍</m:t>
                        </m:r>
                      </m:sub>
                    </m:sSub>
                    <m:r>
                      <a:rPr lang="en-US" i="1" noProof="0" smtClean="0">
                        <a:latin typeface="Cambria Math" panose="02040503050406030204" pitchFamily="18" charset="0"/>
                      </a:rPr>
                      <m:t>&gt;0</m:t>
                    </m:r>
                  </m:oMath>
                </a14:m>
                <a:r>
                  <a:rPr lang="en-US" noProof="0" dirty="0"/>
                  <a:t>: the positive locus lies on the real axis to the </a:t>
                </a:r>
                <a:r>
                  <a:rPr lang="en-US" b="1" noProof="0" dirty="0"/>
                  <a:t>left</a:t>
                </a:r>
                <a:r>
                  <a:rPr lang="en-US" noProof="0" dirty="0"/>
                  <a:t> of an </a:t>
                </a:r>
                <a:r>
                  <a:rPr lang="en-US" b="1" i="1" noProof="0" dirty="0"/>
                  <a:t>odd</a:t>
                </a:r>
                <a:r>
                  <a:rPr lang="en-US" noProof="0" dirty="0"/>
                  <a:t> number of </a:t>
                </a:r>
                <a14:m>
                  <m:oMath xmlns:m="http://schemas.openxmlformats.org/officeDocument/2006/math">
                    <m:sSub>
                      <m:sSubPr>
                        <m:ctrlPr>
                          <a:rPr lang="en-US" i="1" noProof="0" smtClean="0">
                            <a:latin typeface="Cambria Math" panose="02040503050406030204" pitchFamily="18" charset="0"/>
                          </a:rPr>
                        </m:ctrlPr>
                      </m:sSubPr>
                      <m:e>
                        <m:r>
                          <a:rPr lang="en-US" i="1" noProof="0" smtClean="0">
                            <a:latin typeface="Cambria Math" panose="02040503050406030204" pitchFamily="18" charset="0"/>
                          </a:rPr>
                          <m:t>𝑝</m:t>
                        </m:r>
                      </m:e>
                      <m:sub>
                        <m:r>
                          <a:rPr lang="en-US" i="1" noProof="0" smtClean="0">
                            <a:latin typeface="Cambria Math" panose="02040503050406030204" pitchFamily="18" charset="0"/>
                          </a:rPr>
                          <m:t>𝑖</m:t>
                        </m:r>
                      </m:sub>
                    </m:sSub>
                  </m:oMath>
                </a14:m>
                <a:r>
                  <a:rPr lang="en-US" noProof="0" dirty="0"/>
                  <a:t> </a:t>
                </a:r>
                <a14:m>
                  <m:oMath xmlns:m="http://schemas.openxmlformats.org/officeDocument/2006/math">
                    <m:r>
                      <a:rPr lang="en-US" i="1" noProof="0" smtClean="0">
                        <a:latin typeface="Cambria Math" panose="02040503050406030204" pitchFamily="18" charset="0"/>
                      </a:rPr>
                      <m:t>&amp;</m:t>
                    </m:r>
                  </m:oMath>
                </a14:m>
                <a:r>
                  <a:rPr lang="en-US" noProof="0" dirty="0"/>
                  <a:t> </a:t>
                </a:r>
                <a14:m>
                  <m:oMath xmlns:m="http://schemas.openxmlformats.org/officeDocument/2006/math">
                    <m:sSub>
                      <m:sSubPr>
                        <m:ctrlPr>
                          <a:rPr lang="en-US" i="1" noProof="0" smtClean="0">
                            <a:latin typeface="Cambria Math" panose="02040503050406030204" pitchFamily="18" charset="0"/>
                          </a:rPr>
                        </m:ctrlPr>
                      </m:sSubPr>
                      <m:e>
                        <m:r>
                          <a:rPr lang="en-US" i="1" noProof="0" smtClean="0">
                            <a:latin typeface="Cambria Math" panose="02040503050406030204" pitchFamily="18" charset="0"/>
                          </a:rPr>
                          <m:t>𝑧</m:t>
                        </m:r>
                      </m:e>
                      <m:sub>
                        <m:r>
                          <a:rPr lang="en-US" i="1" noProof="0" smtClean="0">
                            <a:latin typeface="Cambria Math" panose="02040503050406030204" pitchFamily="18" charset="0"/>
                          </a:rPr>
                          <m:t>𝑖</m:t>
                        </m:r>
                      </m:sub>
                    </m:sSub>
                  </m:oMath>
                </a14:m>
                <a:endParaRPr lang="en-US" noProof="0" dirty="0"/>
              </a:p>
              <a:p>
                <a:r>
                  <a:rPr lang="en-US" noProof="0" dirty="0"/>
                  <a:t>For </a:t>
                </a:r>
                <a14:m>
                  <m:oMath xmlns:m="http://schemas.openxmlformats.org/officeDocument/2006/math">
                    <m:sSub>
                      <m:sSubPr>
                        <m:ctrlPr>
                          <a:rPr lang="en-US" b="1" i="1" noProof="0" smtClean="0">
                            <a:solidFill>
                              <a:srgbClr val="FF0000"/>
                            </a:solidFill>
                            <a:latin typeface="Cambria Math" panose="02040503050406030204" pitchFamily="18" charset="0"/>
                          </a:rPr>
                        </m:ctrlPr>
                      </m:sSubPr>
                      <m:e>
                        <m:r>
                          <a:rPr lang="en-US" b="1" i="1" noProof="0" smtClean="0">
                            <a:solidFill>
                              <a:srgbClr val="FF0000"/>
                            </a:solidFill>
                            <a:latin typeface="Cambria Math" panose="02040503050406030204" pitchFamily="18" charset="0"/>
                          </a:rPr>
                          <m:t>𝒌</m:t>
                        </m:r>
                      </m:e>
                      <m:sub>
                        <m:r>
                          <a:rPr lang="en-US" b="1" i="1" noProof="0" smtClean="0">
                            <a:solidFill>
                              <a:srgbClr val="FF0000"/>
                            </a:solidFill>
                            <a:latin typeface="Cambria Math" panose="02040503050406030204" pitchFamily="18" charset="0"/>
                          </a:rPr>
                          <m:t>𝒓𝒍</m:t>
                        </m:r>
                      </m:sub>
                    </m:sSub>
                    <m:r>
                      <a:rPr lang="en-US" i="1" noProof="0" smtClean="0">
                        <a:latin typeface="Cambria Math" panose="02040503050406030204" pitchFamily="18" charset="0"/>
                      </a:rPr>
                      <m:t>&lt;0</m:t>
                    </m:r>
                  </m:oMath>
                </a14:m>
                <a:r>
                  <a:rPr lang="en-US" noProof="0" dirty="0"/>
                  <a:t>: the negative locus is on the real axis to the </a:t>
                </a:r>
                <a:r>
                  <a:rPr lang="en-US" b="1" noProof="0" dirty="0"/>
                  <a:t>left</a:t>
                </a:r>
                <a:r>
                  <a:rPr lang="en-US" noProof="0" dirty="0"/>
                  <a:t> of an </a:t>
                </a:r>
                <a:r>
                  <a:rPr lang="en-US" b="1" i="1" noProof="0" dirty="0"/>
                  <a:t>even</a:t>
                </a:r>
                <a:r>
                  <a:rPr lang="en-US" noProof="0" dirty="0"/>
                  <a:t> number </a:t>
                </a:r>
                <a14:m>
                  <m:oMath xmlns:m="http://schemas.openxmlformats.org/officeDocument/2006/math">
                    <m:sSub>
                      <m:sSubPr>
                        <m:ctrlPr>
                          <a:rPr lang="en-US" i="1" noProof="0" smtClean="0">
                            <a:latin typeface="Cambria Math" panose="02040503050406030204" pitchFamily="18" charset="0"/>
                          </a:rPr>
                        </m:ctrlPr>
                      </m:sSubPr>
                      <m:e>
                        <m:r>
                          <a:rPr lang="en-US" i="1" noProof="0" smtClean="0">
                            <a:latin typeface="Cambria Math" panose="02040503050406030204" pitchFamily="18" charset="0"/>
                          </a:rPr>
                          <m:t>𝑝</m:t>
                        </m:r>
                      </m:e>
                      <m:sub>
                        <m:r>
                          <a:rPr lang="en-US" i="1" noProof="0" smtClean="0">
                            <a:latin typeface="Cambria Math" panose="02040503050406030204" pitchFamily="18" charset="0"/>
                          </a:rPr>
                          <m:t>𝑖</m:t>
                        </m:r>
                      </m:sub>
                    </m:sSub>
                  </m:oMath>
                </a14:m>
                <a:r>
                  <a:rPr lang="en-US" noProof="0" dirty="0"/>
                  <a:t> </a:t>
                </a:r>
                <a14:m>
                  <m:oMath xmlns:m="http://schemas.openxmlformats.org/officeDocument/2006/math">
                    <m:r>
                      <a:rPr lang="en-US" i="1" noProof="0" smtClean="0">
                        <a:latin typeface="Cambria Math" panose="02040503050406030204" pitchFamily="18" charset="0"/>
                      </a:rPr>
                      <m:t>&amp;</m:t>
                    </m:r>
                  </m:oMath>
                </a14:m>
                <a:r>
                  <a:rPr lang="en-US" noProof="0" dirty="0"/>
                  <a:t> </a:t>
                </a:r>
                <a14:m>
                  <m:oMath xmlns:m="http://schemas.openxmlformats.org/officeDocument/2006/math">
                    <m:sSub>
                      <m:sSubPr>
                        <m:ctrlPr>
                          <a:rPr lang="en-US" i="1" noProof="0" smtClean="0">
                            <a:latin typeface="Cambria Math" panose="02040503050406030204" pitchFamily="18" charset="0"/>
                          </a:rPr>
                        </m:ctrlPr>
                      </m:sSubPr>
                      <m:e>
                        <m:r>
                          <a:rPr lang="en-US" i="1" noProof="0" smtClean="0">
                            <a:latin typeface="Cambria Math" panose="02040503050406030204" pitchFamily="18" charset="0"/>
                          </a:rPr>
                          <m:t>𝑧</m:t>
                        </m:r>
                      </m:e>
                      <m:sub>
                        <m:r>
                          <a:rPr lang="en-US" i="1" noProof="0" smtClean="0">
                            <a:latin typeface="Cambria Math" panose="02040503050406030204" pitchFamily="18" charset="0"/>
                          </a:rPr>
                          <m:t>𝑖</m:t>
                        </m:r>
                      </m:sub>
                    </m:sSub>
                  </m:oMath>
                </a14:m>
                <a:r>
                  <a:rPr lang="en-US" noProof="0" dirty="0"/>
                  <a:t> (or none)</a:t>
                </a:r>
              </a:p>
              <a:p>
                <a:endParaRPr lang="en-US" noProof="0" dirty="0"/>
              </a:p>
            </p:txBody>
          </p:sp>
        </mc:Choice>
        <mc:Fallback xmlns="">
          <p:sp>
            <p:nvSpPr>
              <p:cNvPr id="3" name="Inhaltsplatzhalter 2">
                <a:extLst>
                  <a:ext uri="{FF2B5EF4-FFF2-40B4-BE49-F238E27FC236}">
                    <a16:creationId xmlns:a16="http://schemas.microsoft.com/office/drawing/2014/main" id="{49E9A379-7CF6-9082-FD7B-F3C7C5A43358}"/>
                  </a:ext>
                </a:extLst>
              </p:cNvPr>
              <p:cNvSpPr>
                <a:spLocks noGrp="1" noRot="1" noChangeAspect="1" noMove="1" noResize="1" noEditPoints="1" noAdjustHandles="1" noChangeArrowheads="1" noChangeShapeType="1" noTextEdit="1"/>
              </p:cNvSpPr>
              <p:nvPr>
                <p:ph idx="1"/>
              </p:nvPr>
            </p:nvSpPr>
            <p:spPr>
              <a:xfrm>
                <a:off x="488540" y="1686309"/>
                <a:ext cx="8323326" cy="3774281"/>
              </a:xfrm>
              <a:blipFill>
                <a:blip r:embed="rId2"/>
                <a:stretch>
                  <a:fillRect l="-457" t="-1672" r="-457"/>
                </a:stretch>
              </a:blipFill>
            </p:spPr>
            <p:txBody>
              <a:bodyPr/>
              <a:lstStyle/>
              <a:p>
                <a:r>
                  <a:rPr lang="de-DE">
                    <a:noFill/>
                  </a:rPr>
                  <a:t> </a:t>
                </a:r>
              </a:p>
            </p:txBody>
          </p:sp>
        </mc:Fallback>
      </mc:AlternateContent>
      <p:sp>
        <p:nvSpPr>
          <p:cNvPr id="4" name="Fußzeilenplatzhalter 3">
            <a:extLst>
              <a:ext uri="{FF2B5EF4-FFF2-40B4-BE49-F238E27FC236}">
                <a16:creationId xmlns:a16="http://schemas.microsoft.com/office/drawing/2014/main" id="{90EAD8A0-BCF0-45E8-219E-521335EB0654}"/>
              </a:ext>
            </a:extLst>
          </p:cNvPr>
          <p:cNvSpPr>
            <a:spLocks noGrp="1"/>
          </p:cNvSpPr>
          <p:nvPr>
            <p:ph type="ftr" sz="quarter" idx="11"/>
          </p:nvPr>
        </p:nvSpPr>
        <p:spPr/>
        <p:txBody>
          <a:bodyPr/>
          <a:lstStyle/>
          <a:p>
            <a:pPr defTabSz="342900">
              <a:buClrTx/>
            </a:pPr>
            <a:r>
              <a:rPr lang="en-US" kern="1200" noProof="0" dirty="0">
                <a:solidFill>
                  <a:srgbClr val="101623">
                    <a:tint val="75000"/>
                  </a:srgbClr>
                </a:solidFill>
                <a:latin typeface="Calibri" panose="020F0502020204030204"/>
                <a:ea typeface="+mn-ea"/>
                <a:cs typeface="+mn-cs"/>
              </a:rPr>
              <a:t>Kissan Varatharajan - </a:t>
            </a:r>
            <a:r>
              <a:rPr lang="en-US" kern="1200" noProof="0" dirty="0" err="1">
                <a:solidFill>
                  <a:srgbClr val="101623">
                    <a:tint val="75000"/>
                  </a:srgbClr>
                </a:solidFill>
                <a:latin typeface="Calibri" panose="020F0502020204030204"/>
                <a:ea typeface="+mn-ea"/>
                <a:cs typeface="+mn-cs"/>
              </a:rPr>
              <a:t>kissanv.github.io</a:t>
            </a:r>
            <a:endParaRPr lang="en-US" kern="1200" noProof="0" dirty="0">
              <a:solidFill>
                <a:srgbClr val="101623">
                  <a:tint val="75000"/>
                </a:srgbClr>
              </a:solidFill>
              <a:latin typeface="Calibri" panose="020F0502020204030204"/>
              <a:ea typeface="+mn-ea"/>
              <a:cs typeface="+mn-cs"/>
            </a:endParaRPr>
          </a:p>
        </p:txBody>
      </p:sp>
      <p:sp>
        <p:nvSpPr>
          <p:cNvPr id="5" name="Foliennummernplatzhalter 4">
            <a:extLst>
              <a:ext uri="{FF2B5EF4-FFF2-40B4-BE49-F238E27FC236}">
                <a16:creationId xmlns:a16="http://schemas.microsoft.com/office/drawing/2014/main" id="{CF5E62AF-44B7-0253-2B25-371B87F7C0D5}"/>
              </a:ext>
            </a:extLst>
          </p:cNvPr>
          <p:cNvSpPr>
            <a:spLocks noGrp="1"/>
          </p:cNvSpPr>
          <p:nvPr>
            <p:ph type="sldNum" sz="quarter" idx="12"/>
          </p:nvPr>
        </p:nvSpPr>
        <p:spPr/>
        <p:txBody>
          <a:bodyPr/>
          <a:lstStyle/>
          <a:p>
            <a:pPr defTabSz="342900">
              <a:buClrTx/>
            </a:pPr>
            <a:fld id="{36EAFFE7-40E2-CA47-82C0-73D0FC591208}" type="slidenum">
              <a:rPr lang="en-US" kern="1200" noProof="0" smtClean="0">
                <a:solidFill>
                  <a:srgbClr val="101623">
                    <a:tint val="75000"/>
                  </a:srgbClr>
                </a:solidFill>
                <a:latin typeface="Calibri" panose="020F0502020204030204"/>
                <a:ea typeface="+mn-ea"/>
                <a:cs typeface="+mn-cs"/>
              </a:rPr>
              <a:pPr defTabSz="342900">
                <a:buClrTx/>
              </a:pPr>
              <a:t>19</a:t>
            </a:fld>
            <a:endParaRPr lang="en-US" kern="1200" noProof="0" dirty="0">
              <a:solidFill>
                <a:srgbClr val="101623">
                  <a:tint val="75000"/>
                </a:srgbClr>
              </a:solidFill>
              <a:latin typeface="Calibri" panose="020F0502020204030204"/>
              <a:ea typeface="+mn-ea"/>
              <a:cs typeface="+mn-cs"/>
            </a:endParaRPr>
          </a:p>
        </p:txBody>
      </p:sp>
      <p:sp>
        <p:nvSpPr>
          <p:cNvPr id="6" name="Textfeld 5">
            <a:extLst>
              <a:ext uri="{FF2B5EF4-FFF2-40B4-BE49-F238E27FC236}">
                <a16:creationId xmlns:a16="http://schemas.microsoft.com/office/drawing/2014/main" id="{1A6BEE3A-E993-002B-E32C-83D721ED8185}"/>
              </a:ext>
            </a:extLst>
          </p:cNvPr>
          <p:cNvSpPr txBox="1"/>
          <p:nvPr/>
        </p:nvSpPr>
        <p:spPr>
          <a:xfrm>
            <a:off x="628650" y="3962397"/>
            <a:ext cx="7008304" cy="369332"/>
          </a:xfrm>
          <a:prstGeom prst="rect">
            <a:avLst/>
          </a:prstGeom>
          <a:noFill/>
        </p:spPr>
        <p:txBody>
          <a:bodyPr wrap="square" rtlCol="0">
            <a:spAutoFit/>
          </a:bodyPr>
          <a:lstStyle/>
          <a:p>
            <a:r>
              <a:rPr lang="en-US" sz="1800" noProof="0" dirty="0">
                <a:solidFill>
                  <a:schemeClr val="accent3"/>
                </a:solidFill>
                <a:latin typeface="Segoe UI" panose="020B0502040204020203" pitchFamily="34" charset="0"/>
                <a:cs typeface="Segoe UI" panose="020B0502040204020203" pitchFamily="34" charset="0"/>
              </a:rPr>
              <a:t>Let's establish these properties visually with an example…</a:t>
            </a:r>
          </a:p>
        </p:txBody>
      </p:sp>
      <p:grpSp>
        <p:nvGrpSpPr>
          <p:cNvPr id="7" name="Gruppieren 6">
            <a:extLst>
              <a:ext uri="{FF2B5EF4-FFF2-40B4-BE49-F238E27FC236}">
                <a16:creationId xmlns:a16="http://schemas.microsoft.com/office/drawing/2014/main" id="{DC7F43F3-EE14-50F9-2612-0AF371C6D33D}"/>
              </a:ext>
            </a:extLst>
          </p:cNvPr>
          <p:cNvGrpSpPr/>
          <p:nvPr/>
        </p:nvGrpSpPr>
        <p:grpSpPr>
          <a:xfrm>
            <a:off x="5285018" y="161112"/>
            <a:ext cx="3709237" cy="792671"/>
            <a:chOff x="3375102" y="2567562"/>
            <a:chExt cx="3709237" cy="792671"/>
          </a:xfrm>
        </p:grpSpPr>
        <mc:AlternateContent xmlns:mc="http://schemas.openxmlformats.org/markup-compatibility/2006" xmlns:a14="http://schemas.microsoft.com/office/drawing/2010/main">
          <mc:Choice Requires="a14">
            <p:sp>
              <p:nvSpPr>
                <p:cNvPr id="8" name="Textfeld 7">
                  <a:extLst>
                    <a:ext uri="{FF2B5EF4-FFF2-40B4-BE49-F238E27FC236}">
                      <a16:creationId xmlns:a16="http://schemas.microsoft.com/office/drawing/2014/main" id="{CB0F443D-0735-6013-8149-973653A27C17}"/>
                    </a:ext>
                  </a:extLst>
                </p:cNvPr>
                <p:cNvSpPr txBox="1"/>
                <p:nvPr/>
              </p:nvSpPr>
              <p:spPr>
                <a:xfrm>
                  <a:off x="3375102" y="2631688"/>
                  <a:ext cx="3582456" cy="61177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600" i="1" noProof="0" smtClean="0">
                            <a:latin typeface="Cambria Math" panose="02040503050406030204" pitchFamily="18" charset="0"/>
                          </a:rPr>
                          <m:t>𝐺</m:t>
                        </m:r>
                        <m:d>
                          <m:dPr>
                            <m:ctrlPr>
                              <a:rPr lang="en-US" sz="1600" i="1" noProof="0" smtClean="0">
                                <a:latin typeface="Cambria Math" panose="02040503050406030204" pitchFamily="18" charset="0"/>
                              </a:rPr>
                            </m:ctrlPr>
                          </m:dPr>
                          <m:e>
                            <m:r>
                              <a:rPr lang="en-US" sz="1600" i="1" noProof="0" smtClean="0">
                                <a:latin typeface="Cambria Math" panose="02040503050406030204" pitchFamily="18" charset="0"/>
                              </a:rPr>
                              <m:t>𝑠</m:t>
                            </m:r>
                          </m:e>
                        </m:d>
                        <m:r>
                          <a:rPr lang="en-US" sz="1600" i="1" noProof="0" smtClean="0">
                            <a:latin typeface="Cambria Math" panose="02040503050406030204" pitchFamily="18" charset="0"/>
                          </a:rPr>
                          <m:t>=</m:t>
                        </m:r>
                        <m:sSub>
                          <m:sSubPr>
                            <m:ctrlPr>
                              <a:rPr lang="en-US" sz="1600" b="1" i="1" noProof="0" smtClean="0">
                                <a:solidFill>
                                  <a:srgbClr val="FF0000"/>
                                </a:solidFill>
                                <a:latin typeface="Cambria Math" panose="02040503050406030204" pitchFamily="18" charset="0"/>
                              </a:rPr>
                            </m:ctrlPr>
                          </m:sSubPr>
                          <m:e>
                            <m:r>
                              <a:rPr lang="en-US" sz="1600" b="1" i="1" noProof="0" smtClean="0">
                                <a:solidFill>
                                  <a:srgbClr val="FF0000"/>
                                </a:solidFill>
                                <a:latin typeface="Cambria Math" panose="02040503050406030204" pitchFamily="18" charset="0"/>
                              </a:rPr>
                              <m:t>𝒌</m:t>
                            </m:r>
                          </m:e>
                          <m:sub>
                            <m:r>
                              <a:rPr lang="en-US" sz="1600" b="1" i="1" noProof="0">
                                <a:solidFill>
                                  <a:srgbClr val="FF0000"/>
                                </a:solidFill>
                                <a:latin typeface="Cambria Math" panose="02040503050406030204" pitchFamily="18" charset="0"/>
                              </a:rPr>
                              <m:t>𝒓𝒍</m:t>
                            </m:r>
                          </m:sub>
                        </m:sSub>
                        <m:f>
                          <m:fPr>
                            <m:ctrlPr>
                              <a:rPr lang="en-US" sz="1600" i="1" noProof="0" smtClean="0">
                                <a:latin typeface="Cambria Math" panose="02040503050406030204" pitchFamily="18" charset="0"/>
                              </a:rPr>
                            </m:ctrlPr>
                          </m:fPr>
                          <m:num>
                            <m:d>
                              <m:dPr>
                                <m:ctrlPr>
                                  <a:rPr lang="en-US" sz="1600" i="1" noProof="0" smtClean="0">
                                    <a:latin typeface="Cambria Math" panose="02040503050406030204" pitchFamily="18" charset="0"/>
                                  </a:rPr>
                                </m:ctrlPr>
                              </m:dPr>
                              <m:e>
                                <m:r>
                                  <a:rPr lang="en-US" sz="1600" i="1" noProof="0">
                                    <a:latin typeface="Cambria Math" panose="02040503050406030204" pitchFamily="18" charset="0"/>
                                  </a:rPr>
                                  <m:t>𝑠</m:t>
                                </m:r>
                                <m:r>
                                  <a:rPr lang="en-US" sz="1600" i="1" noProof="0">
                                    <a:latin typeface="Cambria Math" panose="02040503050406030204" pitchFamily="18" charset="0"/>
                                  </a:rPr>
                                  <m:t>−</m:t>
                                </m:r>
                                <m:sSub>
                                  <m:sSubPr>
                                    <m:ctrlPr>
                                      <a:rPr lang="en-US" sz="1600" i="1" noProof="0">
                                        <a:latin typeface="Cambria Math" panose="02040503050406030204" pitchFamily="18" charset="0"/>
                                      </a:rPr>
                                    </m:ctrlPr>
                                  </m:sSubPr>
                                  <m:e>
                                    <m:r>
                                      <a:rPr lang="en-US" sz="1600" i="1" noProof="0">
                                        <a:latin typeface="Cambria Math" panose="02040503050406030204" pitchFamily="18" charset="0"/>
                                      </a:rPr>
                                      <m:t>𝑧</m:t>
                                    </m:r>
                                  </m:e>
                                  <m:sub>
                                    <m:r>
                                      <a:rPr lang="en-US" sz="1600" i="1" noProof="0">
                                        <a:latin typeface="Cambria Math" panose="02040503050406030204" pitchFamily="18" charset="0"/>
                                      </a:rPr>
                                      <m:t>1</m:t>
                                    </m:r>
                                  </m:sub>
                                </m:sSub>
                              </m:e>
                            </m:d>
                            <m:d>
                              <m:dPr>
                                <m:ctrlPr>
                                  <a:rPr lang="en-US" sz="1600" i="1" noProof="0">
                                    <a:latin typeface="Cambria Math" panose="02040503050406030204" pitchFamily="18" charset="0"/>
                                  </a:rPr>
                                </m:ctrlPr>
                              </m:dPr>
                              <m:e>
                                <m:r>
                                  <a:rPr lang="en-US" sz="1600" i="1" noProof="0">
                                    <a:latin typeface="Cambria Math" panose="02040503050406030204" pitchFamily="18" charset="0"/>
                                  </a:rPr>
                                  <m:t>𝑠</m:t>
                                </m:r>
                                <m:r>
                                  <a:rPr lang="en-US" sz="1600" i="1" noProof="0">
                                    <a:latin typeface="Cambria Math" panose="02040503050406030204" pitchFamily="18" charset="0"/>
                                  </a:rPr>
                                  <m:t>−</m:t>
                                </m:r>
                                <m:sSub>
                                  <m:sSubPr>
                                    <m:ctrlPr>
                                      <a:rPr lang="en-US" sz="1600" i="1" noProof="0">
                                        <a:latin typeface="Cambria Math" panose="02040503050406030204" pitchFamily="18" charset="0"/>
                                      </a:rPr>
                                    </m:ctrlPr>
                                  </m:sSubPr>
                                  <m:e>
                                    <m:r>
                                      <a:rPr lang="en-US" sz="1600" i="1" noProof="0">
                                        <a:latin typeface="Cambria Math" panose="02040503050406030204" pitchFamily="18" charset="0"/>
                                      </a:rPr>
                                      <m:t>𝑧</m:t>
                                    </m:r>
                                  </m:e>
                                  <m:sub>
                                    <m:r>
                                      <a:rPr lang="en-US" sz="1600" i="1" noProof="0">
                                        <a:latin typeface="Cambria Math" panose="02040503050406030204" pitchFamily="18" charset="0"/>
                                      </a:rPr>
                                      <m:t>2</m:t>
                                    </m:r>
                                  </m:sub>
                                </m:sSub>
                              </m:e>
                            </m:d>
                            <m:r>
                              <a:rPr lang="en-US" sz="1600" i="1" noProof="0">
                                <a:latin typeface="Cambria Math" panose="02040503050406030204" pitchFamily="18" charset="0"/>
                              </a:rPr>
                              <m:t>…</m:t>
                            </m:r>
                            <m:d>
                              <m:dPr>
                                <m:ctrlPr>
                                  <a:rPr lang="en-US" sz="1600" i="1" noProof="0">
                                    <a:latin typeface="Cambria Math" panose="02040503050406030204" pitchFamily="18" charset="0"/>
                                  </a:rPr>
                                </m:ctrlPr>
                              </m:dPr>
                              <m:e>
                                <m:r>
                                  <a:rPr lang="en-US" sz="1600" i="1" noProof="0">
                                    <a:latin typeface="Cambria Math" panose="02040503050406030204" pitchFamily="18" charset="0"/>
                                  </a:rPr>
                                  <m:t>𝑠</m:t>
                                </m:r>
                                <m:r>
                                  <a:rPr lang="en-US" sz="1600" i="1" noProof="0">
                                    <a:latin typeface="Cambria Math" panose="02040503050406030204" pitchFamily="18" charset="0"/>
                                  </a:rPr>
                                  <m:t>−</m:t>
                                </m:r>
                                <m:sSub>
                                  <m:sSubPr>
                                    <m:ctrlPr>
                                      <a:rPr lang="en-US" sz="1600" i="1" noProof="0">
                                        <a:latin typeface="Cambria Math" panose="02040503050406030204" pitchFamily="18" charset="0"/>
                                      </a:rPr>
                                    </m:ctrlPr>
                                  </m:sSubPr>
                                  <m:e>
                                    <m:r>
                                      <a:rPr lang="en-US" sz="1600" i="1" noProof="0">
                                        <a:latin typeface="Cambria Math" panose="02040503050406030204" pitchFamily="18" charset="0"/>
                                      </a:rPr>
                                      <m:t>𝑧</m:t>
                                    </m:r>
                                  </m:e>
                                  <m:sub>
                                    <m:r>
                                      <a:rPr lang="en-US" sz="1600" i="1" noProof="0">
                                        <a:latin typeface="Cambria Math" panose="02040503050406030204" pitchFamily="18" charset="0"/>
                                      </a:rPr>
                                      <m:t>𝑚</m:t>
                                    </m:r>
                                  </m:sub>
                                </m:sSub>
                              </m:e>
                            </m:d>
                          </m:num>
                          <m:den>
                            <m:d>
                              <m:dPr>
                                <m:ctrlPr>
                                  <a:rPr lang="en-US" sz="1600" i="1" noProof="0">
                                    <a:latin typeface="Cambria Math" panose="02040503050406030204" pitchFamily="18" charset="0"/>
                                  </a:rPr>
                                </m:ctrlPr>
                              </m:dPr>
                              <m:e>
                                <m:r>
                                  <a:rPr lang="en-US" sz="1600" i="1" noProof="0">
                                    <a:latin typeface="Cambria Math" panose="02040503050406030204" pitchFamily="18" charset="0"/>
                                  </a:rPr>
                                  <m:t>𝑠</m:t>
                                </m:r>
                                <m:r>
                                  <a:rPr lang="en-US" sz="1600" i="1" noProof="0">
                                    <a:latin typeface="Cambria Math" panose="02040503050406030204" pitchFamily="18" charset="0"/>
                                  </a:rPr>
                                  <m:t>−</m:t>
                                </m:r>
                                <m:sSub>
                                  <m:sSubPr>
                                    <m:ctrlPr>
                                      <a:rPr lang="en-US" sz="1600" i="1" noProof="0">
                                        <a:latin typeface="Cambria Math" panose="02040503050406030204" pitchFamily="18" charset="0"/>
                                      </a:rPr>
                                    </m:ctrlPr>
                                  </m:sSubPr>
                                  <m:e>
                                    <m:r>
                                      <a:rPr lang="en-US" sz="1600" i="1" noProof="0">
                                        <a:latin typeface="Cambria Math" panose="02040503050406030204" pitchFamily="18" charset="0"/>
                                      </a:rPr>
                                      <m:t>𝑝</m:t>
                                    </m:r>
                                  </m:e>
                                  <m:sub>
                                    <m:r>
                                      <a:rPr lang="en-US" sz="1600" i="1" noProof="0">
                                        <a:latin typeface="Cambria Math" panose="02040503050406030204" pitchFamily="18" charset="0"/>
                                      </a:rPr>
                                      <m:t>1</m:t>
                                    </m:r>
                                  </m:sub>
                                </m:sSub>
                              </m:e>
                            </m:d>
                            <m:d>
                              <m:dPr>
                                <m:ctrlPr>
                                  <a:rPr lang="en-US" sz="1600" i="1" noProof="0">
                                    <a:latin typeface="Cambria Math" panose="02040503050406030204" pitchFamily="18" charset="0"/>
                                  </a:rPr>
                                </m:ctrlPr>
                              </m:dPr>
                              <m:e>
                                <m:r>
                                  <a:rPr lang="en-US" sz="1600" i="1" noProof="0">
                                    <a:latin typeface="Cambria Math" panose="02040503050406030204" pitchFamily="18" charset="0"/>
                                  </a:rPr>
                                  <m:t>𝑠</m:t>
                                </m:r>
                                <m:r>
                                  <a:rPr lang="en-US" sz="1600" i="1" noProof="0">
                                    <a:latin typeface="Cambria Math" panose="02040503050406030204" pitchFamily="18" charset="0"/>
                                  </a:rPr>
                                  <m:t>−</m:t>
                                </m:r>
                                <m:sSub>
                                  <m:sSubPr>
                                    <m:ctrlPr>
                                      <a:rPr lang="en-US" sz="1600" i="1" noProof="0">
                                        <a:latin typeface="Cambria Math" panose="02040503050406030204" pitchFamily="18" charset="0"/>
                                      </a:rPr>
                                    </m:ctrlPr>
                                  </m:sSubPr>
                                  <m:e>
                                    <m:r>
                                      <a:rPr lang="en-US" sz="1600" i="1" noProof="0">
                                        <a:latin typeface="Cambria Math" panose="02040503050406030204" pitchFamily="18" charset="0"/>
                                      </a:rPr>
                                      <m:t>𝑝</m:t>
                                    </m:r>
                                  </m:e>
                                  <m:sub>
                                    <m:r>
                                      <a:rPr lang="en-US" sz="1600" i="1" noProof="0">
                                        <a:latin typeface="Cambria Math" panose="02040503050406030204" pitchFamily="18" charset="0"/>
                                      </a:rPr>
                                      <m:t>2</m:t>
                                    </m:r>
                                  </m:sub>
                                </m:sSub>
                              </m:e>
                            </m:d>
                            <m:r>
                              <a:rPr lang="en-US" sz="1600" i="1" noProof="0">
                                <a:latin typeface="Cambria Math" panose="02040503050406030204" pitchFamily="18" charset="0"/>
                              </a:rPr>
                              <m:t>…</m:t>
                            </m:r>
                            <m:d>
                              <m:dPr>
                                <m:ctrlPr>
                                  <a:rPr lang="en-US" sz="1600" i="1" noProof="0">
                                    <a:latin typeface="Cambria Math" panose="02040503050406030204" pitchFamily="18" charset="0"/>
                                  </a:rPr>
                                </m:ctrlPr>
                              </m:dPr>
                              <m:e>
                                <m:r>
                                  <a:rPr lang="en-US" sz="1600" i="1" noProof="0">
                                    <a:latin typeface="Cambria Math" panose="02040503050406030204" pitchFamily="18" charset="0"/>
                                  </a:rPr>
                                  <m:t>𝑠</m:t>
                                </m:r>
                                <m:r>
                                  <a:rPr lang="en-US" sz="1600" i="1" noProof="0">
                                    <a:latin typeface="Cambria Math" panose="02040503050406030204" pitchFamily="18" charset="0"/>
                                  </a:rPr>
                                  <m:t>−</m:t>
                                </m:r>
                                <m:sSub>
                                  <m:sSubPr>
                                    <m:ctrlPr>
                                      <a:rPr lang="en-US" sz="1600" i="1" noProof="0">
                                        <a:latin typeface="Cambria Math" panose="02040503050406030204" pitchFamily="18" charset="0"/>
                                      </a:rPr>
                                    </m:ctrlPr>
                                  </m:sSubPr>
                                  <m:e>
                                    <m:r>
                                      <a:rPr lang="en-US" sz="1600" i="1" noProof="0">
                                        <a:latin typeface="Cambria Math" panose="02040503050406030204" pitchFamily="18" charset="0"/>
                                      </a:rPr>
                                      <m:t>𝑝</m:t>
                                    </m:r>
                                  </m:e>
                                  <m:sub>
                                    <m:r>
                                      <a:rPr lang="en-US" sz="1600" i="1" noProof="0">
                                        <a:latin typeface="Cambria Math" panose="02040503050406030204" pitchFamily="18" charset="0"/>
                                      </a:rPr>
                                      <m:t>𝑛</m:t>
                                    </m:r>
                                  </m:sub>
                                </m:sSub>
                              </m:e>
                            </m:d>
                          </m:den>
                        </m:f>
                      </m:oMath>
                    </m:oMathPara>
                  </a14:m>
                  <a:endParaRPr lang="en-US" noProof="0" dirty="0"/>
                </a:p>
              </p:txBody>
            </p:sp>
          </mc:Choice>
          <mc:Fallback xmlns="">
            <p:sp>
              <p:nvSpPr>
                <p:cNvPr id="8" name="Textfeld 7">
                  <a:extLst>
                    <a:ext uri="{FF2B5EF4-FFF2-40B4-BE49-F238E27FC236}">
                      <a16:creationId xmlns:a16="http://schemas.microsoft.com/office/drawing/2014/main" id="{CB0F443D-0735-6013-8149-973653A27C17}"/>
                    </a:ext>
                  </a:extLst>
                </p:cNvPr>
                <p:cNvSpPr txBox="1">
                  <a:spLocks noRot="1" noChangeAspect="1" noMove="1" noResize="1" noEditPoints="1" noAdjustHandles="1" noChangeArrowheads="1" noChangeShapeType="1" noTextEdit="1"/>
                </p:cNvSpPr>
                <p:nvPr/>
              </p:nvSpPr>
              <p:spPr>
                <a:xfrm>
                  <a:off x="3375102" y="2631688"/>
                  <a:ext cx="3582456" cy="611771"/>
                </a:xfrm>
                <a:prstGeom prst="rect">
                  <a:avLst/>
                </a:prstGeom>
                <a:blipFill>
                  <a:blip r:embed="rId3"/>
                  <a:stretch>
                    <a:fillRect b="-4082"/>
                  </a:stretch>
                </a:blipFill>
              </p:spPr>
              <p:txBody>
                <a:bodyPr/>
                <a:lstStyle/>
                <a:p>
                  <a:r>
                    <a:rPr lang="de-DE">
                      <a:noFill/>
                    </a:rPr>
                    <a:t> </a:t>
                  </a:r>
                </a:p>
              </p:txBody>
            </p:sp>
          </mc:Fallback>
        </mc:AlternateContent>
        <p:sp>
          <p:nvSpPr>
            <p:cNvPr id="9" name="Rectangle: Rounded Corners 17">
              <a:extLst>
                <a:ext uri="{FF2B5EF4-FFF2-40B4-BE49-F238E27FC236}">
                  <a16:creationId xmlns:a16="http://schemas.microsoft.com/office/drawing/2014/main" id="{D4FCD978-114D-C7A3-D1B7-2F4856A5A362}"/>
                </a:ext>
              </a:extLst>
            </p:cNvPr>
            <p:cNvSpPr/>
            <p:nvPr/>
          </p:nvSpPr>
          <p:spPr>
            <a:xfrm>
              <a:off x="3375102" y="2567562"/>
              <a:ext cx="3709237" cy="792671"/>
            </a:xfrm>
            <a:prstGeom prst="roundRect">
              <a:avLst>
                <a:gd name="adj" fmla="val 12642"/>
              </a:avLst>
            </a:prstGeom>
            <a:noFill/>
            <a:ln w="25400">
              <a:solidFill>
                <a:schemeClr val="tx1">
                  <a:lumMod val="90000"/>
                  <a:lumOff val="10000"/>
                </a:schemeClr>
              </a:solidFill>
            </a:ln>
          </p:spPr>
          <p:style>
            <a:lnRef idx="2">
              <a:schemeClr val="dk1">
                <a:shade val="50000"/>
              </a:schemeClr>
            </a:lnRef>
            <a:fillRef idx="1">
              <a:schemeClr val="dk1"/>
            </a:fillRef>
            <a:effectRef idx="0">
              <a:schemeClr val="dk1"/>
            </a:effectRef>
            <a:fontRef idx="minor">
              <a:schemeClr val="lt1"/>
            </a:fontRef>
          </p:style>
          <p:txBody>
            <a:bodyPr lIns="360000" rtlCol="0" anchor="ctr"/>
            <a:lstStyle/>
            <a:p>
              <a:pPr>
                <a:spcBef>
                  <a:spcPts val="200"/>
                </a:spcBef>
              </a:pPr>
              <a:endParaRPr lang="en-US" noProof="0" dirty="0">
                <a:solidFill>
                  <a:schemeClr val="bg2">
                    <a:lumMod val="10000"/>
                  </a:schemeClr>
                </a:solidFill>
                <a:latin typeface="Segoe UI" panose="020B0502040204020203" pitchFamily="34" charset="0"/>
                <a:cs typeface="Segoe UI" panose="020B0502040204020203" pitchFamily="34" charset="0"/>
              </a:endParaRPr>
            </a:p>
          </p:txBody>
        </p:sp>
      </p:grpSp>
      <p:sp>
        <p:nvSpPr>
          <p:cNvPr id="10" name="Textfeld 9">
            <a:extLst>
              <a:ext uri="{FF2B5EF4-FFF2-40B4-BE49-F238E27FC236}">
                <a16:creationId xmlns:a16="http://schemas.microsoft.com/office/drawing/2014/main" id="{07737389-7E83-7840-B814-B651332F2AA1}"/>
              </a:ext>
            </a:extLst>
          </p:cNvPr>
          <p:cNvSpPr txBox="1"/>
          <p:nvPr/>
        </p:nvSpPr>
        <p:spPr>
          <a:xfrm>
            <a:off x="7313987" y="912221"/>
            <a:ext cx="1680268" cy="338554"/>
          </a:xfrm>
          <a:prstGeom prst="rect">
            <a:avLst/>
          </a:prstGeom>
          <a:noFill/>
        </p:spPr>
        <p:txBody>
          <a:bodyPr wrap="none" rtlCol="0">
            <a:spAutoFit/>
          </a:bodyPr>
          <a:lstStyle/>
          <a:p>
            <a:r>
              <a:rPr lang="en-US" sz="1600" i="1" noProof="0" dirty="0">
                <a:latin typeface="Segoe UI" panose="020B0502040204020203" pitchFamily="34" charset="0"/>
                <a:cs typeface="Segoe UI" panose="020B0502040204020203" pitchFamily="34" charset="0"/>
              </a:rPr>
              <a:t>Root-Locus Form</a:t>
            </a:r>
          </a:p>
        </p:txBody>
      </p:sp>
      <p:sp>
        <p:nvSpPr>
          <p:cNvPr id="11" name="Textfeld 10">
            <a:extLst>
              <a:ext uri="{FF2B5EF4-FFF2-40B4-BE49-F238E27FC236}">
                <a16:creationId xmlns:a16="http://schemas.microsoft.com/office/drawing/2014/main" id="{008C208F-CF3E-BF20-7D54-05BCCE7F7A54}"/>
              </a:ext>
            </a:extLst>
          </p:cNvPr>
          <p:cNvSpPr txBox="1"/>
          <p:nvPr/>
        </p:nvSpPr>
        <p:spPr>
          <a:xfrm>
            <a:off x="4165552" y="336215"/>
            <a:ext cx="1119217" cy="307777"/>
          </a:xfrm>
          <a:prstGeom prst="rect">
            <a:avLst/>
          </a:prstGeom>
          <a:noFill/>
        </p:spPr>
        <p:txBody>
          <a:bodyPr wrap="none" rtlCol="0">
            <a:spAutoFit/>
          </a:bodyPr>
          <a:lstStyle/>
          <a:p>
            <a:r>
              <a:rPr lang="en-US" noProof="0" dirty="0">
                <a:latin typeface="Segoe UI" panose="020B0502040204020203" pitchFamily="34" charset="0"/>
                <a:cs typeface="Segoe UI" panose="020B0502040204020203" pitchFamily="34" charset="0"/>
              </a:rPr>
              <a:t>Remember:</a:t>
            </a:r>
          </a:p>
        </p:txBody>
      </p:sp>
    </p:spTree>
    <p:extLst>
      <p:ext uri="{BB962C8B-B14F-4D97-AF65-F5344CB8AC3E}">
        <p14:creationId xmlns:p14="http://schemas.microsoft.com/office/powerpoint/2010/main" val="31631706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Grafik 36">
            <a:extLst>
              <a:ext uri="{FF2B5EF4-FFF2-40B4-BE49-F238E27FC236}">
                <a16:creationId xmlns:a16="http://schemas.microsoft.com/office/drawing/2014/main" id="{9330DC75-1EF2-1CAE-91EB-A0A523B7C00E}"/>
              </a:ext>
            </a:extLst>
          </p:cNvPr>
          <p:cNvPicPr>
            <a:picLocks noChangeAspect="1"/>
          </p:cNvPicPr>
          <p:nvPr/>
        </p:nvPicPr>
        <p:blipFill>
          <a:blip r:embed="rId2"/>
          <a:stretch>
            <a:fillRect/>
          </a:stretch>
        </p:blipFill>
        <p:spPr>
          <a:xfrm>
            <a:off x="5112606" y="2315115"/>
            <a:ext cx="4054641" cy="2683716"/>
          </a:xfrm>
          <a:prstGeom prst="rect">
            <a:avLst/>
          </a:prstGeom>
        </p:spPr>
      </p:pic>
      <p:pic>
        <p:nvPicPr>
          <p:cNvPr id="31" name="Grafik 30" descr="Ein Bild, das Text, Reihe, Diagramm, Schrift enthält.&#10;&#10;KI-generierte Inhalte können fehlerhaft sein.">
            <a:extLst>
              <a:ext uri="{FF2B5EF4-FFF2-40B4-BE49-F238E27FC236}">
                <a16:creationId xmlns:a16="http://schemas.microsoft.com/office/drawing/2014/main" id="{231F2937-5634-25B2-E172-C445C194744B}"/>
              </a:ext>
            </a:extLst>
          </p:cNvPr>
          <p:cNvPicPr>
            <a:picLocks noChangeAspect="1"/>
          </p:cNvPicPr>
          <p:nvPr/>
        </p:nvPicPr>
        <p:blipFill>
          <a:blip r:embed="rId3"/>
          <a:srcRect r="67847"/>
          <a:stretch>
            <a:fillRect/>
          </a:stretch>
        </p:blipFill>
        <p:spPr>
          <a:xfrm>
            <a:off x="1416010" y="144669"/>
            <a:ext cx="2429866" cy="2211696"/>
          </a:xfrm>
          <a:prstGeom prst="rect">
            <a:avLst/>
          </a:prstGeom>
        </p:spPr>
      </p:pic>
      <p:sp>
        <p:nvSpPr>
          <p:cNvPr id="2" name="Titel 1">
            <a:extLst>
              <a:ext uri="{FF2B5EF4-FFF2-40B4-BE49-F238E27FC236}">
                <a16:creationId xmlns:a16="http://schemas.microsoft.com/office/drawing/2014/main" id="{B414AAC1-477F-CBB7-E47D-25CA12B9B67B}"/>
              </a:ext>
            </a:extLst>
          </p:cNvPr>
          <p:cNvSpPr>
            <a:spLocks noGrp="1"/>
          </p:cNvSpPr>
          <p:nvPr>
            <p:ph type="title"/>
          </p:nvPr>
        </p:nvSpPr>
        <p:spPr>
          <a:xfrm>
            <a:off x="323850" y="111168"/>
            <a:ext cx="7886700" cy="994172"/>
          </a:xfrm>
        </p:spPr>
        <p:txBody>
          <a:bodyPr/>
          <a:lstStyle/>
          <a:p>
            <a:r>
              <a:rPr lang="en-US" noProof="0" dirty="0"/>
              <a:t>Example</a:t>
            </a:r>
          </a:p>
        </p:txBody>
      </p:sp>
      <p:sp>
        <p:nvSpPr>
          <p:cNvPr id="4" name="Fußzeilenplatzhalter 3">
            <a:extLst>
              <a:ext uri="{FF2B5EF4-FFF2-40B4-BE49-F238E27FC236}">
                <a16:creationId xmlns:a16="http://schemas.microsoft.com/office/drawing/2014/main" id="{405C24DD-B611-0743-7E35-57A621481F3F}"/>
              </a:ext>
            </a:extLst>
          </p:cNvPr>
          <p:cNvSpPr>
            <a:spLocks noGrp="1"/>
          </p:cNvSpPr>
          <p:nvPr>
            <p:ph type="ftr" sz="quarter" idx="11"/>
          </p:nvPr>
        </p:nvSpPr>
        <p:spPr/>
        <p:txBody>
          <a:bodyPr/>
          <a:lstStyle/>
          <a:p>
            <a:pPr defTabSz="342900">
              <a:buClrTx/>
            </a:pPr>
            <a:r>
              <a:rPr lang="en-US" kern="1200" noProof="0" dirty="0">
                <a:solidFill>
                  <a:srgbClr val="101623">
                    <a:tint val="75000"/>
                  </a:srgbClr>
                </a:solidFill>
                <a:latin typeface="Calibri" panose="020F0502020204030204"/>
                <a:ea typeface="+mn-ea"/>
                <a:cs typeface="+mn-cs"/>
              </a:rPr>
              <a:t>Kissan Varatharajan - </a:t>
            </a:r>
            <a:r>
              <a:rPr lang="en-US" kern="1200" noProof="0" dirty="0" err="1">
                <a:solidFill>
                  <a:srgbClr val="101623">
                    <a:tint val="75000"/>
                  </a:srgbClr>
                </a:solidFill>
                <a:latin typeface="Calibri" panose="020F0502020204030204"/>
                <a:ea typeface="+mn-ea"/>
                <a:cs typeface="+mn-cs"/>
              </a:rPr>
              <a:t>kissanv.github.io</a:t>
            </a:r>
            <a:endParaRPr lang="en-US" kern="1200" noProof="0" dirty="0">
              <a:solidFill>
                <a:srgbClr val="101623">
                  <a:tint val="75000"/>
                </a:srgbClr>
              </a:solidFill>
              <a:latin typeface="Calibri" panose="020F0502020204030204"/>
              <a:ea typeface="+mn-ea"/>
              <a:cs typeface="+mn-cs"/>
            </a:endParaRPr>
          </a:p>
        </p:txBody>
      </p:sp>
      <p:sp>
        <p:nvSpPr>
          <p:cNvPr id="5" name="Foliennummernplatzhalter 4">
            <a:extLst>
              <a:ext uri="{FF2B5EF4-FFF2-40B4-BE49-F238E27FC236}">
                <a16:creationId xmlns:a16="http://schemas.microsoft.com/office/drawing/2014/main" id="{A6CBB416-3945-917B-E1FA-C15F4067D325}"/>
              </a:ext>
            </a:extLst>
          </p:cNvPr>
          <p:cNvSpPr>
            <a:spLocks noGrp="1"/>
          </p:cNvSpPr>
          <p:nvPr>
            <p:ph type="sldNum" sz="quarter" idx="12"/>
          </p:nvPr>
        </p:nvSpPr>
        <p:spPr/>
        <p:txBody>
          <a:bodyPr/>
          <a:lstStyle/>
          <a:p>
            <a:pPr defTabSz="342900">
              <a:buClrTx/>
            </a:pPr>
            <a:fld id="{36EAFFE7-40E2-CA47-82C0-73D0FC591208}" type="slidenum">
              <a:rPr lang="en-US" kern="1200" noProof="0" smtClean="0">
                <a:solidFill>
                  <a:srgbClr val="101623">
                    <a:tint val="75000"/>
                  </a:srgbClr>
                </a:solidFill>
                <a:latin typeface="Calibri" panose="020F0502020204030204"/>
                <a:ea typeface="+mn-ea"/>
                <a:cs typeface="+mn-cs"/>
              </a:rPr>
              <a:pPr defTabSz="342900">
                <a:buClrTx/>
              </a:pPr>
              <a:t>20</a:t>
            </a:fld>
            <a:endParaRPr lang="en-US" kern="1200" noProof="0" dirty="0">
              <a:solidFill>
                <a:srgbClr val="101623">
                  <a:tint val="75000"/>
                </a:srgbClr>
              </a:solidFill>
              <a:latin typeface="Calibri" panose="020F0502020204030204"/>
              <a:ea typeface="+mn-ea"/>
              <a:cs typeface="+mn-cs"/>
            </a:endParaRPr>
          </a:p>
        </p:txBody>
      </p:sp>
      <p:sp>
        <p:nvSpPr>
          <p:cNvPr id="3" name="Textfeld 2">
            <a:extLst>
              <a:ext uri="{FF2B5EF4-FFF2-40B4-BE49-F238E27FC236}">
                <a16:creationId xmlns:a16="http://schemas.microsoft.com/office/drawing/2014/main" id="{E09B2D79-F071-F0E3-1A7E-98A4691F6F05}"/>
              </a:ext>
            </a:extLst>
          </p:cNvPr>
          <p:cNvSpPr txBox="1"/>
          <p:nvPr/>
        </p:nvSpPr>
        <p:spPr>
          <a:xfrm>
            <a:off x="71337" y="1519512"/>
            <a:ext cx="2276272" cy="307777"/>
          </a:xfrm>
          <a:prstGeom prst="rect">
            <a:avLst/>
          </a:prstGeom>
          <a:noFill/>
        </p:spPr>
        <p:txBody>
          <a:bodyPr wrap="square" rtlCol="0">
            <a:spAutoFit/>
          </a:bodyPr>
          <a:lstStyle/>
          <a:p>
            <a:r>
              <a:rPr lang="en-US" noProof="0" dirty="0"/>
              <a:t>We start right and go left!</a:t>
            </a:r>
          </a:p>
        </p:txBody>
      </p:sp>
      <p:pic>
        <p:nvPicPr>
          <p:cNvPr id="6" name="Grafik 5" descr="Ein Bild, das Text, Reihe, Diagramm, Schrift enthält.&#10;&#10;KI-generierte Inhalte können fehlerhaft sein.">
            <a:extLst>
              <a:ext uri="{FF2B5EF4-FFF2-40B4-BE49-F238E27FC236}">
                <a16:creationId xmlns:a16="http://schemas.microsoft.com/office/drawing/2014/main" id="{8D319E6E-464E-6D60-3945-65990881F0E9}"/>
              </a:ext>
            </a:extLst>
          </p:cNvPr>
          <p:cNvPicPr>
            <a:picLocks noChangeAspect="1"/>
          </p:cNvPicPr>
          <p:nvPr/>
        </p:nvPicPr>
        <p:blipFill>
          <a:blip r:embed="rId3"/>
          <a:srcRect l="34081" r="35718"/>
          <a:stretch>
            <a:fillRect/>
          </a:stretch>
        </p:blipFill>
        <p:spPr>
          <a:xfrm>
            <a:off x="3979513" y="144669"/>
            <a:ext cx="2282353" cy="2211696"/>
          </a:xfrm>
          <a:prstGeom prst="rect">
            <a:avLst/>
          </a:prstGeom>
        </p:spPr>
      </p:pic>
      <p:pic>
        <p:nvPicPr>
          <p:cNvPr id="7" name="Grafik 6" descr="Ein Bild, das Text, Reihe, Diagramm, Schrift enthält.&#10;&#10;KI-generierte Inhalte können fehlerhaft sein.">
            <a:extLst>
              <a:ext uri="{FF2B5EF4-FFF2-40B4-BE49-F238E27FC236}">
                <a16:creationId xmlns:a16="http://schemas.microsoft.com/office/drawing/2014/main" id="{2690984C-DA1F-E895-6212-8291D961ABD9}"/>
              </a:ext>
            </a:extLst>
          </p:cNvPr>
          <p:cNvPicPr>
            <a:picLocks noChangeAspect="1"/>
          </p:cNvPicPr>
          <p:nvPr/>
        </p:nvPicPr>
        <p:blipFill>
          <a:blip r:embed="rId3"/>
          <a:srcRect l="67820"/>
          <a:stretch>
            <a:fillRect/>
          </a:stretch>
        </p:blipFill>
        <p:spPr>
          <a:xfrm>
            <a:off x="6712085" y="111168"/>
            <a:ext cx="2431915" cy="2211696"/>
          </a:xfrm>
          <a:prstGeom prst="rect">
            <a:avLst/>
          </a:prstGeom>
        </p:spPr>
      </p:pic>
      <p:pic>
        <p:nvPicPr>
          <p:cNvPr id="33" name="Grafik 32" descr="Ein Bild, das Text, Reihe, Diagramm, Schrift enthält.&#10;&#10;KI-generierte Inhalte können fehlerhaft sein.">
            <a:extLst>
              <a:ext uri="{FF2B5EF4-FFF2-40B4-BE49-F238E27FC236}">
                <a16:creationId xmlns:a16="http://schemas.microsoft.com/office/drawing/2014/main" id="{9081A0C8-DEDE-EB90-A340-F72963C1DB39}"/>
              </a:ext>
            </a:extLst>
          </p:cNvPr>
          <p:cNvPicPr>
            <a:picLocks noChangeAspect="1"/>
          </p:cNvPicPr>
          <p:nvPr/>
        </p:nvPicPr>
        <p:blipFill>
          <a:blip r:embed="rId4"/>
          <a:stretch>
            <a:fillRect/>
          </a:stretch>
        </p:blipFill>
        <p:spPr>
          <a:xfrm>
            <a:off x="1101125" y="2272491"/>
            <a:ext cx="3273651" cy="2547453"/>
          </a:xfrm>
          <a:prstGeom prst="rect">
            <a:avLst/>
          </a:prstGeom>
        </p:spPr>
      </p:pic>
      <mc:AlternateContent xmlns:mc="http://schemas.openxmlformats.org/markup-compatibility/2006" xmlns:a14="http://schemas.microsoft.com/office/drawing/2010/main">
        <mc:Choice Requires="a14">
          <p:sp>
            <p:nvSpPr>
              <p:cNvPr id="34" name="Textfeld 33">
                <a:extLst>
                  <a:ext uri="{FF2B5EF4-FFF2-40B4-BE49-F238E27FC236}">
                    <a16:creationId xmlns:a16="http://schemas.microsoft.com/office/drawing/2014/main" id="{165E47B0-76B5-9B86-EA6D-F0A14F090321}"/>
                  </a:ext>
                </a:extLst>
              </p:cNvPr>
              <p:cNvSpPr txBox="1"/>
              <p:nvPr/>
            </p:nvSpPr>
            <p:spPr>
              <a:xfrm>
                <a:off x="0" y="2571750"/>
                <a:ext cx="1837362" cy="369332"/>
              </a:xfrm>
              <a:prstGeom prst="rect">
                <a:avLst/>
              </a:prstGeom>
              <a:noFill/>
            </p:spPr>
            <p:txBody>
              <a:bodyPr wrap="none" rtlCol="0">
                <a:spAutoFit/>
              </a:bodyPr>
              <a:lstStyle/>
              <a:p>
                <a14:m>
                  <m:oMath xmlns:m="http://schemas.openxmlformats.org/officeDocument/2006/math">
                    <m:r>
                      <a:rPr lang="en-US" sz="1800" i="1" noProof="0" smtClean="0">
                        <a:latin typeface="Cambria Math" panose="02040503050406030204" pitchFamily="18" charset="0"/>
                      </a:rPr>
                      <m:t>⟶</m:t>
                    </m:r>
                  </m:oMath>
                </a14:m>
                <a:r>
                  <a:rPr lang="en-US" sz="1800" noProof="0" dirty="0"/>
                  <a:t> </a:t>
                </a:r>
                <a:r>
                  <a:rPr lang="en-US" sz="1800" noProof="0" dirty="0">
                    <a:latin typeface="Segoe UI" panose="020B0502040204020203" pitchFamily="34" charset="0"/>
                    <a:cs typeface="Segoe UI" panose="020B0502040204020203" pitchFamily="34" charset="0"/>
                  </a:rPr>
                  <a:t>finished plot:</a:t>
                </a:r>
              </a:p>
            </p:txBody>
          </p:sp>
        </mc:Choice>
        <mc:Fallback xmlns="">
          <p:sp>
            <p:nvSpPr>
              <p:cNvPr id="34" name="Textfeld 33">
                <a:extLst>
                  <a:ext uri="{FF2B5EF4-FFF2-40B4-BE49-F238E27FC236}">
                    <a16:creationId xmlns:a16="http://schemas.microsoft.com/office/drawing/2014/main" id="{165E47B0-76B5-9B86-EA6D-F0A14F090321}"/>
                  </a:ext>
                </a:extLst>
              </p:cNvPr>
              <p:cNvSpPr txBox="1">
                <a:spLocks noRot="1" noChangeAspect="1" noMove="1" noResize="1" noEditPoints="1" noAdjustHandles="1" noChangeArrowheads="1" noChangeShapeType="1" noTextEdit="1"/>
              </p:cNvSpPr>
              <p:nvPr/>
            </p:nvSpPr>
            <p:spPr>
              <a:xfrm>
                <a:off x="0" y="2571750"/>
                <a:ext cx="1837362" cy="369332"/>
              </a:xfrm>
              <a:prstGeom prst="rect">
                <a:avLst/>
              </a:prstGeom>
              <a:blipFill>
                <a:blip r:embed="rId5"/>
                <a:stretch>
                  <a:fillRect t="-6667" r="-2069" b="-26667"/>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35" name="Textfeld 34">
                <a:extLst>
                  <a:ext uri="{FF2B5EF4-FFF2-40B4-BE49-F238E27FC236}">
                    <a16:creationId xmlns:a16="http://schemas.microsoft.com/office/drawing/2014/main" id="{F7C346E3-676B-E744-2B93-73E3D18C1208}"/>
                  </a:ext>
                </a:extLst>
              </p:cNvPr>
              <p:cNvSpPr txBox="1"/>
              <p:nvPr/>
            </p:nvSpPr>
            <p:spPr>
              <a:xfrm>
                <a:off x="4170163" y="2669948"/>
                <a:ext cx="1633781" cy="738664"/>
              </a:xfrm>
              <a:prstGeom prst="rect">
                <a:avLst/>
              </a:prstGeom>
              <a:noFill/>
            </p:spPr>
            <p:txBody>
              <a:bodyPr wrap="none" rtlCol="0">
                <a:spAutoFit/>
              </a:bodyPr>
              <a:lstStyle/>
              <a:p>
                <a:pPr algn="ctr"/>
                <a:r>
                  <a:rPr lang="en-US" noProof="0" dirty="0">
                    <a:latin typeface="Segoe UI" panose="020B0502040204020203" pitchFamily="34" charset="0"/>
                    <a:cs typeface="Segoe UI" panose="020B0502040204020203" pitchFamily="34" charset="0"/>
                  </a:rPr>
                  <a:t>what if we </a:t>
                </a:r>
              </a:p>
              <a:p>
                <a:pPr algn="ctr"/>
                <a:r>
                  <a:rPr lang="en-US" noProof="0" dirty="0">
                    <a:latin typeface="Segoe UI" panose="020B0502040204020203" pitchFamily="34" charset="0"/>
                    <a:cs typeface="Segoe UI" panose="020B0502040204020203" pitchFamily="34" charset="0"/>
                  </a:rPr>
                  <a:t>add another pole?</a:t>
                </a:r>
                <a:br>
                  <a:rPr lang="en-US" i="1" noProof="0" dirty="0">
                    <a:latin typeface="Cambria Math" panose="02040503050406030204" pitchFamily="18" charset="0"/>
                  </a:rPr>
                </a:br>
                <a14:m>
                  <m:oMath xmlns:m="http://schemas.openxmlformats.org/officeDocument/2006/math">
                    <m:r>
                      <a:rPr lang="en-US" i="1" noProof="0" smtClean="0">
                        <a:latin typeface="Cambria Math" panose="02040503050406030204" pitchFamily="18" charset="0"/>
                      </a:rPr>
                      <m:t>⟶</m:t>
                    </m:r>
                  </m:oMath>
                </a14:m>
                <a:r>
                  <a:rPr lang="en-US" noProof="0" dirty="0"/>
                  <a:t> </a:t>
                </a:r>
                <a:endParaRPr lang="en-US" noProof="0" dirty="0">
                  <a:latin typeface="Segoe UI" panose="020B0502040204020203" pitchFamily="34" charset="0"/>
                  <a:cs typeface="Segoe UI" panose="020B0502040204020203" pitchFamily="34" charset="0"/>
                </a:endParaRPr>
              </a:p>
            </p:txBody>
          </p:sp>
        </mc:Choice>
        <mc:Fallback xmlns="">
          <p:sp>
            <p:nvSpPr>
              <p:cNvPr id="35" name="Textfeld 34">
                <a:extLst>
                  <a:ext uri="{FF2B5EF4-FFF2-40B4-BE49-F238E27FC236}">
                    <a16:creationId xmlns:a16="http://schemas.microsoft.com/office/drawing/2014/main" id="{F7C346E3-676B-E744-2B93-73E3D18C1208}"/>
                  </a:ext>
                </a:extLst>
              </p:cNvPr>
              <p:cNvSpPr txBox="1">
                <a:spLocks noRot="1" noChangeAspect="1" noMove="1" noResize="1" noEditPoints="1" noAdjustHandles="1" noChangeArrowheads="1" noChangeShapeType="1" noTextEdit="1"/>
              </p:cNvSpPr>
              <p:nvPr/>
            </p:nvSpPr>
            <p:spPr>
              <a:xfrm>
                <a:off x="4170163" y="2669948"/>
                <a:ext cx="1633781" cy="738664"/>
              </a:xfrm>
              <a:prstGeom prst="rect">
                <a:avLst/>
              </a:prstGeom>
              <a:blipFill>
                <a:blip r:embed="rId6"/>
                <a:stretch>
                  <a:fillRect l="-775" t="-1695" r="-775"/>
                </a:stretch>
              </a:blipFill>
            </p:spPr>
            <p:txBody>
              <a:bodyPr/>
              <a:lstStyle/>
              <a:p>
                <a:r>
                  <a:rPr lang="de-DE">
                    <a:noFill/>
                  </a:rPr>
                  <a:t> </a:t>
                </a:r>
              </a:p>
            </p:txBody>
          </p:sp>
        </mc:Fallback>
      </mc:AlternateContent>
    </p:spTree>
    <p:extLst>
      <p:ext uri="{BB962C8B-B14F-4D97-AF65-F5344CB8AC3E}">
        <p14:creationId xmlns:p14="http://schemas.microsoft.com/office/powerpoint/2010/main" val="1834906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4" grpId="0"/>
      <p:bldP spid="3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Grafik 8" descr="Ein Bild, das Reihe, Diagramm, Kreis enthält.&#10;&#10;KI-generierte Inhalte können fehlerhaft sein.">
            <a:extLst>
              <a:ext uri="{FF2B5EF4-FFF2-40B4-BE49-F238E27FC236}">
                <a16:creationId xmlns:a16="http://schemas.microsoft.com/office/drawing/2014/main" id="{189408C1-A157-D93C-534A-D8272500F5D6}"/>
              </a:ext>
            </a:extLst>
          </p:cNvPr>
          <p:cNvPicPr>
            <a:picLocks noChangeAspect="1"/>
          </p:cNvPicPr>
          <p:nvPr/>
        </p:nvPicPr>
        <p:blipFill>
          <a:blip r:embed="rId2"/>
          <a:stretch>
            <a:fillRect/>
          </a:stretch>
        </p:blipFill>
        <p:spPr>
          <a:xfrm>
            <a:off x="440006" y="3230746"/>
            <a:ext cx="2246044" cy="1655390"/>
          </a:xfrm>
          <a:prstGeom prst="rect">
            <a:avLst/>
          </a:prstGeom>
        </p:spPr>
      </p:pic>
      <p:sp>
        <p:nvSpPr>
          <p:cNvPr id="2" name="Titel 1">
            <a:extLst>
              <a:ext uri="{FF2B5EF4-FFF2-40B4-BE49-F238E27FC236}">
                <a16:creationId xmlns:a16="http://schemas.microsoft.com/office/drawing/2014/main" id="{AE15C3C9-B324-CDAD-42CA-4C5F4D214445}"/>
              </a:ext>
            </a:extLst>
          </p:cNvPr>
          <p:cNvSpPr>
            <a:spLocks noGrp="1"/>
          </p:cNvSpPr>
          <p:nvPr>
            <p:ph type="title"/>
          </p:nvPr>
        </p:nvSpPr>
        <p:spPr/>
        <p:txBody>
          <a:bodyPr/>
          <a:lstStyle/>
          <a:p>
            <a:r>
              <a:rPr lang="en-US" noProof="0" dirty="0"/>
              <a:t>Example</a:t>
            </a:r>
          </a:p>
        </p:txBody>
      </p:sp>
      <p:sp>
        <p:nvSpPr>
          <p:cNvPr id="3" name="Inhaltsplatzhalter 2">
            <a:extLst>
              <a:ext uri="{FF2B5EF4-FFF2-40B4-BE49-F238E27FC236}">
                <a16:creationId xmlns:a16="http://schemas.microsoft.com/office/drawing/2014/main" id="{4153C231-82B3-0A04-668B-2408859BB4F6}"/>
              </a:ext>
            </a:extLst>
          </p:cNvPr>
          <p:cNvSpPr>
            <a:spLocks noGrp="1"/>
          </p:cNvSpPr>
          <p:nvPr>
            <p:ph idx="1"/>
          </p:nvPr>
        </p:nvSpPr>
        <p:spPr>
          <a:xfrm>
            <a:off x="628650" y="1082278"/>
            <a:ext cx="7886700" cy="3263504"/>
          </a:xfrm>
        </p:spPr>
        <p:txBody>
          <a:bodyPr/>
          <a:lstStyle/>
          <a:p>
            <a:pPr marL="0" indent="0">
              <a:buNone/>
            </a:pPr>
            <a:r>
              <a:rPr lang="en-US" noProof="0" dirty="0"/>
              <a:t>It gets a bit more complicated if two poles collide</a:t>
            </a:r>
          </a:p>
        </p:txBody>
      </p:sp>
      <p:sp>
        <p:nvSpPr>
          <p:cNvPr id="4" name="Fußzeilenplatzhalter 3">
            <a:extLst>
              <a:ext uri="{FF2B5EF4-FFF2-40B4-BE49-F238E27FC236}">
                <a16:creationId xmlns:a16="http://schemas.microsoft.com/office/drawing/2014/main" id="{F1D79878-5920-CE87-ED2E-2D5B1E631003}"/>
              </a:ext>
            </a:extLst>
          </p:cNvPr>
          <p:cNvSpPr>
            <a:spLocks noGrp="1"/>
          </p:cNvSpPr>
          <p:nvPr>
            <p:ph type="ftr" sz="quarter" idx="11"/>
          </p:nvPr>
        </p:nvSpPr>
        <p:spPr/>
        <p:txBody>
          <a:bodyPr/>
          <a:lstStyle/>
          <a:p>
            <a:pPr defTabSz="342900">
              <a:buClrTx/>
            </a:pPr>
            <a:r>
              <a:rPr lang="en-US" kern="1200" noProof="0" dirty="0">
                <a:solidFill>
                  <a:srgbClr val="101623">
                    <a:tint val="75000"/>
                  </a:srgbClr>
                </a:solidFill>
                <a:latin typeface="Calibri" panose="020F0502020204030204"/>
                <a:ea typeface="+mn-ea"/>
                <a:cs typeface="+mn-cs"/>
              </a:rPr>
              <a:t>Kissan Varatharajan - </a:t>
            </a:r>
            <a:r>
              <a:rPr lang="en-US" kern="1200" noProof="0" dirty="0" err="1">
                <a:solidFill>
                  <a:srgbClr val="101623">
                    <a:tint val="75000"/>
                  </a:srgbClr>
                </a:solidFill>
                <a:latin typeface="Calibri" panose="020F0502020204030204"/>
                <a:ea typeface="+mn-ea"/>
                <a:cs typeface="+mn-cs"/>
              </a:rPr>
              <a:t>kissanv.github.io</a:t>
            </a:r>
            <a:endParaRPr lang="en-US" kern="1200" noProof="0" dirty="0">
              <a:solidFill>
                <a:srgbClr val="101623">
                  <a:tint val="75000"/>
                </a:srgbClr>
              </a:solidFill>
              <a:latin typeface="Calibri" panose="020F0502020204030204"/>
              <a:ea typeface="+mn-ea"/>
              <a:cs typeface="+mn-cs"/>
            </a:endParaRPr>
          </a:p>
        </p:txBody>
      </p:sp>
      <p:sp>
        <p:nvSpPr>
          <p:cNvPr id="5" name="Foliennummernplatzhalter 4">
            <a:extLst>
              <a:ext uri="{FF2B5EF4-FFF2-40B4-BE49-F238E27FC236}">
                <a16:creationId xmlns:a16="http://schemas.microsoft.com/office/drawing/2014/main" id="{57592AD6-F71C-B35E-03AE-9A7BFD79A9B7}"/>
              </a:ext>
            </a:extLst>
          </p:cNvPr>
          <p:cNvSpPr>
            <a:spLocks noGrp="1"/>
          </p:cNvSpPr>
          <p:nvPr>
            <p:ph type="sldNum" sz="quarter" idx="12"/>
          </p:nvPr>
        </p:nvSpPr>
        <p:spPr/>
        <p:txBody>
          <a:bodyPr/>
          <a:lstStyle/>
          <a:p>
            <a:pPr defTabSz="342900">
              <a:buClrTx/>
            </a:pPr>
            <a:fld id="{36EAFFE7-40E2-CA47-82C0-73D0FC591208}" type="slidenum">
              <a:rPr lang="en-US" kern="1200" noProof="0" smtClean="0">
                <a:solidFill>
                  <a:srgbClr val="101623">
                    <a:tint val="75000"/>
                  </a:srgbClr>
                </a:solidFill>
                <a:latin typeface="Calibri" panose="020F0502020204030204"/>
                <a:ea typeface="+mn-ea"/>
                <a:cs typeface="+mn-cs"/>
              </a:rPr>
              <a:pPr defTabSz="342900">
                <a:buClrTx/>
              </a:pPr>
              <a:t>21</a:t>
            </a:fld>
            <a:endParaRPr lang="en-US" kern="1200" noProof="0" dirty="0">
              <a:solidFill>
                <a:srgbClr val="101623">
                  <a:tint val="75000"/>
                </a:srgbClr>
              </a:solidFill>
              <a:latin typeface="Calibri" panose="020F0502020204030204"/>
              <a:ea typeface="+mn-ea"/>
              <a:cs typeface="+mn-cs"/>
            </a:endParaRPr>
          </a:p>
        </p:txBody>
      </p:sp>
      <p:pic>
        <p:nvPicPr>
          <p:cNvPr id="7" name="Grafik 6" descr="Ein Bild, das Reihe, Diagramm, Schrift enthält.&#10;&#10;KI-generierte Inhalte können fehlerhaft sein.">
            <a:extLst>
              <a:ext uri="{FF2B5EF4-FFF2-40B4-BE49-F238E27FC236}">
                <a16:creationId xmlns:a16="http://schemas.microsoft.com/office/drawing/2014/main" id="{F5E05DEE-6AA0-5481-B16D-5E2BB9478660}"/>
              </a:ext>
            </a:extLst>
          </p:cNvPr>
          <p:cNvPicPr>
            <a:picLocks noChangeAspect="1"/>
          </p:cNvPicPr>
          <p:nvPr/>
        </p:nvPicPr>
        <p:blipFill>
          <a:blip r:embed="rId3"/>
          <a:srcRect l="2313" t="3230"/>
          <a:stretch>
            <a:fillRect/>
          </a:stretch>
        </p:blipFill>
        <p:spPr>
          <a:xfrm>
            <a:off x="628651" y="1508173"/>
            <a:ext cx="1951818" cy="1750740"/>
          </a:xfrm>
          <a:prstGeom prst="rect">
            <a:avLst/>
          </a:prstGeom>
        </p:spPr>
      </p:pic>
      <mc:AlternateContent xmlns:mc="http://schemas.openxmlformats.org/markup-compatibility/2006" xmlns:a14="http://schemas.microsoft.com/office/drawing/2010/main">
        <mc:Choice Requires="a14">
          <p:sp>
            <p:nvSpPr>
              <p:cNvPr id="10" name="Textfeld 9">
                <a:extLst>
                  <a:ext uri="{FF2B5EF4-FFF2-40B4-BE49-F238E27FC236}">
                    <a16:creationId xmlns:a16="http://schemas.microsoft.com/office/drawing/2014/main" id="{0F68CD06-A20C-A8F5-8EF8-E99162098ACA}"/>
                  </a:ext>
                </a:extLst>
              </p:cNvPr>
              <p:cNvSpPr txBox="1"/>
              <p:nvPr/>
            </p:nvSpPr>
            <p:spPr>
              <a:xfrm>
                <a:off x="3028950" y="1491675"/>
                <a:ext cx="5168684" cy="2062103"/>
              </a:xfrm>
              <a:prstGeom prst="rect">
                <a:avLst/>
              </a:prstGeom>
              <a:noFill/>
            </p:spPr>
            <p:txBody>
              <a:bodyPr wrap="square" rtlCol="0">
                <a:spAutoFit/>
              </a:bodyPr>
              <a:lstStyle/>
              <a:p>
                <a:r>
                  <a:rPr lang="en-US" sz="1600" noProof="0" dirty="0">
                    <a:solidFill>
                      <a:schemeClr val="accent5"/>
                    </a:solidFill>
                    <a:latin typeface="Segoe UI" panose="020B0502040204020203" pitchFamily="34" charset="0"/>
                    <a:cs typeface="Segoe UI" panose="020B0502040204020203" pitchFamily="34" charset="0"/>
                  </a:rPr>
                  <a:t>from the property before we know that the space between the poles is on the RL </a:t>
                </a:r>
              </a:p>
              <a:p>
                <a:endParaRPr lang="en-US" sz="1600" noProof="0" dirty="0">
                  <a:solidFill>
                    <a:schemeClr val="accent5"/>
                  </a:solidFill>
                  <a:latin typeface="Segoe UI" panose="020B0502040204020203" pitchFamily="34" charset="0"/>
                  <a:cs typeface="Segoe UI" panose="020B0502040204020203" pitchFamily="34" charset="0"/>
                </a:endParaRPr>
              </a:p>
              <a:p>
                <a:r>
                  <a:rPr lang="en-US" sz="1600" noProof="0" dirty="0">
                    <a:solidFill>
                      <a:schemeClr val="tx1"/>
                    </a:solidFill>
                    <a:latin typeface="Segoe UI" panose="020B0502040204020203" pitchFamily="34" charset="0"/>
                    <a:cs typeface="Segoe UI" panose="020B0502040204020203" pitchFamily="34" charset="0"/>
                  </a:rPr>
                  <a:t>new rule: if two poles collide, they rotate about 90° </a:t>
                </a:r>
              </a:p>
              <a:p>
                <a14:m>
                  <m:oMath xmlns:m="http://schemas.openxmlformats.org/officeDocument/2006/math">
                    <m:r>
                      <a:rPr lang="en-US" sz="1600" i="1" noProof="0" smtClean="0">
                        <a:solidFill>
                          <a:schemeClr val="tx1"/>
                        </a:solidFill>
                        <a:latin typeface="Cambria Math" panose="02040503050406030204" pitchFamily="18" charset="0"/>
                        <a:cs typeface="Segoe UI" panose="020B0502040204020203" pitchFamily="34" charset="0"/>
                      </a:rPr>
                      <m:t>⟶</m:t>
                    </m:r>
                  </m:oMath>
                </a14:m>
                <a:r>
                  <a:rPr lang="en-US" sz="1600" noProof="0" dirty="0">
                    <a:solidFill>
                      <a:schemeClr val="tx1"/>
                    </a:solidFill>
                    <a:latin typeface="Segoe UI" panose="020B0502040204020203" pitchFamily="34" charset="0"/>
                    <a:cs typeface="Segoe UI" panose="020B0502040204020203" pitchFamily="34" charset="0"/>
                  </a:rPr>
                  <a:t> how do they exactly wander off to ±∞ ?</a:t>
                </a:r>
              </a:p>
              <a:p>
                <a:pPr lvl="3"/>
                <a:r>
                  <a:rPr lang="en-US" sz="1600" noProof="0" dirty="0">
                    <a:solidFill>
                      <a:schemeClr val="tx1"/>
                    </a:solidFill>
                    <a:cs typeface="Segoe UI" panose="020B0502040204020203" pitchFamily="34" charset="0"/>
                  </a:rPr>
                  <a:t>	</a:t>
                </a:r>
                <a14:m>
                  <m:oMath xmlns:m="http://schemas.openxmlformats.org/officeDocument/2006/math">
                    <m:r>
                      <a:rPr lang="en-US" sz="1600" i="1" noProof="0" smtClean="0">
                        <a:solidFill>
                          <a:schemeClr val="tx1"/>
                        </a:solidFill>
                        <a:latin typeface="Cambria Math" panose="02040503050406030204" pitchFamily="18" charset="0"/>
                        <a:cs typeface="Segoe UI" panose="020B0502040204020203" pitchFamily="34" charset="0"/>
                      </a:rPr>
                      <m:t>⟶</m:t>
                    </m:r>
                  </m:oMath>
                </a14:m>
                <a:r>
                  <a:rPr lang="en-US" sz="1600" noProof="0" dirty="0">
                    <a:solidFill>
                      <a:schemeClr val="tx1"/>
                    </a:solidFill>
                    <a:latin typeface="Segoe UI" panose="020B0502040204020203" pitchFamily="34" charset="0"/>
                    <a:cs typeface="Segoe UI" panose="020B0502040204020203" pitchFamily="34" charset="0"/>
                  </a:rPr>
                  <a:t> </a:t>
                </a:r>
                <a:r>
                  <a:rPr lang="en-US" sz="1600" b="1" noProof="0" dirty="0">
                    <a:solidFill>
                      <a:schemeClr val="tx1"/>
                    </a:solidFill>
                    <a:latin typeface="Segoe UI" panose="020B0502040204020203" pitchFamily="34" charset="0"/>
                    <a:cs typeface="Segoe UI" panose="020B0502040204020203" pitchFamily="34" charset="0"/>
                  </a:rPr>
                  <a:t>asymptotes</a:t>
                </a:r>
              </a:p>
              <a:p>
                <a:pPr lvl="3"/>
                <a:r>
                  <a:rPr lang="en-US" sz="1600" noProof="0" dirty="0">
                    <a:solidFill>
                      <a:schemeClr val="tx1"/>
                    </a:solidFill>
                    <a:cs typeface="Segoe UI" panose="020B0502040204020203" pitchFamily="34" charset="0"/>
                  </a:rPr>
                  <a:t>	</a:t>
                </a:r>
                <a14:m>
                  <m:oMath xmlns:m="http://schemas.openxmlformats.org/officeDocument/2006/math">
                    <m:r>
                      <a:rPr lang="en-US" sz="1600" i="1" noProof="0" smtClean="0">
                        <a:solidFill>
                          <a:schemeClr val="tx1"/>
                        </a:solidFill>
                        <a:latin typeface="Cambria Math" panose="02040503050406030204" pitchFamily="18" charset="0"/>
                        <a:cs typeface="Segoe UI" panose="020B0502040204020203" pitchFamily="34" charset="0"/>
                      </a:rPr>
                      <m:t>⟶</m:t>
                    </m:r>
                  </m:oMath>
                </a14:m>
                <a:r>
                  <a:rPr lang="en-US" sz="1600" noProof="0" dirty="0">
                    <a:solidFill>
                      <a:schemeClr val="tx1"/>
                    </a:solidFill>
                    <a:latin typeface="Segoe UI" panose="020B0502040204020203" pitchFamily="34" charset="0"/>
                    <a:cs typeface="Segoe UI" panose="020B0502040204020203" pitchFamily="34" charset="0"/>
                  </a:rPr>
                  <a:t> </a:t>
                </a:r>
                <a:r>
                  <a:rPr lang="en-US" sz="1600" b="1" noProof="0" dirty="0">
                    <a:solidFill>
                      <a:schemeClr val="tx1"/>
                    </a:solidFill>
                    <a:latin typeface="Segoe UI" panose="020B0502040204020203" pitchFamily="34" charset="0"/>
                    <a:cs typeface="Segoe UI" panose="020B0502040204020203" pitchFamily="34" charset="0"/>
                  </a:rPr>
                  <a:t>breakaway points</a:t>
                </a:r>
              </a:p>
              <a:p>
                <a:endParaRPr lang="en-US" sz="1600" noProof="0" dirty="0">
                  <a:solidFill>
                    <a:schemeClr val="tx1"/>
                  </a:solidFill>
                  <a:latin typeface="Segoe UI" panose="020B0502040204020203" pitchFamily="34" charset="0"/>
                  <a:cs typeface="Segoe UI" panose="020B0502040204020203" pitchFamily="34" charset="0"/>
                </a:endParaRPr>
              </a:p>
            </p:txBody>
          </p:sp>
        </mc:Choice>
        <mc:Fallback xmlns="">
          <p:sp>
            <p:nvSpPr>
              <p:cNvPr id="10" name="Textfeld 9">
                <a:extLst>
                  <a:ext uri="{FF2B5EF4-FFF2-40B4-BE49-F238E27FC236}">
                    <a16:creationId xmlns:a16="http://schemas.microsoft.com/office/drawing/2014/main" id="{0F68CD06-A20C-A8F5-8EF8-E99162098ACA}"/>
                  </a:ext>
                </a:extLst>
              </p:cNvPr>
              <p:cNvSpPr txBox="1">
                <a:spLocks noRot="1" noChangeAspect="1" noMove="1" noResize="1" noEditPoints="1" noAdjustHandles="1" noChangeArrowheads="1" noChangeShapeType="1" noTextEdit="1"/>
              </p:cNvSpPr>
              <p:nvPr/>
            </p:nvSpPr>
            <p:spPr>
              <a:xfrm>
                <a:off x="3028950" y="1491675"/>
                <a:ext cx="5168684" cy="2062103"/>
              </a:xfrm>
              <a:prstGeom prst="rect">
                <a:avLst/>
              </a:prstGeom>
              <a:blipFill>
                <a:blip r:embed="rId4"/>
                <a:stretch>
                  <a:fillRect l="-490" t="-613"/>
                </a:stretch>
              </a:blipFill>
            </p:spPr>
            <p:txBody>
              <a:bodyPr/>
              <a:lstStyle/>
              <a:p>
                <a:r>
                  <a:rPr lang="de-DE">
                    <a:noFill/>
                  </a:rPr>
                  <a:t> </a:t>
                </a:r>
              </a:p>
            </p:txBody>
          </p:sp>
        </mc:Fallback>
      </mc:AlternateContent>
      <p:sp>
        <p:nvSpPr>
          <p:cNvPr id="11" name="Textfeld 10">
            <a:extLst>
              <a:ext uri="{FF2B5EF4-FFF2-40B4-BE49-F238E27FC236}">
                <a16:creationId xmlns:a16="http://schemas.microsoft.com/office/drawing/2014/main" id="{13A7B582-F746-ED77-28FB-7D9F46D49271}"/>
              </a:ext>
            </a:extLst>
          </p:cNvPr>
          <p:cNvSpPr txBox="1"/>
          <p:nvPr/>
        </p:nvSpPr>
        <p:spPr>
          <a:xfrm>
            <a:off x="5867078" y="3923110"/>
            <a:ext cx="2417736" cy="738664"/>
          </a:xfrm>
          <a:prstGeom prst="rect">
            <a:avLst/>
          </a:prstGeom>
          <a:noFill/>
        </p:spPr>
        <p:txBody>
          <a:bodyPr wrap="square" rtlCol="0">
            <a:spAutoFit/>
          </a:bodyPr>
          <a:lstStyle/>
          <a:p>
            <a:r>
              <a:rPr lang="en-US" noProof="0" dirty="0">
                <a:solidFill>
                  <a:schemeClr val="bg1">
                    <a:lumMod val="50000"/>
                  </a:schemeClr>
                </a:solidFill>
                <a:latin typeface="Segoe UI" panose="020B0502040204020203" pitchFamily="34" charset="0"/>
                <a:cs typeface="Segoe UI" panose="020B0502040204020203" pitchFamily="34" charset="0"/>
              </a:rPr>
              <a:t>difficult to draw by hand not relevant to us, mostly something elliptic looking</a:t>
            </a:r>
          </a:p>
        </p:txBody>
      </p:sp>
      <mc:AlternateContent xmlns:mc="http://schemas.openxmlformats.org/markup-compatibility/2006" xmlns:a14="http://schemas.microsoft.com/office/drawing/2010/main">
        <mc:Choice Requires="a14">
          <p:sp>
            <p:nvSpPr>
              <p:cNvPr id="6" name="Textfeld 5">
                <a:extLst>
                  <a:ext uri="{FF2B5EF4-FFF2-40B4-BE49-F238E27FC236}">
                    <a16:creationId xmlns:a16="http://schemas.microsoft.com/office/drawing/2014/main" id="{13F0C0BA-FF81-B830-EF91-2DE09C5A06F6}"/>
                  </a:ext>
                </a:extLst>
              </p:cNvPr>
              <p:cNvSpPr txBox="1"/>
              <p:nvPr/>
            </p:nvSpPr>
            <p:spPr>
              <a:xfrm>
                <a:off x="3053080" y="3411171"/>
                <a:ext cx="4433570" cy="1077218"/>
              </a:xfrm>
              <a:prstGeom prst="rect">
                <a:avLst/>
              </a:prstGeom>
              <a:noFill/>
            </p:spPr>
            <p:txBody>
              <a:bodyPr wrap="square" rtlCol="0">
                <a:spAutoFit/>
              </a:bodyPr>
              <a:lstStyle/>
              <a:p>
                <a:r>
                  <a:rPr lang="en-US" sz="1600" noProof="0" dirty="0">
                    <a:solidFill>
                      <a:schemeClr val="tx1"/>
                    </a:solidFill>
                    <a:latin typeface="Segoe UI" panose="020B0502040204020203" pitchFamily="34" charset="0"/>
                    <a:cs typeface="Segoe UI" panose="020B0502040204020203" pitchFamily="34" charset="0"/>
                  </a:rPr>
                  <a:t>another example: one pole wanders off to −∞ and the other one goes to the zero</a:t>
                </a:r>
              </a:p>
              <a:p>
                <a14:m>
                  <m:oMath xmlns:m="http://schemas.openxmlformats.org/officeDocument/2006/math">
                    <m:r>
                      <a:rPr lang="en-US" sz="1600" i="1" noProof="0">
                        <a:solidFill>
                          <a:schemeClr val="tx1"/>
                        </a:solidFill>
                        <a:latin typeface="Cambria Math" panose="02040503050406030204" pitchFamily="18" charset="0"/>
                        <a:cs typeface="Segoe UI" panose="020B0502040204020203" pitchFamily="34" charset="0"/>
                      </a:rPr>
                      <m:t>⟶</m:t>
                    </m:r>
                  </m:oMath>
                </a14:m>
                <a:r>
                  <a:rPr lang="en-US" sz="1600" noProof="0" dirty="0">
                    <a:solidFill>
                      <a:schemeClr val="tx1"/>
                    </a:solidFill>
                    <a:latin typeface="Segoe UI" panose="020B0502040204020203" pitchFamily="34" charset="0"/>
                    <a:cs typeface="Segoe UI" panose="020B0502040204020203" pitchFamily="34" charset="0"/>
                  </a:rPr>
                  <a:t> what happens in between?</a:t>
                </a:r>
                <a:endParaRPr lang="en-US" sz="1600" noProof="0" dirty="0">
                  <a:solidFill>
                    <a:schemeClr val="accent5"/>
                  </a:solidFill>
                  <a:latin typeface="Segoe UI" panose="020B0502040204020203" pitchFamily="34" charset="0"/>
                  <a:cs typeface="Segoe UI" panose="020B0502040204020203" pitchFamily="34" charset="0"/>
                </a:endParaRPr>
              </a:p>
              <a:p>
                <a:endParaRPr lang="en-US" sz="1600" noProof="0" dirty="0">
                  <a:latin typeface="Segoe UI" panose="020B0502040204020203" pitchFamily="34" charset="0"/>
                  <a:cs typeface="Segoe UI" panose="020B0502040204020203" pitchFamily="34" charset="0"/>
                </a:endParaRPr>
              </a:p>
            </p:txBody>
          </p:sp>
        </mc:Choice>
        <mc:Fallback xmlns="">
          <p:sp>
            <p:nvSpPr>
              <p:cNvPr id="6" name="Textfeld 5">
                <a:extLst>
                  <a:ext uri="{FF2B5EF4-FFF2-40B4-BE49-F238E27FC236}">
                    <a16:creationId xmlns:a16="http://schemas.microsoft.com/office/drawing/2014/main" id="{13F0C0BA-FF81-B830-EF91-2DE09C5A06F6}"/>
                  </a:ext>
                </a:extLst>
              </p:cNvPr>
              <p:cNvSpPr txBox="1">
                <a:spLocks noRot="1" noChangeAspect="1" noMove="1" noResize="1" noEditPoints="1" noAdjustHandles="1" noChangeArrowheads="1" noChangeShapeType="1" noTextEdit="1"/>
              </p:cNvSpPr>
              <p:nvPr/>
            </p:nvSpPr>
            <p:spPr>
              <a:xfrm>
                <a:off x="3053080" y="3411171"/>
                <a:ext cx="4433570" cy="1077218"/>
              </a:xfrm>
              <a:prstGeom prst="rect">
                <a:avLst/>
              </a:prstGeom>
              <a:blipFill>
                <a:blip r:embed="rId5"/>
                <a:stretch>
                  <a:fillRect l="-571" t="-1163"/>
                </a:stretch>
              </a:blipFill>
            </p:spPr>
            <p:txBody>
              <a:bodyPr/>
              <a:lstStyle/>
              <a:p>
                <a:r>
                  <a:rPr lang="de-DE">
                    <a:noFill/>
                  </a:rPr>
                  <a:t> </a:t>
                </a:r>
              </a:p>
            </p:txBody>
          </p:sp>
        </mc:Fallback>
      </mc:AlternateContent>
    </p:spTree>
    <p:extLst>
      <p:ext uri="{BB962C8B-B14F-4D97-AF65-F5344CB8AC3E}">
        <p14:creationId xmlns:p14="http://schemas.microsoft.com/office/powerpoint/2010/main" val="3294026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a:extLst>
              <a:ext uri="{FF2B5EF4-FFF2-40B4-BE49-F238E27FC236}">
                <a16:creationId xmlns:a16="http://schemas.microsoft.com/office/drawing/2014/main" id="{10187299-5243-1D51-BC7F-E1A1197B1399}"/>
              </a:ext>
            </a:extLst>
          </p:cNvPr>
          <p:cNvSpPr>
            <a:spLocks noGrp="1"/>
          </p:cNvSpPr>
          <p:nvPr>
            <p:ph type="ftr" sz="quarter" idx="11"/>
          </p:nvPr>
        </p:nvSpPr>
        <p:spPr/>
        <p:txBody>
          <a:bodyPr/>
          <a:lstStyle/>
          <a:p>
            <a:pPr defTabSz="342900">
              <a:buClrTx/>
            </a:pPr>
            <a:r>
              <a:rPr lang="en-US" kern="1200" noProof="0" dirty="0">
                <a:solidFill>
                  <a:srgbClr val="101623">
                    <a:tint val="75000"/>
                  </a:srgbClr>
                </a:solidFill>
                <a:latin typeface="Calibri" panose="020F0502020204030204"/>
                <a:ea typeface="+mn-ea"/>
                <a:cs typeface="+mn-cs"/>
              </a:rPr>
              <a:t>Kissan Varatharajan - </a:t>
            </a:r>
            <a:r>
              <a:rPr lang="en-US" kern="1200" noProof="0" dirty="0" err="1">
                <a:solidFill>
                  <a:srgbClr val="101623">
                    <a:tint val="75000"/>
                  </a:srgbClr>
                </a:solidFill>
                <a:latin typeface="Calibri" panose="020F0502020204030204"/>
                <a:ea typeface="+mn-ea"/>
                <a:cs typeface="+mn-cs"/>
              </a:rPr>
              <a:t>kissanv.github.io</a:t>
            </a:r>
            <a:endParaRPr lang="en-US" kern="1200" noProof="0" dirty="0">
              <a:solidFill>
                <a:srgbClr val="101623">
                  <a:tint val="75000"/>
                </a:srgbClr>
              </a:solidFill>
              <a:latin typeface="Calibri" panose="020F0502020204030204"/>
              <a:ea typeface="+mn-ea"/>
              <a:cs typeface="+mn-cs"/>
            </a:endParaRPr>
          </a:p>
        </p:txBody>
      </p:sp>
      <p:sp>
        <p:nvSpPr>
          <p:cNvPr id="5" name="Foliennummernplatzhalter 4">
            <a:extLst>
              <a:ext uri="{FF2B5EF4-FFF2-40B4-BE49-F238E27FC236}">
                <a16:creationId xmlns:a16="http://schemas.microsoft.com/office/drawing/2014/main" id="{FB41350D-FEC9-E704-293C-E2FDC6C10F02}"/>
              </a:ext>
            </a:extLst>
          </p:cNvPr>
          <p:cNvSpPr>
            <a:spLocks noGrp="1"/>
          </p:cNvSpPr>
          <p:nvPr>
            <p:ph type="sldNum" sz="quarter" idx="12"/>
          </p:nvPr>
        </p:nvSpPr>
        <p:spPr/>
        <p:txBody>
          <a:bodyPr/>
          <a:lstStyle/>
          <a:p>
            <a:pPr defTabSz="342900">
              <a:buClrTx/>
            </a:pPr>
            <a:fld id="{36EAFFE7-40E2-CA47-82C0-73D0FC591208}" type="slidenum">
              <a:rPr lang="en-US" kern="1200" noProof="0" smtClean="0">
                <a:solidFill>
                  <a:srgbClr val="101623">
                    <a:tint val="75000"/>
                  </a:srgbClr>
                </a:solidFill>
                <a:latin typeface="Calibri" panose="020F0502020204030204"/>
                <a:ea typeface="+mn-ea"/>
                <a:cs typeface="+mn-cs"/>
              </a:rPr>
              <a:pPr defTabSz="342900">
                <a:buClrTx/>
              </a:pPr>
              <a:t>22</a:t>
            </a:fld>
            <a:endParaRPr lang="en-US" kern="1200" noProof="0" dirty="0">
              <a:solidFill>
                <a:srgbClr val="101623">
                  <a:tint val="75000"/>
                </a:srgbClr>
              </a:solidFill>
              <a:latin typeface="Calibri" panose="020F0502020204030204"/>
              <a:ea typeface="+mn-ea"/>
              <a:cs typeface="+mn-cs"/>
            </a:endParaRPr>
          </a:p>
        </p:txBody>
      </p:sp>
      <p:pic>
        <p:nvPicPr>
          <p:cNvPr id="7" name="Grafik 6" descr="Ein Bild, das Text, Screenshot, Schrift, Reihe enthält.&#10;&#10;KI-generierte Inhalte können fehlerhaft sein.">
            <a:extLst>
              <a:ext uri="{FF2B5EF4-FFF2-40B4-BE49-F238E27FC236}">
                <a16:creationId xmlns:a16="http://schemas.microsoft.com/office/drawing/2014/main" id="{BE132C4B-EADD-EEBC-FD84-777A11C94007}"/>
              </a:ext>
            </a:extLst>
          </p:cNvPr>
          <p:cNvPicPr>
            <a:picLocks noChangeAspect="1"/>
          </p:cNvPicPr>
          <p:nvPr/>
        </p:nvPicPr>
        <p:blipFill>
          <a:blip r:embed="rId3"/>
          <a:stretch>
            <a:fillRect/>
          </a:stretch>
        </p:blipFill>
        <p:spPr>
          <a:xfrm>
            <a:off x="148437" y="349994"/>
            <a:ext cx="8847125" cy="4417269"/>
          </a:xfrm>
          <a:prstGeom prst="rect">
            <a:avLst/>
          </a:prstGeom>
        </p:spPr>
      </p:pic>
    </p:spTree>
    <p:extLst>
      <p:ext uri="{BB962C8B-B14F-4D97-AF65-F5344CB8AC3E}">
        <p14:creationId xmlns:p14="http://schemas.microsoft.com/office/powerpoint/2010/main" val="23994560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Grafik 10" descr="Ein Bild, das Reihe, Diagramm, Screenshot, parallel enthält.&#10;&#10;KI-generierte Inhalte können fehlerhaft sein.">
            <a:extLst>
              <a:ext uri="{FF2B5EF4-FFF2-40B4-BE49-F238E27FC236}">
                <a16:creationId xmlns:a16="http://schemas.microsoft.com/office/drawing/2014/main" id="{3694CB94-1C04-E67F-3268-24CDF5766599}"/>
              </a:ext>
            </a:extLst>
          </p:cNvPr>
          <p:cNvPicPr>
            <a:picLocks noChangeAspect="1"/>
          </p:cNvPicPr>
          <p:nvPr/>
        </p:nvPicPr>
        <p:blipFill>
          <a:blip r:embed="rId2"/>
          <a:stretch>
            <a:fillRect/>
          </a:stretch>
        </p:blipFill>
        <p:spPr>
          <a:xfrm>
            <a:off x="5791746" y="2924205"/>
            <a:ext cx="3161829" cy="1979980"/>
          </a:xfrm>
          <a:prstGeom prst="rect">
            <a:avLst/>
          </a:prstGeom>
        </p:spPr>
      </p:pic>
      <p:pic>
        <p:nvPicPr>
          <p:cNvPr id="7" name="Inhaltsplatzhalter 6" descr="Ein Bild, das Reihe, Diagramm enthält.&#10;&#10;KI-generierte Inhalte können fehlerhaft sein.">
            <a:extLst>
              <a:ext uri="{FF2B5EF4-FFF2-40B4-BE49-F238E27FC236}">
                <a16:creationId xmlns:a16="http://schemas.microsoft.com/office/drawing/2014/main" id="{382FCB84-2F20-400F-985F-D4E5FDF1DC66}"/>
              </a:ext>
            </a:extLst>
          </p:cNvPr>
          <p:cNvPicPr>
            <a:picLocks noGrp="1" noChangeAspect="1"/>
          </p:cNvPicPr>
          <p:nvPr>
            <p:ph idx="1"/>
          </p:nvPr>
        </p:nvPicPr>
        <p:blipFill>
          <a:blip r:embed="rId3"/>
          <a:stretch>
            <a:fillRect/>
          </a:stretch>
        </p:blipFill>
        <p:spPr>
          <a:xfrm>
            <a:off x="57645" y="909736"/>
            <a:ext cx="2731275" cy="1839950"/>
          </a:xfrm>
        </p:spPr>
      </p:pic>
      <p:sp>
        <p:nvSpPr>
          <p:cNvPr id="4" name="Fußzeilenplatzhalter 3">
            <a:extLst>
              <a:ext uri="{FF2B5EF4-FFF2-40B4-BE49-F238E27FC236}">
                <a16:creationId xmlns:a16="http://schemas.microsoft.com/office/drawing/2014/main" id="{BC0676D3-DDD8-B620-D8A9-A08377522602}"/>
              </a:ext>
            </a:extLst>
          </p:cNvPr>
          <p:cNvSpPr>
            <a:spLocks noGrp="1"/>
          </p:cNvSpPr>
          <p:nvPr>
            <p:ph type="ftr" sz="quarter" idx="11"/>
          </p:nvPr>
        </p:nvSpPr>
        <p:spPr/>
        <p:txBody>
          <a:bodyPr/>
          <a:lstStyle/>
          <a:p>
            <a:pPr defTabSz="342900">
              <a:buClrTx/>
            </a:pPr>
            <a:r>
              <a:rPr lang="en-US" kern="1200" noProof="0" dirty="0">
                <a:solidFill>
                  <a:srgbClr val="101623">
                    <a:tint val="75000"/>
                  </a:srgbClr>
                </a:solidFill>
                <a:latin typeface="Calibri" panose="020F0502020204030204"/>
                <a:ea typeface="+mn-ea"/>
                <a:cs typeface="+mn-cs"/>
              </a:rPr>
              <a:t>Kissan Varatharajan - </a:t>
            </a:r>
            <a:r>
              <a:rPr lang="en-US" kern="1200" noProof="0" dirty="0" err="1">
                <a:solidFill>
                  <a:srgbClr val="101623">
                    <a:tint val="75000"/>
                  </a:srgbClr>
                </a:solidFill>
                <a:latin typeface="Calibri" panose="020F0502020204030204"/>
                <a:ea typeface="+mn-ea"/>
                <a:cs typeface="+mn-cs"/>
              </a:rPr>
              <a:t>kissanv.github.io</a:t>
            </a:r>
            <a:endParaRPr lang="en-US" kern="1200" noProof="0" dirty="0">
              <a:solidFill>
                <a:srgbClr val="101623">
                  <a:tint val="75000"/>
                </a:srgbClr>
              </a:solidFill>
              <a:latin typeface="Calibri" panose="020F0502020204030204"/>
              <a:ea typeface="+mn-ea"/>
              <a:cs typeface="+mn-cs"/>
            </a:endParaRPr>
          </a:p>
        </p:txBody>
      </p:sp>
      <p:sp>
        <p:nvSpPr>
          <p:cNvPr id="5" name="Foliennummernplatzhalter 4">
            <a:extLst>
              <a:ext uri="{FF2B5EF4-FFF2-40B4-BE49-F238E27FC236}">
                <a16:creationId xmlns:a16="http://schemas.microsoft.com/office/drawing/2014/main" id="{AB9C0B9D-695D-44E4-EB2C-D60104D6D1BD}"/>
              </a:ext>
            </a:extLst>
          </p:cNvPr>
          <p:cNvSpPr>
            <a:spLocks noGrp="1"/>
          </p:cNvSpPr>
          <p:nvPr>
            <p:ph type="sldNum" sz="quarter" idx="12"/>
          </p:nvPr>
        </p:nvSpPr>
        <p:spPr/>
        <p:txBody>
          <a:bodyPr/>
          <a:lstStyle/>
          <a:p>
            <a:pPr defTabSz="342900">
              <a:buClrTx/>
            </a:pPr>
            <a:fld id="{36EAFFE7-40E2-CA47-82C0-73D0FC591208}" type="slidenum">
              <a:rPr lang="en-US" kern="1200" noProof="0" smtClean="0">
                <a:solidFill>
                  <a:srgbClr val="101623">
                    <a:tint val="75000"/>
                  </a:srgbClr>
                </a:solidFill>
                <a:latin typeface="Calibri" panose="020F0502020204030204"/>
                <a:ea typeface="+mn-ea"/>
                <a:cs typeface="+mn-cs"/>
              </a:rPr>
              <a:pPr defTabSz="342900">
                <a:buClrTx/>
              </a:pPr>
              <a:t>23</a:t>
            </a:fld>
            <a:endParaRPr lang="en-US" kern="1200" noProof="0" dirty="0">
              <a:solidFill>
                <a:srgbClr val="101623">
                  <a:tint val="75000"/>
                </a:srgbClr>
              </a:solidFill>
              <a:latin typeface="Calibri" panose="020F0502020204030204"/>
              <a:ea typeface="+mn-ea"/>
              <a:cs typeface="+mn-cs"/>
            </a:endParaRPr>
          </a:p>
        </p:txBody>
      </p:sp>
      <p:sp>
        <p:nvSpPr>
          <p:cNvPr id="12" name="Textfeld 11">
            <a:extLst>
              <a:ext uri="{FF2B5EF4-FFF2-40B4-BE49-F238E27FC236}">
                <a16:creationId xmlns:a16="http://schemas.microsoft.com/office/drawing/2014/main" id="{2B58E3F1-6A0C-400D-BF1B-6C302DD9236C}"/>
              </a:ext>
            </a:extLst>
          </p:cNvPr>
          <p:cNvSpPr txBox="1"/>
          <p:nvPr/>
        </p:nvSpPr>
        <p:spPr>
          <a:xfrm>
            <a:off x="3593592" y="65256"/>
            <a:ext cx="5667767" cy="2308324"/>
          </a:xfrm>
          <a:prstGeom prst="rect">
            <a:avLst/>
          </a:prstGeom>
          <a:noFill/>
        </p:spPr>
        <p:txBody>
          <a:bodyPr wrap="square" rtlCol="0">
            <a:spAutoFit/>
          </a:bodyPr>
          <a:lstStyle/>
          <a:p>
            <a:pPr marL="285750" indent="-285750">
              <a:buFont typeface="Arial" panose="020B0604020202020204" pitchFamily="34" charset="0"/>
              <a:buChar char="•"/>
            </a:pPr>
            <a:r>
              <a:rPr lang="en-US" sz="1600" noProof="0" dirty="0">
                <a:latin typeface="Segoe UI" panose="020B0502040204020203" pitchFamily="34" charset="0"/>
                <a:cs typeface="Segoe UI" panose="020B0502040204020203" pitchFamily="34" charset="0"/>
              </a:rPr>
              <a:t>So, what happens when k → </a:t>
            </a:r>
            <a:r>
              <a:rPr lang="en-US" sz="1600" noProof="0" dirty="0">
                <a:solidFill>
                  <a:schemeClr val="tx1"/>
                </a:solidFill>
                <a:latin typeface="Segoe UI" panose="020B0502040204020203" pitchFamily="34" charset="0"/>
                <a:cs typeface="Segoe UI" panose="020B0502040204020203" pitchFamily="34" charset="0"/>
              </a:rPr>
              <a:t>∞ </a:t>
            </a:r>
            <a:r>
              <a:rPr lang="en-US" sz="1600" noProof="0" dirty="0">
                <a:latin typeface="Segoe UI" panose="020B0502040204020203" pitchFamily="34" charset="0"/>
                <a:cs typeface="Segoe UI" panose="020B0502040204020203" pitchFamily="34" charset="0"/>
              </a:rPr>
              <a:t>and there are more open-loop poles than zeros?</a:t>
            </a:r>
          </a:p>
          <a:p>
            <a:pPr marL="285750" indent="-285750">
              <a:buFont typeface="Arial" panose="020B0604020202020204" pitchFamily="34" charset="0"/>
              <a:buChar char="•"/>
            </a:pPr>
            <a:r>
              <a:rPr lang="en-US" sz="1600" noProof="0" dirty="0">
                <a:latin typeface="Segoe UI" panose="020B0502040204020203" pitchFamily="34" charset="0"/>
                <a:cs typeface="Segoe UI" panose="020B0502040204020203" pitchFamily="34" charset="0"/>
              </a:rPr>
              <a:t>We can see, e.g., from the magnitude condition, that the “excess” closed-loop poles will have to go to “to infinity”</a:t>
            </a:r>
          </a:p>
          <a:p>
            <a:pPr marL="285750" indent="-285750">
              <a:buFont typeface="Arial" panose="020B0604020202020204" pitchFamily="34" charset="0"/>
              <a:buChar char="•"/>
            </a:pPr>
            <a:r>
              <a:rPr lang="en-US" sz="1600" noProof="0" dirty="0">
                <a:latin typeface="Segoe UI" panose="020B0502040204020203" pitchFamily="34" charset="0"/>
                <a:cs typeface="Segoe UI" panose="020B0502040204020203" pitchFamily="34" charset="0"/>
              </a:rPr>
              <a:t>Since this is the complex plane, we need to identify “in which direction” they go towards infinity</a:t>
            </a:r>
          </a:p>
          <a:p>
            <a:pPr marL="285750" indent="-285750">
              <a:buFont typeface="Arial" panose="020B0604020202020204" pitchFamily="34" charset="0"/>
              <a:buChar char="•"/>
            </a:pPr>
            <a:r>
              <a:rPr lang="en-US" sz="1600" noProof="0" dirty="0">
                <a:latin typeface="Segoe UI" panose="020B0502040204020203" pitchFamily="34" charset="0"/>
                <a:cs typeface="Segoe UI" panose="020B0502040204020203" pitchFamily="34" charset="0"/>
              </a:rPr>
              <a:t>This is were we use the angle rule again</a:t>
            </a:r>
          </a:p>
          <a:p>
            <a:endParaRPr lang="en-US" sz="1600" noProof="0" dirty="0">
              <a:latin typeface="Segoe UI" panose="020B0502040204020203" pitchFamily="34" charset="0"/>
              <a:cs typeface="Segoe UI" panose="020B0502040204020203" pitchFamily="34" charset="0"/>
            </a:endParaRPr>
          </a:p>
          <a:p>
            <a:endParaRPr lang="en-US" sz="1600" noProof="0" dirty="0">
              <a:latin typeface="Segoe UI" panose="020B0502040204020203" pitchFamily="34" charset="0"/>
              <a:cs typeface="Segoe UI" panose="020B0502040204020203" pitchFamily="34" charset="0"/>
            </a:endParaRPr>
          </a:p>
        </p:txBody>
      </p:sp>
      <p:pic>
        <p:nvPicPr>
          <p:cNvPr id="9" name="Grafik 8" descr="Ein Bild, das Reihe, Diagramm, Screenshot, Steigung enthält.&#10;&#10;KI-generierte Inhalte können fehlerhaft sein.">
            <a:extLst>
              <a:ext uri="{FF2B5EF4-FFF2-40B4-BE49-F238E27FC236}">
                <a16:creationId xmlns:a16="http://schemas.microsoft.com/office/drawing/2014/main" id="{7B13924D-DC65-0E28-48BA-B2FDCF8A9318}"/>
              </a:ext>
            </a:extLst>
          </p:cNvPr>
          <p:cNvPicPr>
            <a:picLocks noChangeAspect="1"/>
          </p:cNvPicPr>
          <p:nvPr/>
        </p:nvPicPr>
        <p:blipFill>
          <a:blip r:embed="rId4"/>
          <a:stretch>
            <a:fillRect/>
          </a:stretch>
        </p:blipFill>
        <p:spPr>
          <a:xfrm>
            <a:off x="2970683" y="1892595"/>
            <a:ext cx="2630638" cy="1785762"/>
          </a:xfrm>
          <a:prstGeom prst="rect">
            <a:avLst/>
          </a:prstGeom>
        </p:spPr>
      </p:pic>
      <p:sp>
        <p:nvSpPr>
          <p:cNvPr id="2" name="Titel 1">
            <a:extLst>
              <a:ext uri="{FF2B5EF4-FFF2-40B4-BE49-F238E27FC236}">
                <a16:creationId xmlns:a16="http://schemas.microsoft.com/office/drawing/2014/main" id="{FCCB6E76-5A6C-AFD5-2333-21253FD05414}"/>
              </a:ext>
            </a:extLst>
          </p:cNvPr>
          <p:cNvSpPr>
            <a:spLocks noGrp="1"/>
          </p:cNvSpPr>
          <p:nvPr>
            <p:ph type="title"/>
          </p:nvPr>
        </p:nvSpPr>
        <p:spPr>
          <a:xfrm>
            <a:off x="446887" y="225246"/>
            <a:ext cx="2964942" cy="994172"/>
          </a:xfrm>
        </p:spPr>
        <p:txBody>
          <a:bodyPr/>
          <a:lstStyle/>
          <a:p>
            <a:r>
              <a:rPr lang="en-US" noProof="0" dirty="0"/>
              <a:t>Zooming Out</a:t>
            </a:r>
          </a:p>
        </p:txBody>
      </p:sp>
    </p:spTree>
    <p:extLst>
      <p:ext uri="{BB962C8B-B14F-4D97-AF65-F5344CB8AC3E}">
        <p14:creationId xmlns:p14="http://schemas.microsoft.com/office/powerpoint/2010/main" val="3956466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426421B-DC2F-65F0-1001-809150665BF9}"/>
              </a:ext>
            </a:extLst>
          </p:cNvPr>
          <p:cNvSpPr>
            <a:spLocks noGrp="1"/>
          </p:cNvSpPr>
          <p:nvPr>
            <p:ph type="title"/>
          </p:nvPr>
        </p:nvSpPr>
        <p:spPr/>
        <p:txBody>
          <a:bodyPr/>
          <a:lstStyle/>
          <a:p>
            <a:r>
              <a:rPr lang="en-US" noProof="0" dirty="0"/>
              <a:t>Asymptotes</a:t>
            </a:r>
          </a:p>
        </p:txBody>
      </p:sp>
      <mc:AlternateContent xmlns:mc="http://schemas.openxmlformats.org/markup-compatibility/2006" xmlns:a14="http://schemas.microsoft.com/office/drawing/2010/main">
        <mc:Choice Requires="a14">
          <p:sp>
            <p:nvSpPr>
              <p:cNvPr id="3" name="Inhaltsplatzhalter 2">
                <a:extLst>
                  <a:ext uri="{FF2B5EF4-FFF2-40B4-BE49-F238E27FC236}">
                    <a16:creationId xmlns:a16="http://schemas.microsoft.com/office/drawing/2014/main" id="{2416DA3E-E71B-08F2-6F3F-B937B466A64E}"/>
                  </a:ext>
                </a:extLst>
              </p:cNvPr>
              <p:cNvSpPr>
                <a:spLocks noGrp="1"/>
              </p:cNvSpPr>
              <p:nvPr>
                <p:ph idx="1"/>
              </p:nvPr>
            </p:nvSpPr>
            <p:spPr>
              <a:xfrm>
                <a:off x="628650" y="1183135"/>
                <a:ext cx="7886700" cy="3263504"/>
              </a:xfrm>
            </p:spPr>
            <p:txBody>
              <a:bodyPr/>
              <a:lstStyle/>
              <a:p>
                <a:r>
                  <a:rPr lang="en-US" noProof="0" dirty="0"/>
                  <a:t>If we “zoom out” sufficiently far, the contributions from each of the finite open-loop poles and zeros will all be approximately equal to ∠s, and the angle rule is approximated by </a:t>
                </a:r>
                <a14:m>
                  <m:oMath xmlns:m="http://schemas.openxmlformats.org/officeDocument/2006/math">
                    <m:d>
                      <m:dPr>
                        <m:ctrlPr>
                          <a:rPr lang="en-US" i="1" noProof="0" smtClean="0">
                            <a:latin typeface="Cambria Math" panose="02040503050406030204" pitchFamily="18" charset="0"/>
                          </a:rPr>
                        </m:ctrlPr>
                      </m:dPr>
                      <m:e>
                        <m:r>
                          <a:rPr lang="en-US" i="1" noProof="0" smtClean="0">
                            <a:latin typeface="Cambria Math" panose="02040503050406030204" pitchFamily="18" charset="0"/>
                          </a:rPr>
                          <m:t>𝑚</m:t>
                        </m:r>
                        <m:r>
                          <a:rPr lang="en-US" i="1" noProof="0" smtClean="0">
                            <a:latin typeface="Cambria Math" panose="02040503050406030204" pitchFamily="18" charset="0"/>
                          </a:rPr>
                          <m:t>−</m:t>
                        </m:r>
                        <m:r>
                          <a:rPr lang="en-US" i="1" noProof="0" smtClean="0">
                            <a:latin typeface="Cambria Math" panose="02040503050406030204" pitchFamily="18" charset="0"/>
                          </a:rPr>
                          <m:t>𝑛</m:t>
                        </m:r>
                      </m:e>
                    </m:d>
                    <m:r>
                      <a:rPr lang="en-US" i="1" noProof="0" smtClean="0">
                        <a:latin typeface="Cambria Math" panose="02040503050406030204" pitchFamily="18" charset="0"/>
                      </a:rPr>
                      <m:t>∠</m:t>
                    </m:r>
                    <m:r>
                      <a:rPr lang="en-US" i="1" noProof="0" smtClean="0">
                        <a:latin typeface="Cambria Math" panose="02040503050406030204" pitchFamily="18" charset="0"/>
                      </a:rPr>
                      <m:t>𝑠</m:t>
                    </m:r>
                    <m:r>
                      <a:rPr lang="en-US" i="1" noProof="0" smtClean="0">
                        <a:latin typeface="Cambria Math" panose="02040503050406030204" pitchFamily="18" charset="0"/>
                      </a:rPr>
                      <m:t>=∠</m:t>
                    </m:r>
                    <m:d>
                      <m:dPr>
                        <m:ctrlPr>
                          <a:rPr lang="en-US" i="1" noProof="0" smtClean="0">
                            <a:latin typeface="Cambria Math" panose="02040503050406030204" pitchFamily="18" charset="0"/>
                          </a:rPr>
                        </m:ctrlPr>
                      </m:dPr>
                      <m:e>
                        <m:r>
                          <a:rPr lang="en-US" i="1" noProof="0" smtClean="0">
                            <a:latin typeface="Cambria Math" panose="02040503050406030204" pitchFamily="18" charset="0"/>
                          </a:rPr>
                          <m:t>−</m:t>
                        </m:r>
                        <m:r>
                          <a:rPr lang="en-US" i="1" noProof="0" smtClean="0">
                            <a:latin typeface="Cambria Math" panose="02040503050406030204" pitchFamily="18" charset="0"/>
                          </a:rPr>
                          <m:t>𝑘</m:t>
                        </m:r>
                      </m:e>
                    </m:d>
                    <m:r>
                      <a:rPr lang="en-US" i="1" noProof="0" smtClean="0">
                        <a:latin typeface="Cambria Math" panose="02040503050406030204" pitchFamily="18" charset="0"/>
                      </a:rPr>
                      <m:t>±</m:t>
                    </m:r>
                    <m:r>
                      <a:rPr lang="en-US" i="1" noProof="0" smtClean="0">
                        <a:latin typeface="Cambria Math" panose="02040503050406030204" pitchFamily="18" charset="0"/>
                      </a:rPr>
                      <m:t>𝑞</m:t>
                    </m:r>
                    <m:r>
                      <a:rPr lang="en-US" i="1" noProof="0" smtClean="0">
                        <a:latin typeface="Cambria Math" panose="02040503050406030204" pitchFamily="18" charset="0"/>
                      </a:rPr>
                      <m:t>⋅</m:t>
                    </m:r>
                    <m:sSup>
                      <m:sSupPr>
                        <m:ctrlPr>
                          <a:rPr lang="en-US" i="1" noProof="0" smtClean="0">
                            <a:latin typeface="Cambria Math" panose="02040503050406030204" pitchFamily="18" charset="0"/>
                          </a:rPr>
                        </m:ctrlPr>
                      </m:sSupPr>
                      <m:e>
                        <m:r>
                          <a:rPr lang="en-US" i="1" noProof="0" smtClean="0">
                            <a:latin typeface="Cambria Math" panose="02040503050406030204" pitchFamily="18" charset="0"/>
                          </a:rPr>
                          <m:t>360</m:t>
                        </m:r>
                      </m:e>
                      <m:sup>
                        <m:r>
                          <a:rPr lang="en-US" i="1" noProof="0" smtClean="0">
                            <a:latin typeface="Cambria Math" panose="02040503050406030204" pitchFamily="18" charset="0"/>
                          </a:rPr>
                          <m:t>∘</m:t>
                        </m:r>
                      </m:sup>
                    </m:sSup>
                  </m:oMath>
                </a14:m>
                <a:endParaRPr lang="en-US" noProof="0" dirty="0"/>
              </a:p>
              <a:p>
                <a:r>
                  <a:rPr lang="en-US" noProof="0" dirty="0"/>
                  <a:t>In other words, as </a:t>
                </a:r>
                <a14:m>
                  <m:oMath xmlns:m="http://schemas.openxmlformats.org/officeDocument/2006/math">
                    <m:r>
                      <a:rPr lang="en-US" i="1" noProof="0" smtClean="0">
                        <a:latin typeface="Cambria Math" panose="02040503050406030204" pitchFamily="18" charset="0"/>
                      </a:rPr>
                      <m:t>𝑘</m:t>
                    </m:r>
                    <m:r>
                      <a:rPr lang="en-US" i="1" noProof="0" smtClean="0">
                        <a:latin typeface="Cambria Math" panose="02040503050406030204" pitchFamily="18" charset="0"/>
                      </a:rPr>
                      <m:t> ⟶∞</m:t>
                    </m:r>
                    <m:r>
                      <a:rPr lang="en-US" b="0" i="0" noProof="0" smtClean="0">
                        <a:latin typeface="Cambria Math" panose="02040503050406030204" pitchFamily="18" charset="0"/>
                      </a:rPr>
                      <m:t>,</m:t>
                    </m:r>
                  </m:oMath>
                </a14:m>
                <a:r>
                  <a:rPr lang="en-US" noProof="0" dirty="0"/>
                  <a:t> the excess poles will go to infinity along asymptotes at angle of</a:t>
                </a:r>
              </a:p>
              <a:p>
                <a:endParaRPr lang="en-US" noProof="0" dirty="0"/>
              </a:p>
              <a:p>
                <a:endParaRPr lang="en-US" noProof="0" dirty="0"/>
              </a:p>
              <a:p>
                <a:r>
                  <a:rPr lang="en-US" noProof="0" dirty="0"/>
                  <a:t>These asymptotes meet in a “center of mass” lying on the real axis at</a:t>
                </a:r>
              </a:p>
              <a:p>
                <a:endParaRPr lang="en-US" noProof="0" dirty="0"/>
              </a:p>
            </p:txBody>
          </p:sp>
        </mc:Choice>
        <mc:Fallback xmlns="">
          <p:sp>
            <p:nvSpPr>
              <p:cNvPr id="3" name="Inhaltsplatzhalter 2">
                <a:extLst>
                  <a:ext uri="{FF2B5EF4-FFF2-40B4-BE49-F238E27FC236}">
                    <a16:creationId xmlns:a16="http://schemas.microsoft.com/office/drawing/2014/main" id="{2416DA3E-E71B-08F2-6F3F-B937B466A64E}"/>
                  </a:ext>
                </a:extLst>
              </p:cNvPr>
              <p:cNvSpPr>
                <a:spLocks noGrp="1" noRot="1" noChangeAspect="1" noMove="1" noResize="1" noEditPoints="1" noAdjustHandles="1" noChangeArrowheads="1" noChangeShapeType="1" noTextEdit="1"/>
              </p:cNvSpPr>
              <p:nvPr>
                <p:ph idx="1"/>
              </p:nvPr>
            </p:nvSpPr>
            <p:spPr>
              <a:xfrm>
                <a:off x="628650" y="1183135"/>
                <a:ext cx="7886700" cy="3263504"/>
              </a:xfrm>
              <a:blipFill>
                <a:blip r:embed="rId2"/>
                <a:stretch>
                  <a:fillRect l="-482" t="-2335"/>
                </a:stretch>
              </a:blipFill>
            </p:spPr>
            <p:txBody>
              <a:bodyPr/>
              <a:lstStyle/>
              <a:p>
                <a:r>
                  <a:rPr lang="de-DE">
                    <a:noFill/>
                  </a:rPr>
                  <a:t> </a:t>
                </a:r>
              </a:p>
            </p:txBody>
          </p:sp>
        </mc:Fallback>
      </mc:AlternateContent>
      <p:sp>
        <p:nvSpPr>
          <p:cNvPr id="4" name="Fußzeilenplatzhalter 3">
            <a:extLst>
              <a:ext uri="{FF2B5EF4-FFF2-40B4-BE49-F238E27FC236}">
                <a16:creationId xmlns:a16="http://schemas.microsoft.com/office/drawing/2014/main" id="{37928809-28DC-8C9F-B786-0D2F79478F95}"/>
              </a:ext>
            </a:extLst>
          </p:cNvPr>
          <p:cNvSpPr>
            <a:spLocks noGrp="1"/>
          </p:cNvSpPr>
          <p:nvPr>
            <p:ph type="ftr" sz="quarter" idx="11"/>
          </p:nvPr>
        </p:nvSpPr>
        <p:spPr/>
        <p:txBody>
          <a:bodyPr/>
          <a:lstStyle/>
          <a:p>
            <a:pPr defTabSz="342900">
              <a:buClrTx/>
            </a:pPr>
            <a:r>
              <a:rPr lang="en-US" kern="1200" noProof="0" dirty="0">
                <a:solidFill>
                  <a:srgbClr val="101623">
                    <a:tint val="75000"/>
                  </a:srgbClr>
                </a:solidFill>
                <a:latin typeface="Calibri" panose="020F0502020204030204"/>
                <a:ea typeface="+mn-ea"/>
                <a:cs typeface="+mn-cs"/>
              </a:rPr>
              <a:t>Kissan Varatharajan - </a:t>
            </a:r>
            <a:r>
              <a:rPr lang="en-US" kern="1200" noProof="0" dirty="0" err="1">
                <a:solidFill>
                  <a:srgbClr val="101623">
                    <a:tint val="75000"/>
                  </a:srgbClr>
                </a:solidFill>
                <a:latin typeface="Calibri" panose="020F0502020204030204"/>
                <a:ea typeface="+mn-ea"/>
                <a:cs typeface="+mn-cs"/>
              </a:rPr>
              <a:t>kissanv.github.io</a:t>
            </a:r>
            <a:endParaRPr lang="en-US" kern="1200" noProof="0" dirty="0">
              <a:solidFill>
                <a:srgbClr val="101623">
                  <a:tint val="75000"/>
                </a:srgbClr>
              </a:solidFill>
              <a:latin typeface="Calibri" panose="020F0502020204030204"/>
              <a:ea typeface="+mn-ea"/>
              <a:cs typeface="+mn-cs"/>
            </a:endParaRPr>
          </a:p>
        </p:txBody>
      </p:sp>
      <p:sp>
        <p:nvSpPr>
          <p:cNvPr id="5" name="Foliennummernplatzhalter 4">
            <a:extLst>
              <a:ext uri="{FF2B5EF4-FFF2-40B4-BE49-F238E27FC236}">
                <a16:creationId xmlns:a16="http://schemas.microsoft.com/office/drawing/2014/main" id="{BF3C6915-60E5-A56D-5642-563748B79C44}"/>
              </a:ext>
            </a:extLst>
          </p:cNvPr>
          <p:cNvSpPr>
            <a:spLocks noGrp="1"/>
          </p:cNvSpPr>
          <p:nvPr>
            <p:ph type="sldNum" sz="quarter" idx="12"/>
          </p:nvPr>
        </p:nvSpPr>
        <p:spPr/>
        <p:txBody>
          <a:bodyPr/>
          <a:lstStyle/>
          <a:p>
            <a:pPr defTabSz="342900">
              <a:buClrTx/>
            </a:pPr>
            <a:fld id="{36EAFFE7-40E2-CA47-82C0-73D0FC591208}" type="slidenum">
              <a:rPr lang="en-US" kern="1200" noProof="0" smtClean="0">
                <a:solidFill>
                  <a:srgbClr val="101623">
                    <a:tint val="75000"/>
                  </a:srgbClr>
                </a:solidFill>
                <a:latin typeface="Calibri" panose="020F0502020204030204"/>
                <a:ea typeface="+mn-ea"/>
                <a:cs typeface="+mn-cs"/>
              </a:rPr>
              <a:pPr defTabSz="342900">
                <a:buClrTx/>
              </a:pPr>
              <a:t>24</a:t>
            </a:fld>
            <a:endParaRPr lang="en-US" kern="1200" noProof="0" dirty="0">
              <a:solidFill>
                <a:srgbClr val="101623">
                  <a:tint val="75000"/>
                </a:srgbClr>
              </a:solidFill>
              <a:latin typeface="Calibri" panose="020F0502020204030204"/>
              <a:ea typeface="+mn-ea"/>
              <a:cs typeface="+mn-cs"/>
            </a:endParaRPr>
          </a:p>
        </p:txBody>
      </p:sp>
      <p:grpSp>
        <p:nvGrpSpPr>
          <p:cNvPr id="8" name="Gruppieren 7">
            <a:extLst>
              <a:ext uri="{FF2B5EF4-FFF2-40B4-BE49-F238E27FC236}">
                <a16:creationId xmlns:a16="http://schemas.microsoft.com/office/drawing/2014/main" id="{8A84AF3C-08CF-3FC6-192B-2758410CA6D9}"/>
              </a:ext>
            </a:extLst>
          </p:cNvPr>
          <p:cNvGrpSpPr/>
          <p:nvPr/>
        </p:nvGrpSpPr>
        <p:grpSpPr>
          <a:xfrm>
            <a:off x="1332738" y="2563928"/>
            <a:ext cx="6512355" cy="717502"/>
            <a:chOff x="1122426" y="2788353"/>
            <a:chExt cx="6512355" cy="717502"/>
          </a:xfrm>
        </p:grpSpPr>
        <mc:AlternateContent xmlns:mc="http://schemas.openxmlformats.org/markup-compatibility/2006" xmlns:a14="http://schemas.microsoft.com/office/drawing/2010/main">
          <mc:Choice Requires="a14">
            <p:sp>
              <p:nvSpPr>
                <p:cNvPr id="6" name="Textfeld 5">
                  <a:extLst>
                    <a:ext uri="{FF2B5EF4-FFF2-40B4-BE49-F238E27FC236}">
                      <a16:creationId xmlns:a16="http://schemas.microsoft.com/office/drawing/2014/main" id="{5D6BD71D-5E82-9C2B-9009-1E63E3F473E8}"/>
                    </a:ext>
                  </a:extLst>
                </p:cNvPr>
                <p:cNvSpPr txBox="1"/>
                <p:nvPr/>
              </p:nvSpPr>
              <p:spPr>
                <a:xfrm>
                  <a:off x="1122426" y="2889853"/>
                  <a:ext cx="3333670" cy="61600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800" i="1" noProof="0" smtClean="0">
                            <a:latin typeface="Cambria Math" panose="02040503050406030204" pitchFamily="18" charset="0"/>
                          </a:rPr>
                          <m:t>∠</m:t>
                        </m:r>
                        <m:r>
                          <a:rPr lang="en-US" sz="1800" i="1" noProof="0" smtClean="0">
                            <a:latin typeface="Cambria Math" panose="02040503050406030204" pitchFamily="18" charset="0"/>
                          </a:rPr>
                          <m:t>𝑠</m:t>
                        </m:r>
                        <m:r>
                          <a:rPr lang="en-US" sz="1800" i="1" noProof="0" smtClean="0">
                            <a:latin typeface="Cambria Math" panose="02040503050406030204" pitchFamily="18" charset="0"/>
                          </a:rPr>
                          <m:t>=</m:t>
                        </m:r>
                        <m:f>
                          <m:fPr>
                            <m:ctrlPr>
                              <a:rPr lang="en-US" sz="1800" i="1" noProof="0" smtClean="0">
                                <a:latin typeface="Cambria Math" panose="02040503050406030204" pitchFamily="18" charset="0"/>
                              </a:rPr>
                            </m:ctrlPr>
                          </m:fPr>
                          <m:num>
                            <m:sSup>
                              <m:sSupPr>
                                <m:ctrlPr>
                                  <a:rPr lang="en-US" sz="1800" i="1" noProof="0" smtClean="0">
                                    <a:latin typeface="Cambria Math" panose="02040503050406030204" pitchFamily="18" charset="0"/>
                                  </a:rPr>
                                </m:ctrlPr>
                              </m:sSupPr>
                              <m:e>
                                <m:r>
                                  <a:rPr lang="en-US" sz="1800" i="1" noProof="0" smtClean="0">
                                    <a:latin typeface="Cambria Math" panose="02040503050406030204" pitchFamily="18" charset="0"/>
                                  </a:rPr>
                                  <m:t>180</m:t>
                                </m:r>
                              </m:e>
                              <m:sup>
                                <m:r>
                                  <a:rPr lang="en-US" sz="1800" i="1" noProof="0" smtClean="0">
                                    <a:latin typeface="Cambria Math" panose="02040503050406030204" pitchFamily="18" charset="0"/>
                                  </a:rPr>
                                  <m:t>∘</m:t>
                                </m:r>
                              </m:sup>
                            </m:sSup>
                            <m:r>
                              <a:rPr lang="en-US" sz="1800" i="1" noProof="0" smtClean="0">
                                <a:latin typeface="Cambria Math" panose="02040503050406030204" pitchFamily="18" charset="0"/>
                              </a:rPr>
                              <m:t>±</m:t>
                            </m:r>
                            <m:r>
                              <a:rPr lang="en-US" sz="1800" i="1" noProof="0" smtClean="0">
                                <a:latin typeface="Cambria Math" panose="02040503050406030204" pitchFamily="18" charset="0"/>
                              </a:rPr>
                              <m:t>𝑞</m:t>
                            </m:r>
                            <m:r>
                              <a:rPr lang="en-US" sz="1800" i="1" noProof="0" smtClean="0">
                                <a:latin typeface="Cambria Math" panose="02040503050406030204" pitchFamily="18" charset="0"/>
                              </a:rPr>
                              <m:t>⋅</m:t>
                            </m:r>
                            <m:sSup>
                              <m:sSupPr>
                                <m:ctrlPr>
                                  <a:rPr lang="en-US" sz="1800" i="1" noProof="0" smtClean="0">
                                    <a:latin typeface="Cambria Math" panose="02040503050406030204" pitchFamily="18" charset="0"/>
                                  </a:rPr>
                                </m:ctrlPr>
                              </m:sSupPr>
                              <m:e>
                                <m:r>
                                  <a:rPr lang="en-US" sz="1800" i="1" noProof="0" smtClean="0">
                                    <a:latin typeface="Cambria Math" panose="02040503050406030204" pitchFamily="18" charset="0"/>
                                  </a:rPr>
                                  <m:t>360</m:t>
                                </m:r>
                              </m:e>
                              <m:sup>
                                <m:r>
                                  <a:rPr lang="en-US" sz="1800" i="1" noProof="0" smtClean="0">
                                    <a:latin typeface="Cambria Math" panose="02040503050406030204" pitchFamily="18" charset="0"/>
                                  </a:rPr>
                                  <m:t>∘</m:t>
                                </m:r>
                              </m:sup>
                            </m:sSup>
                          </m:num>
                          <m:den>
                            <m:r>
                              <a:rPr lang="en-US" sz="1800" i="1" noProof="0" smtClean="0">
                                <a:latin typeface="Cambria Math" panose="02040503050406030204" pitchFamily="18" charset="0"/>
                              </a:rPr>
                              <m:t>𝑛</m:t>
                            </m:r>
                            <m:r>
                              <a:rPr lang="en-US" sz="1800" i="1" noProof="0" smtClean="0">
                                <a:latin typeface="Cambria Math" panose="02040503050406030204" pitchFamily="18" charset="0"/>
                              </a:rPr>
                              <m:t>−</m:t>
                            </m:r>
                            <m:r>
                              <a:rPr lang="en-US" sz="1800" i="1" noProof="0" smtClean="0">
                                <a:latin typeface="Cambria Math" panose="02040503050406030204" pitchFamily="18" charset="0"/>
                              </a:rPr>
                              <m:t>𝑚</m:t>
                            </m:r>
                          </m:den>
                        </m:f>
                        <m:r>
                          <a:rPr lang="en-US" sz="1800" i="1" noProof="0" smtClean="0">
                            <a:latin typeface="Cambria Math" panose="02040503050406030204" pitchFamily="18" charset="0"/>
                          </a:rPr>
                          <m:t> </m:t>
                        </m:r>
                        <m:r>
                          <m:rPr>
                            <m:nor/>
                          </m:rPr>
                          <a:rPr lang="en-US" sz="1800" i="0" noProof="0" smtClean="0">
                            <a:latin typeface="Cambria Math" panose="02040503050406030204" pitchFamily="18" charset="0"/>
                          </a:rPr>
                          <m:t>if</m:t>
                        </m:r>
                        <m:r>
                          <m:rPr>
                            <m:nor/>
                          </m:rPr>
                          <a:rPr lang="en-US" sz="1800" i="0" noProof="0" smtClean="0">
                            <a:latin typeface="Cambria Math" panose="02040503050406030204" pitchFamily="18" charset="0"/>
                          </a:rPr>
                          <m:t> </m:t>
                        </m:r>
                        <m:r>
                          <a:rPr lang="en-US" sz="1800" i="1" noProof="0" smtClean="0">
                            <a:latin typeface="Cambria Math" panose="02040503050406030204" pitchFamily="18" charset="0"/>
                          </a:rPr>
                          <m:t>𝑘</m:t>
                        </m:r>
                        <m:r>
                          <a:rPr lang="en-US" sz="1800" i="1" noProof="0" smtClean="0">
                            <a:latin typeface="Cambria Math" panose="02040503050406030204" pitchFamily="18" charset="0"/>
                          </a:rPr>
                          <m:t>&gt;0</m:t>
                        </m:r>
                      </m:oMath>
                    </m:oMathPara>
                  </a14:m>
                  <a:endParaRPr lang="en-US" noProof="0" dirty="0"/>
                </a:p>
              </p:txBody>
            </p:sp>
          </mc:Choice>
          <mc:Fallback xmlns="">
            <p:sp>
              <p:nvSpPr>
                <p:cNvPr id="6" name="Textfeld 5">
                  <a:extLst>
                    <a:ext uri="{FF2B5EF4-FFF2-40B4-BE49-F238E27FC236}">
                      <a16:creationId xmlns:a16="http://schemas.microsoft.com/office/drawing/2014/main" id="{5D6BD71D-5E82-9C2B-9009-1E63E3F473E8}"/>
                    </a:ext>
                  </a:extLst>
                </p:cNvPr>
                <p:cNvSpPr txBox="1">
                  <a:spLocks noRot="1" noChangeAspect="1" noMove="1" noResize="1" noEditPoints="1" noAdjustHandles="1" noChangeArrowheads="1" noChangeShapeType="1" noTextEdit="1"/>
                </p:cNvSpPr>
                <p:nvPr/>
              </p:nvSpPr>
              <p:spPr>
                <a:xfrm>
                  <a:off x="1122426" y="2889853"/>
                  <a:ext cx="3333670" cy="616002"/>
                </a:xfrm>
                <a:prstGeom prst="rect">
                  <a:avLst/>
                </a:prstGeom>
                <a:blipFill>
                  <a:blip r:embed="rId3"/>
                  <a:stretch>
                    <a:fillRect b="-2000"/>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7" name="Textfeld 6">
                  <a:extLst>
                    <a:ext uri="{FF2B5EF4-FFF2-40B4-BE49-F238E27FC236}">
                      <a16:creationId xmlns:a16="http://schemas.microsoft.com/office/drawing/2014/main" id="{4E0F20A8-8C1C-4033-9ABC-E33E0484C367}"/>
                    </a:ext>
                  </a:extLst>
                </p:cNvPr>
                <p:cNvSpPr txBox="1"/>
                <p:nvPr/>
              </p:nvSpPr>
              <p:spPr>
                <a:xfrm>
                  <a:off x="4860495" y="2788353"/>
                  <a:ext cx="2774286" cy="61600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800" i="1" noProof="0" smtClean="0">
                            <a:latin typeface="Cambria Math" panose="02040503050406030204" pitchFamily="18" charset="0"/>
                          </a:rPr>
                          <m:t>∠</m:t>
                        </m:r>
                        <m:r>
                          <a:rPr lang="en-US" sz="1800" i="1" noProof="0" smtClean="0">
                            <a:latin typeface="Cambria Math" panose="02040503050406030204" pitchFamily="18" charset="0"/>
                          </a:rPr>
                          <m:t>𝑠</m:t>
                        </m:r>
                        <m:r>
                          <a:rPr lang="en-US" sz="1800" i="1" noProof="0" smtClean="0">
                            <a:latin typeface="Cambria Math" panose="02040503050406030204" pitchFamily="18" charset="0"/>
                          </a:rPr>
                          <m:t>=</m:t>
                        </m:r>
                        <m:f>
                          <m:fPr>
                            <m:ctrlPr>
                              <a:rPr lang="en-US" sz="1800" i="1" noProof="0" smtClean="0">
                                <a:latin typeface="Cambria Math" panose="02040503050406030204" pitchFamily="18" charset="0"/>
                              </a:rPr>
                            </m:ctrlPr>
                          </m:fPr>
                          <m:num>
                            <m:r>
                              <a:rPr lang="en-US" sz="1800" i="1" noProof="0" smtClean="0">
                                <a:latin typeface="Cambria Math" panose="02040503050406030204" pitchFamily="18" charset="0"/>
                              </a:rPr>
                              <m:t>±</m:t>
                            </m:r>
                            <m:r>
                              <a:rPr lang="en-US" sz="1800" i="1" noProof="0" smtClean="0">
                                <a:latin typeface="Cambria Math" panose="02040503050406030204" pitchFamily="18" charset="0"/>
                              </a:rPr>
                              <m:t>𝑞</m:t>
                            </m:r>
                            <m:r>
                              <a:rPr lang="en-US" sz="1800" i="1" noProof="0" smtClean="0">
                                <a:latin typeface="Cambria Math" panose="02040503050406030204" pitchFamily="18" charset="0"/>
                              </a:rPr>
                              <m:t>⋅</m:t>
                            </m:r>
                            <m:sSup>
                              <m:sSupPr>
                                <m:ctrlPr>
                                  <a:rPr lang="en-US" sz="1800" i="1" noProof="0" smtClean="0">
                                    <a:latin typeface="Cambria Math" panose="02040503050406030204" pitchFamily="18" charset="0"/>
                                  </a:rPr>
                                </m:ctrlPr>
                              </m:sSupPr>
                              <m:e>
                                <m:r>
                                  <a:rPr lang="en-US" sz="1800" i="1" noProof="0" smtClean="0">
                                    <a:latin typeface="Cambria Math" panose="02040503050406030204" pitchFamily="18" charset="0"/>
                                  </a:rPr>
                                  <m:t>360</m:t>
                                </m:r>
                              </m:e>
                              <m:sup>
                                <m:r>
                                  <a:rPr lang="en-US" sz="1800" i="1" noProof="0" smtClean="0">
                                    <a:latin typeface="Cambria Math" panose="02040503050406030204" pitchFamily="18" charset="0"/>
                                  </a:rPr>
                                  <m:t>∘</m:t>
                                </m:r>
                              </m:sup>
                            </m:sSup>
                          </m:num>
                          <m:den>
                            <m:r>
                              <a:rPr lang="en-US" sz="1800" i="1" noProof="0" smtClean="0">
                                <a:latin typeface="Cambria Math" panose="02040503050406030204" pitchFamily="18" charset="0"/>
                              </a:rPr>
                              <m:t>𝑛</m:t>
                            </m:r>
                            <m:r>
                              <a:rPr lang="en-US" sz="1800" i="1" noProof="0" smtClean="0">
                                <a:latin typeface="Cambria Math" panose="02040503050406030204" pitchFamily="18" charset="0"/>
                              </a:rPr>
                              <m:t>−</m:t>
                            </m:r>
                            <m:r>
                              <a:rPr lang="en-US" sz="1800" i="1" noProof="0" smtClean="0">
                                <a:latin typeface="Cambria Math" panose="02040503050406030204" pitchFamily="18" charset="0"/>
                              </a:rPr>
                              <m:t>𝑚</m:t>
                            </m:r>
                          </m:den>
                        </m:f>
                        <m:r>
                          <a:rPr lang="en-US" sz="1800" i="1" noProof="0" smtClean="0">
                            <a:latin typeface="Cambria Math" panose="02040503050406030204" pitchFamily="18" charset="0"/>
                          </a:rPr>
                          <m:t> </m:t>
                        </m:r>
                        <m:r>
                          <m:rPr>
                            <m:nor/>
                          </m:rPr>
                          <a:rPr lang="en-US" sz="1800" i="0" noProof="0" smtClean="0">
                            <a:latin typeface="Cambria Math" panose="02040503050406030204" pitchFamily="18" charset="0"/>
                          </a:rPr>
                          <m:t>if</m:t>
                        </m:r>
                        <m:r>
                          <m:rPr>
                            <m:nor/>
                          </m:rPr>
                          <a:rPr lang="en-US" sz="1800" i="0" noProof="0" smtClean="0">
                            <a:latin typeface="Cambria Math" panose="02040503050406030204" pitchFamily="18" charset="0"/>
                          </a:rPr>
                          <m:t> </m:t>
                        </m:r>
                        <m:r>
                          <a:rPr lang="en-US" sz="1800" i="1" noProof="0" smtClean="0">
                            <a:latin typeface="Cambria Math" panose="02040503050406030204" pitchFamily="18" charset="0"/>
                          </a:rPr>
                          <m:t>𝑘</m:t>
                        </m:r>
                        <m:r>
                          <a:rPr lang="en-US" sz="1800" i="1" noProof="0" smtClean="0">
                            <a:latin typeface="Cambria Math" panose="02040503050406030204" pitchFamily="18" charset="0"/>
                          </a:rPr>
                          <m:t>&gt;0</m:t>
                        </m:r>
                      </m:oMath>
                    </m:oMathPara>
                  </a14:m>
                  <a:endParaRPr lang="en-US" noProof="0" dirty="0"/>
                </a:p>
              </p:txBody>
            </p:sp>
          </mc:Choice>
          <mc:Fallback xmlns="">
            <p:sp>
              <p:nvSpPr>
                <p:cNvPr id="7" name="Textfeld 6">
                  <a:extLst>
                    <a:ext uri="{FF2B5EF4-FFF2-40B4-BE49-F238E27FC236}">
                      <a16:creationId xmlns:a16="http://schemas.microsoft.com/office/drawing/2014/main" id="{4E0F20A8-8C1C-4033-9ABC-E33E0484C367}"/>
                    </a:ext>
                  </a:extLst>
                </p:cNvPr>
                <p:cNvSpPr txBox="1">
                  <a:spLocks noRot="1" noChangeAspect="1" noMove="1" noResize="1" noEditPoints="1" noAdjustHandles="1" noChangeArrowheads="1" noChangeShapeType="1" noTextEdit="1"/>
                </p:cNvSpPr>
                <p:nvPr/>
              </p:nvSpPr>
              <p:spPr>
                <a:xfrm>
                  <a:off x="4860495" y="2788353"/>
                  <a:ext cx="2774286" cy="616002"/>
                </a:xfrm>
                <a:prstGeom prst="rect">
                  <a:avLst/>
                </a:prstGeom>
                <a:blipFill>
                  <a:blip r:embed="rId4"/>
                  <a:stretch>
                    <a:fillRect b="-2041"/>
                  </a:stretch>
                </a:blipFill>
              </p:spPr>
              <p:txBody>
                <a:bodyPr/>
                <a:lstStyle/>
                <a:p>
                  <a:r>
                    <a:rPr lang="de-DE">
                      <a:noFill/>
                    </a:rPr>
                    <a:t> </a:t>
                  </a:r>
                </a:p>
              </p:txBody>
            </p:sp>
          </mc:Fallback>
        </mc:AlternateContent>
      </p:grpSp>
      <mc:AlternateContent xmlns:mc="http://schemas.openxmlformats.org/markup-compatibility/2006" xmlns:a14="http://schemas.microsoft.com/office/drawing/2010/main">
        <mc:Choice Requires="a14">
          <p:sp>
            <p:nvSpPr>
              <p:cNvPr id="9" name="Textfeld 8">
                <a:extLst>
                  <a:ext uri="{FF2B5EF4-FFF2-40B4-BE49-F238E27FC236}">
                    <a16:creationId xmlns:a16="http://schemas.microsoft.com/office/drawing/2014/main" id="{83001D53-2698-8BC2-F755-041AC54C9F10}"/>
                  </a:ext>
                </a:extLst>
              </p:cNvPr>
              <p:cNvSpPr txBox="1"/>
              <p:nvPr/>
            </p:nvSpPr>
            <p:spPr>
              <a:xfrm>
                <a:off x="2934722" y="3694332"/>
                <a:ext cx="2707728" cy="65344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800" i="1" noProof="0" smtClean="0">
                              <a:latin typeface="Cambria Math" panose="02040503050406030204" pitchFamily="18" charset="0"/>
                            </a:rPr>
                          </m:ctrlPr>
                        </m:sSubPr>
                        <m:e>
                          <m:r>
                            <a:rPr lang="en-US" sz="1800" i="1" noProof="0" smtClean="0">
                              <a:latin typeface="Cambria Math" panose="02040503050406030204" pitchFamily="18" charset="0"/>
                            </a:rPr>
                            <m:t>𝑠</m:t>
                          </m:r>
                        </m:e>
                        <m:sub>
                          <m:r>
                            <m:rPr>
                              <m:nor/>
                            </m:rPr>
                            <a:rPr lang="en-US" sz="1800" i="1" noProof="0" smtClean="0">
                              <a:latin typeface="Cambria Math" panose="02040503050406030204" pitchFamily="18" charset="0"/>
                            </a:rPr>
                            <m:t>com</m:t>
                          </m:r>
                        </m:sub>
                      </m:sSub>
                      <m:r>
                        <a:rPr lang="en-US" sz="1800" i="1" noProof="0" smtClean="0">
                          <a:latin typeface="Cambria Math" panose="02040503050406030204" pitchFamily="18" charset="0"/>
                        </a:rPr>
                        <m:t>=</m:t>
                      </m:r>
                      <m:f>
                        <m:fPr>
                          <m:ctrlPr>
                            <a:rPr lang="en-US" sz="1800" i="1" noProof="0" smtClean="0">
                              <a:latin typeface="Cambria Math" panose="02040503050406030204" pitchFamily="18" charset="0"/>
                            </a:rPr>
                          </m:ctrlPr>
                        </m:fPr>
                        <m:num>
                          <m:nary>
                            <m:naryPr>
                              <m:chr m:val="∑"/>
                              <m:ctrlPr>
                                <a:rPr lang="en-US" sz="1800" i="1" noProof="0" smtClean="0">
                                  <a:latin typeface="Cambria Math" panose="02040503050406030204" pitchFamily="18" charset="0"/>
                                </a:rPr>
                              </m:ctrlPr>
                            </m:naryPr>
                            <m:sub>
                              <m:r>
                                <a:rPr lang="en-US" sz="1800" i="1" noProof="0" smtClean="0">
                                  <a:latin typeface="Cambria Math" panose="02040503050406030204" pitchFamily="18" charset="0"/>
                                </a:rPr>
                                <m:t>𝑖</m:t>
                              </m:r>
                              <m:r>
                                <a:rPr lang="en-US" sz="1800" i="1" noProof="0" smtClean="0">
                                  <a:latin typeface="Cambria Math" panose="02040503050406030204" pitchFamily="18" charset="0"/>
                                </a:rPr>
                                <m:t>=1</m:t>
                              </m:r>
                            </m:sub>
                            <m:sup>
                              <m:r>
                                <a:rPr lang="en-US" sz="1800" i="1" noProof="0" smtClean="0">
                                  <a:latin typeface="Cambria Math" panose="02040503050406030204" pitchFamily="18" charset="0"/>
                                </a:rPr>
                                <m:t>𝑛</m:t>
                              </m:r>
                            </m:sup>
                            <m:e>
                              <m:sSub>
                                <m:sSubPr>
                                  <m:ctrlPr>
                                    <a:rPr lang="en-US" sz="1800" i="1" noProof="0" smtClean="0">
                                      <a:latin typeface="Cambria Math" panose="02040503050406030204" pitchFamily="18" charset="0"/>
                                    </a:rPr>
                                  </m:ctrlPr>
                                </m:sSubPr>
                                <m:e>
                                  <m:r>
                                    <a:rPr lang="en-US" sz="1800" i="1" noProof="0" smtClean="0">
                                      <a:latin typeface="Cambria Math" panose="02040503050406030204" pitchFamily="18" charset="0"/>
                                    </a:rPr>
                                    <m:t>𝑝</m:t>
                                  </m:r>
                                </m:e>
                                <m:sub>
                                  <m:r>
                                    <a:rPr lang="en-US" sz="1800" i="1" noProof="0" smtClean="0">
                                      <a:latin typeface="Cambria Math" panose="02040503050406030204" pitchFamily="18" charset="0"/>
                                    </a:rPr>
                                    <m:t>𝑖</m:t>
                                  </m:r>
                                </m:sub>
                              </m:sSub>
                            </m:e>
                          </m:nary>
                          <m:r>
                            <a:rPr lang="en-US" sz="1800" i="1" noProof="0" smtClean="0">
                              <a:latin typeface="Cambria Math" panose="02040503050406030204" pitchFamily="18" charset="0"/>
                            </a:rPr>
                            <m:t>−</m:t>
                          </m:r>
                          <m:nary>
                            <m:naryPr>
                              <m:chr m:val="∑"/>
                              <m:ctrlPr>
                                <a:rPr lang="en-US" sz="1800" i="1" noProof="0" smtClean="0">
                                  <a:latin typeface="Cambria Math" panose="02040503050406030204" pitchFamily="18" charset="0"/>
                                </a:rPr>
                              </m:ctrlPr>
                            </m:naryPr>
                            <m:sub>
                              <m:r>
                                <a:rPr lang="en-US" sz="1800" i="1" noProof="0" smtClean="0">
                                  <a:latin typeface="Cambria Math" panose="02040503050406030204" pitchFamily="18" charset="0"/>
                                </a:rPr>
                                <m:t>𝑗</m:t>
                              </m:r>
                              <m:r>
                                <a:rPr lang="en-US" sz="1800" i="1" noProof="0" smtClean="0">
                                  <a:latin typeface="Cambria Math" panose="02040503050406030204" pitchFamily="18" charset="0"/>
                                </a:rPr>
                                <m:t>=1</m:t>
                              </m:r>
                            </m:sub>
                            <m:sup>
                              <m:r>
                                <a:rPr lang="en-US" sz="1800" i="1" noProof="0" smtClean="0">
                                  <a:latin typeface="Cambria Math" panose="02040503050406030204" pitchFamily="18" charset="0"/>
                                </a:rPr>
                                <m:t>𝑚</m:t>
                              </m:r>
                            </m:sup>
                            <m:e>
                              <m:sSub>
                                <m:sSubPr>
                                  <m:ctrlPr>
                                    <a:rPr lang="en-US" sz="1800" i="1" noProof="0" smtClean="0">
                                      <a:latin typeface="Cambria Math" panose="02040503050406030204" pitchFamily="18" charset="0"/>
                                    </a:rPr>
                                  </m:ctrlPr>
                                </m:sSubPr>
                                <m:e>
                                  <m:r>
                                    <a:rPr lang="en-US" sz="1800" i="1" noProof="0" smtClean="0">
                                      <a:latin typeface="Cambria Math" panose="02040503050406030204" pitchFamily="18" charset="0"/>
                                    </a:rPr>
                                    <m:t>𝑧</m:t>
                                  </m:r>
                                </m:e>
                                <m:sub>
                                  <m:r>
                                    <a:rPr lang="en-US" sz="1800" i="1" noProof="0" smtClean="0">
                                      <a:latin typeface="Cambria Math" panose="02040503050406030204" pitchFamily="18" charset="0"/>
                                    </a:rPr>
                                    <m:t>𝑗</m:t>
                                  </m:r>
                                </m:sub>
                              </m:sSub>
                            </m:e>
                          </m:nary>
                        </m:num>
                        <m:den>
                          <m:r>
                            <a:rPr lang="en-US" sz="1800" i="1" noProof="0" smtClean="0">
                              <a:latin typeface="Cambria Math" panose="02040503050406030204" pitchFamily="18" charset="0"/>
                            </a:rPr>
                            <m:t>𝑛</m:t>
                          </m:r>
                          <m:r>
                            <a:rPr lang="en-US" sz="1800" i="1" noProof="0" smtClean="0">
                              <a:latin typeface="Cambria Math" panose="02040503050406030204" pitchFamily="18" charset="0"/>
                            </a:rPr>
                            <m:t>−</m:t>
                          </m:r>
                          <m:r>
                            <a:rPr lang="en-US" sz="1800" i="1" noProof="0" smtClean="0">
                              <a:latin typeface="Cambria Math" panose="02040503050406030204" pitchFamily="18" charset="0"/>
                            </a:rPr>
                            <m:t>𝑚</m:t>
                          </m:r>
                        </m:den>
                      </m:f>
                    </m:oMath>
                  </m:oMathPara>
                </a14:m>
                <a:endParaRPr lang="en-US" noProof="0" dirty="0"/>
              </a:p>
            </p:txBody>
          </p:sp>
        </mc:Choice>
        <mc:Fallback xmlns="">
          <p:sp>
            <p:nvSpPr>
              <p:cNvPr id="9" name="Textfeld 8">
                <a:extLst>
                  <a:ext uri="{FF2B5EF4-FFF2-40B4-BE49-F238E27FC236}">
                    <a16:creationId xmlns:a16="http://schemas.microsoft.com/office/drawing/2014/main" id="{83001D53-2698-8BC2-F755-041AC54C9F10}"/>
                  </a:ext>
                </a:extLst>
              </p:cNvPr>
              <p:cNvSpPr txBox="1">
                <a:spLocks noRot="1" noChangeAspect="1" noMove="1" noResize="1" noEditPoints="1" noAdjustHandles="1" noChangeArrowheads="1" noChangeShapeType="1" noTextEdit="1"/>
              </p:cNvSpPr>
              <p:nvPr/>
            </p:nvSpPr>
            <p:spPr>
              <a:xfrm>
                <a:off x="2934722" y="3694332"/>
                <a:ext cx="2707728" cy="653449"/>
              </a:xfrm>
              <a:prstGeom prst="rect">
                <a:avLst/>
              </a:prstGeom>
              <a:blipFill>
                <a:blip r:embed="rId5"/>
                <a:stretch>
                  <a:fillRect t="-62264" b="-52830"/>
                </a:stretch>
              </a:blipFill>
            </p:spPr>
            <p:txBody>
              <a:bodyPr/>
              <a:lstStyle/>
              <a:p>
                <a:r>
                  <a:rPr lang="de-DE">
                    <a:noFill/>
                  </a:rPr>
                  <a:t> </a:t>
                </a:r>
              </a:p>
            </p:txBody>
          </p:sp>
        </mc:Fallback>
      </mc:AlternateContent>
      <p:sp>
        <p:nvSpPr>
          <p:cNvPr id="10" name="Textfeld 9">
            <a:extLst>
              <a:ext uri="{FF2B5EF4-FFF2-40B4-BE49-F238E27FC236}">
                <a16:creationId xmlns:a16="http://schemas.microsoft.com/office/drawing/2014/main" id="{6B927F52-FDAF-DEE1-2279-AAB6D3E28108}"/>
              </a:ext>
            </a:extLst>
          </p:cNvPr>
          <p:cNvSpPr txBox="1"/>
          <p:nvPr/>
        </p:nvSpPr>
        <p:spPr>
          <a:xfrm>
            <a:off x="255028" y="4397931"/>
            <a:ext cx="8888972" cy="369332"/>
          </a:xfrm>
          <a:prstGeom prst="rect">
            <a:avLst/>
          </a:prstGeom>
          <a:noFill/>
        </p:spPr>
        <p:txBody>
          <a:bodyPr wrap="none" rtlCol="0">
            <a:spAutoFit/>
          </a:bodyPr>
          <a:lstStyle/>
          <a:p>
            <a:r>
              <a:rPr lang="en-US" sz="1800" noProof="0" dirty="0">
                <a:latin typeface="Segoe UI" panose="020B0502040204020203" pitchFamily="34" charset="0"/>
                <a:cs typeface="Segoe UI" panose="020B0502040204020203" pitchFamily="34" charset="0"/>
              </a:rPr>
              <a:t>(poles are “positive” unit masses, and zeros are “negative” unit masses in this analogy)</a:t>
            </a:r>
          </a:p>
        </p:txBody>
      </p:sp>
    </p:spTree>
    <p:extLst>
      <p:ext uri="{BB962C8B-B14F-4D97-AF65-F5344CB8AC3E}">
        <p14:creationId xmlns:p14="http://schemas.microsoft.com/office/powerpoint/2010/main" val="34365543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60C6ADB-B20E-818A-08EC-A170BCA9D753}"/>
              </a:ext>
            </a:extLst>
          </p:cNvPr>
          <p:cNvSpPr>
            <a:spLocks noGrp="1"/>
          </p:cNvSpPr>
          <p:nvPr>
            <p:ph type="title"/>
          </p:nvPr>
        </p:nvSpPr>
        <p:spPr>
          <a:xfrm>
            <a:off x="628650" y="375047"/>
            <a:ext cx="7886700" cy="994172"/>
          </a:xfrm>
        </p:spPr>
        <p:txBody>
          <a:bodyPr/>
          <a:lstStyle/>
          <a:p>
            <a:r>
              <a:rPr lang="en-US" noProof="0" dirty="0"/>
              <a:t>How to Draw Root Locus</a:t>
            </a:r>
          </a:p>
        </p:txBody>
      </p:sp>
      <p:sp>
        <p:nvSpPr>
          <p:cNvPr id="3" name="Inhaltsplatzhalter 2">
            <a:extLst>
              <a:ext uri="{FF2B5EF4-FFF2-40B4-BE49-F238E27FC236}">
                <a16:creationId xmlns:a16="http://schemas.microsoft.com/office/drawing/2014/main" id="{12EA0A99-BC61-0BDD-65E4-3FAD803B9F85}"/>
              </a:ext>
            </a:extLst>
          </p:cNvPr>
          <p:cNvSpPr>
            <a:spLocks noGrp="1"/>
          </p:cNvSpPr>
          <p:nvPr>
            <p:ph idx="1"/>
          </p:nvPr>
        </p:nvSpPr>
        <p:spPr/>
        <p:txBody>
          <a:bodyPr>
            <a:normAutofit/>
          </a:bodyPr>
          <a:lstStyle/>
          <a:p>
            <a:pPr marL="342900" indent="-342900">
              <a:buFont typeface="+mj-lt"/>
              <a:buAutoNum type="arabicPeriod"/>
            </a:pPr>
            <a:r>
              <a:rPr lang="en-US" noProof="0" dirty="0"/>
              <a:t>Calculate poles &amp; zeros of the open-loop and draw them in the complex plane (start &amp; end points of Root Locus)</a:t>
            </a:r>
          </a:p>
          <a:p>
            <a:pPr marL="342900" indent="-342900">
              <a:buFont typeface="+mj-lt"/>
              <a:buAutoNum type="arabicPeriod"/>
            </a:pPr>
            <a:r>
              <a:rPr lang="en-US" noProof="0" dirty="0"/>
              <a:t>Analyze the real axis (which segments are on RL?)</a:t>
            </a:r>
          </a:p>
          <a:p>
            <a:pPr marL="342900" indent="-342900">
              <a:buFont typeface="+mj-lt"/>
              <a:buAutoNum type="arabicPeriod"/>
            </a:pPr>
            <a:r>
              <a:rPr lang="en-US" dirty="0"/>
              <a:t>Calculate the asymptotes for the excess poles:</a:t>
            </a:r>
            <a:br>
              <a:rPr lang="en-US" dirty="0"/>
            </a:br>
            <a:br>
              <a:rPr lang="en-US" dirty="0"/>
            </a:br>
            <a:r>
              <a:rPr lang="en-US" dirty="0"/>
              <a:t>"center of mass":</a:t>
            </a:r>
            <a:br>
              <a:rPr lang="en-US" dirty="0"/>
            </a:br>
            <a:br>
              <a:rPr lang="en-US" dirty="0"/>
            </a:br>
            <a:r>
              <a:rPr lang="en-US" dirty="0"/>
              <a:t>Angle:</a:t>
            </a:r>
          </a:p>
          <a:p>
            <a:pPr marL="342900" indent="-342900">
              <a:buFont typeface="+mj-lt"/>
              <a:buAutoNum type="arabicPeriod"/>
            </a:pPr>
            <a:endParaRPr lang="en-US" dirty="0"/>
          </a:p>
          <a:p>
            <a:pPr marL="342900" indent="-342900">
              <a:buFont typeface="+mj-lt"/>
              <a:buAutoNum type="arabicPeriod"/>
            </a:pPr>
            <a:r>
              <a:rPr lang="en-US" dirty="0"/>
              <a:t>Draw the Root Locus</a:t>
            </a:r>
          </a:p>
          <a:p>
            <a:pPr marL="0" indent="0">
              <a:buNone/>
            </a:pPr>
            <a:endParaRPr lang="en-US" dirty="0"/>
          </a:p>
          <a:p>
            <a:pPr marL="342900" indent="-342900">
              <a:buFont typeface="+mj-lt"/>
              <a:buAutoNum type="arabicPeriod"/>
            </a:pPr>
            <a:endParaRPr lang="de-DE" noProof="0" dirty="0"/>
          </a:p>
          <a:p>
            <a:pPr marL="342900" indent="-342900">
              <a:buFont typeface="+mj-lt"/>
              <a:buAutoNum type="arabicPeriod"/>
            </a:pPr>
            <a:endParaRPr lang="en-US" noProof="0" dirty="0"/>
          </a:p>
          <a:p>
            <a:pPr marL="342900" indent="-342900">
              <a:buFont typeface="+mj-lt"/>
              <a:buAutoNum type="arabicPeriod"/>
            </a:pPr>
            <a:endParaRPr lang="en-US" noProof="0" dirty="0"/>
          </a:p>
        </p:txBody>
      </p:sp>
      <p:sp>
        <p:nvSpPr>
          <p:cNvPr id="4" name="Fußzeilenplatzhalter 3">
            <a:extLst>
              <a:ext uri="{FF2B5EF4-FFF2-40B4-BE49-F238E27FC236}">
                <a16:creationId xmlns:a16="http://schemas.microsoft.com/office/drawing/2014/main" id="{7EA27685-C85F-A7FC-AE63-23B3EA862AAF}"/>
              </a:ext>
            </a:extLst>
          </p:cNvPr>
          <p:cNvSpPr>
            <a:spLocks noGrp="1"/>
          </p:cNvSpPr>
          <p:nvPr>
            <p:ph type="ftr" sz="quarter" idx="11"/>
          </p:nvPr>
        </p:nvSpPr>
        <p:spPr/>
        <p:txBody>
          <a:bodyPr/>
          <a:lstStyle/>
          <a:p>
            <a:pPr defTabSz="342900">
              <a:buClrTx/>
            </a:pPr>
            <a:r>
              <a:rPr lang="en-US" kern="1200" noProof="0" dirty="0">
                <a:solidFill>
                  <a:srgbClr val="101623">
                    <a:tint val="75000"/>
                  </a:srgbClr>
                </a:solidFill>
                <a:latin typeface="Calibri" panose="020F0502020204030204"/>
                <a:ea typeface="+mn-ea"/>
                <a:cs typeface="+mn-cs"/>
              </a:rPr>
              <a:t>Kissan Varatharajan - </a:t>
            </a:r>
            <a:r>
              <a:rPr lang="en-US" kern="1200" noProof="0" dirty="0" err="1">
                <a:solidFill>
                  <a:srgbClr val="101623">
                    <a:tint val="75000"/>
                  </a:srgbClr>
                </a:solidFill>
                <a:latin typeface="Calibri" panose="020F0502020204030204"/>
                <a:ea typeface="+mn-ea"/>
                <a:cs typeface="+mn-cs"/>
              </a:rPr>
              <a:t>kissanv.github.io</a:t>
            </a:r>
            <a:endParaRPr lang="en-US" kern="1200" noProof="0" dirty="0">
              <a:solidFill>
                <a:srgbClr val="101623">
                  <a:tint val="75000"/>
                </a:srgbClr>
              </a:solidFill>
              <a:latin typeface="Calibri" panose="020F0502020204030204"/>
              <a:ea typeface="+mn-ea"/>
              <a:cs typeface="+mn-cs"/>
            </a:endParaRPr>
          </a:p>
        </p:txBody>
      </p:sp>
      <p:sp>
        <p:nvSpPr>
          <p:cNvPr id="5" name="Foliennummernplatzhalter 4">
            <a:extLst>
              <a:ext uri="{FF2B5EF4-FFF2-40B4-BE49-F238E27FC236}">
                <a16:creationId xmlns:a16="http://schemas.microsoft.com/office/drawing/2014/main" id="{F3FBAC91-6A91-A3E4-7F7B-87FF60EBC7C6}"/>
              </a:ext>
            </a:extLst>
          </p:cNvPr>
          <p:cNvSpPr>
            <a:spLocks noGrp="1"/>
          </p:cNvSpPr>
          <p:nvPr>
            <p:ph type="sldNum" sz="quarter" idx="12"/>
          </p:nvPr>
        </p:nvSpPr>
        <p:spPr/>
        <p:txBody>
          <a:bodyPr/>
          <a:lstStyle/>
          <a:p>
            <a:pPr defTabSz="342900">
              <a:buClrTx/>
            </a:pPr>
            <a:fld id="{36EAFFE7-40E2-CA47-82C0-73D0FC591208}" type="slidenum">
              <a:rPr lang="en-US" kern="1200" noProof="0" smtClean="0">
                <a:solidFill>
                  <a:srgbClr val="101623">
                    <a:tint val="75000"/>
                  </a:srgbClr>
                </a:solidFill>
                <a:latin typeface="Calibri" panose="020F0502020204030204"/>
                <a:ea typeface="+mn-ea"/>
                <a:cs typeface="+mn-cs"/>
              </a:rPr>
              <a:pPr defTabSz="342900">
                <a:buClrTx/>
              </a:pPr>
              <a:t>25</a:t>
            </a:fld>
            <a:endParaRPr lang="en-US" kern="1200" noProof="0" dirty="0">
              <a:solidFill>
                <a:srgbClr val="101623">
                  <a:tint val="75000"/>
                </a:srgbClr>
              </a:solidFill>
              <a:latin typeface="Calibri" panose="020F0502020204030204"/>
              <a:ea typeface="+mn-ea"/>
              <a:cs typeface="+mn-cs"/>
            </a:endParaRPr>
          </a:p>
        </p:txBody>
      </p:sp>
      <p:sp>
        <p:nvSpPr>
          <p:cNvPr id="6" name="Rectangle: Rounded Corners 17">
            <a:extLst>
              <a:ext uri="{FF2B5EF4-FFF2-40B4-BE49-F238E27FC236}">
                <a16:creationId xmlns:a16="http://schemas.microsoft.com/office/drawing/2014/main" id="{5E4A04FA-ED8D-FD7C-7F31-BA9572762FD5}"/>
              </a:ext>
            </a:extLst>
          </p:cNvPr>
          <p:cNvSpPr/>
          <p:nvPr/>
        </p:nvSpPr>
        <p:spPr>
          <a:xfrm>
            <a:off x="4837889" y="29241"/>
            <a:ext cx="4306111" cy="733834"/>
          </a:xfrm>
          <a:prstGeom prst="roundRect">
            <a:avLst>
              <a:gd name="adj" fmla="val 12642"/>
            </a:avLst>
          </a:prstGeom>
          <a:solidFill>
            <a:schemeClr val="tx1">
              <a:lumMod val="90000"/>
              <a:lumOff val="10000"/>
            </a:schemeClr>
          </a:solidFill>
          <a:ln>
            <a:noFill/>
          </a:ln>
        </p:spPr>
        <p:style>
          <a:lnRef idx="2">
            <a:schemeClr val="dk1">
              <a:shade val="50000"/>
            </a:schemeClr>
          </a:lnRef>
          <a:fillRef idx="1">
            <a:schemeClr val="dk1"/>
          </a:fillRef>
          <a:effectRef idx="0">
            <a:schemeClr val="dk1"/>
          </a:effectRef>
          <a:fontRef idx="minor">
            <a:schemeClr val="lt1"/>
          </a:fontRef>
        </p:style>
        <p:txBody>
          <a:bodyPr lIns="360000" rtlCol="0" anchor="ctr"/>
          <a:lstStyle/>
          <a:p>
            <a:r>
              <a:rPr lang="en-US" noProof="0" dirty="0"/>
              <a:t>Now that we have all the tools, this is the final cookbook to follow when sketching the Root Locus</a:t>
            </a:r>
          </a:p>
        </p:txBody>
      </p:sp>
      <mc:AlternateContent xmlns:mc="http://schemas.openxmlformats.org/markup-compatibility/2006" xmlns:a14="http://schemas.microsoft.com/office/drawing/2010/main">
        <mc:Choice Requires="a14">
          <p:sp>
            <p:nvSpPr>
              <p:cNvPr id="7" name="Textfeld 6">
                <a:extLst>
                  <a:ext uri="{FF2B5EF4-FFF2-40B4-BE49-F238E27FC236}">
                    <a16:creationId xmlns:a16="http://schemas.microsoft.com/office/drawing/2014/main" id="{2AEAD172-BE7F-5926-D819-4D937825038D}"/>
                  </a:ext>
                </a:extLst>
              </p:cNvPr>
              <p:cNvSpPr txBox="1"/>
              <p:nvPr/>
            </p:nvSpPr>
            <p:spPr>
              <a:xfrm>
                <a:off x="2742992" y="2652866"/>
                <a:ext cx="2707728" cy="59125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600" i="1" noProof="0" smtClean="0">
                              <a:latin typeface="Cambria Math" panose="02040503050406030204" pitchFamily="18" charset="0"/>
                            </a:rPr>
                          </m:ctrlPr>
                        </m:sSubPr>
                        <m:e>
                          <m:r>
                            <a:rPr lang="en-US" sz="1600" i="1" noProof="0" smtClean="0">
                              <a:latin typeface="Cambria Math" panose="02040503050406030204" pitchFamily="18" charset="0"/>
                            </a:rPr>
                            <m:t>𝑠</m:t>
                          </m:r>
                        </m:e>
                        <m:sub>
                          <m:r>
                            <m:rPr>
                              <m:nor/>
                            </m:rPr>
                            <a:rPr lang="en-US" sz="1600" i="1" noProof="0" smtClean="0">
                              <a:latin typeface="Cambria Math" panose="02040503050406030204" pitchFamily="18" charset="0"/>
                            </a:rPr>
                            <m:t>com</m:t>
                          </m:r>
                        </m:sub>
                      </m:sSub>
                      <m:r>
                        <a:rPr lang="en-US" sz="1600" i="1" noProof="0" smtClean="0">
                          <a:latin typeface="Cambria Math" panose="02040503050406030204" pitchFamily="18" charset="0"/>
                        </a:rPr>
                        <m:t>=</m:t>
                      </m:r>
                      <m:f>
                        <m:fPr>
                          <m:ctrlPr>
                            <a:rPr lang="en-US" sz="1600" i="1" noProof="0" smtClean="0">
                              <a:latin typeface="Cambria Math" panose="02040503050406030204" pitchFamily="18" charset="0"/>
                            </a:rPr>
                          </m:ctrlPr>
                        </m:fPr>
                        <m:num>
                          <m:nary>
                            <m:naryPr>
                              <m:chr m:val="∑"/>
                              <m:ctrlPr>
                                <a:rPr lang="en-US" sz="1600" i="1" noProof="0" smtClean="0">
                                  <a:latin typeface="Cambria Math" panose="02040503050406030204" pitchFamily="18" charset="0"/>
                                </a:rPr>
                              </m:ctrlPr>
                            </m:naryPr>
                            <m:sub>
                              <m:r>
                                <a:rPr lang="en-US" sz="1600" i="1" noProof="0" smtClean="0">
                                  <a:latin typeface="Cambria Math" panose="02040503050406030204" pitchFamily="18" charset="0"/>
                                </a:rPr>
                                <m:t>𝑖</m:t>
                              </m:r>
                              <m:r>
                                <a:rPr lang="en-US" sz="1600" i="1" noProof="0" smtClean="0">
                                  <a:latin typeface="Cambria Math" panose="02040503050406030204" pitchFamily="18" charset="0"/>
                                </a:rPr>
                                <m:t>=1</m:t>
                              </m:r>
                            </m:sub>
                            <m:sup>
                              <m:r>
                                <a:rPr lang="en-US" sz="1600" i="1" noProof="0" smtClean="0">
                                  <a:latin typeface="Cambria Math" panose="02040503050406030204" pitchFamily="18" charset="0"/>
                                </a:rPr>
                                <m:t>𝑛</m:t>
                              </m:r>
                            </m:sup>
                            <m:e>
                              <m:sSub>
                                <m:sSubPr>
                                  <m:ctrlPr>
                                    <a:rPr lang="en-US" sz="1600" i="1" noProof="0" smtClean="0">
                                      <a:latin typeface="Cambria Math" panose="02040503050406030204" pitchFamily="18" charset="0"/>
                                    </a:rPr>
                                  </m:ctrlPr>
                                </m:sSubPr>
                                <m:e>
                                  <m:r>
                                    <a:rPr lang="en-US" sz="1600" i="1" noProof="0" smtClean="0">
                                      <a:latin typeface="Cambria Math" panose="02040503050406030204" pitchFamily="18" charset="0"/>
                                    </a:rPr>
                                    <m:t>𝑝</m:t>
                                  </m:r>
                                </m:e>
                                <m:sub>
                                  <m:r>
                                    <a:rPr lang="en-US" sz="1600" i="1" noProof="0" smtClean="0">
                                      <a:latin typeface="Cambria Math" panose="02040503050406030204" pitchFamily="18" charset="0"/>
                                    </a:rPr>
                                    <m:t>𝑖</m:t>
                                  </m:r>
                                </m:sub>
                              </m:sSub>
                            </m:e>
                          </m:nary>
                          <m:r>
                            <a:rPr lang="en-US" sz="1600" i="1" noProof="0" smtClean="0">
                              <a:latin typeface="Cambria Math" panose="02040503050406030204" pitchFamily="18" charset="0"/>
                            </a:rPr>
                            <m:t>−</m:t>
                          </m:r>
                          <m:nary>
                            <m:naryPr>
                              <m:chr m:val="∑"/>
                              <m:ctrlPr>
                                <a:rPr lang="en-US" sz="1600" i="1" noProof="0" smtClean="0">
                                  <a:latin typeface="Cambria Math" panose="02040503050406030204" pitchFamily="18" charset="0"/>
                                </a:rPr>
                              </m:ctrlPr>
                            </m:naryPr>
                            <m:sub>
                              <m:r>
                                <a:rPr lang="en-US" sz="1600" i="1" noProof="0" smtClean="0">
                                  <a:latin typeface="Cambria Math" panose="02040503050406030204" pitchFamily="18" charset="0"/>
                                </a:rPr>
                                <m:t>𝑗</m:t>
                              </m:r>
                              <m:r>
                                <a:rPr lang="en-US" sz="1600" i="1" noProof="0" smtClean="0">
                                  <a:latin typeface="Cambria Math" panose="02040503050406030204" pitchFamily="18" charset="0"/>
                                </a:rPr>
                                <m:t>=1</m:t>
                              </m:r>
                            </m:sub>
                            <m:sup>
                              <m:r>
                                <a:rPr lang="en-US" sz="1600" i="1" noProof="0" smtClean="0">
                                  <a:latin typeface="Cambria Math" panose="02040503050406030204" pitchFamily="18" charset="0"/>
                                </a:rPr>
                                <m:t>𝑚</m:t>
                              </m:r>
                            </m:sup>
                            <m:e>
                              <m:sSub>
                                <m:sSubPr>
                                  <m:ctrlPr>
                                    <a:rPr lang="en-US" sz="1600" i="1" noProof="0" smtClean="0">
                                      <a:latin typeface="Cambria Math" panose="02040503050406030204" pitchFamily="18" charset="0"/>
                                    </a:rPr>
                                  </m:ctrlPr>
                                </m:sSubPr>
                                <m:e>
                                  <m:r>
                                    <a:rPr lang="en-US" sz="1600" i="1" noProof="0" smtClean="0">
                                      <a:latin typeface="Cambria Math" panose="02040503050406030204" pitchFamily="18" charset="0"/>
                                    </a:rPr>
                                    <m:t>𝑧</m:t>
                                  </m:r>
                                </m:e>
                                <m:sub>
                                  <m:r>
                                    <a:rPr lang="en-US" sz="1600" i="1" noProof="0" smtClean="0">
                                      <a:latin typeface="Cambria Math" panose="02040503050406030204" pitchFamily="18" charset="0"/>
                                    </a:rPr>
                                    <m:t>𝑗</m:t>
                                  </m:r>
                                </m:sub>
                              </m:sSub>
                            </m:e>
                          </m:nary>
                        </m:num>
                        <m:den>
                          <m:r>
                            <a:rPr lang="en-US" sz="1600" i="1" noProof="0" smtClean="0">
                              <a:latin typeface="Cambria Math" panose="02040503050406030204" pitchFamily="18" charset="0"/>
                            </a:rPr>
                            <m:t>𝑛</m:t>
                          </m:r>
                          <m:r>
                            <a:rPr lang="en-US" sz="1600" i="1" noProof="0" smtClean="0">
                              <a:latin typeface="Cambria Math" panose="02040503050406030204" pitchFamily="18" charset="0"/>
                            </a:rPr>
                            <m:t>−</m:t>
                          </m:r>
                          <m:r>
                            <a:rPr lang="en-US" sz="1600" i="1" noProof="0" smtClean="0">
                              <a:latin typeface="Cambria Math" panose="02040503050406030204" pitchFamily="18" charset="0"/>
                            </a:rPr>
                            <m:t>𝑚</m:t>
                          </m:r>
                        </m:den>
                      </m:f>
                    </m:oMath>
                  </m:oMathPara>
                </a14:m>
                <a:endParaRPr lang="en-US" sz="1200" noProof="0" dirty="0"/>
              </a:p>
            </p:txBody>
          </p:sp>
        </mc:Choice>
        <mc:Fallback xmlns="">
          <p:sp>
            <p:nvSpPr>
              <p:cNvPr id="7" name="Textfeld 6">
                <a:extLst>
                  <a:ext uri="{FF2B5EF4-FFF2-40B4-BE49-F238E27FC236}">
                    <a16:creationId xmlns:a16="http://schemas.microsoft.com/office/drawing/2014/main" id="{2AEAD172-BE7F-5926-D819-4D937825038D}"/>
                  </a:ext>
                </a:extLst>
              </p:cNvPr>
              <p:cNvSpPr txBox="1">
                <a:spLocks noRot="1" noChangeAspect="1" noMove="1" noResize="1" noEditPoints="1" noAdjustHandles="1" noChangeArrowheads="1" noChangeShapeType="1" noTextEdit="1"/>
              </p:cNvSpPr>
              <p:nvPr/>
            </p:nvSpPr>
            <p:spPr>
              <a:xfrm>
                <a:off x="2742992" y="2652866"/>
                <a:ext cx="2707728" cy="591252"/>
              </a:xfrm>
              <a:prstGeom prst="rect">
                <a:avLst/>
              </a:prstGeom>
              <a:blipFill>
                <a:blip r:embed="rId2"/>
                <a:stretch>
                  <a:fillRect t="-62500" b="-58333"/>
                </a:stretch>
              </a:blipFill>
            </p:spPr>
            <p:txBody>
              <a:bodyPr/>
              <a:lstStyle/>
              <a:p>
                <a:r>
                  <a:rPr lang="de-DE">
                    <a:noFill/>
                  </a:rPr>
                  <a:t> </a:t>
                </a:r>
              </a:p>
            </p:txBody>
          </p:sp>
        </mc:Fallback>
      </mc:AlternateContent>
      <p:grpSp>
        <p:nvGrpSpPr>
          <p:cNvPr id="8" name="Gruppieren 7">
            <a:extLst>
              <a:ext uri="{FF2B5EF4-FFF2-40B4-BE49-F238E27FC236}">
                <a16:creationId xmlns:a16="http://schemas.microsoft.com/office/drawing/2014/main" id="{9736F4B2-812A-85D2-9505-46F539DFF884}"/>
              </a:ext>
            </a:extLst>
          </p:cNvPr>
          <p:cNvGrpSpPr/>
          <p:nvPr/>
        </p:nvGrpSpPr>
        <p:grpSpPr>
          <a:xfrm>
            <a:off x="1502345" y="3244118"/>
            <a:ext cx="5932653" cy="610249"/>
            <a:chOff x="1122426" y="2837514"/>
            <a:chExt cx="5932653" cy="610249"/>
          </a:xfrm>
        </p:grpSpPr>
        <mc:AlternateContent xmlns:mc="http://schemas.openxmlformats.org/markup-compatibility/2006" xmlns:a14="http://schemas.microsoft.com/office/drawing/2010/main">
          <mc:Choice Requires="a14">
            <p:sp>
              <p:nvSpPr>
                <p:cNvPr id="9" name="Textfeld 8">
                  <a:extLst>
                    <a:ext uri="{FF2B5EF4-FFF2-40B4-BE49-F238E27FC236}">
                      <a16:creationId xmlns:a16="http://schemas.microsoft.com/office/drawing/2014/main" id="{4C8F7D4C-2E83-0BB8-03F5-D9A383CCFFBF}"/>
                    </a:ext>
                  </a:extLst>
                </p:cNvPr>
                <p:cNvSpPr txBox="1"/>
                <p:nvPr/>
              </p:nvSpPr>
              <p:spPr>
                <a:xfrm>
                  <a:off x="1122426" y="2889853"/>
                  <a:ext cx="3333670" cy="5579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i="1" noProof="0" smtClean="0">
                            <a:latin typeface="Cambria Math" panose="02040503050406030204" pitchFamily="18" charset="0"/>
                          </a:rPr>
                          <m:t>∠</m:t>
                        </m:r>
                        <m:r>
                          <a:rPr lang="en-US" sz="1600" i="1" noProof="0" smtClean="0">
                            <a:latin typeface="Cambria Math" panose="02040503050406030204" pitchFamily="18" charset="0"/>
                          </a:rPr>
                          <m:t>𝑠</m:t>
                        </m:r>
                        <m:r>
                          <a:rPr lang="en-US" sz="1600" i="1" noProof="0" smtClean="0">
                            <a:latin typeface="Cambria Math" panose="02040503050406030204" pitchFamily="18" charset="0"/>
                          </a:rPr>
                          <m:t>=</m:t>
                        </m:r>
                        <m:f>
                          <m:fPr>
                            <m:ctrlPr>
                              <a:rPr lang="en-US" sz="1600" i="1" noProof="0" smtClean="0">
                                <a:latin typeface="Cambria Math" panose="02040503050406030204" pitchFamily="18" charset="0"/>
                              </a:rPr>
                            </m:ctrlPr>
                          </m:fPr>
                          <m:num>
                            <m:sSup>
                              <m:sSupPr>
                                <m:ctrlPr>
                                  <a:rPr lang="en-US" sz="1600" i="1" noProof="0" smtClean="0">
                                    <a:latin typeface="Cambria Math" panose="02040503050406030204" pitchFamily="18" charset="0"/>
                                  </a:rPr>
                                </m:ctrlPr>
                              </m:sSupPr>
                              <m:e>
                                <m:r>
                                  <a:rPr lang="en-US" sz="1600" i="1" noProof="0" smtClean="0">
                                    <a:latin typeface="Cambria Math" panose="02040503050406030204" pitchFamily="18" charset="0"/>
                                  </a:rPr>
                                  <m:t>180</m:t>
                                </m:r>
                              </m:e>
                              <m:sup>
                                <m:r>
                                  <a:rPr lang="en-US" sz="1600" i="1" noProof="0" smtClean="0">
                                    <a:latin typeface="Cambria Math" panose="02040503050406030204" pitchFamily="18" charset="0"/>
                                  </a:rPr>
                                  <m:t>∘</m:t>
                                </m:r>
                              </m:sup>
                            </m:sSup>
                            <m:r>
                              <a:rPr lang="en-US" sz="1600" i="1" noProof="0" smtClean="0">
                                <a:latin typeface="Cambria Math" panose="02040503050406030204" pitchFamily="18" charset="0"/>
                              </a:rPr>
                              <m:t>±</m:t>
                            </m:r>
                            <m:r>
                              <a:rPr lang="en-US" sz="1600" i="1" noProof="0" smtClean="0">
                                <a:latin typeface="Cambria Math" panose="02040503050406030204" pitchFamily="18" charset="0"/>
                              </a:rPr>
                              <m:t>𝑞</m:t>
                            </m:r>
                            <m:r>
                              <a:rPr lang="en-US" sz="1600" i="1" noProof="0" smtClean="0">
                                <a:latin typeface="Cambria Math" panose="02040503050406030204" pitchFamily="18" charset="0"/>
                              </a:rPr>
                              <m:t>⋅</m:t>
                            </m:r>
                            <m:sSup>
                              <m:sSupPr>
                                <m:ctrlPr>
                                  <a:rPr lang="en-US" sz="1600" i="1" noProof="0" smtClean="0">
                                    <a:latin typeface="Cambria Math" panose="02040503050406030204" pitchFamily="18" charset="0"/>
                                  </a:rPr>
                                </m:ctrlPr>
                              </m:sSupPr>
                              <m:e>
                                <m:r>
                                  <a:rPr lang="en-US" sz="1600" i="1" noProof="0" smtClean="0">
                                    <a:latin typeface="Cambria Math" panose="02040503050406030204" pitchFamily="18" charset="0"/>
                                  </a:rPr>
                                  <m:t>360</m:t>
                                </m:r>
                              </m:e>
                              <m:sup>
                                <m:r>
                                  <a:rPr lang="en-US" sz="1600" i="1" noProof="0" smtClean="0">
                                    <a:latin typeface="Cambria Math" panose="02040503050406030204" pitchFamily="18" charset="0"/>
                                  </a:rPr>
                                  <m:t>∘</m:t>
                                </m:r>
                              </m:sup>
                            </m:sSup>
                          </m:num>
                          <m:den>
                            <m:r>
                              <a:rPr lang="en-US" sz="1600" i="1" noProof="0" smtClean="0">
                                <a:latin typeface="Cambria Math" panose="02040503050406030204" pitchFamily="18" charset="0"/>
                              </a:rPr>
                              <m:t>𝑛</m:t>
                            </m:r>
                            <m:r>
                              <a:rPr lang="en-US" sz="1600" i="1" noProof="0" smtClean="0">
                                <a:latin typeface="Cambria Math" panose="02040503050406030204" pitchFamily="18" charset="0"/>
                              </a:rPr>
                              <m:t>−</m:t>
                            </m:r>
                            <m:r>
                              <a:rPr lang="en-US" sz="1600" i="1" noProof="0" smtClean="0">
                                <a:latin typeface="Cambria Math" panose="02040503050406030204" pitchFamily="18" charset="0"/>
                              </a:rPr>
                              <m:t>𝑚</m:t>
                            </m:r>
                          </m:den>
                        </m:f>
                        <m:r>
                          <a:rPr lang="en-US" sz="1600" i="1" noProof="0" smtClean="0">
                            <a:latin typeface="Cambria Math" panose="02040503050406030204" pitchFamily="18" charset="0"/>
                          </a:rPr>
                          <m:t> </m:t>
                        </m:r>
                        <m:r>
                          <m:rPr>
                            <m:nor/>
                          </m:rPr>
                          <a:rPr lang="en-US" sz="1600" i="0" noProof="0" smtClean="0">
                            <a:latin typeface="Cambria Math" panose="02040503050406030204" pitchFamily="18" charset="0"/>
                          </a:rPr>
                          <m:t>if</m:t>
                        </m:r>
                        <m:r>
                          <m:rPr>
                            <m:nor/>
                          </m:rPr>
                          <a:rPr lang="en-US" sz="1600" i="0" noProof="0" smtClean="0">
                            <a:latin typeface="Cambria Math" panose="02040503050406030204" pitchFamily="18" charset="0"/>
                          </a:rPr>
                          <m:t> </m:t>
                        </m:r>
                        <m:r>
                          <a:rPr lang="en-US" sz="1600" i="1" noProof="0" smtClean="0">
                            <a:latin typeface="Cambria Math" panose="02040503050406030204" pitchFamily="18" charset="0"/>
                          </a:rPr>
                          <m:t>𝑘</m:t>
                        </m:r>
                        <m:r>
                          <a:rPr lang="en-US" sz="1600" i="1" noProof="0" smtClean="0">
                            <a:latin typeface="Cambria Math" panose="02040503050406030204" pitchFamily="18" charset="0"/>
                          </a:rPr>
                          <m:t>&gt;0</m:t>
                        </m:r>
                      </m:oMath>
                    </m:oMathPara>
                  </a14:m>
                  <a:endParaRPr lang="en-US" sz="1200" noProof="0" dirty="0"/>
                </a:p>
              </p:txBody>
            </p:sp>
          </mc:Choice>
          <mc:Fallback xmlns="">
            <p:sp>
              <p:nvSpPr>
                <p:cNvPr id="9" name="Textfeld 8">
                  <a:extLst>
                    <a:ext uri="{FF2B5EF4-FFF2-40B4-BE49-F238E27FC236}">
                      <a16:creationId xmlns:a16="http://schemas.microsoft.com/office/drawing/2014/main" id="{4C8F7D4C-2E83-0BB8-03F5-D9A383CCFFBF}"/>
                    </a:ext>
                  </a:extLst>
                </p:cNvPr>
                <p:cNvSpPr txBox="1">
                  <a:spLocks noRot="1" noChangeAspect="1" noMove="1" noResize="1" noEditPoints="1" noAdjustHandles="1" noChangeArrowheads="1" noChangeShapeType="1" noTextEdit="1"/>
                </p:cNvSpPr>
                <p:nvPr/>
              </p:nvSpPr>
              <p:spPr>
                <a:xfrm>
                  <a:off x="1122426" y="2889853"/>
                  <a:ext cx="3333670" cy="557910"/>
                </a:xfrm>
                <a:prstGeom prst="rect">
                  <a:avLst/>
                </a:prstGeom>
                <a:blipFill>
                  <a:blip r:embed="rId3"/>
                  <a:stretch>
                    <a:fillRect/>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10" name="Textfeld 9">
                  <a:extLst>
                    <a:ext uri="{FF2B5EF4-FFF2-40B4-BE49-F238E27FC236}">
                      <a16:creationId xmlns:a16="http://schemas.microsoft.com/office/drawing/2014/main" id="{E5F85CF1-06C5-120F-24CF-01BF21393521}"/>
                    </a:ext>
                  </a:extLst>
                </p:cNvPr>
                <p:cNvSpPr txBox="1"/>
                <p:nvPr/>
              </p:nvSpPr>
              <p:spPr>
                <a:xfrm>
                  <a:off x="4570040" y="2837514"/>
                  <a:ext cx="2485039" cy="5579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600" i="1" noProof="0" smtClean="0">
                            <a:latin typeface="Cambria Math" panose="02040503050406030204" pitchFamily="18" charset="0"/>
                          </a:rPr>
                          <m:t>∠</m:t>
                        </m:r>
                        <m:r>
                          <a:rPr lang="en-US" sz="1600" i="1" noProof="0" smtClean="0">
                            <a:latin typeface="Cambria Math" panose="02040503050406030204" pitchFamily="18" charset="0"/>
                          </a:rPr>
                          <m:t>𝑠</m:t>
                        </m:r>
                        <m:r>
                          <a:rPr lang="en-US" sz="1600" i="1" noProof="0" smtClean="0">
                            <a:latin typeface="Cambria Math" panose="02040503050406030204" pitchFamily="18" charset="0"/>
                          </a:rPr>
                          <m:t>=</m:t>
                        </m:r>
                        <m:f>
                          <m:fPr>
                            <m:ctrlPr>
                              <a:rPr lang="en-US" sz="1600" i="1" noProof="0" smtClean="0">
                                <a:latin typeface="Cambria Math" panose="02040503050406030204" pitchFamily="18" charset="0"/>
                              </a:rPr>
                            </m:ctrlPr>
                          </m:fPr>
                          <m:num>
                            <m:r>
                              <a:rPr lang="en-US" sz="1600" i="1" noProof="0" smtClean="0">
                                <a:latin typeface="Cambria Math" panose="02040503050406030204" pitchFamily="18" charset="0"/>
                              </a:rPr>
                              <m:t>±</m:t>
                            </m:r>
                            <m:r>
                              <a:rPr lang="en-US" sz="1600" i="1" noProof="0" smtClean="0">
                                <a:latin typeface="Cambria Math" panose="02040503050406030204" pitchFamily="18" charset="0"/>
                              </a:rPr>
                              <m:t>𝑞</m:t>
                            </m:r>
                            <m:r>
                              <a:rPr lang="en-US" sz="1600" i="1" noProof="0" smtClean="0">
                                <a:latin typeface="Cambria Math" panose="02040503050406030204" pitchFamily="18" charset="0"/>
                              </a:rPr>
                              <m:t>⋅</m:t>
                            </m:r>
                            <m:sSup>
                              <m:sSupPr>
                                <m:ctrlPr>
                                  <a:rPr lang="en-US" sz="1600" i="1" noProof="0" smtClean="0">
                                    <a:latin typeface="Cambria Math" panose="02040503050406030204" pitchFamily="18" charset="0"/>
                                  </a:rPr>
                                </m:ctrlPr>
                              </m:sSupPr>
                              <m:e>
                                <m:r>
                                  <a:rPr lang="en-US" sz="1600" i="1" noProof="0" smtClean="0">
                                    <a:latin typeface="Cambria Math" panose="02040503050406030204" pitchFamily="18" charset="0"/>
                                  </a:rPr>
                                  <m:t>360</m:t>
                                </m:r>
                              </m:e>
                              <m:sup>
                                <m:r>
                                  <a:rPr lang="en-US" sz="1600" i="1" noProof="0" smtClean="0">
                                    <a:latin typeface="Cambria Math" panose="02040503050406030204" pitchFamily="18" charset="0"/>
                                  </a:rPr>
                                  <m:t>∘</m:t>
                                </m:r>
                              </m:sup>
                            </m:sSup>
                          </m:num>
                          <m:den>
                            <m:r>
                              <a:rPr lang="en-US" sz="1600" i="1" noProof="0" smtClean="0">
                                <a:latin typeface="Cambria Math" panose="02040503050406030204" pitchFamily="18" charset="0"/>
                              </a:rPr>
                              <m:t>𝑛</m:t>
                            </m:r>
                            <m:r>
                              <a:rPr lang="en-US" sz="1600" i="1" noProof="0" smtClean="0">
                                <a:latin typeface="Cambria Math" panose="02040503050406030204" pitchFamily="18" charset="0"/>
                              </a:rPr>
                              <m:t>−</m:t>
                            </m:r>
                            <m:r>
                              <a:rPr lang="en-US" sz="1600" i="1" noProof="0" smtClean="0">
                                <a:latin typeface="Cambria Math" panose="02040503050406030204" pitchFamily="18" charset="0"/>
                              </a:rPr>
                              <m:t>𝑚</m:t>
                            </m:r>
                          </m:den>
                        </m:f>
                        <m:r>
                          <a:rPr lang="en-US" sz="1600" i="1" noProof="0" smtClean="0">
                            <a:latin typeface="Cambria Math" panose="02040503050406030204" pitchFamily="18" charset="0"/>
                          </a:rPr>
                          <m:t> </m:t>
                        </m:r>
                        <m:r>
                          <m:rPr>
                            <m:nor/>
                          </m:rPr>
                          <a:rPr lang="en-US" sz="1600" i="0" noProof="0" smtClean="0">
                            <a:latin typeface="Cambria Math" panose="02040503050406030204" pitchFamily="18" charset="0"/>
                          </a:rPr>
                          <m:t>if</m:t>
                        </m:r>
                        <m:r>
                          <m:rPr>
                            <m:nor/>
                          </m:rPr>
                          <a:rPr lang="en-US" sz="1600" i="0" noProof="0" smtClean="0">
                            <a:latin typeface="Cambria Math" panose="02040503050406030204" pitchFamily="18" charset="0"/>
                          </a:rPr>
                          <m:t> </m:t>
                        </m:r>
                        <m:r>
                          <a:rPr lang="en-US" sz="1600" i="1" noProof="0" smtClean="0">
                            <a:latin typeface="Cambria Math" panose="02040503050406030204" pitchFamily="18" charset="0"/>
                          </a:rPr>
                          <m:t>𝑘</m:t>
                        </m:r>
                        <m:r>
                          <a:rPr lang="en-US" sz="1600" i="1" noProof="0" smtClean="0">
                            <a:latin typeface="Cambria Math" panose="02040503050406030204" pitchFamily="18" charset="0"/>
                          </a:rPr>
                          <m:t>&gt;0</m:t>
                        </m:r>
                      </m:oMath>
                    </m:oMathPara>
                  </a14:m>
                  <a:endParaRPr lang="en-US" sz="1200" noProof="0" dirty="0"/>
                </a:p>
              </p:txBody>
            </p:sp>
          </mc:Choice>
          <mc:Fallback xmlns="">
            <p:sp>
              <p:nvSpPr>
                <p:cNvPr id="10" name="Textfeld 9">
                  <a:extLst>
                    <a:ext uri="{FF2B5EF4-FFF2-40B4-BE49-F238E27FC236}">
                      <a16:creationId xmlns:a16="http://schemas.microsoft.com/office/drawing/2014/main" id="{E5F85CF1-06C5-120F-24CF-01BF21393521}"/>
                    </a:ext>
                  </a:extLst>
                </p:cNvPr>
                <p:cNvSpPr txBox="1">
                  <a:spLocks noRot="1" noChangeAspect="1" noMove="1" noResize="1" noEditPoints="1" noAdjustHandles="1" noChangeArrowheads="1" noChangeShapeType="1" noTextEdit="1"/>
                </p:cNvSpPr>
                <p:nvPr/>
              </p:nvSpPr>
              <p:spPr>
                <a:xfrm>
                  <a:off x="4570040" y="2837514"/>
                  <a:ext cx="2485039" cy="557910"/>
                </a:xfrm>
                <a:prstGeom prst="rect">
                  <a:avLst/>
                </a:prstGeom>
                <a:blipFill>
                  <a:blip r:embed="rId4"/>
                  <a:stretch>
                    <a:fillRect/>
                  </a:stretch>
                </a:blipFill>
              </p:spPr>
              <p:txBody>
                <a:bodyPr/>
                <a:lstStyle/>
                <a:p>
                  <a:r>
                    <a:rPr lang="de-DE">
                      <a:noFill/>
                    </a:rPr>
                    <a:t> </a:t>
                  </a:r>
                </a:p>
              </p:txBody>
            </p:sp>
          </mc:Fallback>
        </mc:AlternateContent>
      </p:grpSp>
    </p:spTree>
    <p:extLst>
      <p:ext uri="{BB962C8B-B14F-4D97-AF65-F5344CB8AC3E}">
        <p14:creationId xmlns:p14="http://schemas.microsoft.com/office/powerpoint/2010/main" val="3674101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nhaltsplatzhalter 6" descr="Ein Bild, das Reihe, Diagramm enthält.&#10;&#10;KI-generierte Inhalte können fehlerhaft sein.">
            <a:extLst>
              <a:ext uri="{FF2B5EF4-FFF2-40B4-BE49-F238E27FC236}">
                <a16:creationId xmlns:a16="http://schemas.microsoft.com/office/drawing/2014/main" id="{94E57215-400C-F77E-791F-5C8C64BC5B95}"/>
              </a:ext>
            </a:extLst>
          </p:cNvPr>
          <p:cNvPicPr>
            <a:picLocks noGrp="1" noChangeAspect="1"/>
          </p:cNvPicPr>
          <p:nvPr>
            <p:ph idx="1"/>
          </p:nvPr>
        </p:nvPicPr>
        <p:blipFill>
          <a:blip r:embed="rId2"/>
          <a:stretch>
            <a:fillRect/>
          </a:stretch>
        </p:blipFill>
        <p:spPr>
          <a:xfrm>
            <a:off x="628650" y="1900867"/>
            <a:ext cx="3593819" cy="2866396"/>
          </a:xfrm>
        </p:spPr>
      </p:pic>
      <p:sp>
        <p:nvSpPr>
          <p:cNvPr id="2" name="Titel 1">
            <a:extLst>
              <a:ext uri="{FF2B5EF4-FFF2-40B4-BE49-F238E27FC236}">
                <a16:creationId xmlns:a16="http://schemas.microsoft.com/office/drawing/2014/main" id="{8EEEC1F5-CF58-C5A2-3031-A701454F75C6}"/>
              </a:ext>
            </a:extLst>
          </p:cNvPr>
          <p:cNvSpPr>
            <a:spLocks noGrp="1"/>
          </p:cNvSpPr>
          <p:nvPr>
            <p:ph type="title"/>
          </p:nvPr>
        </p:nvSpPr>
        <p:spPr/>
        <p:txBody>
          <a:bodyPr/>
          <a:lstStyle/>
          <a:p>
            <a:r>
              <a:rPr lang="en-US" noProof="0" dirty="0"/>
              <a:t>Examples</a:t>
            </a:r>
          </a:p>
        </p:txBody>
      </p:sp>
      <p:sp>
        <p:nvSpPr>
          <p:cNvPr id="4" name="Fußzeilenplatzhalter 3">
            <a:extLst>
              <a:ext uri="{FF2B5EF4-FFF2-40B4-BE49-F238E27FC236}">
                <a16:creationId xmlns:a16="http://schemas.microsoft.com/office/drawing/2014/main" id="{3D2E435E-F9B9-BCAF-17AD-8A90F2398384}"/>
              </a:ext>
            </a:extLst>
          </p:cNvPr>
          <p:cNvSpPr>
            <a:spLocks noGrp="1"/>
          </p:cNvSpPr>
          <p:nvPr>
            <p:ph type="ftr" sz="quarter" idx="11"/>
          </p:nvPr>
        </p:nvSpPr>
        <p:spPr/>
        <p:txBody>
          <a:bodyPr/>
          <a:lstStyle/>
          <a:p>
            <a:pPr defTabSz="342900">
              <a:buClrTx/>
            </a:pPr>
            <a:r>
              <a:rPr lang="en-US" kern="1200" noProof="0" dirty="0">
                <a:solidFill>
                  <a:srgbClr val="101623">
                    <a:tint val="75000"/>
                  </a:srgbClr>
                </a:solidFill>
                <a:latin typeface="Calibri" panose="020F0502020204030204"/>
                <a:ea typeface="+mn-ea"/>
                <a:cs typeface="+mn-cs"/>
              </a:rPr>
              <a:t>Kissan Varatharajan - </a:t>
            </a:r>
            <a:r>
              <a:rPr lang="en-US" kern="1200" noProof="0" dirty="0" err="1">
                <a:solidFill>
                  <a:srgbClr val="101623">
                    <a:tint val="75000"/>
                  </a:srgbClr>
                </a:solidFill>
                <a:latin typeface="Calibri" panose="020F0502020204030204"/>
                <a:ea typeface="+mn-ea"/>
                <a:cs typeface="+mn-cs"/>
              </a:rPr>
              <a:t>kissanv.github.io</a:t>
            </a:r>
            <a:endParaRPr lang="en-US" kern="1200" noProof="0" dirty="0">
              <a:solidFill>
                <a:srgbClr val="101623">
                  <a:tint val="75000"/>
                </a:srgbClr>
              </a:solidFill>
              <a:latin typeface="Calibri" panose="020F0502020204030204"/>
              <a:ea typeface="+mn-ea"/>
              <a:cs typeface="+mn-cs"/>
            </a:endParaRPr>
          </a:p>
        </p:txBody>
      </p:sp>
      <p:sp>
        <p:nvSpPr>
          <p:cNvPr id="5" name="Foliennummernplatzhalter 4">
            <a:extLst>
              <a:ext uri="{FF2B5EF4-FFF2-40B4-BE49-F238E27FC236}">
                <a16:creationId xmlns:a16="http://schemas.microsoft.com/office/drawing/2014/main" id="{EA5EA183-C9D6-7622-3886-1DF41CAA35DF}"/>
              </a:ext>
            </a:extLst>
          </p:cNvPr>
          <p:cNvSpPr>
            <a:spLocks noGrp="1"/>
          </p:cNvSpPr>
          <p:nvPr>
            <p:ph type="sldNum" sz="quarter" idx="12"/>
          </p:nvPr>
        </p:nvSpPr>
        <p:spPr/>
        <p:txBody>
          <a:bodyPr/>
          <a:lstStyle/>
          <a:p>
            <a:pPr defTabSz="342900">
              <a:buClrTx/>
            </a:pPr>
            <a:fld id="{36EAFFE7-40E2-CA47-82C0-73D0FC591208}" type="slidenum">
              <a:rPr lang="en-US" kern="1200" noProof="0" smtClean="0">
                <a:solidFill>
                  <a:srgbClr val="101623">
                    <a:tint val="75000"/>
                  </a:srgbClr>
                </a:solidFill>
                <a:latin typeface="Calibri" panose="020F0502020204030204"/>
                <a:ea typeface="+mn-ea"/>
                <a:cs typeface="+mn-cs"/>
              </a:rPr>
              <a:pPr defTabSz="342900">
                <a:buClrTx/>
              </a:pPr>
              <a:t>26</a:t>
            </a:fld>
            <a:endParaRPr lang="en-US" kern="1200" noProof="0" dirty="0">
              <a:solidFill>
                <a:srgbClr val="101623">
                  <a:tint val="75000"/>
                </a:srgbClr>
              </a:solidFill>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10" name="Rectangle: Rounded Corners 17">
                <a:extLst>
                  <a:ext uri="{FF2B5EF4-FFF2-40B4-BE49-F238E27FC236}">
                    <a16:creationId xmlns:a16="http://schemas.microsoft.com/office/drawing/2014/main" id="{D1151DBC-F2E4-8B05-859E-6DE1A5991C45}"/>
                  </a:ext>
                </a:extLst>
              </p:cNvPr>
              <p:cNvSpPr/>
              <p:nvPr/>
            </p:nvSpPr>
            <p:spPr>
              <a:xfrm>
                <a:off x="6351373" y="52966"/>
                <a:ext cx="2445350" cy="733834"/>
              </a:xfrm>
              <a:prstGeom prst="roundRect">
                <a:avLst>
                  <a:gd name="adj" fmla="val 12642"/>
                </a:avLst>
              </a:prstGeom>
              <a:solidFill>
                <a:schemeClr val="tx1">
                  <a:lumMod val="90000"/>
                  <a:lumOff val="10000"/>
                </a:schemeClr>
              </a:solidFill>
              <a:ln>
                <a:noFill/>
              </a:ln>
            </p:spPr>
            <p:style>
              <a:lnRef idx="2">
                <a:schemeClr val="dk1">
                  <a:shade val="50000"/>
                </a:schemeClr>
              </a:lnRef>
              <a:fillRef idx="1">
                <a:schemeClr val="dk1"/>
              </a:fillRef>
              <a:effectRef idx="0">
                <a:schemeClr val="dk1"/>
              </a:effectRef>
              <a:fontRef idx="minor">
                <a:schemeClr val="lt1"/>
              </a:fontRef>
            </p:style>
            <p:txBody>
              <a:bodyPr lIns="360000" rtlCol="0" anchor="ctr"/>
              <a:lstStyle/>
              <a:p>
                <a:pPr/>
                <a14:m>
                  <m:oMathPara xmlns:m="http://schemas.openxmlformats.org/officeDocument/2006/math">
                    <m:oMathParaPr>
                      <m:jc m:val="left"/>
                    </m:oMathParaPr>
                    <m:oMath xmlns:m="http://schemas.openxmlformats.org/officeDocument/2006/math">
                      <m:sSub>
                        <m:sSubPr>
                          <m:ctrlPr>
                            <a:rPr lang="en-US" i="1" noProof="0" smtClean="0">
                              <a:latin typeface="Cambria Math" panose="02040503050406030204" pitchFamily="18" charset="0"/>
                            </a:rPr>
                          </m:ctrlPr>
                        </m:sSubPr>
                        <m:e>
                          <m:r>
                            <a:rPr lang="en-US" i="1" noProof="0" smtClean="0">
                              <a:latin typeface="Cambria Math" panose="02040503050406030204" pitchFamily="18" charset="0"/>
                            </a:rPr>
                            <m:t>𝑠</m:t>
                          </m:r>
                        </m:e>
                        <m:sub>
                          <m:r>
                            <m:rPr>
                              <m:nor/>
                            </m:rPr>
                            <a:rPr lang="en-US" noProof="0" smtClean="0">
                              <a:latin typeface="Cambria Math" panose="02040503050406030204" pitchFamily="18" charset="0"/>
                            </a:rPr>
                            <m:t>com</m:t>
                          </m:r>
                        </m:sub>
                      </m:sSub>
                      <m:r>
                        <a:rPr lang="en-US" i="1" noProof="0" smtClean="0">
                          <a:latin typeface="Cambria Math" panose="02040503050406030204" pitchFamily="18" charset="0"/>
                        </a:rPr>
                        <m:t>=</m:t>
                      </m:r>
                      <m:f>
                        <m:fPr>
                          <m:ctrlPr>
                            <a:rPr lang="en-US" i="1" noProof="0" smtClean="0">
                              <a:latin typeface="Cambria Math" panose="02040503050406030204" pitchFamily="18" charset="0"/>
                            </a:rPr>
                          </m:ctrlPr>
                        </m:fPr>
                        <m:num>
                          <m:nary>
                            <m:naryPr>
                              <m:chr m:val="∑"/>
                              <m:ctrlPr>
                                <a:rPr lang="en-US" i="1" noProof="0" smtClean="0">
                                  <a:latin typeface="Cambria Math" panose="02040503050406030204" pitchFamily="18" charset="0"/>
                                </a:rPr>
                              </m:ctrlPr>
                            </m:naryPr>
                            <m:sub>
                              <m:r>
                                <a:rPr lang="en-US" i="1" noProof="0" smtClean="0">
                                  <a:latin typeface="Cambria Math" panose="02040503050406030204" pitchFamily="18" charset="0"/>
                                </a:rPr>
                                <m:t>𝑖</m:t>
                              </m:r>
                              <m:r>
                                <a:rPr lang="en-US" i="1" noProof="0" smtClean="0">
                                  <a:latin typeface="Cambria Math" panose="02040503050406030204" pitchFamily="18" charset="0"/>
                                </a:rPr>
                                <m:t>=1</m:t>
                              </m:r>
                            </m:sub>
                            <m:sup>
                              <m:r>
                                <a:rPr lang="en-US" i="1" noProof="0" smtClean="0">
                                  <a:latin typeface="Cambria Math" panose="02040503050406030204" pitchFamily="18" charset="0"/>
                                </a:rPr>
                                <m:t>𝑛</m:t>
                              </m:r>
                            </m:sup>
                            <m:e>
                              <m:sSub>
                                <m:sSubPr>
                                  <m:ctrlPr>
                                    <a:rPr lang="en-US" i="1" noProof="0" smtClean="0">
                                      <a:latin typeface="Cambria Math" panose="02040503050406030204" pitchFamily="18" charset="0"/>
                                    </a:rPr>
                                  </m:ctrlPr>
                                </m:sSubPr>
                                <m:e>
                                  <m:r>
                                    <a:rPr lang="en-US" i="1" noProof="0" smtClean="0">
                                      <a:latin typeface="Cambria Math" panose="02040503050406030204" pitchFamily="18" charset="0"/>
                                    </a:rPr>
                                    <m:t>𝑝</m:t>
                                  </m:r>
                                </m:e>
                                <m:sub>
                                  <m:r>
                                    <a:rPr lang="en-US" i="1" noProof="0" smtClean="0">
                                      <a:latin typeface="Cambria Math" panose="02040503050406030204" pitchFamily="18" charset="0"/>
                                    </a:rPr>
                                    <m:t>𝑖</m:t>
                                  </m:r>
                                </m:sub>
                              </m:sSub>
                            </m:e>
                          </m:nary>
                          <m:r>
                            <a:rPr lang="en-US" i="1" noProof="0" smtClean="0">
                              <a:latin typeface="Cambria Math" panose="02040503050406030204" pitchFamily="18" charset="0"/>
                            </a:rPr>
                            <m:t>−</m:t>
                          </m:r>
                          <m:nary>
                            <m:naryPr>
                              <m:chr m:val="∑"/>
                              <m:ctrlPr>
                                <a:rPr lang="en-US" i="1" noProof="0" smtClean="0">
                                  <a:latin typeface="Cambria Math" panose="02040503050406030204" pitchFamily="18" charset="0"/>
                                </a:rPr>
                              </m:ctrlPr>
                            </m:naryPr>
                            <m:sub>
                              <m:r>
                                <a:rPr lang="en-US" i="1" noProof="0" smtClean="0">
                                  <a:latin typeface="Cambria Math" panose="02040503050406030204" pitchFamily="18" charset="0"/>
                                </a:rPr>
                                <m:t>𝑗</m:t>
                              </m:r>
                              <m:r>
                                <a:rPr lang="en-US" i="1" noProof="0" smtClean="0">
                                  <a:latin typeface="Cambria Math" panose="02040503050406030204" pitchFamily="18" charset="0"/>
                                </a:rPr>
                                <m:t>=1</m:t>
                              </m:r>
                            </m:sub>
                            <m:sup>
                              <m:r>
                                <a:rPr lang="en-US" i="1" noProof="0" smtClean="0">
                                  <a:latin typeface="Cambria Math" panose="02040503050406030204" pitchFamily="18" charset="0"/>
                                </a:rPr>
                                <m:t>𝑚</m:t>
                              </m:r>
                            </m:sup>
                            <m:e>
                              <m:sSub>
                                <m:sSubPr>
                                  <m:ctrlPr>
                                    <a:rPr lang="en-US" i="1" noProof="0" smtClean="0">
                                      <a:latin typeface="Cambria Math" panose="02040503050406030204" pitchFamily="18" charset="0"/>
                                    </a:rPr>
                                  </m:ctrlPr>
                                </m:sSubPr>
                                <m:e>
                                  <m:r>
                                    <a:rPr lang="en-US" i="1" noProof="0" smtClean="0">
                                      <a:latin typeface="Cambria Math" panose="02040503050406030204" pitchFamily="18" charset="0"/>
                                    </a:rPr>
                                    <m:t>𝑧</m:t>
                                  </m:r>
                                </m:e>
                                <m:sub>
                                  <m:r>
                                    <a:rPr lang="en-US" i="1" noProof="0" smtClean="0">
                                      <a:latin typeface="Cambria Math" panose="02040503050406030204" pitchFamily="18" charset="0"/>
                                    </a:rPr>
                                    <m:t>𝑗</m:t>
                                  </m:r>
                                </m:sub>
                              </m:sSub>
                            </m:e>
                          </m:nary>
                        </m:num>
                        <m:den>
                          <m:r>
                            <a:rPr lang="en-US" i="1" noProof="0" smtClean="0">
                              <a:latin typeface="Cambria Math" panose="02040503050406030204" pitchFamily="18" charset="0"/>
                            </a:rPr>
                            <m:t>𝑛</m:t>
                          </m:r>
                          <m:r>
                            <a:rPr lang="en-US" i="1" noProof="0" smtClean="0">
                              <a:latin typeface="Cambria Math" panose="02040503050406030204" pitchFamily="18" charset="0"/>
                            </a:rPr>
                            <m:t>−</m:t>
                          </m:r>
                          <m:r>
                            <a:rPr lang="en-US" i="1" noProof="0" smtClean="0">
                              <a:latin typeface="Cambria Math" panose="02040503050406030204" pitchFamily="18" charset="0"/>
                            </a:rPr>
                            <m:t>𝑚</m:t>
                          </m:r>
                        </m:den>
                      </m:f>
                    </m:oMath>
                  </m:oMathPara>
                </a14:m>
                <a:endParaRPr lang="en-US" noProof="0" dirty="0"/>
              </a:p>
            </p:txBody>
          </p:sp>
        </mc:Choice>
        <mc:Fallback xmlns="">
          <p:sp>
            <p:nvSpPr>
              <p:cNvPr id="10" name="Rectangle: Rounded Corners 17">
                <a:extLst>
                  <a:ext uri="{FF2B5EF4-FFF2-40B4-BE49-F238E27FC236}">
                    <a16:creationId xmlns:a16="http://schemas.microsoft.com/office/drawing/2014/main" id="{D1151DBC-F2E4-8B05-859E-6DE1A5991C45}"/>
                  </a:ext>
                </a:extLst>
              </p:cNvPr>
              <p:cNvSpPr>
                <a:spLocks noRot="1" noChangeAspect="1" noMove="1" noResize="1" noEditPoints="1" noAdjustHandles="1" noChangeArrowheads="1" noChangeShapeType="1" noTextEdit="1"/>
              </p:cNvSpPr>
              <p:nvPr/>
            </p:nvSpPr>
            <p:spPr>
              <a:xfrm>
                <a:off x="6351373" y="52966"/>
                <a:ext cx="2445350" cy="733834"/>
              </a:xfrm>
              <a:prstGeom prst="roundRect">
                <a:avLst>
                  <a:gd name="adj" fmla="val 12642"/>
                </a:avLst>
              </a:prstGeom>
              <a:blipFill>
                <a:blip r:embed="rId3"/>
                <a:stretch>
                  <a:fillRect t="-31034" b="-29310"/>
                </a:stretch>
              </a:blipFill>
              <a:ln>
                <a:no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3" name="Rectangle: Rounded Corners 17">
                <a:extLst>
                  <a:ext uri="{FF2B5EF4-FFF2-40B4-BE49-F238E27FC236}">
                    <a16:creationId xmlns:a16="http://schemas.microsoft.com/office/drawing/2014/main" id="{E40D0CD6-8DD3-4C04-6AA9-8D7CF6943869}"/>
                  </a:ext>
                </a:extLst>
              </p:cNvPr>
              <p:cNvSpPr/>
              <p:nvPr/>
            </p:nvSpPr>
            <p:spPr>
              <a:xfrm>
                <a:off x="3577281" y="52966"/>
                <a:ext cx="2620147" cy="733834"/>
              </a:xfrm>
              <a:prstGeom prst="roundRect">
                <a:avLst>
                  <a:gd name="adj" fmla="val 12642"/>
                </a:avLst>
              </a:prstGeom>
              <a:solidFill>
                <a:schemeClr val="tx1">
                  <a:lumMod val="90000"/>
                  <a:lumOff val="10000"/>
                </a:schemeClr>
              </a:solidFill>
              <a:ln>
                <a:noFill/>
              </a:ln>
            </p:spPr>
            <p:style>
              <a:lnRef idx="2">
                <a:schemeClr val="dk1">
                  <a:shade val="50000"/>
                </a:schemeClr>
              </a:lnRef>
              <a:fillRef idx="1">
                <a:schemeClr val="dk1"/>
              </a:fillRef>
              <a:effectRef idx="0">
                <a:schemeClr val="dk1"/>
              </a:effectRef>
              <a:fontRef idx="minor">
                <a:schemeClr val="lt1"/>
              </a:fontRef>
            </p:style>
            <p:txBody>
              <a:bodyPr lIns="360000" rtlCol="0" anchor="ctr"/>
              <a:lstStyle/>
              <a:p>
                <a:pPr/>
                <a14:m>
                  <m:oMathPara xmlns:m="http://schemas.openxmlformats.org/officeDocument/2006/math">
                    <m:oMathParaPr>
                      <m:jc m:val="left"/>
                    </m:oMathParaPr>
                    <m:oMath xmlns:m="http://schemas.openxmlformats.org/officeDocument/2006/math">
                      <m:r>
                        <a:rPr lang="en-US" i="1" noProof="0" smtClean="0">
                          <a:latin typeface="Cambria Math" panose="02040503050406030204" pitchFamily="18" charset="0"/>
                        </a:rPr>
                        <m:t>∠</m:t>
                      </m:r>
                      <m:r>
                        <a:rPr lang="en-US" i="1" noProof="0" smtClean="0">
                          <a:latin typeface="Cambria Math" panose="02040503050406030204" pitchFamily="18" charset="0"/>
                        </a:rPr>
                        <m:t>𝑠</m:t>
                      </m:r>
                      <m:r>
                        <a:rPr lang="en-US" i="1" noProof="0" smtClean="0">
                          <a:latin typeface="Cambria Math" panose="02040503050406030204" pitchFamily="18" charset="0"/>
                        </a:rPr>
                        <m:t>=</m:t>
                      </m:r>
                      <m:f>
                        <m:fPr>
                          <m:ctrlPr>
                            <a:rPr lang="en-US" i="1" noProof="0" smtClean="0">
                              <a:latin typeface="Cambria Math" panose="02040503050406030204" pitchFamily="18" charset="0"/>
                            </a:rPr>
                          </m:ctrlPr>
                        </m:fPr>
                        <m:num>
                          <m:r>
                            <a:rPr lang="en-US" i="1" noProof="0" smtClean="0">
                              <a:latin typeface="Cambria Math" panose="02040503050406030204" pitchFamily="18" charset="0"/>
                            </a:rPr>
                            <m:t>∠</m:t>
                          </m:r>
                          <m:d>
                            <m:dPr>
                              <m:ctrlPr>
                                <a:rPr lang="en-US" i="1" noProof="0" smtClean="0">
                                  <a:latin typeface="Cambria Math" panose="02040503050406030204" pitchFamily="18" charset="0"/>
                                </a:rPr>
                              </m:ctrlPr>
                            </m:dPr>
                            <m:e>
                              <m:r>
                                <a:rPr lang="en-US" i="1" noProof="0" smtClean="0">
                                  <a:latin typeface="Cambria Math" panose="02040503050406030204" pitchFamily="18" charset="0"/>
                                </a:rPr>
                                <m:t>−</m:t>
                              </m:r>
                              <m:r>
                                <a:rPr lang="en-US" i="1" noProof="0" smtClean="0">
                                  <a:latin typeface="Cambria Math" panose="02040503050406030204" pitchFamily="18" charset="0"/>
                                </a:rPr>
                                <m:t>𝑘</m:t>
                              </m:r>
                              <m:r>
                                <a:rPr lang="en-US" i="1" noProof="0" smtClean="0">
                                  <a:latin typeface="Cambria Math" panose="02040503050406030204" pitchFamily="18" charset="0"/>
                                </a:rPr>
                                <m:t>±</m:t>
                              </m:r>
                              <m:r>
                                <a:rPr lang="en-US" i="1" noProof="0" smtClean="0">
                                  <a:latin typeface="Cambria Math" panose="02040503050406030204" pitchFamily="18" charset="0"/>
                                </a:rPr>
                                <m:t>𝑞</m:t>
                              </m:r>
                              <m:r>
                                <a:rPr lang="en-US" i="1" noProof="0" smtClean="0">
                                  <a:latin typeface="Cambria Math" panose="02040503050406030204" pitchFamily="18" charset="0"/>
                                </a:rPr>
                                <m:t>⋅</m:t>
                              </m:r>
                              <m:sSup>
                                <m:sSupPr>
                                  <m:ctrlPr>
                                    <a:rPr lang="en-US" i="1" noProof="0" smtClean="0">
                                      <a:latin typeface="Cambria Math" panose="02040503050406030204" pitchFamily="18" charset="0"/>
                                    </a:rPr>
                                  </m:ctrlPr>
                                </m:sSupPr>
                                <m:e>
                                  <m:r>
                                    <a:rPr lang="en-US" i="1" noProof="0" smtClean="0">
                                      <a:latin typeface="Cambria Math" panose="02040503050406030204" pitchFamily="18" charset="0"/>
                                    </a:rPr>
                                    <m:t>360</m:t>
                                  </m:r>
                                </m:e>
                                <m:sup>
                                  <m:r>
                                    <a:rPr lang="en-US" i="1" noProof="0" smtClean="0">
                                      <a:latin typeface="Cambria Math" panose="02040503050406030204" pitchFamily="18" charset="0"/>
                                    </a:rPr>
                                    <m:t>∘</m:t>
                                  </m:r>
                                </m:sup>
                              </m:sSup>
                            </m:e>
                          </m:d>
                        </m:num>
                        <m:den>
                          <m:r>
                            <a:rPr lang="en-US" i="1" noProof="0" smtClean="0">
                              <a:latin typeface="Cambria Math" panose="02040503050406030204" pitchFamily="18" charset="0"/>
                            </a:rPr>
                            <m:t>𝑚</m:t>
                          </m:r>
                          <m:r>
                            <a:rPr lang="en-US" i="1" noProof="0" smtClean="0">
                              <a:latin typeface="Cambria Math" panose="02040503050406030204" pitchFamily="18" charset="0"/>
                            </a:rPr>
                            <m:t>−</m:t>
                          </m:r>
                          <m:r>
                            <a:rPr lang="en-US" i="1" noProof="0" smtClean="0">
                              <a:latin typeface="Cambria Math" panose="02040503050406030204" pitchFamily="18" charset="0"/>
                            </a:rPr>
                            <m:t>𝑛</m:t>
                          </m:r>
                        </m:den>
                      </m:f>
                    </m:oMath>
                  </m:oMathPara>
                </a14:m>
                <a:endParaRPr/>
              </a:p>
            </p:txBody>
          </p:sp>
        </mc:Choice>
        <mc:Fallback xmlns="">
          <p:sp>
            <p:nvSpPr>
              <p:cNvPr id="3" name="Rectangle: Rounded Corners 17">
                <a:extLst>
                  <a:ext uri="{FF2B5EF4-FFF2-40B4-BE49-F238E27FC236}">
                    <a16:creationId xmlns:a16="http://schemas.microsoft.com/office/drawing/2014/main" id="{E40D0CD6-8DD3-4C04-6AA9-8D7CF6943869}"/>
                  </a:ext>
                </a:extLst>
              </p:cNvPr>
              <p:cNvSpPr>
                <a:spLocks noRot="1" noChangeAspect="1" noMove="1" noResize="1" noEditPoints="1" noAdjustHandles="1" noChangeArrowheads="1" noChangeShapeType="1" noTextEdit="1"/>
              </p:cNvSpPr>
              <p:nvPr/>
            </p:nvSpPr>
            <p:spPr>
              <a:xfrm>
                <a:off x="3577281" y="52966"/>
                <a:ext cx="2620147" cy="733834"/>
              </a:xfrm>
              <a:prstGeom prst="roundRect">
                <a:avLst>
                  <a:gd name="adj" fmla="val 12642"/>
                </a:avLst>
              </a:prstGeom>
              <a:blipFill>
                <a:blip r:embed="rId4"/>
                <a:stretch>
                  <a:fillRect/>
                </a:stretch>
              </a:blipFill>
              <a:ln>
                <a:noFill/>
              </a:ln>
            </p:spPr>
            <p:txBody>
              <a:bodyPr/>
              <a:lstStyle/>
              <a:p>
                <a:r>
                  <a:rPr lang="de-DE">
                    <a:noFill/>
                  </a:rPr>
                  <a:t> </a:t>
                </a:r>
              </a:p>
            </p:txBody>
          </p:sp>
        </mc:Fallback>
      </mc:AlternateContent>
      <p:pic>
        <p:nvPicPr>
          <p:cNvPr id="11" name="Inhaltsplatzhalter 6" descr="Ein Bild, das Reihe, Diagramm enthält.&#10;&#10;KI-generierte Inhalte können fehlerhaft sein.">
            <a:extLst>
              <a:ext uri="{FF2B5EF4-FFF2-40B4-BE49-F238E27FC236}">
                <a16:creationId xmlns:a16="http://schemas.microsoft.com/office/drawing/2014/main" id="{944EB1EB-5744-A1E6-86B8-A6ABA660F0A0}"/>
              </a:ext>
            </a:extLst>
          </p:cNvPr>
          <p:cNvPicPr>
            <a:picLocks noChangeAspect="1"/>
          </p:cNvPicPr>
          <p:nvPr/>
        </p:nvPicPr>
        <p:blipFill>
          <a:blip r:embed="rId2"/>
          <a:stretch>
            <a:fillRect/>
          </a:stretch>
        </p:blipFill>
        <p:spPr>
          <a:xfrm>
            <a:off x="4921531" y="1900867"/>
            <a:ext cx="3593819" cy="2866396"/>
          </a:xfrm>
          <a:prstGeom prst="rect">
            <a:avLst/>
          </a:prstGeom>
        </p:spPr>
      </p:pic>
      <mc:AlternateContent xmlns:mc="http://schemas.openxmlformats.org/markup-compatibility/2006" xmlns:a14="http://schemas.microsoft.com/office/drawing/2010/main">
        <mc:Choice Requires="a14">
          <p:sp>
            <p:nvSpPr>
              <p:cNvPr id="12" name="Textfeld 11">
                <a:extLst>
                  <a:ext uri="{FF2B5EF4-FFF2-40B4-BE49-F238E27FC236}">
                    <a16:creationId xmlns:a16="http://schemas.microsoft.com/office/drawing/2014/main" id="{54894CF2-5BCF-D9D3-B2BB-7E355F5FE777}"/>
                  </a:ext>
                </a:extLst>
              </p:cNvPr>
              <p:cNvSpPr txBox="1"/>
              <p:nvPr/>
            </p:nvSpPr>
            <p:spPr>
              <a:xfrm>
                <a:off x="1358621" y="1127027"/>
                <a:ext cx="1670329" cy="61279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800" b="0" i="1" noProof="0" smtClean="0">
                              <a:latin typeface="Cambria Math" panose="02040503050406030204" pitchFamily="18" charset="0"/>
                            </a:rPr>
                          </m:ctrlPr>
                        </m:sSubPr>
                        <m:e>
                          <m:r>
                            <a:rPr lang="en-US" sz="1800" i="1" noProof="0" smtClean="0">
                              <a:latin typeface="Cambria Math" panose="02040503050406030204" pitchFamily="18" charset="0"/>
                            </a:rPr>
                            <m:t>𝐺</m:t>
                          </m:r>
                        </m:e>
                        <m:sub>
                          <m:r>
                            <a:rPr lang="en-US" sz="1800" b="0" i="1" noProof="0" smtClean="0">
                              <a:latin typeface="Cambria Math" panose="02040503050406030204" pitchFamily="18" charset="0"/>
                            </a:rPr>
                            <m:t>𝑜𝑙</m:t>
                          </m:r>
                        </m:sub>
                      </m:sSub>
                      <m:d>
                        <m:dPr>
                          <m:ctrlPr>
                            <a:rPr lang="en-US" sz="1800" i="1" noProof="0" smtClean="0">
                              <a:latin typeface="Cambria Math" panose="02040503050406030204" pitchFamily="18" charset="0"/>
                            </a:rPr>
                          </m:ctrlPr>
                        </m:dPr>
                        <m:e>
                          <m:r>
                            <a:rPr lang="en-US" sz="1800" i="1" noProof="0" smtClean="0">
                              <a:latin typeface="Cambria Math" panose="02040503050406030204" pitchFamily="18" charset="0"/>
                            </a:rPr>
                            <m:t>𝑠</m:t>
                          </m:r>
                        </m:e>
                      </m:d>
                      <m:r>
                        <a:rPr lang="en-US" sz="1800" i="1" noProof="0" smtClean="0">
                          <a:latin typeface="Cambria Math" panose="02040503050406030204" pitchFamily="18" charset="0"/>
                        </a:rPr>
                        <m:t>=</m:t>
                      </m:r>
                      <m:f>
                        <m:fPr>
                          <m:ctrlPr>
                            <a:rPr lang="en-US" sz="1800" i="1" noProof="0" smtClean="0">
                              <a:latin typeface="Cambria Math" panose="02040503050406030204" pitchFamily="18" charset="0"/>
                            </a:rPr>
                          </m:ctrlPr>
                        </m:fPr>
                        <m:num>
                          <m:r>
                            <a:rPr lang="en-US" sz="1800" i="1" noProof="0" smtClean="0">
                              <a:latin typeface="Cambria Math" panose="02040503050406030204" pitchFamily="18" charset="0"/>
                            </a:rPr>
                            <m:t>1</m:t>
                          </m:r>
                        </m:num>
                        <m:den>
                          <m:r>
                            <a:rPr lang="en-US" sz="1800" i="1" noProof="0" smtClean="0">
                              <a:latin typeface="Cambria Math" panose="02040503050406030204" pitchFamily="18" charset="0"/>
                            </a:rPr>
                            <m:t>𝑠</m:t>
                          </m:r>
                          <m:r>
                            <a:rPr lang="en-US" sz="1800" i="1" noProof="0" smtClean="0">
                              <a:latin typeface="Cambria Math" panose="02040503050406030204" pitchFamily="18" charset="0"/>
                            </a:rPr>
                            <m:t>−1</m:t>
                          </m:r>
                        </m:den>
                      </m:f>
                    </m:oMath>
                  </m:oMathPara>
                </a14:m>
                <a:endParaRPr/>
              </a:p>
            </p:txBody>
          </p:sp>
        </mc:Choice>
        <mc:Fallback xmlns="">
          <p:sp>
            <p:nvSpPr>
              <p:cNvPr id="12" name="Textfeld 11">
                <a:extLst>
                  <a:ext uri="{FF2B5EF4-FFF2-40B4-BE49-F238E27FC236}">
                    <a16:creationId xmlns:a16="http://schemas.microsoft.com/office/drawing/2014/main" id="{54894CF2-5BCF-D9D3-B2BB-7E355F5FE777}"/>
                  </a:ext>
                </a:extLst>
              </p:cNvPr>
              <p:cNvSpPr txBox="1">
                <a:spLocks noRot="1" noChangeAspect="1" noMove="1" noResize="1" noEditPoints="1" noAdjustHandles="1" noChangeArrowheads="1" noChangeShapeType="1" noTextEdit="1"/>
              </p:cNvSpPr>
              <p:nvPr/>
            </p:nvSpPr>
            <p:spPr>
              <a:xfrm>
                <a:off x="1358621" y="1127027"/>
                <a:ext cx="1670329" cy="612796"/>
              </a:xfrm>
              <a:prstGeom prst="rect">
                <a:avLst/>
              </a:prstGeom>
              <a:blipFill>
                <a:blip r:embed="rId5"/>
                <a:stretch>
                  <a:fillRect r="-3788" b="-4082"/>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13" name="Textfeld 12">
                <a:extLst>
                  <a:ext uri="{FF2B5EF4-FFF2-40B4-BE49-F238E27FC236}">
                    <a16:creationId xmlns:a16="http://schemas.microsoft.com/office/drawing/2014/main" id="{2DFD76C0-46C3-BDDA-BF18-1D6AB79430B8}"/>
                  </a:ext>
                </a:extLst>
              </p:cNvPr>
              <p:cNvSpPr txBox="1"/>
              <p:nvPr/>
            </p:nvSpPr>
            <p:spPr>
              <a:xfrm>
                <a:off x="5116768" y="1110637"/>
                <a:ext cx="2569614" cy="65197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800" b="0" i="1" noProof="0" smtClean="0">
                              <a:latin typeface="Cambria Math" panose="02040503050406030204" pitchFamily="18" charset="0"/>
                            </a:rPr>
                          </m:ctrlPr>
                        </m:sSubPr>
                        <m:e>
                          <m:r>
                            <a:rPr lang="en-US" sz="1800" i="1" noProof="0" smtClean="0">
                              <a:latin typeface="Cambria Math" panose="02040503050406030204" pitchFamily="18" charset="0"/>
                            </a:rPr>
                            <m:t>𝐺</m:t>
                          </m:r>
                        </m:e>
                        <m:sub>
                          <m:r>
                            <a:rPr lang="en-US" sz="1800" b="0" i="1" noProof="0" smtClean="0">
                              <a:latin typeface="Cambria Math" panose="02040503050406030204" pitchFamily="18" charset="0"/>
                            </a:rPr>
                            <m:t>𝑜𝑙</m:t>
                          </m:r>
                        </m:sub>
                      </m:sSub>
                      <m:d>
                        <m:dPr>
                          <m:ctrlPr>
                            <a:rPr lang="en-US" sz="1800" i="1" noProof="0" smtClean="0">
                              <a:latin typeface="Cambria Math" panose="02040503050406030204" pitchFamily="18" charset="0"/>
                            </a:rPr>
                          </m:ctrlPr>
                        </m:dPr>
                        <m:e>
                          <m:r>
                            <a:rPr lang="en-US" sz="1800" i="1" noProof="0" smtClean="0">
                              <a:latin typeface="Cambria Math" panose="02040503050406030204" pitchFamily="18" charset="0"/>
                            </a:rPr>
                            <m:t>𝑠</m:t>
                          </m:r>
                        </m:e>
                      </m:d>
                      <m:r>
                        <a:rPr lang="en-US" sz="1800" i="1" noProof="0" smtClean="0">
                          <a:latin typeface="Cambria Math" panose="02040503050406030204" pitchFamily="18" charset="0"/>
                        </a:rPr>
                        <m:t>=</m:t>
                      </m:r>
                      <m:f>
                        <m:fPr>
                          <m:ctrlPr>
                            <a:rPr lang="en-US" sz="1800" i="1" noProof="0" smtClean="0">
                              <a:latin typeface="Cambria Math" panose="02040503050406030204" pitchFamily="18" charset="0"/>
                            </a:rPr>
                          </m:ctrlPr>
                        </m:fPr>
                        <m:num>
                          <m:r>
                            <a:rPr lang="en-US" sz="1800" i="1" noProof="0" smtClean="0">
                              <a:latin typeface="Cambria Math" panose="02040503050406030204" pitchFamily="18" charset="0"/>
                            </a:rPr>
                            <m:t>1</m:t>
                          </m:r>
                        </m:num>
                        <m:den>
                          <m:d>
                            <m:dPr>
                              <m:ctrlPr>
                                <a:rPr lang="en-US" sz="1800" i="1" noProof="0" smtClean="0">
                                  <a:latin typeface="Cambria Math" panose="02040503050406030204" pitchFamily="18" charset="0"/>
                                </a:rPr>
                              </m:ctrlPr>
                            </m:dPr>
                            <m:e>
                              <m:r>
                                <a:rPr lang="en-US" sz="1800" i="1" noProof="0" smtClean="0">
                                  <a:latin typeface="Cambria Math" panose="02040503050406030204" pitchFamily="18" charset="0"/>
                                </a:rPr>
                                <m:t>𝑠</m:t>
                              </m:r>
                              <m:r>
                                <a:rPr lang="en-US" sz="1800" i="1" noProof="0" smtClean="0">
                                  <a:latin typeface="Cambria Math" panose="02040503050406030204" pitchFamily="18" charset="0"/>
                                </a:rPr>
                                <m:t>−1</m:t>
                              </m:r>
                            </m:e>
                          </m:d>
                          <m:d>
                            <m:dPr>
                              <m:ctrlPr>
                                <a:rPr lang="en-US" sz="1800" b="0" i="1" noProof="0" smtClean="0">
                                  <a:latin typeface="Cambria Math" panose="02040503050406030204" pitchFamily="18" charset="0"/>
                                </a:rPr>
                              </m:ctrlPr>
                            </m:dPr>
                            <m:e>
                              <m:r>
                                <a:rPr lang="en-US" sz="1800" i="1" noProof="0" smtClean="0">
                                  <a:latin typeface="Cambria Math" panose="02040503050406030204" pitchFamily="18" charset="0"/>
                                </a:rPr>
                                <m:t>𝑠</m:t>
                              </m:r>
                              <m:r>
                                <a:rPr lang="en-US" sz="1800" i="1" noProof="0" smtClean="0">
                                  <a:latin typeface="Cambria Math" panose="02040503050406030204" pitchFamily="18" charset="0"/>
                                </a:rPr>
                                <m:t>−2</m:t>
                              </m:r>
                            </m:e>
                          </m:d>
                        </m:den>
                      </m:f>
                    </m:oMath>
                  </m:oMathPara>
                </a14:m>
                <a:endParaRPr/>
              </a:p>
            </p:txBody>
          </p:sp>
        </mc:Choice>
        <mc:Fallback xmlns="">
          <p:sp>
            <p:nvSpPr>
              <p:cNvPr id="13" name="Textfeld 12">
                <a:extLst>
                  <a:ext uri="{FF2B5EF4-FFF2-40B4-BE49-F238E27FC236}">
                    <a16:creationId xmlns:a16="http://schemas.microsoft.com/office/drawing/2014/main" id="{2DFD76C0-46C3-BDDA-BF18-1D6AB79430B8}"/>
                  </a:ext>
                </a:extLst>
              </p:cNvPr>
              <p:cNvSpPr txBox="1">
                <a:spLocks noRot="1" noChangeAspect="1" noMove="1" noResize="1" noEditPoints="1" noAdjustHandles="1" noChangeArrowheads="1" noChangeShapeType="1" noTextEdit="1"/>
              </p:cNvSpPr>
              <p:nvPr/>
            </p:nvSpPr>
            <p:spPr>
              <a:xfrm>
                <a:off x="5116768" y="1110637"/>
                <a:ext cx="2569614" cy="651973"/>
              </a:xfrm>
              <a:prstGeom prst="rect">
                <a:avLst/>
              </a:prstGeom>
              <a:blipFill>
                <a:blip r:embed="rId6"/>
                <a:stretch>
                  <a:fillRect r="-2451"/>
                </a:stretch>
              </a:blipFill>
            </p:spPr>
            <p:txBody>
              <a:bodyPr/>
              <a:lstStyle/>
              <a:p>
                <a:r>
                  <a:rPr lang="de-DE">
                    <a:noFill/>
                  </a:rPr>
                  <a:t> </a:t>
                </a:r>
              </a:p>
            </p:txBody>
          </p:sp>
        </mc:Fallback>
      </mc:AlternateContent>
    </p:spTree>
    <p:extLst>
      <p:ext uri="{BB962C8B-B14F-4D97-AF65-F5344CB8AC3E}">
        <p14:creationId xmlns:p14="http://schemas.microsoft.com/office/powerpoint/2010/main" val="1389867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E6A55-EDAE-8980-285C-0D3FE9EE3A34}"/>
            </a:ext>
          </a:extLst>
        </p:cNvPr>
        <p:cNvGrpSpPr/>
        <p:nvPr/>
      </p:nvGrpSpPr>
      <p:grpSpPr>
        <a:xfrm>
          <a:off x="0" y="0"/>
          <a:ext cx="0" cy="0"/>
          <a:chOff x="0" y="0"/>
          <a:chExt cx="0" cy="0"/>
        </a:xfrm>
      </p:grpSpPr>
      <p:pic>
        <p:nvPicPr>
          <p:cNvPr id="7" name="Inhaltsplatzhalter 6" descr="Ein Bild, das Reihe, Diagramm enthält.&#10;&#10;KI-generierte Inhalte können fehlerhaft sein.">
            <a:extLst>
              <a:ext uri="{FF2B5EF4-FFF2-40B4-BE49-F238E27FC236}">
                <a16:creationId xmlns:a16="http://schemas.microsoft.com/office/drawing/2014/main" id="{26F97430-BBFF-B7A2-9396-EFBF1ED84894}"/>
              </a:ext>
            </a:extLst>
          </p:cNvPr>
          <p:cNvPicPr>
            <a:picLocks noGrp="1" noChangeAspect="1"/>
          </p:cNvPicPr>
          <p:nvPr>
            <p:ph idx="1"/>
          </p:nvPr>
        </p:nvPicPr>
        <p:blipFill>
          <a:blip r:embed="rId2"/>
          <a:stretch>
            <a:fillRect/>
          </a:stretch>
        </p:blipFill>
        <p:spPr>
          <a:xfrm>
            <a:off x="628650" y="1900867"/>
            <a:ext cx="3593819" cy="2866396"/>
          </a:xfrm>
        </p:spPr>
      </p:pic>
      <p:sp>
        <p:nvSpPr>
          <p:cNvPr id="2" name="Titel 1">
            <a:extLst>
              <a:ext uri="{FF2B5EF4-FFF2-40B4-BE49-F238E27FC236}">
                <a16:creationId xmlns:a16="http://schemas.microsoft.com/office/drawing/2014/main" id="{C87473A6-26A4-3BF6-1C99-4A6E03FCEAE1}"/>
              </a:ext>
            </a:extLst>
          </p:cNvPr>
          <p:cNvSpPr>
            <a:spLocks noGrp="1"/>
          </p:cNvSpPr>
          <p:nvPr>
            <p:ph type="title"/>
          </p:nvPr>
        </p:nvSpPr>
        <p:spPr/>
        <p:txBody>
          <a:bodyPr/>
          <a:lstStyle/>
          <a:p>
            <a:r>
              <a:rPr lang="en-US" noProof="0" dirty="0"/>
              <a:t>Examples</a:t>
            </a:r>
          </a:p>
        </p:txBody>
      </p:sp>
      <p:sp>
        <p:nvSpPr>
          <p:cNvPr id="4" name="Fußzeilenplatzhalter 3">
            <a:extLst>
              <a:ext uri="{FF2B5EF4-FFF2-40B4-BE49-F238E27FC236}">
                <a16:creationId xmlns:a16="http://schemas.microsoft.com/office/drawing/2014/main" id="{38D602D7-F0FE-34B5-C530-F8EC7A4C9426}"/>
              </a:ext>
            </a:extLst>
          </p:cNvPr>
          <p:cNvSpPr>
            <a:spLocks noGrp="1"/>
          </p:cNvSpPr>
          <p:nvPr>
            <p:ph type="ftr" sz="quarter" idx="11"/>
          </p:nvPr>
        </p:nvSpPr>
        <p:spPr/>
        <p:txBody>
          <a:bodyPr/>
          <a:lstStyle/>
          <a:p>
            <a:pPr defTabSz="342900">
              <a:buClrTx/>
            </a:pPr>
            <a:r>
              <a:rPr lang="en-US" kern="1200" noProof="0" dirty="0">
                <a:solidFill>
                  <a:srgbClr val="101623">
                    <a:tint val="75000"/>
                  </a:srgbClr>
                </a:solidFill>
                <a:latin typeface="Calibri" panose="020F0502020204030204"/>
                <a:ea typeface="+mn-ea"/>
                <a:cs typeface="+mn-cs"/>
              </a:rPr>
              <a:t>Kissan Varatharajan - </a:t>
            </a:r>
            <a:r>
              <a:rPr lang="en-US" kern="1200" noProof="0" dirty="0" err="1">
                <a:solidFill>
                  <a:srgbClr val="101623">
                    <a:tint val="75000"/>
                  </a:srgbClr>
                </a:solidFill>
                <a:latin typeface="Calibri" panose="020F0502020204030204"/>
                <a:ea typeface="+mn-ea"/>
                <a:cs typeface="+mn-cs"/>
              </a:rPr>
              <a:t>kissanv.github.io</a:t>
            </a:r>
            <a:endParaRPr lang="en-US" kern="1200" noProof="0" dirty="0">
              <a:solidFill>
                <a:srgbClr val="101623">
                  <a:tint val="75000"/>
                </a:srgbClr>
              </a:solidFill>
              <a:latin typeface="Calibri" panose="020F0502020204030204"/>
              <a:ea typeface="+mn-ea"/>
              <a:cs typeface="+mn-cs"/>
            </a:endParaRPr>
          </a:p>
        </p:txBody>
      </p:sp>
      <p:sp>
        <p:nvSpPr>
          <p:cNvPr id="5" name="Foliennummernplatzhalter 4">
            <a:extLst>
              <a:ext uri="{FF2B5EF4-FFF2-40B4-BE49-F238E27FC236}">
                <a16:creationId xmlns:a16="http://schemas.microsoft.com/office/drawing/2014/main" id="{D0DAFE34-E076-8167-BF3D-986551E2073D}"/>
              </a:ext>
            </a:extLst>
          </p:cNvPr>
          <p:cNvSpPr>
            <a:spLocks noGrp="1"/>
          </p:cNvSpPr>
          <p:nvPr>
            <p:ph type="sldNum" sz="quarter" idx="12"/>
          </p:nvPr>
        </p:nvSpPr>
        <p:spPr/>
        <p:txBody>
          <a:bodyPr/>
          <a:lstStyle/>
          <a:p>
            <a:pPr defTabSz="342900">
              <a:buClrTx/>
            </a:pPr>
            <a:fld id="{36EAFFE7-40E2-CA47-82C0-73D0FC591208}" type="slidenum">
              <a:rPr lang="en-US" kern="1200" noProof="0" smtClean="0">
                <a:solidFill>
                  <a:srgbClr val="101623">
                    <a:tint val="75000"/>
                  </a:srgbClr>
                </a:solidFill>
                <a:latin typeface="Calibri" panose="020F0502020204030204"/>
                <a:ea typeface="+mn-ea"/>
                <a:cs typeface="+mn-cs"/>
              </a:rPr>
              <a:pPr defTabSz="342900">
                <a:buClrTx/>
              </a:pPr>
              <a:t>27</a:t>
            </a:fld>
            <a:endParaRPr lang="en-US" kern="1200" noProof="0" dirty="0">
              <a:solidFill>
                <a:srgbClr val="101623">
                  <a:tint val="75000"/>
                </a:srgbClr>
              </a:solidFill>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10" name="Rectangle: Rounded Corners 17">
                <a:extLst>
                  <a:ext uri="{FF2B5EF4-FFF2-40B4-BE49-F238E27FC236}">
                    <a16:creationId xmlns:a16="http://schemas.microsoft.com/office/drawing/2014/main" id="{C844D9F3-EAFC-6214-0684-AB2DB1E563D6}"/>
                  </a:ext>
                </a:extLst>
              </p:cNvPr>
              <p:cNvSpPr/>
              <p:nvPr/>
            </p:nvSpPr>
            <p:spPr>
              <a:xfrm>
                <a:off x="6351373" y="52966"/>
                <a:ext cx="2445350" cy="733834"/>
              </a:xfrm>
              <a:prstGeom prst="roundRect">
                <a:avLst>
                  <a:gd name="adj" fmla="val 12642"/>
                </a:avLst>
              </a:prstGeom>
              <a:solidFill>
                <a:schemeClr val="tx1">
                  <a:lumMod val="90000"/>
                  <a:lumOff val="10000"/>
                </a:schemeClr>
              </a:solidFill>
              <a:ln>
                <a:noFill/>
              </a:ln>
            </p:spPr>
            <p:style>
              <a:lnRef idx="2">
                <a:schemeClr val="dk1">
                  <a:shade val="50000"/>
                </a:schemeClr>
              </a:lnRef>
              <a:fillRef idx="1">
                <a:schemeClr val="dk1"/>
              </a:fillRef>
              <a:effectRef idx="0">
                <a:schemeClr val="dk1"/>
              </a:effectRef>
              <a:fontRef idx="minor">
                <a:schemeClr val="lt1"/>
              </a:fontRef>
            </p:style>
            <p:txBody>
              <a:bodyPr lIns="360000" rtlCol="0" anchor="ctr"/>
              <a:lstStyle/>
              <a:p>
                <a:pPr/>
                <a14:m>
                  <m:oMathPara xmlns:m="http://schemas.openxmlformats.org/officeDocument/2006/math">
                    <m:oMathParaPr>
                      <m:jc m:val="left"/>
                    </m:oMathParaPr>
                    <m:oMath xmlns:m="http://schemas.openxmlformats.org/officeDocument/2006/math">
                      <m:sSub>
                        <m:sSubPr>
                          <m:ctrlPr>
                            <a:rPr lang="en-US" i="1" noProof="0" smtClean="0">
                              <a:latin typeface="Cambria Math" panose="02040503050406030204" pitchFamily="18" charset="0"/>
                            </a:rPr>
                          </m:ctrlPr>
                        </m:sSubPr>
                        <m:e>
                          <m:r>
                            <a:rPr lang="en-US" i="1" noProof="0" smtClean="0">
                              <a:latin typeface="Cambria Math" panose="02040503050406030204" pitchFamily="18" charset="0"/>
                            </a:rPr>
                            <m:t>𝑠</m:t>
                          </m:r>
                        </m:e>
                        <m:sub>
                          <m:r>
                            <m:rPr>
                              <m:nor/>
                            </m:rPr>
                            <a:rPr lang="en-US" noProof="0" smtClean="0">
                              <a:latin typeface="Cambria Math" panose="02040503050406030204" pitchFamily="18" charset="0"/>
                            </a:rPr>
                            <m:t>com</m:t>
                          </m:r>
                        </m:sub>
                      </m:sSub>
                      <m:r>
                        <a:rPr lang="en-US" i="1" noProof="0" smtClean="0">
                          <a:latin typeface="Cambria Math" panose="02040503050406030204" pitchFamily="18" charset="0"/>
                        </a:rPr>
                        <m:t>=</m:t>
                      </m:r>
                      <m:f>
                        <m:fPr>
                          <m:ctrlPr>
                            <a:rPr lang="en-US" i="1" noProof="0" smtClean="0">
                              <a:latin typeface="Cambria Math" panose="02040503050406030204" pitchFamily="18" charset="0"/>
                            </a:rPr>
                          </m:ctrlPr>
                        </m:fPr>
                        <m:num>
                          <m:nary>
                            <m:naryPr>
                              <m:chr m:val="∑"/>
                              <m:ctrlPr>
                                <a:rPr lang="en-US" i="1" noProof="0" smtClean="0">
                                  <a:latin typeface="Cambria Math" panose="02040503050406030204" pitchFamily="18" charset="0"/>
                                </a:rPr>
                              </m:ctrlPr>
                            </m:naryPr>
                            <m:sub>
                              <m:r>
                                <a:rPr lang="en-US" i="1" noProof="0" smtClean="0">
                                  <a:latin typeface="Cambria Math" panose="02040503050406030204" pitchFamily="18" charset="0"/>
                                </a:rPr>
                                <m:t>𝑖</m:t>
                              </m:r>
                              <m:r>
                                <a:rPr lang="en-US" i="1" noProof="0" smtClean="0">
                                  <a:latin typeface="Cambria Math" panose="02040503050406030204" pitchFamily="18" charset="0"/>
                                </a:rPr>
                                <m:t>=1</m:t>
                              </m:r>
                            </m:sub>
                            <m:sup>
                              <m:r>
                                <a:rPr lang="en-US" i="1" noProof="0" smtClean="0">
                                  <a:latin typeface="Cambria Math" panose="02040503050406030204" pitchFamily="18" charset="0"/>
                                </a:rPr>
                                <m:t>𝑛</m:t>
                              </m:r>
                            </m:sup>
                            <m:e>
                              <m:sSub>
                                <m:sSubPr>
                                  <m:ctrlPr>
                                    <a:rPr lang="en-US" i="1" noProof="0" smtClean="0">
                                      <a:latin typeface="Cambria Math" panose="02040503050406030204" pitchFamily="18" charset="0"/>
                                    </a:rPr>
                                  </m:ctrlPr>
                                </m:sSubPr>
                                <m:e>
                                  <m:r>
                                    <a:rPr lang="en-US" i="1" noProof="0" smtClean="0">
                                      <a:latin typeface="Cambria Math" panose="02040503050406030204" pitchFamily="18" charset="0"/>
                                    </a:rPr>
                                    <m:t>𝑝</m:t>
                                  </m:r>
                                </m:e>
                                <m:sub>
                                  <m:r>
                                    <a:rPr lang="en-US" i="1" noProof="0" smtClean="0">
                                      <a:latin typeface="Cambria Math" panose="02040503050406030204" pitchFamily="18" charset="0"/>
                                    </a:rPr>
                                    <m:t>𝑖</m:t>
                                  </m:r>
                                </m:sub>
                              </m:sSub>
                            </m:e>
                          </m:nary>
                          <m:r>
                            <a:rPr lang="en-US" i="1" noProof="0" smtClean="0">
                              <a:latin typeface="Cambria Math" panose="02040503050406030204" pitchFamily="18" charset="0"/>
                            </a:rPr>
                            <m:t>−</m:t>
                          </m:r>
                          <m:nary>
                            <m:naryPr>
                              <m:chr m:val="∑"/>
                              <m:ctrlPr>
                                <a:rPr lang="en-US" i="1" noProof="0" smtClean="0">
                                  <a:latin typeface="Cambria Math" panose="02040503050406030204" pitchFamily="18" charset="0"/>
                                </a:rPr>
                              </m:ctrlPr>
                            </m:naryPr>
                            <m:sub>
                              <m:r>
                                <a:rPr lang="en-US" i="1" noProof="0" smtClean="0">
                                  <a:latin typeface="Cambria Math" panose="02040503050406030204" pitchFamily="18" charset="0"/>
                                </a:rPr>
                                <m:t>𝑗</m:t>
                              </m:r>
                              <m:r>
                                <a:rPr lang="en-US" i="1" noProof="0" smtClean="0">
                                  <a:latin typeface="Cambria Math" panose="02040503050406030204" pitchFamily="18" charset="0"/>
                                </a:rPr>
                                <m:t>=1</m:t>
                              </m:r>
                            </m:sub>
                            <m:sup>
                              <m:r>
                                <a:rPr lang="en-US" i="1" noProof="0" smtClean="0">
                                  <a:latin typeface="Cambria Math" panose="02040503050406030204" pitchFamily="18" charset="0"/>
                                </a:rPr>
                                <m:t>𝑚</m:t>
                              </m:r>
                            </m:sup>
                            <m:e>
                              <m:sSub>
                                <m:sSubPr>
                                  <m:ctrlPr>
                                    <a:rPr lang="en-US" i="1" noProof="0" smtClean="0">
                                      <a:latin typeface="Cambria Math" panose="02040503050406030204" pitchFamily="18" charset="0"/>
                                    </a:rPr>
                                  </m:ctrlPr>
                                </m:sSubPr>
                                <m:e>
                                  <m:r>
                                    <a:rPr lang="en-US" i="1" noProof="0" smtClean="0">
                                      <a:latin typeface="Cambria Math" panose="02040503050406030204" pitchFamily="18" charset="0"/>
                                    </a:rPr>
                                    <m:t>𝑧</m:t>
                                  </m:r>
                                </m:e>
                                <m:sub>
                                  <m:r>
                                    <a:rPr lang="en-US" i="1" noProof="0" smtClean="0">
                                      <a:latin typeface="Cambria Math" panose="02040503050406030204" pitchFamily="18" charset="0"/>
                                    </a:rPr>
                                    <m:t>𝑗</m:t>
                                  </m:r>
                                </m:sub>
                              </m:sSub>
                            </m:e>
                          </m:nary>
                        </m:num>
                        <m:den>
                          <m:r>
                            <a:rPr lang="en-US" i="1" noProof="0" smtClean="0">
                              <a:latin typeface="Cambria Math" panose="02040503050406030204" pitchFamily="18" charset="0"/>
                            </a:rPr>
                            <m:t>𝑛</m:t>
                          </m:r>
                          <m:r>
                            <a:rPr lang="en-US" i="1" noProof="0" smtClean="0">
                              <a:latin typeface="Cambria Math" panose="02040503050406030204" pitchFamily="18" charset="0"/>
                            </a:rPr>
                            <m:t>−</m:t>
                          </m:r>
                          <m:r>
                            <a:rPr lang="en-US" i="1" noProof="0" smtClean="0">
                              <a:latin typeface="Cambria Math" panose="02040503050406030204" pitchFamily="18" charset="0"/>
                            </a:rPr>
                            <m:t>𝑚</m:t>
                          </m:r>
                        </m:den>
                      </m:f>
                    </m:oMath>
                  </m:oMathPara>
                </a14:m>
                <a:endParaRPr lang="en-US" noProof="0" dirty="0"/>
              </a:p>
            </p:txBody>
          </p:sp>
        </mc:Choice>
        <mc:Fallback xmlns="">
          <p:sp>
            <p:nvSpPr>
              <p:cNvPr id="10" name="Rectangle: Rounded Corners 17">
                <a:extLst>
                  <a:ext uri="{FF2B5EF4-FFF2-40B4-BE49-F238E27FC236}">
                    <a16:creationId xmlns:a16="http://schemas.microsoft.com/office/drawing/2014/main" id="{C844D9F3-EAFC-6214-0684-AB2DB1E563D6}"/>
                  </a:ext>
                </a:extLst>
              </p:cNvPr>
              <p:cNvSpPr>
                <a:spLocks noRot="1" noChangeAspect="1" noMove="1" noResize="1" noEditPoints="1" noAdjustHandles="1" noChangeArrowheads="1" noChangeShapeType="1" noTextEdit="1"/>
              </p:cNvSpPr>
              <p:nvPr/>
            </p:nvSpPr>
            <p:spPr>
              <a:xfrm>
                <a:off x="6351373" y="52966"/>
                <a:ext cx="2445350" cy="733834"/>
              </a:xfrm>
              <a:prstGeom prst="roundRect">
                <a:avLst>
                  <a:gd name="adj" fmla="val 12642"/>
                </a:avLst>
              </a:prstGeom>
              <a:blipFill>
                <a:blip r:embed="rId3"/>
                <a:stretch>
                  <a:fillRect t="-31034" b="-29310"/>
                </a:stretch>
              </a:blipFill>
              <a:ln>
                <a:no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3" name="Rectangle: Rounded Corners 17">
                <a:extLst>
                  <a:ext uri="{FF2B5EF4-FFF2-40B4-BE49-F238E27FC236}">
                    <a16:creationId xmlns:a16="http://schemas.microsoft.com/office/drawing/2014/main" id="{BBA638BE-5729-CA33-993F-0FA74C7E5D55}"/>
                  </a:ext>
                </a:extLst>
              </p:cNvPr>
              <p:cNvSpPr/>
              <p:nvPr/>
            </p:nvSpPr>
            <p:spPr>
              <a:xfrm>
                <a:off x="3577281" y="52966"/>
                <a:ext cx="2620147" cy="733834"/>
              </a:xfrm>
              <a:prstGeom prst="roundRect">
                <a:avLst>
                  <a:gd name="adj" fmla="val 12642"/>
                </a:avLst>
              </a:prstGeom>
              <a:solidFill>
                <a:schemeClr val="tx1">
                  <a:lumMod val="90000"/>
                  <a:lumOff val="10000"/>
                </a:schemeClr>
              </a:solidFill>
              <a:ln>
                <a:noFill/>
              </a:ln>
            </p:spPr>
            <p:style>
              <a:lnRef idx="2">
                <a:schemeClr val="dk1">
                  <a:shade val="50000"/>
                </a:schemeClr>
              </a:lnRef>
              <a:fillRef idx="1">
                <a:schemeClr val="dk1"/>
              </a:fillRef>
              <a:effectRef idx="0">
                <a:schemeClr val="dk1"/>
              </a:effectRef>
              <a:fontRef idx="minor">
                <a:schemeClr val="lt1"/>
              </a:fontRef>
            </p:style>
            <p:txBody>
              <a:bodyPr lIns="360000" rtlCol="0" anchor="ctr"/>
              <a:lstStyle/>
              <a:p>
                <a:pPr/>
                <a14:m>
                  <m:oMathPara xmlns:m="http://schemas.openxmlformats.org/officeDocument/2006/math">
                    <m:oMathParaPr>
                      <m:jc m:val="left"/>
                    </m:oMathParaPr>
                    <m:oMath xmlns:m="http://schemas.openxmlformats.org/officeDocument/2006/math">
                      <m:r>
                        <a:rPr lang="en-US" i="1" noProof="0" smtClean="0">
                          <a:latin typeface="Cambria Math" panose="02040503050406030204" pitchFamily="18" charset="0"/>
                        </a:rPr>
                        <m:t>∠</m:t>
                      </m:r>
                      <m:r>
                        <a:rPr lang="en-US" i="1" noProof="0" smtClean="0">
                          <a:latin typeface="Cambria Math" panose="02040503050406030204" pitchFamily="18" charset="0"/>
                        </a:rPr>
                        <m:t>𝑠</m:t>
                      </m:r>
                      <m:r>
                        <a:rPr lang="en-US" i="1" noProof="0" smtClean="0">
                          <a:latin typeface="Cambria Math" panose="02040503050406030204" pitchFamily="18" charset="0"/>
                        </a:rPr>
                        <m:t>=</m:t>
                      </m:r>
                      <m:f>
                        <m:fPr>
                          <m:ctrlPr>
                            <a:rPr lang="en-US" i="1" noProof="0" smtClean="0">
                              <a:latin typeface="Cambria Math" panose="02040503050406030204" pitchFamily="18" charset="0"/>
                            </a:rPr>
                          </m:ctrlPr>
                        </m:fPr>
                        <m:num>
                          <m:r>
                            <a:rPr lang="en-US" i="1" noProof="0" smtClean="0">
                              <a:latin typeface="Cambria Math" panose="02040503050406030204" pitchFamily="18" charset="0"/>
                            </a:rPr>
                            <m:t>∠</m:t>
                          </m:r>
                          <m:d>
                            <m:dPr>
                              <m:ctrlPr>
                                <a:rPr lang="en-US" i="1" noProof="0" smtClean="0">
                                  <a:latin typeface="Cambria Math" panose="02040503050406030204" pitchFamily="18" charset="0"/>
                                </a:rPr>
                              </m:ctrlPr>
                            </m:dPr>
                            <m:e>
                              <m:r>
                                <a:rPr lang="en-US" i="1" noProof="0" smtClean="0">
                                  <a:latin typeface="Cambria Math" panose="02040503050406030204" pitchFamily="18" charset="0"/>
                                </a:rPr>
                                <m:t>−</m:t>
                              </m:r>
                              <m:r>
                                <a:rPr lang="en-US" i="1" noProof="0" smtClean="0">
                                  <a:latin typeface="Cambria Math" panose="02040503050406030204" pitchFamily="18" charset="0"/>
                                </a:rPr>
                                <m:t>𝑘</m:t>
                              </m:r>
                              <m:r>
                                <a:rPr lang="en-US" i="1" noProof="0" smtClean="0">
                                  <a:latin typeface="Cambria Math" panose="02040503050406030204" pitchFamily="18" charset="0"/>
                                </a:rPr>
                                <m:t>±</m:t>
                              </m:r>
                              <m:r>
                                <a:rPr lang="en-US" i="1" noProof="0" smtClean="0">
                                  <a:latin typeface="Cambria Math" panose="02040503050406030204" pitchFamily="18" charset="0"/>
                                </a:rPr>
                                <m:t>𝑞</m:t>
                              </m:r>
                              <m:r>
                                <a:rPr lang="en-US" i="1" noProof="0" smtClean="0">
                                  <a:latin typeface="Cambria Math" panose="02040503050406030204" pitchFamily="18" charset="0"/>
                                </a:rPr>
                                <m:t>⋅</m:t>
                              </m:r>
                              <m:sSup>
                                <m:sSupPr>
                                  <m:ctrlPr>
                                    <a:rPr lang="en-US" i="1" noProof="0" smtClean="0">
                                      <a:latin typeface="Cambria Math" panose="02040503050406030204" pitchFamily="18" charset="0"/>
                                    </a:rPr>
                                  </m:ctrlPr>
                                </m:sSupPr>
                                <m:e>
                                  <m:r>
                                    <a:rPr lang="en-US" i="1" noProof="0" smtClean="0">
                                      <a:latin typeface="Cambria Math" panose="02040503050406030204" pitchFamily="18" charset="0"/>
                                    </a:rPr>
                                    <m:t>360</m:t>
                                  </m:r>
                                </m:e>
                                <m:sup>
                                  <m:r>
                                    <a:rPr lang="en-US" i="1" noProof="0" smtClean="0">
                                      <a:latin typeface="Cambria Math" panose="02040503050406030204" pitchFamily="18" charset="0"/>
                                    </a:rPr>
                                    <m:t>∘</m:t>
                                  </m:r>
                                </m:sup>
                              </m:sSup>
                            </m:e>
                          </m:d>
                        </m:num>
                        <m:den>
                          <m:r>
                            <a:rPr lang="en-US" i="1" noProof="0" smtClean="0">
                              <a:latin typeface="Cambria Math" panose="02040503050406030204" pitchFamily="18" charset="0"/>
                            </a:rPr>
                            <m:t>𝑚</m:t>
                          </m:r>
                          <m:r>
                            <a:rPr lang="en-US" i="1" noProof="0" smtClean="0">
                              <a:latin typeface="Cambria Math" panose="02040503050406030204" pitchFamily="18" charset="0"/>
                            </a:rPr>
                            <m:t>−</m:t>
                          </m:r>
                          <m:r>
                            <a:rPr lang="en-US" i="1" noProof="0" smtClean="0">
                              <a:latin typeface="Cambria Math" panose="02040503050406030204" pitchFamily="18" charset="0"/>
                            </a:rPr>
                            <m:t>𝑛</m:t>
                          </m:r>
                        </m:den>
                      </m:f>
                    </m:oMath>
                  </m:oMathPara>
                </a14:m>
                <a:endParaRPr lang="en-US" noProof="0" dirty="0"/>
              </a:p>
            </p:txBody>
          </p:sp>
        </mc:Choice>
        <mc:Fallback xmlns="">
          <p:sp>
            <p:nvSpPr>
              <p:cNvPr id="3" name="Rectangle: Rounded Corners 17">
                <a:extLst>
                  <a:ext uri="{FF2B5EF4-FFF2-40B4-BE49-F238E27FC236}">
                    <a16:creationId xmlns:a16="http://schemas.microsoft.com/office/drawing/2014/main" id="{BBA638BE-5729-CA33-993F-0FA74C7E5D55}"/>
                  </a:ext>
                </a:extLst>
              </p:cNvPr>
              <p:cNvSpPr>
                <a:spLocks noRot="1" noChangeAspect="1" noMove="1" noResize="1" noEditPoints="1" noAdjustHandles="1" noChangeArrowheads="1" noChangeShapeType="1" noTextEdit="1"/>
              </p:cNvSpPr>
              <p:nvPr/>
            </p:nvSpPr>
            <p:spPr>
              <a:xfrm>
                <a:off x="3577281" y="52966"/>
                <a:ext cx="2620147" cy="733834"/>
              </a:xfrm>
              <a:prstGeom prst="roundRect">
                <a:avLst>
                  <a:gd name="adj" fmla="val 12642"/>
                </a:avLst>
              </a:prstGeom>
              <a:blipFill>
                <a:blip r:embed="rId4"/>
                <a:stretch>
                  <a:fillRect/>
                </a:stretch>
              </a:blipFill>
              <a:ln>
                <a:noFill/>
              </a:ln>
            </p:spPr>
            <p:txBody>
              <a:bodyPr/>
              <a:lstStyle/>
              <a:p>
                <a:r>
                  <a:rPr lang="de-DE">
                    <a:noFill/>
                  </a:rPr>
                  <a:t> </a:t>
                </a:r>
              </a:p>
            </p:txBody>
          </p:sp>
        </mc:Fallback>
      </mc:AlternateContent>
      <p:pic>
        <p:nvPicPr>
          <p:cNvPr id="11" name="Inhaltsplatzhalter 6" descr="Ein Bild, das Reihe, Diagramm enthält.&#10;&#10;KI-generierte Inhalte können fehlerhaft sein.">
            <a:extLst>
              <a:ext uri="{FF2B5EF4-FFF2-40B4-BE49-F238E27FC236}">
                <a16:creationId xmlns:a16="http://schemas.microsoft.com/office/drawing/2014/main" id="{7D7B0AA1-DE3B-302F-BD51-540B3702A936}"/>
              </a:ext>
            </a:extLst>
          </p:cNvPr>
          <p:cNvPicPr>
            <a:picLocks noChangeAspect="1"/>
          </p:cNvPicPr>
          <p:nvPr/>
        </p:nvPicPr>
        <p:blipFill>
          <a:blip r:embed="rId2"/>
          <a:stretch>
            <a:fillRect/>
          </a:stretch>
        </p:blipFill>
        <p:spPr>
          <a:xfrm>
            <a:off x="4921531" y="1900867"/>
            <a:ext cx="3593819" cy="2866396"/>
          </a:xfrm>
          <a:prstGeom prst="rect">
            <a:avLst/>
          </a:prstGeom>
        </p:spPr>
      </p:pic>
      <mc:AlternateContent xmlns:mc="http://schemas.openxmlformats.org/markup-compatibility/2006" xmlns:a14="http://schemas.microsoft.com/office/drawing/2010/main">
        <mc:Choice Requires="a14">
          <p:sp>
            <p:nvSpPr>
              <p:cNvPr id="6" name="Textfeld 5">
                <a:extLst>
                  <a:ext uri="{FF2B5EF4-FFF2-40B4-BE49-F238E27FC236}">
                    <a16:creationId xmlns:a16="http://schemas.microsoft.com/office/drawing/2014/main" id="{303335EA-5E1E-D5CC-F646-F6F0CB7175F0}"/>
                  </a:ext>
                </a:extLst>
              </p:cNvPr>
              <p:cNvSpPr txBox="1"/>
              <p:nvPr/>
            </p:nvSpPr>
            <p:spPr>
              <a:xfrm>
                <a:off x="773600" y="1163420"/>
                <a:ext cx="3303917" cy="65094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800" i="1" noProof="0" smtClean="0">
                              <a:latin typeface="Cambria Math" panose="02040503050406030204" pitchFamily="18" charset="0"/>
                            </a:rPr>
                          </m:ctrlPr>
                        </m:sSubPr>
                        <m:e>
                          <m:r>
                            <a:rPr lang="en-US" sz="1800" i="1" noProof="0" smtClean="0">
                              <a:latin typeface="Cambria Math" panose="02040503050406030204" pitchFamily="18" charset="0"/>
                            </a:rPr>
                            <m:t>𝐺</m:t>
                          </m:r>
                        </m:e>
                        <m:sub>
                          <m:r>
                            <m:rPr>
                              <m:nor/>
                            </m:rPr>
                            <a:rPr lang="en-US" sz="1800" i="0" noProof="0" smtClean="0">
                              <a:latin typeface="Cambria Math" panose="02040503050406030204" pitchFamily="18" charset="0"/>
                            </a:rPr>
                            <m:t>ol</m:t>
                          </m:r>
                        </m:sub>
                      </m:sSub>
                      <m:d>
                        <m:dPr>
                          <m:ctrlPr>
                            <a:rPr lang="en-US" sz="1800" i="1" noProof="0" smtClean="0">
                              <a:latin typeface="Cambria Math" panose="02040503050406030204" pitchFamily="18" charset="0"/>
                            </a:rPr>
                          </m:ctrlPr>
                        </m:dPr>
                        <m:e>
                          <m:r>
                            <a:rPr lang="en-US" sz="1800" i="1" noProof="0" smtClean="0">
                              <a:latin typeface="Cambria Math" panose="02040503050406030204" pitchFamily="18" charset="0"/>
                            </a:rPr>
                            <m:t>𝑠</m:t>
                          </m:r>
                        </m:e>
                      </m:d>
                      <m:r>
                        <a:rPr lang="en-US" sz="1800" i="1" noProof="0" smtClean="0">
                          <a:latin typeface="Cambria Math" panose="02040503050406030204" pitchFamily="18" charset="0"/>
                        </a:rPr>
                        <m:t>=</m:t>
                      </m:r>
                      <m:f>
                        <m:fPr>
                          <m:ctrlPr>
                            <a:rPr lang="en-US" sz="1800" i="1" noProof="0" smtClean="0">
                              <a:latin typeface="Cambria Math" panose="02040503050406030204" pitchFamily="18" charset="0"/>
                            </a:rPr>
                          </m:ctrlPr>
                        </m:fPr>
                        <m:num>
                          <m:r>
                            <a:rPr lang="en-US" sz="1800" i="1" noProof="0" smtClean="0">
                              <a:latin typeface="Cambria Math" panose="02040503050406030204" pitchFamily="18" charset="0"/>
                            </a:rPr>
                            <m:t>𝑠</m:t>
                          </m:r>
                          <m:r>
                            <a:rPr lang="en-US" sz="1800" i="1" noProof="0" smtClean="0">
                              <a:latin typeface="Cambria Math" panose="02040503050406030204" pitchFamily="18" charset="0"/>
                            </a:rPr>
                            <m:t>+4</m:t>
                          </m:r>
                        </m:num>
                        <m:den>
                          <m:d>
                            <m:dPr>
                              <m:ctrlPr>
                                <a:rPr lang="en-US" sz="1800" i="1" noProof="0" smtClean="0">
                                  <a:latin typeface="Cambria Math" panose="02040503050406030204" pitchFamily="18" charset="0"/>
                                </a:rPr>
                              </m:ctrlPr>
                            </m:dPr>
                            <m:e>
                              <m:r>
                                <a:rPr lang="en-US" sz="1800" i="1" noProof="0" smtClean="0">
                                  <a:latin typeface="Cambria Math" panose="02040503050406030204" pitchFamily="18" charset="0"/>
                                </a:rPr>
                                <m:t>𝑠</m:t>
                              </m:r>
                              <m:r>
                                <a:rPr lang="en-US" sz="1800" i="1" noProof="0" smtClean="0">
                                  <a:latin typeface="Cambria Math" panose="02040503050406030204" pitchFamily="18" charset="0"/>
                                </a:rPr>
                                <m:t>+1</m:t>
                              </m:r>
                            </m:e>
                          </m:d>
                          <m:d>
                            <m:dPr>
                              <m:ctrlPr>
                                <a:rPr lang="en-US" sz="1800" i="1" noProof="0" smtClean="0">
                                  <a:latin typeface="Cambria Math" panose="02040503050406030204" pitchFamily="18" charset="0"/>
                                </a:rPr>
                              </m:ctrlPr>
                            </m:dPr>
                            <m:e>
                              <m:r>
                                <a:rPr lang="en-US" sz="1800" i="1" noProof="0" smtClean="0">
                                  <a:latin typeface="Cambria Math" panose="02040503050406030204" pitchFamily="18" charset="0"/>
                                </a:rPr>
                                <m:t>𝑠</m:t>
                              </m:r>
                              <m:r>
                                <a:rPr lang="en-US" sz="1800" i="1" noProof="0" smtClean="0">
                                  <a:latin typeface="Cambria Math" panose="02040503050406030204" pitchFamily="18" charset="0"/>
                                </a:rPr>
                                <m:t>+2</m:t>
                              </m:r>
                            </m:e>
                          </m:d>
                          <m:d>
                            <m:dPr>
                              <m:ctrlPr>
                                <a:rPr lang="en-US" sz="1800" i="1" noProof="0" smtClean="0">
                                  <a:latin typeface="Cambria Math" panose="02040503050406030204" pitchFamily="18" charset="0"/>
                                </a:rPr>
                              </m:ctrlPr>
                            </m:dPr>
                            <m:e>
                              <m:r>
                                <a:rPr lang="en-US" sz="1800" i="1" noProof="0" smtClean="0">
                                  <a:latin typeface="Cambria Math" panose="02040503050406030204" pitchFamily="18" charset="0"/>
                                </a:rPr>
                                <m:t>𝑠</m:t>
                              </m:r>
                              <m:r>
                                <a:rPr lang="en-US" sz="1800" i="1" noProof="0" smtClean="0">
                                  <a:latin typeface="Cambria Math" panose="02040503050406030204" pitchFamily="18" charset="0"/>
                                </a:rPr>
                                <m:t>+3</m:t>
                              </m:r>
                            </m:e>
                          </m:d>
                        </m:den>
                      </m:f>
                    </m:oMath>
                  </m:oMathPara>
                </a14:m>
                <a:endParaRPr/>
              </a:p>
            </p:txBody>
          </p:sp>
        </mc:Choice>
        <mc:Fallback xmlns="">
          <p:sp>
            <p:nvSpPr>
              <p:cNvPr id="6" name="Textfeld 5">
                <a:extLst>
                  <a:ext uri="{FF2B5EF4-FFF2-40B4-BE49-F238E27FC236}">
                    <a16:creationId xmlns:a16="http://schemas.microsoft.com/office/drawing/2014/main" id="{303335EA-5E1E-D5CC-F646-F6F0CB7175F0}"/>
                  </a:ext>
                </a:extLst>
              </p:cNvPr>
              <p:cNvSpPr txBox="1">
                <a:spLocks noRot="1" noChangeAspect="1" noMove="1" noResize="1" noEditPoints="1" noAdjustHandles="1" noChangeArrowheads="1" noChangeShapeType="1" noTextEdit="1"/>
              </p:cNvSpPr>
              <p:nvPr/>
            </p:nvSpPr>
            <p:spPr>
              <a:xfrm>
                <a:off x="773600" y="1163420"/>
                <a:ext cx="3303917" cy="650947"/>
              </a:xfrm>
              <a:prstGeom prst="rect">
                <a:avLst/>
              </a:prstGeom>
              <a:blipFill>
                <a:blip r:embed="rId5"/>
                <a:stretch>
                  <a:fillRect r="-1527"/>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17" name="Textfeld 16">
                <a:extLst>
                  <a:ext uri="{FF2B5EF4-FFF2-40B4-BE49-F238E27FC236}">
                    <a16:creationId xmlns:a16="http://schemas.microsoft.com/office/drawing/2014/main" id="{40F9E85C-7AA4-E8A3-80C5-E161AB40C3E8}"/>
                  </a:ext>
                </a:extLst>
              </p:cNvPr>
              <p:cNvSpPr txBox="1"/>
              <p:nvPr/>
            </p:nvSpPr>
            <p:spPr>
              <a:xfrm>
                <a:off x="5375689" y="1163420"/>
                <a:ext cx="2198359" cy="61734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800" i="1" noProof="0" smtClean="0">
                              <a:latin typeface="Cambria Math" panose="02040503050406030204" pitchFamily="18" charset="0"/>
                            </a:rPr>
                          </m:ctrlPr>
                        </m:sSubPr>
                        <m:e>
                          <m:r>
                            <a:rPr lang="en-US" sz="1800" i="1" noProof="0" smtClean="0">
                              <a:latin typeface="Cambria Math" panose="02040503050406030204" pitchFamily="18" charset="0"/>
                            </a:rPr>
                            <m:t>𝐺</m:t>
                          </m:r>
                        </m:e>
                        <m:sub>
                          <m:r>
                            <m:rPr>
                              <m:nor/>
                            </m:rPr>
                            <a:rPr lang="en-US" sz="1800" i="0" noProof="0" smtClean="0">
                              <a:latin typeface="Cambria Math" panose="02040503050406030204" pitchFamily="18" charset="0"/>
                            </a:rPr>
                            <m:t>ol</m:t>
                          </m:r>
                        </m:sub>
                      </m:sSub>
                      <m:d>
                        <m:dPr>
                          <m:ctrlPr>
                            <a:rPr lang="en-US" sz="1800" i="1" noProof="0" smtClean="0">
                              <a:latin typeface="Cambria Math" panose="02040503050406030204" pitchFamily="18" charset="0"/>
                            </a:rPr>
                          </m:ctrlPr>
                        </m:dPr>
                        <m:e>
                          <m:r>
                            <a:rPr lang="en-US" sz="1800" i="1" noProof="0" smtClean="0">
                              <a:latin typeface="Cambria Math" panose="02040503050406030204" pitchFamily="18" charset="0"/>
                            </a:rPr>
                            <m:t>𝑠</m:t>
                          </m:r>
                        </m:e>
                      </m:d>
                      <m:r>
                        <a:rPr lang="en-US" sz="1800" i="1" noProof="0" smtClean="0">
                          <a:latin typeface="Cambria Math" panose="02040503050406030204" pitchFamily="18" charset="0"/>
                        </a:rPr>
                        <m:t>=</m:t>
                      </m:r>
                      <m:f>
                        <m:fPr>
                          <m:ctrlPr>
                            <a:rPr lang="en-US" sz="1800" i="1" noProof="0" smtClean="0">
                              <a:latin typeface="Cambria Math" panose="02040503050406030204" pitchFamily="18" charset="0"/>
                            </a:rPr>
                          </m:ctrlPr>
                        </m:fPr>
                        <m:num>
                          <m:r>
                            <a:rPr lang="en-US" sz="1800" i="1" noProof="0" smtClean="0">
                              <a:latin typeface="Cambria Math" panose="02040503050406030204" pitchFamily="18" charset="0"/>
                            </a:rPr>
                            <m:t>𝑠</m:t>
                          </m:r>
                          <m:r>
                            <a:rPr lang="en-US" sz="1800" i="1" noProof="0" smtClean="0">
                              <a:latin typeface="Cambria Math" panose="02040503050406030204" pitchFamily="18" charset="0"/>
                            </a:rPr>
                            <m:t>+1</m:t>
                          </m:r>
                        </m:num>
                        <m:den>
                          <m:sSup>
                            <m:sSupPr>
                              <m:ctrlPr>
                                <a:rPr lang="en-US" sz="1800" i="1" noProof="0" smtClean="0">
                                  <a:latin typeface="Cambria Math" panose="02040503050406030204" pitchFamily="18" charset="0"/>
                                </a:rPr>
                              </m:ctrlPr>
                            </m:sSupPr>
                            <m:e>
                              <m:r>
                                <a:rPr lang="en-US" sz="1800" i="1" noProof="0" smtClean="0">
                                  <a:latin typeface="Cambria Math" panose="02040503050406030204" pitchFamily="18" charset="0"/>
                                </a:rPr>
                                <m:t>𝑠</m:t>
                              </m:r>
                            </m:e>
                            <m:sup>
                              <m:r>
                                <a:rPr lang="en-US" sz="1800" i="1" noProof="0" smtClean="0">
                                  <a:latin typeface="Cambria Math" panose="02040503050406030204" pitchFamily="18" charset="0"/>
                                </a:rPr>
                                <m:t>2</m:t>
                              </m:r>
                            </m:sup>
                          </m:sSup>
                          <m:r>
                            <a:rPr lang="en-US" sz="1800" i="1" noProof="0" smtClean="0">
                              <a:latin typeface="Cambria Math" panose="02040503050406030204" pitchFamily="18" charset="0"/>
                            </a:rPr>
                            <m:t>+</m:t>
                          </m:r>
                          <m:r>
                            <a:rPr lang="en-US" sz="1800" i="1" noProof="0" smtClean="0">
                              <a:latin typeface="Cambria Math" panose="02040503050406030204" pitchFamily="18" charset="0"/>
                            </a:rPr>
                            <m:t>𝑠</m:t>
                          </m:r>
                          <m:r>
                            <a:rPr lang="en-US" sz="1800" i="1" noProof="0" smtClean="0">
                              <a:latin typeface="Cambria Math" panose="02040503050406030204" pitchFamily="18" charset="0"/>
                            </a:rPr>
                            <m:t>+1</m:t>
                          </m:r>
                        </m:den>
                      </m:f>
                    </m:oMath>
                  </m:oMathPara>
                </a14:m>
                <a:endParaRPr/>
              </a:p>
            </p:txBody>
          </p:sp>
        </mc:Choice>
        <mc:Fallback xmlns="">
          <p:sp>
            <p:nvSpPr>
              <p:cNvPr id="17" name="Textfeld 16">
                <a:extLst>
                  <a:ext uri="{FF2B5EF4-FFF2-40B4-BE49-F238E27FC236}">
                    <a16:creationId xmlns:a16="http://schemas.microsoft.com/office/drawing/2014/main" id="{40F9E85C-7AA4-E8A3-80C5-E161AB40C3E8}"/>
                  </a:ext>
                </a:extLst>
              </p:cNvPr>
              <p:cNvSpPr txBox="1">
                <a:spLocks noRot="1" noChangeAspect="1" noMove="1" noResize="1" noEditPoints="1" noAdjustHandles="1" noChangeArrowheads="1" noChangeShapeType="1" noTextEdit="1"/>
              </p:cNvSpPr>
              <p:nvPr/>
            </p:nvSpPr>
            <p:spPr>
              <a:xfrm>
                <a:off x="5375689" y="1163420"/>
                <a:ext cx="2198359" cy="617348"/>
              </a:xfrm>
              <a:prstGeom prst="rect">
                <a:avLst/>
              </a:prstGeom>
              <a:blipFill>
                <a:blip r:embed="rId6"/>
                <a:stretch>
                  <a:fillRect r="-2874" b="-2000"/>
                </a:stretch>
              </a:blipFill>
            </p:spPr>
            <p:txBody>
              <a:bodyPr/>
              <a:lstStyle/>
              <a:p>
                <a:r>
                  <a:rPr lang="de-DE">
                    <a:noFill/>
                  </a:rPr>
                  <a:t> </a:t>
                </a:r>
              </a:p>
            </p:txBody>
          </p:sp>
        </mc:Fallback>
      </mc:AlternateContent>
    </p:spTree>
    <p:extLst>
      <p:ext uri="{BB962C8B-B14F-4D97-AF65-F5344CB8AC3E}">
        <p14:creationId xmlns:p14="http://schemas.microsoft.com/office/powerpoint/2010/main" val="1246307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B03CA05-FBBA-EBB1-5777-D22318EC9359}"/>
              </a:ext>
            </a:extLst>
          </p:cNvPr>
          <p:cNvSpPr>
            <a:spLocks noGrp="1"/>
          </p:cNvSpPr>
          <p:nvPr>
            <p:ph type="title"/>
          </p:nvPr>
        </p:nvSpPr>
        <p:spPr/>
        <p:txBody>
          <a:bodyPr/>
          <a:lstStyle/>
          <a:p>
            <a:r>
              <a:rPr lang="en-US" noProof="0" dirty="0"/>
              <a:t>Exam Question</a:t>
            </a:r>
          </a:p>
        </p:txBody>
      </p:sp>
      <p:pic>
        <p:nvPicPr>
          <p:cNvPr id="7" name="Inhaltsplatzhalter 6" descr="Ein Bild, das Text, Diagramm, Reihe, parallel enthält.&#10;&#10;KI-generierte Inhalte können fehlerhaft sein.">
            <a:extLst>
              <a:ext uri="{FF2B5EF4-FFF2-40B4-BE49-F238E27FC236}">
                <a16:creationId xmlns:a16="http://schemas.microsoft.com/office/drawing/2014/main" id="{7794C200-0C53-0E73-6A84-50B52F644CF4}"/>
              </a:ext>
            </a:extLst>
          </p:cNvPr>
          <p:cNvPicPr>
            <a:picLocks noGrp="1" noChangeAspect="1"/>
          </p:cNvPicPr>
          <p:nvPr>
            <p:ph idx="1"/>
          </p:nvPr>
        </p:nvPicPr>
        <p:blipFill>
          <a:blip r:embed="rId2"/>
          <a:stretch>
            <a:fillRect/>
          </a:stretch>
        </p:blipFill>
        <p:spPr>
          <a:xfrm>
            <a:off x="0" y="1056973"/>
            <a:ext cx="4851942" cy="3572689"/>
          </a:xfrm>
        </p:spPr>
      </p:pic>
      <p:sp>
        <p:nvSpPr>
          <p:cNvPr id="4" name="Fußzeilenplatzhalter 3">
            <a:extLst>
              <a:ext uri="{FF2B5EF4-FFF2-40B4-BE49-F238E27FC236}">
                <a16:creationId xmlns:a16="http://schemas.microsoft.com/office/drawing/2014/main" id="{125DA207-EC97-2F21-DBF1-CDCADCB488D7}"/>
              </a:ext>
            </a:extLst>
          </p:cNvPr>
          <p:cNvSpPr>
            <a:spLocks noGrp="1"/>
          </p:cNvSpPr>
          <p:nvPr>
            <p:ph type="ftr" sz="quarter" idx="11"/>
          </p:nvPr>
        </p:nvSpPr>
        <p:spPr/>
        <p:txBody>
          <a:bodyPr/>
          <a:lstStyle/>
          <a:p>
            <a:pPr defTabSz="342900">
              <a:buClrTx/>
            </a:pPr>
            <a:r>
              <a:rPr lang="en-US" kern="1200" noProof="0" dirty="0">
                <a:solidFill>
                  <a:srgbClr val="101623">
                    <a:tint val="75000"/>
                  </a:srgbClr>
                </a:solidFill>
                <a:latin typeface="Calibri" panose="020F0502020204030204"/>
                <a:ea typeface="+mn-ea"/>
                <a:cs typeface="+mn-cs"/>
              </a:rPr>
              <a:t>Kissan Varatharajan - </a:t>
            </a:r>
            <a:r>
              <a:rPr lang="en-US" kern="1200" noProof="0" dirty="0" err="1">
                <a:solidFill>
                  <a:srgbClr val="101623">
                    <a:tint val="75000"/>
                  </a:srgbClr>
                </a:solidFill>
                <a:latin typeface="Calibri" panose="020F0502020204030204"/>
                <a:ea typeface="+mn-ea"/>
                <a:cs typeface="+mn-cs"/>
              </a:rPr>
              <a:t>kissanv.github.io</a:t>
            </a:r>
            <a:endParaRPr lang="en-US" kern="1200" noProof="0" dirty="0">
              <a:solidFill>
                <a:srgbClr val="101623">
                  <a:tint val="75000"/>
                </a:srgbClr>
              </a:solidFill>
              <a:latin typeface="Calibri" panose="020F0502020204030204"/>
              <a:ea typeface="+mn-ea"/>
              <a:cs typeface="+mn-cs"/>
            </a:endParaRPr>
          </a:p>
        </p:txBody>
      </p:sp>
      <p:sp>
        <p:nvSpPr>
          <p:cNvPr id="5" name="Foliennummernplatzhalter 4">
            <a:extLst>
              <a:ext uri="{FF2B5EF4-FFF2-40B4-BE49-F238E27FC236}">
                <a16:creationId xmlns:a16="http://schemas.microsoft.com/office/drawing/2014/main" id="{EA56DEE7-BDE0-4545-1334-05E58CF1AD6F}"/>
              </a:ext>
            </a:extLst>
          </p:cNvPr>
          <p:cNvSpPr>
            <a:spLocks noGrp="1"/>
          </p:cNvSpPr>
          <p:nvPr>
            <p:ph type="sldNum" sz="quarter" idx="12"/>
          </p:nvPr>
        </p:nvSpPr>
        <p:spPr/>
        <p:txBody>
          <a:bodyPr/>
          <a:lstStyle/>
          <a:p>
            <a:pPr defTabSz="342900">
              <a:buClrTx/>
            </a:pPr>
            <a:fld id="{36EAFFE7-40E2-CA47-82C0-73D0FC591208}" type="slidenum">
              <a:rPr lang="en-US" kern="1200" noProof="0" smtClean="0">
                <a:solidFill>
                  <a:srgbClr val="101623">
                    <a:tint val="75000"/>
                  </a:srgbClr>
                </a:solidFill>
                <a:latin typeface="Calibri" panose="020F0502020204030204"/>
                <a:ea typeface="+mn-ea"/>
                <a:cs typeface="+mn-cs"/>
              </a:rPr>
              <a:pPr defTabSz="342900">
                <a:buClrTx/>
              </a:pPr>
              <a:t>28</a:t>
            </a:fld>
            <a:endParaRPr lang="en-US" kern="1200" noProof="0" dirty="0">
              <a:solidFill>
                <a:srgbClr val="101623">
                  <a:tint val="75000"/>
                </a:srgbClr>
              </a:solidFill>
              <a:latin typeface="Calibri" panose="020F0502020204030204"/>
              <a:ea typeface="+mn-ea"/>
              <a:cs typeface="+mn-cs"/>
            </a:endParaRPr>
          </a:p>
        </p:txBody>
      </p:sp>
      <p:pic>
        <p:nvPicPr>
          <p:cNvPr id="9" name="Grafik 8" descr="Ein Bild, das Text, Schrift, Screenshot, Quittung enthält.&#10;&#10;KI-generierte Inhalte können fehlerhaft sein.">
            <a:extLst>
              <a:ext uri="{FF2B5EF4-FFF2-40B4-BE49-F238E27FC236}">
                <a16:creationId xmlns:a16="http://schemas.microsoft.com/office/drawing/2014/main" id="{A2F22D6D-DA4F-70D8-444B-FFD599CDD815}"/>
              </a:ext>
            </a:extLst>
          </p:cNvPr>
          <p:cNvPicPr>
            <a:picLocks noChangeAspect="1"/>
          </p:cNvPicPr>
          <p:nvPr/>
        </p:nvPicPr>
        <p:blipFill>
          <a:blip r:embed="rId3"/>
          <a:stretch>
            <a:fillRect/>
          </a:stretch>
        </p:blipFill>
        <p:spPr>
          <a:xfrm>
            <a:off x="4454506" y="1405617"/>
            <a:ext cx="4635182" cy="2853345"/>
          </a:xfrm>
          <a:prstGeom prst="rect">
            <a:avLst/>
          </a:prstGeom>
        </p:spPr>
      </p:pic>
    </p:spTree>
    <p:extLst>
      <p:ext uri="{BB962C8B-B14F-4D97-AF65-F5344CB8AC3E}">
        <p14:creationId xmlns:p14="http://schemas.microsoft.com/office/powerpoint/2010/main" val="31874561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808A4-0F9A-2980-46F2-3969FC6E8208}"/>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10917C2F-6241-1210-C35F-4C3C036EC236}"/>
              </a:ext>
            </a:extLst>
          </p:cNvPr>
          <p:cNvSpPr>
            <a:spLocks noGrp="1"/>
          </p:cNvSpPr>
          <p:nvPr>
            <p:ph type="title"/>
          </p:nvPr>
        </p:nvSpPr>
        <p:spPr/>
        <p:txBody>
          <a:bodyPr/>
          <a:lstStyle/>
          <a:p>
            <a:r>
              <a:rPr lang="en-US" noProof="0" dirty="0"/>
              <a:t>Exam Question</a:t>
            </a:r>
          </a:p>
        </p:txBody>
      </p:sp>
      <p:pic>
        <p:nvPicPr>
          <p:cNvPr id="7" name="Inhaltsplatzhalter 6" descr="Ein Bild, das Text, Diagramm, Reihe, parallel enthält.&#10;&#10;KI-generierte Inhalte können fehlerhaft sein.">
            <a:extLst>
              <a:ext uri="{FF2B5EF4-FFF2-40B4-BE49-F238E27FC236}">
                <a16:creationId xmlns:a16="http://schemas.microsoft.com/office/drawing/2014/main" id="{839F2C50-41E8-D5DA-4A97-4088DDD5650D}"/>
              </a:ext>
            </a:extLst>
          </p:cNvPr>
          <p:cNvPicPr>
            <a:picLocks noGrp="1" noChangeAspect="1"/>
          </p:cNvPicPr>
          <p:nvPr>
            <p:ph idx="1"/>
          </p:nvPr>
        </p:nvPicPr>
        <p:blipFill>
          <a:blip r:embed="rId2"/>
          <a:stretch>
            <a:fillRect/>
          </a:stretch>
        </p:blipFill>
        <p:spPr>
          <a:xfrm>
            <a:off x="0" y="1056973"/>
            <a:ext cx="4851942" cy="3572689"/>
          </a:xfrm>
        </p:spPr>
      </p:pic>
      <p:sp>
        <p:nvSpPr>
          <p:cNvPr id="4" name="Fußzeilenplatzhalter 3">
            <a:extLst>
              <a:ext uri="{FF2B5EF4-FFF2-40B4-BE49-F238E27FC236}">
                <a16:creationId xmlns:a16="http://schemas.microsoft.com/office/drawing/2014/main" id="{3597FD30-7B3C-6131-638E-BF3BE02D216C}"/>
              </a:ext>
            </a:extLst>
          </p:cNvPr>
          <p:cNvSpPr>
            <a:spLocks noGrp="1"/>
          </p:cNvSpPr>
          <p:nvPr>
            <p:ph type="ftr" sz="quarter" idx="11"/>
          </p:nvPr>
        </p:nvSpPr>
        <p:spPr/>
        <p:txBody>
          <a:bodyPr/>
          <a:lstStyle/>
          <a:p>
            <a:pPr defTabSz="342900">
              <a:buClrTx/>
            </a:pPr>
            <a:r>
              <a:rPr lang="en-US" kern="1200" noProof="0" dirty="0">
                <a:solidFill>
                  <a:srgbClr val="101623">
                    <a:tint val="75000"/>
                  </a:srgbClr>
                </a:solidFill>
                <a:latin typeface="Calibri" panose="020F0502020204030204"/>
                <a:ea typeface="+mn-ea"/>
                <a:cs typeface="+mn-cs"/>
              </a:rPr>
              <a:t>Kissan Varatharajan - </a:t>
            </a:r>
            <a:r>
              <a:rPr lang="en-US" kern="1200" noProof="0" dirty="0" err="1">
                <a:solidFill>
                  <a:srgbClr val="101623">
                    <a:tint val="75000"/>
                  </a:srgbClr>
                </a:solidFill>
                <a:latin typeface="Calibri" panose="020F0502020204030204"/>
                <a:ea typeface="+mn-ea"/>
                <a:cs typeface="+mn-cs"/>
              </a:rPr>
              <a:t>kissanv.github.io</a:t>
            </a:r>
            <a:endParaRPr lang="en-US" kern="1200" noProof="0" dirty="0">
              <a:solidFill>
                <a:srgbClr val="101623">
                  <a:tint val="75000"/>
                </a:srgbClr>
              </a:solidFill>
              <a:latin typeface="Calibri" panose="020F0502020204030204"/>
              <a:ea typeface="+mn-ea"/>
              <a:cs typeface="+mn-cs"/>
            </a:endParaRPr>
          </a:p>
        </p:txBody>
      </p:sp>
      <p:sp>
        <p:nvSpPr>
          <p:cNvPr id="5" name="Foliennummernplatzhalter 4">
            <a:extLst>
              <a:ext uri="{FF2B5EF4-FFF2-40B4-BE49-F238E27FC236}">
                <a16:creationId xmlns:a16="http://schemas.microsoft.com/office/drawing/2014/main" id="{F9CFCE19-E434-3279-7F61-13D412F3CC11}"/>
              </a:ext>
            </a:extLst>
          </p:cNvPr>
          <p:cNvSpPr>
            <a:spLocks noGrp="1"/>
          </p:cNvSpPr>
          <p:nvPr>
            <p:ph type="sldNum" sz="quarter" idx="12"/>
          </p:nvPr>
        </p:nvSpPr>
        <p:spPr/>
        <p:txBody>
          <a:bodyPr/>
          <a:lstStyle/>
          <a:p>
            <a:pPr defTabSz="342900">
              <a:buClrTx/>
            </a:pPr>
            <a:fld id="{36EAFFE7-40E2-CA47-82C0-73D0FC591208}" type="slidenum">
              <a:rPr lang="en-US" kern="1200" noProof="0" smtClean="0">
                <a:solidFill>
                  <a:srgbClr val="101623">
                    <a:tint val="75000"/>
                  </a:srgbClr>
                </a:solidFill>
                <a:latin typeface="Calibri" panose="020F0502020204030204"/>
                <a:ea typeface="+mn-ea"/>
                <a:cs typeface="+mn-cs"/>
              </a:rPr>
              <a:pPr defTabSz="342900">
                <a:buClrTx/>
              </a:pPr>
              <a:t>29</a:t>
            </a:fld>
            <a:endParaRPr lang="en-US" kern="1200" noProof="0" dirty="0">
              <a:solidFill>
                <a:srgbClr val="101623">
                  <a:tint val="75000"/>
                </a:srgbClr>
              </a:solidFill>
              <a:latin typeface="Calibri" panose="020F0502020204030204"/>
              <a:ea typeface="+mn-ea"/>
              <a:cs typeface="+mn-cs"/>
            </a:endParaRPr>
          </a:p>
        </p:txBody>
      </p:sp>
      <p:pic>
        <p:nvPicPr>
          <p:cNvPr id="9" name="Grafik 8" descr="Ein Bild, das Text, Schrift, Screenshot, Quittung enthält.&#10;&#10;KI-generierte Inhalte können fehlerhaft sein.">
            <a:extLst>
              <a:ext uri="{FF2B5EF4-FFF2-40B4-BE49-F238E27FC236}">
                <a16:creationId xmlns:a16="http://schemas.microsoft.com/office/drawing/2014/main" id="{C34EBE26-1C46-D2D9-F2DE-BAA026610520}"/>
              </a:ext>
            </a:extLst>
          </p:cNvPr>
          <p:cNvPicPr>
            <a:picLocks noChangeAspect="1"/>
          </p:cNvPicPr>
          <p:nvPr/>
        </p:nvPicPr>
        <p:blipFill>
          <a:blip r:embed="rId3"/>
          <a:stretch>
            <a:fillRect/>
          </a:stretch>
        </p:blipFill>
        <p:spPr>
          <a:xfrm>
            <a:off x="4454506" y="1405617"/>
            <a:ext cx="4635182" cy="2853345"/>
          </a:xfrm>
          <a:prstGeom prst="rect">
            <a:avLst/>
          </a:prstGeom>
        </p:spPr>
      </p:pic>
      <p:sp>
        <p:nvSpPr>
          <p:cNvPr id="6" name="Textfeld 5">
            <a:extLst>
              <a:ext uri="{FF2B5EF4-FFF2-40B4-BE49-F238E27FC236}">
                <a16:creationId xmlns:a16="http://schemas.microsoft.com/office/drawing/2014/main" id="{DFE4DE9E-0E1A-6FB5-B315-434DD37BE168}"/>
              </a:ext>
            </a:extLst>
          </p:cNvPr>
          <p:cNvSpPr txBox="1"/>
          <p:nvPr/>
        </p:nvSpPr>
        <p:spPr>
          <a:xfrm>
            <a:off x="7615881" y="3637005"/>
            <a:ext cx="290464" cy="369332"/>
          </a:xfrm>
          <a:prstGeom prst="rect">
            <a:avLst/>
          </a:prstGeom>
          <a:noFill/>
        </p:spPr>
        <p:txBody>
          <a:bodyPr wrap="none" rtlCol="0">
            <a:spAutoFit/>
          </a:bodyPr>
          <a:lstStyle/>
          <a:p>
            <a:r>
              <a:rPr lang="en-US" sz="1800" noProof="0" dirty="0">
                <a:solidFill>
                  <a:srgbClr val="FF0000"/>
                </a:solidFill>
                <a:latin typeface="Segoe UI" panose="020B0502040204020203" pitchFamily="34" charset="0"/>
                <a:cs typeface="Segoe UI" panose="020B0502040204020203" pitchFamily="34" charset="0"/>
              </a:rPr>
              <a:t>x</a:t>
            </a:r>
          </a:p>
        </p:txBody>
      </p:sp>
      <p:sp>
        <p:nvSpPr>
          <p:cNvPr id="8" name="Textfeld 7">
            <a:extLst>
              <a:ext uri="{FF2B5EF4-FFF2-40B4-BE49-F238E27FC236}">
                <a16:creationId xmlns:a16="http://schemas.microsoft.com/office/drawing/2014/main" id="{E69F6E13-A3B5-B9CA-5A9E-CDCA1830F6BC}"/>
              </a:ext>
            </a:extLst>
          </p:cNvPr>
          <p:cNvSpPr txBox="1"/>
          <p:nvPr/>
        </p:nvSpPr>
        <p:spPr>
          <a:xfrm>
            <a:off x="6772097" y="3097427"/>
            <a:ext cx="290464" cy="369332"/>
          </a:xfrm>
          <a:prstGeom prst="rect">
            <a:avLst/>
          </a:prstGeom>
          <a:noFill/>
        </p:spPr>
        <p:txBody>
          <a:bodyPr wrap="none" rtlCol="0">
            <a:spAutoFit/>
          </a:bodyPr>
          <a:lstStyle/>
          <a:p>
            <a:r>
              <a:rPr lang="en-US" sz="1800" noProof="0" dirty="0">
                <a:solidFill>
                  <a:srgbClr val="FF0000"/>
                </a:solidFill>
                <a:latin typeface="Segoe UI" panose="020B0502040204020203" pitchFamily="34" charset="0"/>
                <a:cs typeface="Segoe UI" panose="020B0502040204020203" pitchFamily="34" charset="0"/>
              </a:rPr>
              <a:t>x</a:t>
            </a:r>
          </a:p>
        </p:txBody>
      </p:sp>
      <p:sp>
        <p:nvSpPr>
          <p:cNvPr id="10" name="Textfeld 9">
            <a:extLst>
              <a:ext uri="{FF2B5EF4-FFF2-40B4-BE49-F238E27FC236}">
                <a16:creationId xmlns:a16="http://schemas.microsoft.com/office/drawing/2014/main" id="{9C5BCF83-C66C-F579-982A-ED592FEA111A}"/>
              </a:ext>
            </a:extLst>
          </p:cNvPr>
          <p:cNvSpPr txBox="1"/>
          <p:nvPr/>
        </p:nvSpPr>
        <p:spPr>
          <a:xfrm>
            <a:off x="8036011" y="2571750"/>
            <a:ext cx="290464" cy="369332"/>
          </a:xfrm>
          <a:prstGeom prst="rect">
            <a:avLst/>
          </a:prstGeom>
          <a:noFill/>
        </p:spPr>
        <p:txBody>
          <a:bodyPr wrap="none" rtlCol="0">
            <a:spAutoFit/>
          </a:bodyPr>
          <a:lstStyle/>
          <a:p>
            <a:r>
              <a:rPr lang="en-US" sz="1800" noProof="0" dirty="0">
                <a:solidFill>
                  <a:srgbClr val="FF0000"/>
                </a:solidFill>
                <a:latin typeface="Segoe UI" panose="020B0502040204020203" pitchFamily="34" charset="0"/>
                <a:cs typeface="Segoe UI" panose="020B0502040204020203" pitchFamily="34" charset="0"/>
              </a:rPr>
              <a:t>x</a:t>
            </a:r>
          </a:p>
        </p:txBody>
      </p:sp>
      <p:sp>
        <p:nvSpPr>
          <p:cNvPr id="11" name="Textfeld 10">
            <a:extLst>
              <a:ext uri="{FF2B5EF4-FFF2-40B4-BE49-F238E27FC236}">
                <a16:creationId xmlns:a16="http://schemas.microsoft.com/office/drawing/2014/main" id="{9501EEAD-4686-1D0E-5E00-4FB20D65FE57}"/>
              </a:ext>
            </a:extLst>
          </p:cNvPr>
          <p:cNvSpPr txBox="1"/>
          <p:nvPr/>
        </p:nvSpPr>
        <p:spPr>
          <a:xfrm>
            <a:off x="7154562" y="1919416"/>
            <a:ext cx="290464" cy="369332"/>
          </a:xfrm>
          <a:prstGeom prst="rect">
            <a:avLst/>
          </a:prstGeom>
          <a:noFill/>
        </p:spPr>
        <p:txBody>
          <a:bodyPr wrap="none" rtlCol="0">
            <a:spAutoFit/>
          </a:bodyPr>
          <a:lstStyle/>
          <a:p>
            <a:r>
              <a:rPr lang="en-US" sz="1800" noProof="0" dirty="0">
                <a:solidFill>
                  <a:srgbClr val="FF0000"/>
                </a:solidFill>
                <a:latin typeface="Segoe UI" panose="020B0502040204020203" pitchFamily="34" charset="0"/>
                <a:cs typeface="Segoe UI" panose="020B0502040204020203" pitchFamily="34" charset="0"/>
              </a:rPr>
              <a:t>x</a:t>
            </a:r>
          </a:p>
        </p:txBody>
      </p:sp>
    </p:spTree>
    <p:extLst>
      <p:ext uri="{BB962C8B-B14F-4D97-AF65-F5344CB8AC3E}">
        <p14:creationId xmlns:p14="http://schemas.microsoft.com/office/powerpoint/2010/main" val="2732790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C55B63D-A672-E1A3-5121-D813AB5DB618}"/>
              </a:ext>
            </a:extLst>
          </p:cNvPr>
          <p:cNvSpPr>
            <a:spLocks noGrp="1"/>
          </p:cNvSpPr>
          <p:nvPr>
            <p:ph type="title"/>
          </p:nvPr>
        </p:nvSpPr>
        <p:spPr>
          <a:xfrm>
            <a:off x="628650" y="157082"/>
            <a:ext cx="7886700" cy="994172"/>
          </a:xfrm>
        </p:spPr>
        <p:txBody>
          <a:bodyPr/>
          <a:lstStyle/>
          <a:p>
            <a:r>
              <a:rPr lang="en-US" noProof="0" dirty="0"/>
              <a:t>Different Controllers</a:t>
            </a:r>
          </a:p>
        </p:txBody>
      </p:sp>
      <mc:AlternateContent xmlns:mc="http://schemas.openxmlformats.org/markup-compatibility/2006" xmlns:a14="http://schemas.microsoft.com/office/drawing/2010/main">
        <mc:Choice Requires="a14">
          <p:sp>
            <p:nvSpPr>
              <p:cNvPr id="3" name="Inhaltsplatzhalter 2">
                <a:extLst>
                  <a:ext uri="{FF2B5EF4-FFF2-40B4-BE49-F238E27FC236}">
                    <a16:creationId xmlns:a16="http://schemas.microsoft.com/office/drawing/2014/main" id="{65787472-F591-0270-9B04-9FEFF3E63EE7}"/>
                  </a:ext>
                </a:extLst>
              </p:cNvPr>
              <p:cNvSpPr>
                <a:spLocks noGrp="1"/>
              </p:cNvSpPr>
              <p:nvPr>
                <p:ph idx="1"/>
              </p:nvPr>
            </p:nvSpPr>
            <p:spPr>
              <a:xfrm>
                <a:off x="628650" y="914401"/>
                <a:ext cx="7886700" cy="4011560"/>
              </a:xfrm>
            </p:spPr>
            <p:txBody>
              <a:bodyPr>
                <a:normAutofit/>
              </a:bodyPr>
              <a:lstStyle/>
              <a:p>
                <a:r>
                  <a:rPr lang="en-US" noProof="0" dirty="0"/>
                  <a:t>We saw how powerful a simple scalar </a:t>
                </a:r>
                <a14:m>
                  <m:oMath xmlns:m="http://schemas.openxmlformats.org/officeDocument/2006/math">
                    <m:r>
                      <a:rPr lang="en-US" i="1" noProof="0" dirty="0" smtClean="0">
                        <a:latin typeface="Cambria Math" panose="02040503050406030204" pitchFamily="18" charset="0"/>
                      </a:rPr>
                      <m:t>𝑘</m:t>
                    </m:r>
                  </m:oMath>
                </a14:m>
                <a:r>
                  <a:rPr lang="en-US" noProof="0" dirty="0"/>
                  <a:t> as a controller can be</a:t>
                </a:r>
              </a:p>
              <a:p>
                <a:r>
                  <a:rPr lang="en-US" noProof="0" dirty="0"/>
                  <a:t>But most times, our controller will be a dynamic compensator itself!</a:t>
                </a:r>
              </a:p>
              <a:p>
                <a:endParaRPr lang="en-US" dirty="0"/>
              </a:p>
              <a:p>
                <a:endParaRPr lang="en-US" noProof="0" dirty="0"/>
              </a:p>
              <a:p>
                <a:pPr marL="0" indent="0">
                  <a:buNone/>
                </a:pPr>
                <a:endParaRPr lang="en-US" noProof="0" dirty="0"/>
              </a:p>
              <a:p>
                <a:r>
                  <a:rPr lang="en-US" noProof="0" dirty="0"/>
                  <a:t>A typical </a:t>
                </a:r>
                <a14:m>
                  <m:oMath xmlns:m="http://schemas.openxmlformats.org/officeDocument/2006/math">
                    <m:r>
                      <a:rPr lang="en-US" i="1" noProof="0" dirty="0" smtClean="0">
                        <a:latin typeface="Cambria Math" panose="02040503050406030204" pitchFamily="18" charset="0"/>
                      </a:rPr>
                      <m:t>𝐶</m:t>
                    </m:r>
                    <m:r>
                      <a:rPr lang="en-US" i="1" noProof="0" dirty="0" smtClean="0">
                        <a:latin typeface="Cambria Math" panose="02040503050406030204" pitchFamily="18" charset="0"/>
                      </a:rPr>
                      <m:t>(</m:t>
                    </m:r>
                    <m:r>
                      <a:rPr lang="en-US" i="1" noProof="0" dirty="0" smtClean="0">
                        <a:latin typeface="Cambria Math" panose="02040503050406030204" pitchFamily="18" charset="0"/>
                      </a:rPr>
                      <m:t>𝑠</m:t>
                    </m:r>
                    <m:r>
                      <a:rPr lang="en-US" i="1" noProof="0" dirty="0" smtClean="0">
                        <a:latin typeface="Cambria Math" panose="02040503050406030204" pitchFamily="18" charset="0"/>
                      </a:rPr>
                      <m:t>)</m:t>
                    </m:r>
                  </m:oMath>
                </a14:m>
                <a:r>
                  <a:rPr lang="en-US" noProof="0" dirty="0"/>
                  <a:t> design is combining these three components:</a:t>
                </a:r>
              </a:p>
              <a:p>
                <a:pPr lvl="1"/>
                <a:r>
                  <a:rPr lang="en-US" dirty="0">
                    <a:solidFill>
                      <a:srgbClr val="FF0000"/>
                    </a:solidFill>
                  </a:rPr>
                  <a:t>P</a:t>
                </a:r>
                <a:r>
                  <a:rPr lang="en-US" dirty="0"/>
                  <a:t>roportional action: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𝑘</m:t>
                        </m:r>
                      </m:e>
                      <m:sub>
                        <m:r>
                          <a:rPr lang="en-US" i="1" dirty="0" smtClean="0">
                            <a:latin typeface="Cambria Math" panose="02040503050406030204" pitchFamily="18" charset="0"/>
                          </a:rPr>
                          <m:t>𝑝</m:t>
                        </m:r>
                      </m:sub>
                    </m:sSub>
                  </m:oMath>
                </a14:m>
                <a:endParaRPr lang="en-US" dirty="0"/>
              </a:p>
              <a:p>
                <a:pPr lvl="1"/>
                <a:r>
                  <a:rPr lang="en-US" noProof="0" dirty="0">
                    <a:solidFill>
                      <a:srgbClr val="FF0000"/>
                    </a:solidFill>
                  </a:rPr>
                  <a:t>I</a:t>
                </a:r>
                <a:r>
                  <a:rPr lang="en-US" noProof="0" dirty="0"/>
                  <a:t>ntegral action: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𝑘</m:t>
                        </m:r>
                      </m:e>
                      <m:sub>
                        <m:r>
                          <a:rPr lang="en-US" i="1" dirty="0" smtClean="0">
                            <a:latin typeface="Cambria Math" panose="02040503050406030204" pitchFamily="18" charset="0"/>
                          </a:rPr>
                          <m:t>𝑖</m:t>
                        </m:r>
                      </m:sub>
                    </m:sSub>
                    <m:r>
                      <a:rPr lang="en-US" i="1" dirty="0" smtClean="0">
                        <a:latin typeface="Cambria Math" panose="02040503050406030204" pitchFamily="18" charset="0"/>
                      </a:rPr>
                      <m:t>⋅</m:t>
                    </m:r>
                    <m:f>
                      <m:fPr>
                        <m:ctrlPr>
                          <a:rPr lang="de-CH" b="0" i="1" dirty="0" smtClean="0">
                            <a:latin typeface="Cambria Math" panose="02040503050406030204" pitchFamily="18" charset="0"/>
                          </a:rPr>
                        </m:ctrlPr>
                      </m:fPr>
                      <m:num>
                        <m:r>
                          <a:rPr lang="de-CH" b="0" i="1" dirty="0" smtClean="0">
                            <a:latin typeface="Cambria Math" panose="02040503050406030204" pitchFamily="18" charset="0"/>
                          </a:rPr>
                          <m:t>1</m:t>
                        </m:r>
                      </m:num>
                      <m:den>
                        <m:r>
                          <a:rPr lang="en-US" i="1" dirty="0" smtClean="0">
                            <a:latin typeface="Cambria Math" panose="02040503050406030204" pitchFamily="18" charset="0"/>
                          </a:rPr>
                          <m:t>𝑠</m:t>
                        </m:r>
                      </m:den>
                    </m:f>
                  </m:oMath>
                </a14:m>
                <a:endParaRPr lang="en-US" noProof="0" dirty="0"/>
              </a:p>
              <a:p>
                <a:pPr lvl="1"/>
                <a:r>
                  <a:rPr lang="en-US" noProof="0" dirty="0">
                    <a:solidFill>
                      <a:srgbClr val="FF0000"/>
                    </a:solidFill>
                  </a:rPr>
                  <a:t>D</a:t>
                </a:r>
                <a:r>
                  <a:rPr lang="en-US" noProof="0" dirty="0"/>
                  <a:t>erivative action:		</a:t>
                </a:r>
                <a14:m>
                  <m:oMath xmlns:m="http://schemas.openxmlformats.org/officeDocument/2006/math">
                    <m:sSub>
                      <m:sSubPr>
                        <m:ctrlPr>
                          <a:rPr lang="en-US" i="1" noProof="0" dirty="0" smtClean="0">
                            <a:latin typeface="Cambria Math" panose="02040503050406030204" pitchFamily="18" charset="0"/>
                          </a:rPr>
                        </m:ctrlPr>
                      </m:sSubPr>
                      <m:e>
                        <m:r>
                          <a:rPr lang="en-US" i="1" noProof="0" dirty="0" smtClean="0">
                            <a:latin typeface="Cambria Math" panose="02040503050406030204" pitchFamily="18" charset="0"/>
                          </a:rPr>
                          <m:t>𝑘</m:t>
                        </m:r>
                      </m:e>
                      <m:sub>
                        <m:r>
                          <a:rPr lang="en-US" i="1" noProof="0" dirty="0" smtClean="0">
                            <a:latin typeface="Cambria Math" panose="02040503050406030204" pitchFamily="18" charset="0"/>
                          </a:rPr>
                          <m:t>𝑑</m:t>
                        </m:r>
                      </m:sub>
                    </m:sSub>
                    <m:r>
                      <a:rPr lang="en-US" i="1" noProof="0" dirty="0" smtClean="0">
                        <a:latin typeface="Cambria Math" panose="02040503050406030204" pitchFamily="18" charset="0"/>
                      </a:rPr>
                      <m:t>⋅</m:t>
                    </m:r>
                    <m:r>
                      <a:rPr lang="en-US" i="1" noProof="0" dirty="0" smtClean="0">
                        <a:latin typeface="Cambria Math" panose="02040503050406030204" pitchFamily="18" charset="0"/>
                      </a:rPr>
                      <m:t>𝑠</m:t>
                    </m:r>
                  </m:oMath>
                </a14:m>
                <a:endParaRPr lang="en-US" noProof="0" dirty="0"/>
              </a:p>
              <a:p>
                <a:pPr lvl="1"/>
                <a:endParaRPr lang="en-US" dirty="0"/>
              </a:p>
              <a:p>
                <a:pPr marL="0" indent="0">
                  <a:buNone/>
                </a:pPr>
                <a14:m>
                  <m:oMath xmlns:m="http://schemas.openxmlformats.org/officeDocument/2006/math">
                    <m:r>
                      <a:rPr lang="en-US" i="1" dirty="0" smtClean="0">
                        <a:latin typeface="Cambria Math" panose="02040503050406030204" pitchFamily="18" charset="0"/>
                      </a:rPr>
                      <m:t>⟶</m:t>
                    </m:r>
                  </m:oMath>
                </a14:m>
                <a:r>
                  <a:rPr lang="en-US" dirty="0"/>
                  <a:t> This is called a </a:t>
                </a:r>
                <a:r>
                  <a:rPr lang="en-US" dirty="0">
                    <a:solidFill>
                      <a:srgbClr val="FF0000"/>
                    </a:solidFill>
                  </a:rPr>
                  <a:t>PID</a:t>
                </a:r>
                <a:r>
                  <a:rPr lang="en-US" dirty="0"/>
                  <a:t>-controller: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𝐶</m:t>
                        </m:r>
                      </m:e>
                      <m:sub>
                        <m:r>
                          <a:rPr lang="en-US" i="1" dirty="0" smtClean="0">
                            <a:latin typeface="Cambria Math" panose="02040503050406030204" pitchFamily="18" charset="0"/>
                          </a:rPr>
                          <m:t>𝑃𝐼𝐷</m:t>
                        </m:r>
                      </m:sub>
                    </m:sSub>
                    <m:d>
                      <m:dPr>
                        <m:ctrlPr>
                          <a:rPr lang="en-US" i="1" dirty="0" smtClean="0">
                            <a:latin typeface="Cambria Math" panose="02040503050406030204" pitchFamily="18" charset="0"/>
                          </a:rPr>
                        </m:ctrlPr>
                      </m:dPr>
                      <m:e>
                        <m:r>
                          <a:rPr lang="en-US" i="1" dirty="0" smtClean="0">
                            <a:latin typeface="Cambria Math" panose="02040503050406030204" pitchFamily="18" charset="0"/>
                          </a:rPr>
                          <m:t>𝑠</m:t>
                        </m:r>
                      </m:e>
                    </m:d>
                    <m:r>
                      <a:rPr lang="en-US" i="1" dirty="0" smtClean="0">
                        <a:latin typeface="Cambria Math" panose="02040503050406030204" pitchFamily="18" charset="0"/>
                      </a:rPr>
                      <m:t>=</m:t>
                    </m:r>
                    <m:sSub>
                      <m:sSubPr>
                        <m:ctrlPr>
                          <a:rPr lang="en-US" i="1" dirty="0" smtClean="0">
                            <a:latin typeface="Cambria Math" panose="02040503050406030204" pitchFamily="18" charset="0"/>
                          </a:rPr>
                        </m:ctrlPr>
                      </m:sSubPr>
                      <m:e>
                        <m:r>
                          <a:rPr lang="en-US" i="1" dirty="0" err="1">
                            <a:latin typeface="Cambria Math" panose="02040503050406030204" pitchFamily="18" charset="0"/>
                          </a:rPr>
                          <m:t>𝑘</m:t>
                        </m:r>
                      </m:e>
                      <m:sub>
                        <m:r>
                          <a:rPr lang="en-US" i="1" dirty="0" err="1">
                            <a:latin typeface="Cambria Math" panose="02040503050406030204" pitchFamily="18" charset="0"/>
                          </a:rPr>
                          <m:t>𝑝</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𝑘</m:t>
                        </m:r>
                      </m:e>
                      <m:sub>
                        <m:r>
                          <a:rPr lang="en-US" i="1" dirty="0">
                            <a:latin typeface="Cambria Math" panose="02040503050406030204" pitchFamily="18" charset="0"/>
                          </a:rPr>
                          <m:t>𝑖</m:t>
                        </m:r>
                      </m:sub>
                    </m:sSub>
                    <m:r>
                      <a:rPr lang="en-US" i="1" dirty="0">
                        <a:latin typeface="Cambria Math" panose="02040503050406030204" pitchFamily="18" charset="0"/>
                      </a:rPr>
                      <m:t>⋅</m:t>
                    </m:r>
                    <m:f>
                      <m:fPr>
                        <m:ctrlPr>
                          <a:rPr lang="de-CH" i="1" dirty="0">
                            <a:latin typeface="Cambria Math" panose="02040503050406030204" pitchFamily="18" charset="0"/>
                          </a:rPr>
                        </m:ctrlPr>
                      </m:fPr>
                      <m:num>
                        <m:r>
                          <a:rPr lang="de-CH" i="1" dirty="0">
                            <a:latin typeface="Cambria Math" panose="02040503050406030204" pitchFamily="18" charset="0"/>
                          </a:rPr>
                          <m:t>1</m:t>
                        </m:r>
                      </m:num>
                      <m:den>
                        <m:r>
                          <a:rPr lang="en-US" i="1" dirty="0">
                            <a:latin typeface="Cambria Math" panose="02040503050406030204" pitchFamily="18" charset="0"/>
                          </a:rPr>
                          <m:t>𝑠</m:t>
                        </m:r>
                      </m:den>
                    </m:f>
                    <m:r>
                      <a:rPr lang="en-US" i="1" dirty="0" smtClean="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𝑘</m:t>
                        </m:r>
                      </m:e>
                      <m:sub>
                        <m:r>
                          <a:rPr lang="en-US" i="1" dirty="0">
                            <a:latin typeface="Cambria Math" panose="02040503050406030204" pitchFamily="18" charset="0"/>
                          </a:rPr>
                          <m:t>𝑖</m:t>
                        </m:r>
                      </m:sub>
                    </m:sSub>
                    <m:r>
                      <a:rPr lang="en-US" i="1" dirty="0">
                        <a:latin typeface="Cambria Math" panose="02040503050406030204" pitchFamily="18" charset="0"/>
                      </a:rPr>
                      <m:t>⋅</m:t>
                    </m:r>
                    <m:f>
                      <m:fPr>
                        <m:ctrlPr>
                          <a:rPr lang="de-CH" i="1" dirty="0">
                            <a:latin typeface="Cambria Math" panose="02040503050406030204" pitchFamily="18" charset="0"/>
                          </a:rPr>
                        </m:ctrlPr>
                      </m:fPr>
                      <m:num>
                        <m:r>
                          <a:rPr lang="de-CH" i="1" dirty="0">
                            <a:latin typeface="Cambria Math" panose="02040503050406030204" pitchFamily="18" charset="0"/>
                          </a:rPr>
                          <m:t>1</m:t>
                        </m:r>
                      </m:num>
                      <m:den>
                        <m:r>
                          <a:rPr lang="en-US" i="1" dirty="0">
                            <a:latin typeface="Cambria Math" panose="02040503050406030204" pitchFamily="18" charset="0"/>
                          </a:rPr>
                          <m:t>𝑠</m:t>
                        </m:r>
                      </m:den>
                    </m:f>
                  </m:oMath>
                </a14:m>
                <a:endParaRPr lang="en-US" dirty="0"/>
              </a:p>
              <a:p>
                <a:pPr marL="0" indent="0">
                  <a:buNone/>
                </a:pPr>
                <a:endParaRPr lang="en-US" dirty="0"/>
              </a:p>
              <a:p>
                <a:pPr marL="0" indent="0">
                  <a:buNone/>
                </a:pPr>
                <a:endParaRPr lang="en-US" noProof="0" dirty="0"/>
              </a:p>
              <a:p>
                <a:endParaRPr lang="en-US" dirty="0"/>
              </a:p>
              <a:p>
                <a:endParaRPr lang="en-US" noProof="0" dirty="0"/>
              </a:p>
              <a:p>
                <a:endParaRPr lang="en-US" noProof="0" dirty="0"/>
              </a:p>
              <a:p>
                <a:pPr marL="0" indent="0">
                  <a:buNone/>
                </a:pPr>
                <a:endParaRPr lang="en-US" noProof="0" dirty="0"/>
              </a:p>
            </p:txBody>
          </p:sp>
        </mc:Choice>
        <mc:Fallback xmlns="">
          <p:sp>
            <p:nvSpPr>
              <p:cNvPr id="3" name="Inhaltsplatzhalter 2">
                <a:extLst>
                  <a:ext uri="{FF2B5EF4-FFF2-40B4-BE49-F238E27FC236}">
                    <a16:creationId xmlns:a16="http://schemas.microsoft.com/office/drawing/2014/main" id="{65787472-F591-0270-9B04-9FEFF3E63EE7}"/>
                  </a:ext>
                </a:extLst>
              </p:cNvPr>
              <p:cNvSpPr>
                <a:spLocks noGrp="1" noRot="1" noChangeAspect="1" noMove="1" noResize="1" noEditPoints="1" noAdjustHandles="1" noChangeArrowheads="1" noChangeShapeType="1" noTextEdit="1"/>
              </p:cNvSpPr>
              <p:nvPr>
                <p:ph idx="1"/>
              </p:nvPr>
            </p:nvSpPr>
            <p:spPr>
              <a:xfrm>
                <a:off x="628650" y="914401"/>
                <a:ext cx="7886700" cy="4011560"/>
              </a:xfrm>
              <a:blipFill>
                <a:blip r:embed="rId2"/>
                <a:stretch>
                  <a:fillRect l="-482" t="-1899"/>
                </a:stretch>
              </a:blipFill>
            </p:spPr>
            <p:txBody>
              <a:bodyPr/>
              <a:lstStyle/>
              <a:p>
                <a:r>
                  <a:rPr lang="de-DE">
                    <a:noFill/>
                  </a:rPr>
                  <a:t> </a:t>
                </a:r>
              </a:p>
            </p:txBody>
          </p:sp>
        </mc:Fallback>
      </mc:AlternateContent>
      <p:sp>
        <p:nvSpPr>
          <p:cNvPr id="4" name="Fußzeilenplatzhalter 3">
            <a:extLst>
              <a:ext uri="{FF2B5EF4-FFF2-40B4-BE49-F238E27FC236}">
                <a16:creationId xmlns:a16="http://schemas.microsoft.com/office/drawing/2014/main" id="{11A03DB4-164A-11BF-459A-D6E51D7E5EFD}"/>
              </a:ext>
            </a:extLst>
          </p:cNvPr>
          <p:cNvSpPr>
            <a:spLocks noGrp="1"/>
          </p:cNvSpPr>
          <p:nvPr>
            <p:ph type="ftr" sz="quarter" idx="11"/>
          </p:nvPr>
        </p:nvSpPr>
        <p:spPr/>
        <p:txBody>
          <a:bodyPr/>
          <a:lstStyle/>
          <a:p>
            <a:pPr defTabSz="342900">
              <a:buClrTx/>
            </a:pPr>
            <a:r>
              <a:rPr lang="en-US" kern="1200" noProof="0" dirty="0">
                <a:solidFill>
                  <a:srgbClr val="101623">
                    <a:tint val="75000"/>
                  </a:srgbClr>
                </a:solidFill>
                <a:latin typeface="Calibri" panose="020F0502020204030204"/>
                <a:ea typeface="+mn-ea"/>
                <a:cs typeface="+mn-cs"/>
              </a:rPr>
              <a:t>Kissan Varatharajan - </a:t>
            </a:r>
            <a:r>
              <a:rPr lang="en-US" kern="1200" noProof="0" dirty="0" err="1">
                <a:solidFill>
                  <a:srgbClr val="101623">
                    <a:tint val="75000"/>
                  </a:srgbClr>
                </a:solidFill>
                <a:latin typeface="Calibri" panose="020F0502020204030204"/>
                <a:ea typeface="+mn-ea"/>
                <a:cs typeface="+mn-cs"/>
              </a:rPr>
              <a:t>kissanv.github.io</a:t>
            </a:r>
            <a:endParaRPr lang="en-US" kern="1200" noProof="0" dirty="0">
              <a:solidFill>
                <a:srgbClr val="101623">
                  <a:tint val="75000"/>
                </a:srgbClr>
              </a:solidFill>
              <a:latin typeface="Calibri" panose="020F0502020204030204"/>
              <a:ea typeface="+mn-ea"/>
              <a:cs typeface="+mn-cs"/>
            </a:endParaRPr>
          </a:p>
        </p:txBody>
      </p:sp>
      <p:sp>
        <p:nvSpPr>
          <p:cNvPr id="5" name="Foliennummernplatzhalter 4">
            <a:extLst>
              <a:ext uri="{FF2B5EF4-FFF2-40B4-BE49-F238E27FC236}">
                <a16:creationId xmlns:a16="http://schemas.microsoft.com/office/drawing/2014/main" id="{5BF87736-8BE4-242E-6F79-A89EDCC68536}"/>
              </a:ext>
            </a:extLst>
          </p:cNvPr>
          <p:cNvSpPr>
            <a:spLocks noGrp="1"/>
          </p:cNvSpPr>
          <p:nvPr>
            <p:ph type="sldNum" sz="quarter" idx="12"/>
          </p:nvPr>
        </p:nvSpPr>
        <p:spPr/>
        <p:txBody>
          <a:bodyPr/>
          <a:lstStyle/>
          <a:p>
            <a:pPr defTabSz="342900">
              <a:buClrTx/>
            </a:pPr>
            <a:fld id="{36EAFFE7-40E2-CA47-82C0-73D0FC591208}" type="slidenum">
              <a:rPr lang="en-US" kern="1200" noProof="0" smtClean="0">
                <a:solidFill>
                  <a:srgbClr val="101623">
                    <a:tint val="75000"/>
                  </a:srgbClr>
                </a:solidFill>
                <a:latin typeface="Calibri" panose="020F0502020204030204"/>
                <a:ea typeface="+mn-ea"/>
                <a:cs typeface="+mn-cs"/>
              </a:rPr>
              <a:pPr defTabSz="342900">
                <a:buClrTx/>
              </a:pPr>
              <a:t>30</a:t>
            </a:fld>
            <a:endParaRPr lang="en-US" kern="1200" noProof="0" dirty="0">
              <a:solidFill>
                <a:srgbClr val="101623">
                  <a:tint val="75000"/>
                </a:srgbClr>
              </a:solidFill>
              <a:latin typeface="Calibri" panose="020F0502020204030204"/>
              <a:ea typeface="+mn-ea"/>
              <a:cs typeface="+mn-cs"/>
            </a:endParaRPr>
          </a:p>
        </p:txBody>
      </p:sp>
      <p:grpSp>
        <p:nvGrpSpPr>
          <p:cNvPr id="26" name="Gruppieren 25">
            <a:extLst>
              <a:ext uri="{FF2B5EF4-FFF2-40B4-BE49-F238E27FC236}">
                <a16:creationId xmlns:a16="http://schemas.microsoft.com/office/drawing/2014/main" id="{2DF1F4D1-5E2B-0002-305C-E63AC094CFF2}"/>
              </a:ext>
            </a:extLst>
          </p:cNvPr>
          <p:cNvGrpSpPr/>
          <p:nvPr/>
        </p:nvGrpSpPr>
        <p:grpSpPr>
          <a:xfrm>
            <a:off x="1731124" y="1574708"/>
            <a:ext cx="4942338" cy="1060709"/>
            <a:chOff x="1804866" y="1928669"/>
            <a:chExt cx="4942338" cy="1060709"/>
          </a:xfrm>
        </p:grpSpPr>
        <p:grpSp>
          <p:nvGrpSpPr>
            <p:cNvPr id="23" name="Gruppieren 22">
              <a:extLst>
                <a:ext uri="{FF2B5EF4-FFF2-40B4-BE49-F238E27FC236}">
                  <a16:creationId xmlns:a16="http://schemas.microsoft.com/office/drawing/2014/main" id="{1398B5B4-33D3-65F9-BC8E-12443DAA8F2C}"/>
                </a:ext>
              </a:extLst>
            </p:cNvPr>
            <p:cNvGrpSpPr/>
            <p:nvPr/>
          </p:nvGrpSpPr>
          <p:grpSpPr>
            <a:xfrm>
              <a:off x="2111506" y="1960011"/>
              <a:ext cx="4346444" cy="1029367"/>
              <a:chOff x="2057698" y="2240230"/>
              <a:chExt cx="4346444" cy="1029367"/>
            </a:xfrm>
          </p:grpSpPr>
          <p:sp>
            <p:nvSpPr>
              <p:cNvPr id="6" name="Oval 5">
                <a:extLst>
                  <a:ext uri="{FF2B5EF4-FFF2-40B4-BE49-F238E27FC236}">
                    <a16:creationId xmlns:a16="http://schemas.microsoft.com/office/drawing/2014/main" id="{49BE2F59-05A3-E8F5-E65F-0702E2B1A7ED}"/>
                  </a:ext>
                </a:extLst>
              </p:cNvPr>
              <p:cNvSpPr/>
              <p:nvPr/>
            </p:nvSpPr>
            <p:spPr>
              <a:xfrm>
                <a:off x="2528855" y="2459617"/>
                <a:ext cx="216000" cy="216000"/>
              </a:xfrm>
              <a:prstGeom prst="ellipse">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noProof="0" dirty="0"/>
              </a:p>
            </p:txBody>
          </p:sp>
          <p:cxnSp>
            <p:nvCxnSpPr>
              <p:cNvPr id="7" name="Gerade Verbindung mit Pfeil 6">
                <a:extLst>
                  <a:ext uri="{FF2B5EF4-FFF2-40B4-BE49-F238E27FC236}">
                    <a16:creationId xmlns:a16="http://schemas.microsoft.com/office/drawing/2014/main" id="{5459F94A-B429-0B1C-7382-02B9386D5315}"/>
                  </a:ext>
                </a:extLst>
              </p:cNvPr>
              <p:cNvCxnSpPr>
                <a:cxnSpLocks/>
              </p:cNvCxnSpPr>
              <p:nvPr/>
            </p:nvCxnSpPr>
            <p:spPr>
              <a:xfrm>
                <a:off x="5693328" y="2562797"/>
                <a:ext cx="710814"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8" name="Gruppieren 7">
                <a:extLst>
                  <a:ext uri="{FF2B5EF4-FFF2-40B4-BE49-F238E27FC236}">
                    <a16:creationId xmlns:a16="http://schemas.microsoft.com/office/drawing/2014/main" id="{4837A683-6EAA-2712-52AA-91EBBD31B806}"/>
                  </a:ext>
                </a:extLst>
              </p:cNvPr>
              <p:cNvGrpSpPr/>
              <p:nvPr/>
            </p:nvGrpSpPr>
            <p:grpSpPr>
              <a:xfrm>
                <a:off x="4610258" y="2293137"/>
                <a:ext cx="1071771" cy="553007"/>
                <a:chOff x="2403054" y="3026666"/>
                <a:chExt cx="545710" cy="553007"/>
              </a:xfrm>
            </p:grpSpPr>
            <p:sp>
              <p:nvSpPr>
                <p:cNvPr id="9" name="Rechteck 8">
                  <a:extLst>
                    <a:ext uri="{FF2B5EF4-FFF2-40B4-BE49-F238E27FC236}">
                      <a16:creationId xmlns:a16="http://schemas.microsoft.com/office/drawing/2014/main" id="{C0F804BE-91DE-204B-905A-43AE7C559089}"/>
                    </a:ext>
                  </a:extLst>
                </p:cNvPr>
                <p:cNvSpPr/>
                <p:nvPr/>
              </p:nvSpPr>
              <p:spPr>
                <a:xfrm>
                  <a:off x="2403054" y="3026666"/>
                  <a:ext cx="545710" cy="553007"/>
                </a:xfrm>
                <a:prstGeom prst="rect">
                  <a:avLst/>
                </a:prstGeom>
                <a:no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noProof="0" dirty="0"/>
                </a:p>
              </p:txBody>
            </p:sp>
            <mc:AlternateContent xmlns:mc="http://schemas.openxmlformats.org/markup-compatibility/2006" xmlns:a14="http://schemas.microsoft.com/office/drawing/2010/main">
              <mc:Choice Requires="a14">
                <p:sp>
                  <p:nvSpPr>
                    <p:cNvPr id="10" name="Textfeld 9">
                      <a:extLst>
                        <a:ext uri="{FF2B5EF4-FFF2-40B4-BE49-F238E27FC236}">
                          <a16:creationId xmlns:a16="http://schemas.microsoft.com/office/drawing/2014/main" id="{E7D08EB5-0EAC-C4B0-0545-4396BD0B6594}"/>
                        </a:ext>
                      </a:extLst>
                    </p:cNvPr>
                    <p:cNvSpPr txBox="1"/>
                    <p:nvPr/>
                  </p:nvSpPr>
                  <p:spPr>
                    <a:xfrm>
                      <a:off x="2459135" y="3107336"/>
                      <a:ext cx="42197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800" i="1" noProof="0" smtClean="0">
                                <a:latin typeface="Cambria Math" panose="02040503050406030204" pitchFamily="18" charset="0"/>
                                <a:cs typeface="Segoe UI" panose="020B0502040204020203" pitchFamily="34" charset="0"/>
                              </a:rPr>
                              <m:t>𝑃</m:t>
                            </m:r>
                            <m:r>
                              <a:rPr lang="en-US" sz="1800" b="0" i="1" noProof="0" smtClean="0">
                                <a:latin typeface="Cambria Math" panose="02040503050406030204" pitchFamily="18" charset="0"/>
                                <a:cs typeface="Segoe UI" panose="020B0502040204020203" pitchFamily="34" charset="0"/>
                              </a:rPr>
                              <m:t>(</m:t>
                            </m:r>
                            <m:r>
                              <m:rPr>
                                <m:sty m:val="p"/>
                              </m:rPr>
                              <a:rPr lang="en-US" sz="1800" b="0" i="1" noProof="0" smtClean="0">
                                <a:latin typeface="Cambria Math" panose="02040503050406030204" pitchFamily="18" charset="0"/>
                                <a:cs typeface="Segoe UI" panose="020B0502040204020203" pitchFamily="34" charset="0"/>
                              </a:rPr>
                              <m:t>s</m:t>
                            </m:r>
                            <m:r>
                              <a:rPr lang="en-US" sz="1800" b="0" i="1" noProof="0" smtClean="0">
                                <a:latin typeface="Cambria Math" panose="02040503050406030204" pitchFamily="18" charset="0"/>
                                <a:cs typeface="Segoe UI" panose="020B0502040204020203" pitchFamily="34" charset="0"/>
                              </a:rPr>
                              <m:t>)</m:t>
                            </m:r>
                          </m:oMath>
                        </m:oMathPara>
                      </a14:m>
                      <a:endParaRPr lang="en-US" noProof="0" dirty="0"/>
                    </a:p>
                  </p:txBody>
                </p:sp>
              </mc:Choice>
              <mc:Fallback xmlns="">
                <p:sp>
                  <p:nvSpPr>
                    <p:cNvPr id="10" name="Textfeld 9">
                      <a:extLst>
                        <a:ext uri="{FF2B5EF4-FFF2-40B4-BE49-F238E27FC236}">
                          <a16:creationId xmlns:a16="http://schemas.microsoft.com/office/drawing/2014/main" id="{E7D08EB5-0EAC-C4B0-0545-4396BD0B6594}"/>
                        </a:ext>
                      </a:extLst>
                    </p:cNvPr>
                    <p:cNvSpPr txBox="1">
                      <a:spLocks noRot="1" noChangeAspect="1" noMove="1" noResize="1" noEditPoints="1" noAdjustHandles="1" noChangeArrowheads="1" noChangeShapeType="1" noTextEdit="1"/>
                    </p:cNvSpPr>
                    <p:nvPr/>
                  </p:nvSpPr>
                  <p:spPr>
                    <a:xfrm>
                      <a:off x="2459135" y="3107336"/>
                      <a:ext cx="421972" cy="369332"/>
                    </a:xfrm>
                    <a:prstGeom prst="rect">
                      <a:avLst/>
                    </a:prstGeom>
                    <a:blipFill>
                      <a:blip r:embed="rId3"/>
                      <a:stretch>
                        <a:fillRect b="-16129"/>
                      </a:stretch>
                    </a:blipFill>
                  </p:spPr>
                  <p:txBody>
                    <a:bodyPr/>
                    <a:lstStyle/>
                    <a:p>
                      <a:r>
                        <a:rPr lang="de-DE">
                          <a:noFill/>
                        </a:rPr>
                        <a:t> </a:t>
                      </a:r>
                    </a:p>
                  </p:txBody>
                </p:sp>
              </mc:Fallback>
            </mc:AlternateContent>
          </p:grpSp>
          <p:grpSp>
            <p:nvGrpSpPr>
              <p:cNvPr id="11" name="Gruppieren 10">
                <a:extLst>
                  <a:ext uri="{FF2B5EF4-FFF2-40B4-BE49-F238E27FC236}">
                    <a16:creationId xmlns:a16="http://schemas.microsoft.com/office/drawing/2014/main" id="{C3EB22CB-1948-A3F2-DE04-D653DC4C5F49}"/>
                  </a:ext>
                </a:extLst>
              </p:cNvPr>
              <p:cNvGrpSpPr/>
              <p:nvPr/>
            </p:nvGrpSpPr>
            <p:grpSpPr>
              <a:xfrm>
                <a:off x="3181352" y="2302281"/>
                <a:ext cx="1073758" cy="553007"/>
                <a:chOff x="2676164" y="3940223"/>
                <a:chExt cx="587951" cy="553007"/>
              </a:xfrm>
            </p:grpSpPr>
            <p:sp>
              <p:nvSpPr>
                <p:cNvPr id="12" name="Rechteck 11">
                  <a:extLst>
                    <a:ext uri="{FF2B5EF4-FFF2-40B4-BE49-F238E27FC236}">
                      <a16:creationId xmlns:a16="http://schemas.microsoft.com/office/drawing/2014/main" id="{8DE861BF-67E8-0D9A-E2A2-F8D1CC4B207F}"/>
                    </a:ext>
                  </a:extLst>
                </p:cNvPr>
                <p:cNvSpPr/>
                <p:nvPr/>
              </p:nvSpPr>
              <p:spPr>
                <a:xfrm>
                  <a:off x="2676164" y="3940223"/>
                  <a:ext cx="587951" cy="553007"/>
                </a:xfrm>
                <a:prstGeom prst="rect">
                  <a:avLst/>
                </a:prstGeom>
                <a:no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noProof="0" dirty="0"/>
                </a:p>
              </p:txBody>
            </p:sp>
            <mc:AlternateContent xmlns:mc="http://schemas.openxmlformats.org/markup-compatibility/2006" xmlns:a14="http://schemas.microsoft.com/office/drawing/2010/main">
              <mc:Choice Requires="a14">
                <p:sp>
                  <p:nvSpPr>
                    <p:cNvPr id="13" name="Textfeld 12">
                      <a:extLst>
                        <a:ext uri="{FF2B5EF4-FFF2-40B4-BE49-F238E27FC236}">
                          <a16:creationId xmlns:a16="http://schemas.microsoft.com/office/drawing/2014/main" id="{3000556A-626D-C093-0EDF-3674AF4A04B5}"/>
                        </a:ext>
                      </a:extLst>
                    </p:cNvPr>
                    <p:cNvSpPr txBox="1"/>
                    <p:nvPr/>
                  </p:nvSpPr>
                  <p:spPr>
                    <a:xfrm>
                      <a:off x="2824753" y="3991237"/>
                      <a:ext cx="33866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800" i="1" noProof="0" smtClean="0">
                                <a:latin typeface="Cambria Math" panose="02040503050406030204" pitchFamily="18" charset="0"/>
                                <a:cs typeface="Segoe UI" panose="020B0502040204020203" pitchFamily="34" charset="0"/>
                              </a:rPr>
                              <m:t>𝐶</m:t>
                            </m:r>
                            <m:r>
                              <a:rPr lang="en-US" sz="1800" b="0" i="1" noProof="0" smtClean="0">
                                <a:latin typeface="Cambria Math" panose="02040503050406030204" pitchFamily="18" charset="0"/>
                                <a:cs typeface="Segoe UI" panose="020B0502040204020203" pitchFamily="34" charset="0"/>
                              </a:rPr>
                              <m:t>(</m:t>
                            </m:r>
                            <m:r>
                              <m:rPr>
                                <m:sty m:val="p"/>
                              </m:rPr>
                              <a:rPr lang="en-US" sz="1800" b="0" i="1" noProof="0" smtClean="0">
                                <a:latin typeface="Cambria Math" panose="02040503050406030204" pitchFamily="18" charset="0"/>
                                <a:cs typeface="Segoe UI" panose="020B0502040204020203" pitchFamily="34" charset="0"/>
                              </a:rPr>
                              <m:t>s</m:t>
                            </m:r>
                            <m:r>
                              <a:rPr lang="en-US" sz="1800" b="0" i="1" noProof="0" smtClean="0">
                                <a:latin typeface="Cambria Math" panose="02040503050406030204" pitchFamily="18" charset="0"/>
                                <a:cs typeface="Segoe UI" panose="020B0502040204020203" pitchFamily="34" charset="0"/>
                              </a:rPr>
                              <m:t>)</m:t>
                            </m:r>
                          </m:oMath>
                        </m:oMathPara>
                      </a14:m>
                      <a:endParaRPr lang="en-US" sz="1800" noProof="0" dirty="0">
                        <a:latin typeface="Segoe UI" panose="020B0502040204020203" pitchFamily="34" charset="0"/>
                        <a:cs typeface="Segoe UI" panose="020B0502040204020203" pitchFamily="34" charset="0"/>
                      </a:endParaRPr>
                    </a:p>
                  </p:txBody>
                </p:sp>
              </mc:Choice>
              <mc:Fallback xmlns="">
                <p:sp>
                  <p:nvSpPr>
                    <p:cNvPr id="13" name="Textfeld 12">
                      <a:extLst>
                        <a:ext uri="{FF2B5EF4-FFF2-40B4-BE49-F238E27FC236}">
                          <a16:creationId xmlns:a16="http://schemas.microsoft.com/office/drawing/2014/main" id="{3000556A-626D-C093-0EDF-3674AF4A04B5}"/>
                        </a:ext>
                      </a:extLst>
                    </p:cNvPr>
                    <p:cNvSpPr txBox="1">
                      <a:spLocks noRot="1" noChangeAspect="1" noMove="1" noResize="1" noEditPoints="1" noAdjustHandles="1" noChangeArrowheads="1" noChangeShapeType="1" noTextEdit="1"/>
                    </p:cNvSpPr>
                    <p:nvPr/>
                  </p:nvSpPr>
                  <p:spPr>
                    <a:xfrm>
                      <a:off x="2824753" y="3991237"/>
                      <a:ext cx="338666" cy="369332"/>
                    </a:xfrm>
                    <a:prstGeom prst="rect">
                      <a:avLst/>
                    </a:prstGeom>
                    <a:blipFill>
                      <a:blip r:embed="rId4"/>
                      <a:stretch>
                        <a:fillRect r="-2000" b="-16667"/>
                      </a:stretch>
                    </a:blipFill>
                  </p:spPr>
                  <p:txBody>
                    <a:bodyPr/>
                    <a:lstStyle/>
                    <a:p>
                      <a:r>
                        <a:rPr lang="de-DE">
                          <a:noFill/>
                        </a:rPr>
                        <a:t> </a:t>
                      </a:r>
                    </a:p>
                  </p:txBody>
                </p:sp>
              </mc:Fallback>
            </mc:AlternateContent>
          </p:grpSp>
          <p:cxnSp>
            <p:nvCxnSpPr>
              <p:cNvPr id="14" name="Gerade Verbindung mit Pfeil 13">
                <a:extLst>
                  <a:ext uri="{FF2B5EF4-FFF2-40B4-BE49-F238E27FC236}">
                    <a16:creationId xmlns:a16="http://schemas.microsoft.com/office/drawing/2014/main" id="{7298537C-8153-0DF9-F299-0A88DC3812B8}"/>
                  </a:ext>
                </a:extLst>
              </p:cNvPr>
              <p:cNvCxnSpPr>
                <a:cxnSpLocks/>
                <a:endCxn id="12" idx="1"/>
              </p:cNvCxnSpPr>
              <p:nvPr/>
            </p:nvCxnSpPr>
            <p:spPr>
              <a:xfrm>
                <a:off x="2739631" y="2578784"/>
                <a:ext cx="441721"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Gerade Verbindung mit Pfeil 14">
                <a:extLst>
                  <a:ext uri="{FF2B5EF4-FFF2-40B4-BE49-F238E27FC236}">
                    <a16:creationId xmlns:a16="http://schemas.microsoft.com/office/drawing/2014/main" id="{E5E1B38B-D785-EA7F-477D-E138FFD94FF3}"/>
                  </a:ext>
                </a:extLst>
              </p:cNvPr>
              <p:cNvCxnSpPr>
                <a:cxnSpLocks/>
              </p:cNvCxnSpPr>
              <p:nvPr/>
            </p:nvCxnSpPr>
            <p:spPr>
              <a:xfrm>
                <a:off x="2057698" y="2565506"/>
                <a:ext cx="471157" cy="211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Textfeld 15">
                    <a:extLst>
                      <a:ext uri="{FF2B5EF4-FFF2-40B4-BE49-F238E27FC236}">
                        <a16:creationId xmlns:a16="http://schemas.microsoft.com/office/drawing/2014/main" id="{92B67A2A-B86B-2BA3-849E-2A6BCF62CA3C}"/>
                      </a:ext>
                    </a:extLst>
                  </p:cNvPr>
                  <p:cNvSpPr txBox="1"/>
                  <p:nvPr/>
                </p:nvSpPr>
                <p:spPr>
                  <a:xfrm>
                    <a:off x="2409322" y="2264780"/>
                    <a:ext cx="1041569"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i="1" noProof="0" smtClean="0">
                              <a:latin typeface="Cambria Math" panose="02040503050406030204" pitchFamily="18" charset="0"/>
                            </a:rPr>
                            <m:t> </m:t>
                          </m:r>
                          <m:r>
                            <a:rPr lang="en-US" sz="1600" b="0" i="1" noProof="0" smtClean="0">
                              <a:latin typeface="Cambria Math" panose="02040503050406030204" pitchFamily="18" charset="0"/>
                            </a:rPr>
                            <m:t>𝑒</m:t>
                          </m:r>
                        </m:oMath>
                      </m:oMathPara>
                    </a14:m>
                    <a:endParaRPr lang="en-US" sz="1600" noProof="0" dirty="0"/>
                  </a:p>
                </p:txBody>
              </p:sp>
            </mc:Choice>
            <mc:Fallback xmlns="">
              <p:sp>
                <p:nvSpPr>
                  <p:cNvPr id="16" name="Textfeld 15">
                    <a:extLst>
                      <a:ext uri="{FF2B5EF4-FFF2-40B4-BE49-F238E27FC236}">
                        <a16:creationId xmlns:a16="http://schemas.microsoft.com/office/drawing/2014/main" id="{92B67A2A-B86B-2BA3-849E-2A6BCF62CA3C}"/>
                      </a:ext>
                    </a:extLst>
                  </p:cNvPr>
                  <p:cNvSpPr txBox="1">
                    <a:spLocks noRot="1" noChangeAspect="1" noMove="1" noResize="1" noEditPoints="1" noAdjustHandles="1" noChangeArrowheads="1" noChangeShapeType="1" noTextEdit="1"/>
                  </p:cNvSpPr>
                  <p:nvPr/>
                </p:nvSpPr>
                <p:spPr>
                  <a:xfrm>
                    <a:off x="2409322" y="2264780"/>
                    <a:ext cx="1041569" cy="338554"/>
                  </a:xfrm>
                  <a:prstGeom prst="rect">
                    <a:avLst/>
                  </a:prstGeom>
                  <a:blipFill>
                    <a:blip r:embed="rId5"/>
                    <a:stretch>
                      <a:fillRect b="-14286"/>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17" name="Textfeld 16">
                    <a:extLst>
                      <a:ext uri="{FF2B5EF4-FFF2-40B4-BE49-F238E27FC236}">
                        <a16:creationId xmlns:a16="http://schemas.microsoft.com/office/drawing/2014/main" id="{8CFCC961-CF45-57A7-B157-B5B7701A8631}"/>
                      </a:ext>
                    </a:extLst>
                  </p:cNvPr>
                  <p:cNvSpPr txBox="1"/>
                  <p:nvPr/>
                </p:nvSpPr>
                <p:spPr>
                  <a:xfrm>
                    <a:off x="3911003" y="2240230"/>
                    <a:ext cx="1041569"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i="1" noProof="0" smtClean="0">
                              <a:latin typeface="Cambria Math" panose="02040503050406030204" pitchFamily="18" charset="0"/>
                            </a:rPr>
                            <m:t> </m:t>
                          </m:r>
                          <m:r>
                            <a:rPr lang="en-US" sz="1600" b="0" i="1" noProof="0" smtClean="0">
                              <a:latin typeface="Cambria Math" panose="02040503050406030204" pitchFamily="18" charset="0"/>
                            </a:rPr>
                            <m:t>𝑢</m:t>
                          </m:r>
                        </m:oMath>
                      </m:oMathPara>
                    </a14:m>
                    <a:endParaRPr lang="en-US" sz="1600" noProof="0" dirty="0"/>
                  </a:p>
                </p:txBody>
              </p:sp>
            </mc:Choice>
            <mc:Fallback xmlns="">
              <p:sp>
                <p:nvSpPr>
                  <p:cNvPr id="17" name="Textfeld 16">
                    <a:extLst>
                      <a:ext uri="{FF2B5EF4-FFF2-40B4-BE49-F238E27FC236}">
                        <a16:creationId xmlns:a16="http://schemas.microsoft.com/office/drawing/2014/main" id="{8CFCC961-CF45-57A7-B157-B5B7701A8631}"/>
                      </a:ext>
                    </a:extLst>
                  </p:cNvPr>
                  <p:cNvSpPr txBox="1">
                    <a:spLocks noRot="1" noChangeAspect="1" noMove="1" noResize="1" noEditPoints="1" noAdjustHandles="1" noChangeArrowheads="1" noChangeShapeType="1" noTextEdit="1"/>
                  </p:cNvSpPr>
                  <p:nvPr/>
                </p:nvSpPr>
                <p:spPr>
                  <a:xfrm>
                    <a:off x="3911003" y="2240230"/>
                    <a:ext cx="1041569" cy="338554"/>
                  </a:xfrm>
                  <a:prstGeom prst="rect">
                    <a:avLst/>
                  </a:prstGeom>
                  <a:blipFill>
                    <a:blip r:embed="rId6"/>
                    <a:stretch>
                      <a:fillRect b="-14286"/>
                    </a:stretch>
                  </a:blipFill>
                </p:spPr>
                <p:txBody>
                  <a:bodyPr/>
                  <a:lstStyle/>
                  <a:p>
                    <a:r>
                      <a:rPr lang="de-DE">
                        <a:noFill/>
                      </a:rPr>
                      <a:t> </a:t>
                    </a:r>
                  </a:p>
                </p:txBody>
              </p:sp>
            </mc:Fallback>
          </mc:AlternateContent>
          <p:cxnSp>
            <p:nvCxnSpPr>
              <p:cNvPr id="18" name="Gerade Verbindung mit Pfeil 17">
                <a:extLst>
                  <a:ext uri="{FF2B5EF4-FFF2-40B4-BE49-F238E27FC236}">
                    <a16:creationId xmlns:a16="http://schemas.microsoft.com/office/drawing/2014/main" id="{0487EEB1-3E90-756F-6FCD-5B5D6CBC2C79}"/>
                  </a:ext>
                </a:extLst>
              </p:cNvPr>
              <p:cNvCxnSpPr>
                <a:cxnSpLocks/>
              </p:cNvCxnSpPr>
              <p:nvPr/>
            </p:nvCxnSpPr>
            <p:spPr>
              <a:xfrm>
                <a:off x="4254351" y="2553653"/>
                <a:ext cx="359541"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Gerade Verbindung 18">
                <a:extLst>
                  <a:ext uri="{FF2B5EF4-FFF2-40B4-BE49-F238E27FC236}">
                    <a16:creationId xmlns:a16="http://schemas.microsoft.com/office/drawing/2014/main" id="{C8048ACA-8D39-E2C5-26D0-510DD97A0459}"/>
                  </a:ext>
                </a:extLst>
              </p:cNvPr>
              <p:cNvCxnSpPr>
                <a:cxnSpLocks/>
              </p:cNvCxnSpPr>
              <p:nvPr/>
            </p:nvCxnSpPr>
            <p:spPr>
              <a:xfrm>
                <a:off x="5918710" y="2562797"/>
                <a:ext cx="0" cy="70679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 name="Textfeld 19">
                    <a:extLst>
                      <a:ext uri="{FF2B5EF4-FFF2-40B4-BE49-F238E27FC236}">
                        <a16:creationId xmlns:a16="http://schemas.microsoft.com/office/drawing/2014/main" id="{3315CBB1-4CD9-B87F-C5B7-5AAF43D32A0B}"/>
                      </a:ext>
                    </a:extLst>
                  </p:cNvPr>
                  <p:cNvSpPr txBox="1"/>
                  <p:nvPr/>
                </p:nvSpPr>
                <p:spPr>
                  <a:xfrm>
                    <a:off x="2271843" y="2544631"/>
                    <a:ext cx="104156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800" i="1" noProof="0" smtClean="0">
                              <a:latin typeface="Cambria Math" panose="02040503050406030204" pitchFamily="18" charset="0"/>
                            </a:rPr>
                            <m:t> </m:t>
                          </m:r>
                          <m:r>
                            <a:rPr lang="en-US" sz="1800" b="0" i="1" noProof="0" smtClean="0">
                              <a:latin typeface="Cambria Math" panose="02040503050406030204" pitchFamily="18" charset="0"/>
                            </a:rPr>
                            <m:t>−</m:t>
                          </m:r>
                        </m:oMath>
                      </m:oMathPara>
                    </a14:m>
                    <a:endParaRPr lang="en-US" sz="1800" noProof="0" dirty="0"/>
                  </a:p>
                </p:txBody>
              </p:sp>
            </mc:Choice>
            <mc:Fallback xmlns="">
              <p:sp>
                <p:nvSpPr>
                  <p:cNvPr id="20" name="Textfeld 19">
                    <a:extLst>
                      <a:ext uri="{FF2B5EF4-FFF2-40B4-BE49-F238E27FC236}">
                        <a16:creationId xmlns:a16="http://schemas.microsoft.com/office/drawing/2014/main" id="{3315CBB1-4CD9-B87F-C5B7-5AAF43D32A0B}"/>
                      </a:ext>
                    </a:extLst>
                  </p:cNvPr>
                  <p:cNvSpPr txBox="1">
                    <a:spLocks noRot="1" noChangeAspect="1" noMove="1" noResize="1" noEditPoints="1" noAdjustHandles="1" noChangeArrowheads="1" noChangeShapeType="1" noTextEdit="1"/>
                  </p:cNvSpPr>
                  <p:nvPr/>
                </p:nvSpPr>
                <p:spPr>
                  <a:xfrm>
                    <a:off x="2271843" y="2544631"/>
                    <a:ext cx="1041569" cy="369332"/>
                  </a:xfrm>
                  <a:prstGeom prst="rect">
                    <a:avLst/>
                  </a:prstGeom>
                  <a:blipFill>
                    <a:blip r:embed="rId7"/>
                    <a:stretch>
                      <a:fillRect b="-20000"/>
                    </a:stretch>
                  </a:blipFill>
                </p:spPr>
                <p:txBody>
                  <a:bodyPr/>
                  <a:lstStyle/>
                  <a:p>
                    <a:r>
                      <a:rPr lang="de-DE">
                        <a:noFill/>
                      </a:rPr>
                      <a:t> </a:t>
                    </a:r>
                  </a:p>
                </p:txBody>
              </p:sp>
            </mc:Fallback>
          </mc:AlternateContent>
          <p:cxnSp>
            <p:nvCxnSpPr>
              <p:cNvPr id="21" name="Gewinkelte Verbindung 20">
                <a:extLst>
                  <a:ext uri="{FF2B5EF4-FFF2-40B4-BE49-F238E27FC236}">
                    <a16:creationId xmlns:a16="http://schemas.microsoft.com/office/drawing/2014/main" id="{312272A7-B32A-5F55-22C5-1BEC179E2D0F}"/>
                  </a:ext>
                </a:extLst>
              </p:cNvPr>
              <p:cNvCxnSpPr/>
              <p:nvPr/>
            </p:nvCxnSpPr>
            <p:spPr>
              <a:xfrm rot="10800000">
                <a:off x="2636856" y="2675618"/>
                <a:ext cx="3281855" cy="593979"/>
              </a:xfrm>
              <a:prstGeom prst="bentConnector3">
                <a:avLst>
                  <a:gd name="adj1" fmla="val 99874"/>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24" name="Textfeld 23">
                  <a:extLst>
                    <a:ext uri="{FF2B5EF4-FFF2-40B4-BE49-F238E27FC236}">
                      <a16:creationId xmlns:a16="http://schemas.microsoft.com/office/drawing/2014/main" id="{164AAFEE-8585-77B4-55BF-7E82C08870A1}"/>
                    </a:ext>
                  </a:extLst>
                </p:cNvPr>
                <p:cNvSpPr txBox="1"/>
                <p:nvPr/>
              </p:nvSpPr>
              <p:spPr>
                <a:xfrm>
                  <a:off x="5705635" y="1935783"/>
                  <a:ext cx="1041569"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i="1" noProof="0" smtClean="0">
                            <a:latin typeface="Cambria Math" panose="02040503050406030204" pitchFamily="18" charset="0"/>
                          </a:rPr>
                          <m:t> </m:t>
                        </m:r>
                        <m:r>
                          <a:rPr lang="en-US" sz="1600" i="1" noProof="0" smtClean="0">
                            <a:latin typeface="Cambria Math" panose="02040503050406030204" pitchFamily="18" charset="0"/>
                          </a:rPr>
                          <m:t>𝑦</m:t>
                        </m:r>
                      </m:oMath>
                    </m:oMathPara>
                  </a14:m>
                  <a:endParaRPr lang="en-US" sz="1600" noProof="0" dirty="0"/>
                </a:p>
              </p:txBody>
            </p:sp>
          </mc:Choice>
          <mc:Fallback xmlns="">
            <p:sp>
              <p:nvSpPr>
                <p:cNvPr id="24" name="Textfeld 23">
                  <a:extLst>
                    <a:ext uri="{FF2B5EF4-FFF2-40B4-BE49-F238E27FC236}">
                      <a16:creationId xmlns:a16="http://schemas.microsoft.com/office/drawing/2014/main" id="{164AAFEE-8585-77B4-55BF-7E82C08870A1}"/>
                    </a:ext>
                  </a:extLst>
                </p:cNvPr>
                <p:cNvSpPr txBox="1">
                  <a:spLocks noRot="1" noChangeAspect="1" noMove="1" noResize="1" noEditPoints="1" noAdjustHandles="1" noChangeArrowheads="1" noChangeShapeType="1" noTextEdit="1"/>
                </p:cNvSpPr>
                <p:nvPr/>
              </p:nvSpPr>
              <p:spPr>
                <a:xfrm>
                  <a:off x="5705635" y="1935783"/>
                  <a:ext cx="1041569" cy="338554"/>
                </a:xfrm>
                <a:prstGeom prst="rect">
                  <a:avLst/>
                </a:prstGeom>
                <a:blipFill>
                  <a:blip r:embed="rId8"/>
                  <a:stretch>
                    <a:fillRect b="-14286"/>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5" name="Textfeld 24">
                  <a:extLst>
                    <a:ext uri="{FF2B5EF4-FFF2-40B4-BE49-F238E27FC236}">
                      <a16:creationId xmlns:a16="http://schemas.microsoft.com/office/drawing/2014/main" id="{A1C2BE96-D29A-8092-3A9A-16C617A5A192}"/>
                    </a:ext>
                  </a:extLst>
                </p:cNvPr>
                <p:cNvSpPr txBox="1"/>
                <p:nvPr/>
              </p:nvSpPr>
              <p:spPr>
                <a:xfrm>
                  <a:off x="1804866" y="1928669"/>
                  <a:ext cx="1041569"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i="1" noProof="0" smtClean="0">
                            <a:latin typeface="Cambria Math" panose="02040503050406030204" pitchFamily="18" charset="0"/>
                          </a:rPr>
                          <m:t> </m:t>
                        </m:r>
                        <m:r>
                          <a:rPr lang="en-US" sz="1600" b="0" i="1" noProof="0" smtClean="0">
                            <a:latin typeface="Cambria Math" panose="02040503050406030204" pitchFamily="18" charset="0"/>
                          </a:rPr>
                          <m:t>𝑟</m:t>
                        </m:r>
                      </m:oMath>
                    </m:oMathPara>
                  </a14:m>
                  <a:endParaRPr lang="en-US" sz="1600" noProof="0" dirty="0"/>
                </a:p>
              </p:txBody>
            </p:sp>
          </mc:Choice>
          <mc:Fallback xmlns="">
            <p:sp>
              <p:nvSpPr>
                <p:cNvPr id="25" name="Textfeld 24">
                  <a:extLst>
                    <a:ext uri="{FF2B5EF4-FFF2-40B4-BE49-F238E27FC236}">
                      <a16:creationId xmlns:a16="http://schemas.microsoft.com/office/drawing/2014/main" id="{A1C2BE96-D29A-8092-3A9A-16C617A5A192}"/>
                    </a:ext>
                  </a:extLst>
                </p:cNvPr>
                <p:cNvSpPr txBox="1">
                  <a:spLocks noRot="1" noChangeAspect="1" noMove="1" noResize="1" noEditPoints="1" noAdjustHandles="1" noChangeArrowheads="1" noChangeShapeType="1" noTextEdit="1"/>
                </p:cNvSpPr>
                <p:nvPr/>
              </p:nvSpPr>
              <p:spPr>
                <a:xfrm>
                  <a:off x="1804866" y="1928669"/>
                  <a:ext cx="1041569" cy="338554"/>
                </a:xfrm>
                <a:prstGeom prst="rect">
                  <a:avLst/>
                </a:prstGeom>
                <a:blipFill>
                  <a:blip r:embed="rId9"/>
                  <a:stretch>
                    <a:fillRect b="-17857"/>
                  </a:stretch>
                </a:blipFill>
              </p:spPr>
              <p:txBody>
                <a:bodyPr/>
                <a:lstStyle/>
                <a:p>
                  <a:r>
                    <a:rPr lang="de-DE">
                      <a:noFill/>
                    </a:rPr>
                    <a:t> </a:t>
                  </a:r>
                </a:p>
              </p:txBody>
            </p:sp>
          </mc:Fallback>
        </mc:AlternateContent>
      </p:grpSp>
    </p:spTree>
    <p:extLst>
      <p:ext uri="{BB962C8B-B14F-4D97-AF65-F5344CB8AC3E}">
        <p14:creationId xmlns:p14="http://schemas.microsoft.com/office/powerpoint/2010/main" val="7632160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DAAD27D-8A89-0C85-0D2E-09677A32ED67}"/>
              </a:ext>
            </a:extLst>
          </p:cNvPr>
          <p:cNvSpPr>
            <a:spLocks noGrp="1"/>
          </p:cNvSpPr>
          <p:nvPr>
            <p:ph type="title"/>
          </p:nvPr>
        </p:nvSpPr>
        <p:spPr>
          <a:xfrm>
            <a:off x="628650" y="239315"/>
            <a:ext cx="7886700" cy="994172"/>
          </a:xfrm>
        </p:spPr>
        <p:txBody>
          <a:bodyPr/>
          <a:lstStyle/>
          <a:p>
            <a:r>
              <a:rPr lang="en-US" noProof="0" dirty="0"/>
              <a:t>Tips for Problem Set 6</a:t>
            </a:r>
          </a:p>
        </p:txBody>
      </p:sp>
      <mc:AlternateContent xmlns:mc="http://schemas.openxmlformats.org/markup-compatibility/2006" xmlns:a14="http://schemas.microsoft.com/office/drawing/2010/main">
        <mc:Choice Requires="a14">
          <p:graphicFrame>
            <p:nvGraphicFramePr>
              <p:cNvPr id="6" name="Inhaltsplatzhalter 5">
                <a:extLst>
                  <a:ext uri="{FF2B5EF4-FFF2-40B4-BE49-F238E27FC236}">
                    <a16:creationId xmlns:a16="http://schemas.microsoft.com/office/drawing/2014/main" id="{93899BAA-8742-D882-B584-EDA0E722F3F2}"/>
                  </a:ext>
                </a:extLst>
              </p:cNvPr>
              <p:cNvGraphicFramePr>
                <a:graphicFrameLocks noGrp="1"/>
              </p:cNvGraphicFramePr>
              <p:nvPr>
                <p:ph idx="1"/>
                <p:extLst>
                  <p:ext uri="{D42A27DB-BD31-4B8C-83A1-F6EECF244321}">
                    <p14:modId xmlns:p14="http://schemas.microsoft.com/office/powerpoint/2010/main" val="1849936277"/>
                  </p:ext>
                </p:extLst>
              </p:nvPr>
            </p:nvGraphicFramePr>
            <p:xfrm>
              <a:off x="628650" y="963383"/>
              <a:ext cx="7886700" cy="994174"/>
            </p:xfrm>
            <a:graphic>
              <a:graphicData uri="http://schemas.openxmlformats.org/drawingml/2006/table">
                <a:tbl>
                  <a:tblPr firstRow="1" bandRow="1">
                    <a:tableStyleId>{073A0DAA-6AF3-43AB-8588-CEC1D06C72B9}</a:tableStyleId>
                  </a:tblPr>
                  <a:tblGrid>
                    <a:gridCol w="2628900">
                      <a:extLst>
                        <a:ext uri="{9D8B030D-6E8A-4147-A177-3AD203B41FA5}">
                          <a16:colId xmlns:a16="http://schemas.microsoft.com/office/drawing/2014/main" val="3962552202"/>
                        </a:ext>
                      </a:extLst>
                    </a:gridCol>
                    <a:gridCol w="2628900">
                      <a:extLst>
                        <a:ext uri="{9D8B030D-6E8A-4147-A177-3AD203B41FA5}">
                          <a16:colId xmlns:a16="http://schemas.microsoft.com/office/drawing/2014/main" val="149204568"/>
                        </a:ext>
                      </a:extLst>
                    </a:gridCol>
                    <a:gridCol w="2628900">
                      <a:extLst>
                        <a:ext uri="{9D8B030D-6E8A-4147-A177-3AD203B41FA5}">
                          <a16:colId xmlns:a16="http://schemas.microsoft.com/office/drawing/2014/main" val="1278263022"/>
                        </a:ext>
                      </a:extLst>
                    </a:gridCol>
                  </a:tblGrid>
                  <a:tr h="497087">
                    <a:tc>
                      <a:txBody>
                        <a:bodyPr/>
                        <a:lstStyle/>
                        <a:p>
                          <a:pPr algn="ctr"/>
                          <a:r>
                            <a:rPr lang="en-US" sz="2200" noProof="0" dirty="0">
                              <a:latin typeface="Segoe UI" panose="020B0502040204020203" pitchFamily="34" charset="0"/>
                              <a:cs typeface="Segoe UI" panose="020B0502040204020203" pitchFamily="34" charset="0"/>
                            </a:rPr>
                            <a:t>Easy</a:t>
                          </a:r>
                        </a:p>
                      </a:txBody>
                      <a:tcPr anchor="ctr"/>
                    </a:tc>
                    <a:tc>
                      <a:txBody>
                        <a:bodyPr/>
                        <a:lstStyle/>
                        <a:p>
                          <a:pPr algn="ctr"/>
                          <a:r>
                            <a:rPr lang="en-US" sz="2200" noProof="0" dirty="0">
                              <a:latin typeface="Segoe UI" panose="020B0502040204020203" pitchFamily="34" charset="0"/>
                              <a:cs typeface="Segoe UI" panose="020B0502040204020203" pitchFamily="34" charset="0"/>
                            </a:rPr>
                            <a:t>Medium</a:t>
                          </a:r>
                        </a:p>
                      </a:txBody>
                      <a:tcPr anchor="ctr"/>
                    </a:tc>
                    <a:tc>
                      <a:txBody>
                        <a:bodyPr/>
                        <a:lstStyle/>
                        <a:p>
                          <a:pPr algn="ctr"/>
                          <a:r>
                            <a:rPr lang="en-US" sz="2200" noProof="0" dirty="0">
                              <a:latin typeface="Segoe UI" panose="020B0502040204020203" pitchFamily="34" charset="0"/>
                              <a:cs typeface="Segoe UI" panose="020B0502040204020203" pitchFamily="34" charset="0"/>
                            </a:rPr>
                            <a:t>Hard</a:t>
                          </a:r>
                        </a:p>
                      </a:txBody>
                      <a:tcPr anchor="ctr"/>
                    </a:tc>
                    <a:extLst>
                      <a:ext uri="{0D108BD9-81ED-4DB2-BD59-A6C34878D82A}">
                        <a16:rowId xmlns:a16="http://schemas.microsoft.com/office/drawing/2014/main" val="1566955868"/>
                      </a:ext>
                    </a:extLst>
                  </a:tr>
                  <a:tr h="497087">
                    <a:tc>
                      <a:txBody>
                        <a:bodyPr/>
                        <a:lstStyle/>
                        <a:p>
                          <a:pPr algn="ctr"/>
                          <a14:m>
                            <m:oMathPara xmlns:m="http://schemas.openxmlformats.org/officeDocument/2006/math">
                              <m:oMathParaPr>
                                <m:jc m:val="centerGroup"/>
                              </m:oMathParaPr>
                              <m:oMath xmlns:m="http://schemas.openxmlformats.org/officeDocument/2006/math">
                                <m:r>
                                  <a:rPr lang="en-US" sz="1800" b="1" i="1" noProof="0" smtClean="0">
                                    <a:latin typeface="Cambria Math" panose="02040503050406030204" pitchFamily="18" charset="0"/>
                                    <a:cs typeface="Segoe UI" panose="020B0502040204020203" pitchFamily="34" charset="0"/>
                                  </a:rPr>
                                  <m:t>𝟑</m:t>
                                </m:r>
                              </m:oMath>
                            </m:oMathPara>
                          </a14:m>
                          <a:endParaRPr/>
                        </a:p>
                      </a:txBody>
                      <a:tcPr anchor="ctr"/>
                    </a:tc>
                    <a:tc>
                      <a:txBody>
                        <a:bodyPr/>
                        <a:lstStyle/>
                        <a:p>
                          <a:pPr algn="ctr"/>
                          <a14:m>
                            <m:oMathPara xmlns:m="http://schemas.openxmlformats.org/officeDocument/2006/math">
                              <m:oMathParaPr>
                                <m:jc m:val="centerGroup"/>
                              </m:oMathParaPr>
                              <m:oMath xmlns:m="http://schemas.openxmlformats.org/officeDocument/2006/math">
                                <m:r>
                                  <a:rPr lang="en-US" sz="1800" b="1" i="1" noProof="0" smtClean="0">
                                    <a:latin typeface="Cambria Math" panose="02040503050406030204" pitchFamily="18" charset="0"/>
                                  </a:rPr>
                                  <m:t>𝟏</m:t>
                                </m:r>
                                <m:r>
                                  <a:rPr lang="en-US" sz="1800" b="1" i="1" noProof="0" smtClean="0">
                                    <a:latin typeface="Cambria Math" panose="02040503050406030204" pitchFamily="18" charset="0"/>
                                  </a:rPr>
                                  <m:t>,</m:t>
                                </m:r>
                                <m:r>
                                  <a:rPr lang="en-US" sz="1800" b="1" i="1" noProof="0" smtClean="0">
                                    <a:latin typeface="Cambria Math" panose="02040503050406030204" pitchFamily="18" charset="0"/>
                                  </a:rPr>
                                  <m:t>𝟐</m:t>
                                </m:r>
                                <m:r>
                                  <a:rPr lang="en-US" sz="1800" b="1" i="1" noProof="0" smtClean="0">
                                    <a:latin typeface="Cambria Math" panose="02040503050406030204" pitchFamily="18" charset="0"/>
                                  </a:rPr>
                                  <m:t>,</m:t>
                                </m:r>
                                <m:r>
                                  <a:rPr lang="en-US" sz="1800" b="1" i="1" noProof="0" smtClean="0">
                                    <a:latin typeface="Cambria Math" panose="02040503050406030204" pitchFamily="18" charset="0"/>
                                  </a:rPr>
                                  <m:t>𝟓</m:t>
                                </m:r>
                              </m:oMath>
                            </m:oMathPara>
                          </a14:m>
                          <a:endParaRPr/>
                        </a:p>
                      </a:txBody>
                      <a:tcPr anchor="ctr"/>
                    </a:tc>
                    <a:tc>
                      <a:txBody>
                        <a:bodyPr/>
                        <a:lstStyle/>
                        <a:p>
                          <a:pPr algn="ctr"/>
                          <a14:m>
                            <m:oMathPara xmlns:m="http://schemas.openxmlformats.org/officeDocument/2006/math">
                              <m:oMathParaPr>
                                <m:jc m:val="centerGroup"/>
                              </m:oMathParaPr>
                              <m:oMath xmlns:m="http://schemas.openxmlformats.org/officeDocument/2006/math">
                                <m:r>
                                  <a:rPr lang="en-US" sz="1800" b="1" i="1" noProof="0" smtClean="0">
                                    <a:latin typeface="Cambria Math" panose="02040503050406030204" pitchFamily="18" charset="0"/>
                                  </a:rPr>
                                  <m:t>𝟒</m:t>
                                </m:r>
                                <m:r>
                                  <a:rPr lang="en-US" sz="1800" b="1" i="1" noProof="0" smtClean="0">
                                    <a:latin typeface="Cambria Math" panose="02040503050406030204" pitchFamily="18" charset="0"/>
                                  </a:rPr>
                                  <m:t>,</m:t>
                                </m:r>
                                <m:r>
                                  <a:rPr lang="en-US" sz="1800" b="1" i="1" noProof="0" smtClean="0">
                                    <a:latin typeface="Cambria Math" panose="02040503050406030204" pitchFamily="18" charset="0"/>
                                  </a:rPr>
                                  <m:t>𝟔</m:t>
                                </m:r>
                              </m:oMath>
                            </m:oMathPara>
                          </a14:m>
                          <a:endParaRPr lang="en-US" sz="2000" b="1" noProof="0" dirty="0"/>
                        </a:p>
                      </a:txBody>
                      <a:tcPr anchor="ctr"/>
                    </a:tc>
                    <a:extLst>
                      <a:ext uri="{0D108BD9-81ED-4DB2-BD59-A6C34878D82A}">
                        <a16:rowId xmlns:a16="http://schemas.microsoft.com/office/drawing/2014/main" val="3527601718"/>
                      </a:ext>
                    </a:extLst>
                  </a:tr>
                </a:tbl>
              </a:graphicData>
            </a:graphic>
          </p:graphicFrame>
        </mc:Choice>
        <mc:Fallback xmlns="">
          <p:graphicFrame>
            <p:nvGraphicFramePr>
              <p:cNvPr id="6" name="Inhaltsplatzhalter 5">
                <a:extLst>
                  <a:ext uri="{FF2B5EF4-FFF2-40B4-BE49-F238E27FC236}">
                    <a16:creationId xmlns:a16="http://schemas.microsoft.com/office/drawing/2014/main" id="{93899BAA-8742-D882-B584-EDA0E722F3F2}"/>
                  </a:ext>
                </a:extLst>
              </p:cNvPr>
              <p:cNvGraphicFramePr>
                <a:graphicFrameLocks noGrp="1"/>
              </p:cNvGraphicFramePr>
              <p:nvPr>
                <p:ph idx="1"/>
                <p:extLst>
                  <p:ext uri="{D42A27DB-BD31-4B8C-83A1-F6EECF244321}">
                    <p14:modId xmlns:p14="http://schemas.microsoft.com/office/powerpoint/2010/main" val="1849936277"/>
                  </p:ext>
                </p:extLst>
              </p:nvPr>
            </p:nvGraphicFramePr>
            <p:xfrm>
              <a:off x="628650" y="963383"/>
              <a:ext cx="7886700" cy="994174"/>
            </p:xfrm>
            <a:graphic>
              <a:graphicData uri="http://schemas.openxmlformats.org/drawingml/2006/table">
                <a:tbl>
                  <a:tblPr firstRow="1" bandRow="1">
                    <a:tableStyleId>{073A0DAA-6AF3-43AB-8588-CEC1D06C72B9}</a:tableStyleId>
                  </a:tblPr>
                  <a:tblGrid>
                    <a:gridCol w="2628900">
                      <a:extLst>
                        <a:ext uri="{9D8B030D-6E8A-4147-A177-3AD203B41FA5}">
                          <a16:colId xmlns:a16="http://schemas.microsoft.com/office/drawing/2014/main" val="3962552202"/>
                        </a:ext>
                      </a:extLst>
                    </a:gridCol>
                    <a:gridCol w="2628900">
                      <a:extLst>
                        <a:ext uri="{9D8B030D-6E8A-4147-A177-3AD203B41FA5}">
                          <a16:colId xmlns:a16="http://schemas.microsoft.com/office/drawing/2014/main" val="149204568"/>
                        </a:ext>
                      </a:extLst>
                    </a:gridCol>
                    <a:gridCol w="2628900">
                      <a:extLst>
                        <a:ext uri="{9D8B030D-6E8A-4147-A177-3AD203B41FA5}">
                          <a16:colId xmlns:a16="http://schemas.microsoft.com/office/drawing/2014/main" val="1278263022"/>
                        </a:ext>
                      </a:extLst>
                    </a:gridCol>
                  </a:tblGrid>
                  <a:tr h="497087">
                    <a:tc>
                      <a:txBody>
                        <a:bodyPr/>
                        <a:lstStyle/>
                        <a:p>
                          <a:pPr algn="ctr"/>
                          <a:r>
                            <a:rPr lang="en-US" sz="2200" noProof="0" dirty="0">
                              <a:latin typeface="Segoe UI" panose="020B0502040204020203" pitchFamily="34" charset="0"/>
                              <a:cs typeface="Segoe UI" panose="020B0502040204020203" pitchFamily="34" charset="0"/>
                            </a:rPr>
                            <a:t>Easy</a:t>
                          </a:r>
                        </a:p>
                      </a:txBody>
                      <a:tcPr anchor="ctr"/>
                    </a:tc>
                    <a:tc>
                      <a:txBody>
                        <a:bodyPr/>
                        <a:lstStyle/>
                        <a:p>
                          <a:pPr algn="ctr"/>
                          <a:r>
                            <a:rPr lang="en-US" sz="2200" noProof="0" dirty="0">
                              <a:latin typeface="Segoe UI" panose="020B0502040204020203" pitchFamily="34" charset="0"/>
                              <a:cs typeface="Segoe UI" panose="020B0502040204020203" pitchFamily="34" charset="0"/>
                            </a:rPr>
                            <a:t>Medium</a:t>
                          </a:r>
                        </a:p>
                      </a:txBody>
                      <a:tcPr anchor="ctr"/>
                    </a:tc>
                    <a:tc>
                      <a:txBody>
                        <a:bodyPr/>
                        <a:lstStyle/>
                        <a:p>
                          <a:pPr algn="ctr"/>
                          <a:r>
                            <a:rPr lang="en-US" sz="2200" noProof="0" dirty="0">
                              <a:latin typeface="Segoe UI" panose="020B0502040204020203" pitchFamily="34" charset="0"/>
                              <a:cs typeface="Segoe UI" panose="020B0502040204020203" pitchFamily="34" charset="0"/>
                            </a:rPr>
                            <a:t>Hard</a:t>
                          </a:r>
                        </a:p>
                      </a:txBody>
                      <a:tcPr anchor="ctr"/>
                    </a:tc>
                    <a:extLst>
                      <a:ext uri="{0D108BD9-81ED-4DB2-BD59-A6C34878D82A}">
                        <a16:rowId xmlns:a16="http://schemas.microsoft.com/office/drawing/2014/main" val="1566955868"/>
                      </a:ext>
                    </a:extLst>
                  </a:tr>
                  <a:tr h="497087">
                    <a:tc>
                      <a:txBody>
                        <a:bodyPr/>
                        <a:lstStyle/>
                        <a:p>
                          <a:endParaRPr lang="de-DE"/>
                        </a:p>
                      </a:txBody>
                      <a:tcPr anchor="ctr">
                        <a:blipFill>
                          <a:blip r:embed="rId2"/>
                          <a:stretch>
                            <a:fillRect l="-483" t="-102500" r="-201449" b="-5000"/>
                          </a:stretch>
                        </a:blipFill>
                      </a:tcPr>
                    </a:tc>
                    <a:tc>
                      <a:txBody>
                        <a:bodyPr/>
                        <a:lstStyle/>
                        <a:p>
                          <a:endParaRPr lang="de-DE"/>
                        </a:p>
                      </a:txBody>
                      <a:tcPr anchor="ctr">
                        <a:blipFill>
                          <a:blip r:embed="rId2"/>
                          <a:stretch>
                            <a:fillRect l="-100000" t="-102500" r="-100481" b="-5000"/>
                          </a:stretch>
                        </a:blipFill>
                      </a:tcPr>
                    </a:tc>
                    <a:tc>
                      <a:txBody>
                        <a:bodyPr/>
                        <a:lstStyle/>
                        <a:p>
                          <a:endParaRPr lang="de-DE"/>
                        </a:p>
                      </a:txBody>
                      <a:tcPr anchor="ctr">
                        <a:blipFill>
                          <a:blip r:embed="rId2"/>
                          <a:stretch>
                            <a:fillRect l="-200966" t="-102500" r="-966" b="-5000"/>
                          </a:stretch>
                        </a:blipFill>
                      </a:tcPr>
                    </a:tc>
                    <a:extLst>
                      <a:ext uri="{0D108BD9-81ED-4DB2-BD59-A6C34878D82A}">
                        <a16:rowId xmlns:a16="http://schemas.microsoft.com/office/drawing/2014/main" val="3527601718"/>
                      </a:ext>
                    </a:extLst>
                  </a:tr>
                </a:tbl>
              </a:graphicData>
            </a:graphic>
          </p:graphicFrame>
        </mc:Fallback>
      </mc:AlternateContent>
      <p:sp>
        <p:nvSpPr>
          <p:cNvPr id="4" name="Fußzeilenplatzhalter 3">
            <a:extLst>
              <a:ext uri="{FF2B5EF4-FFF2-40B4-BE49-F238E27FC236}">
                <a16:creationId xmlns:a16="http://schemas.microsoft.com/office/drawing/2014/main" id="{BB8B719D-70FB-7DAE-35F1-4131F7F4058D}"/>
              </a:ext>
            </a:extLst>
          </p:cNvPr>
          <p:cNvSpPr>
            <a:spLocks noGrp="1"/>
          </p:cNvSpPr>
          <p:nvPr>
            <p:ph type="ftr" sz="quarter" idx="11"/>
          </p:nvPr>
        </p:nvSpPr>
        <p:spPr/>
        <p:txBody>
          <a:bodyPr/>
          <a:lstStyle/>
          <a:p>
            <a:pPr defTabSz="342900">
              <a:buClrTx/>
            </a:pPr>
            <a:r>
              <a:rPr lang="en-US" kern="1200" noProof="0" dirty="0">
                <a:solidFill>
                  <a:srgbClr val="101623">
                    <a:tint val="75000"/>
                  </a:srgbClr>
                </a:solidFill>
                <a:latin typeface="Calibri" panose="020F0502020204030204"/>
                <a:ea typeface="+mn-ea"/>
                <a:cs typeface="+mn-cs"/>
              </a:rPr>
              <a:t>Kissan Varatharajan - </a:t>
            </a:r>
            <a:r>
              <a:rPr lang="en-US" kern="1200" noProof="0" dirty="0" err="1">
                <a:solidFill>
                  <a:srgbClr val="101623">
                    <a:tint val="75000"/>
                  </a:srgbClr>
                </a:solidFill>
                <a:latin typeface="Calibri" panose="020F0502020204030204"/>
                <a:ea typeface="+mn-ea"/>
                <a:cs typeface="+mn-cs"/>
              </a:rPr>
              <a:t>kissanv.github.io</a:t>
            </a:r>
            <a:endParaRPr lang="en-US" kern="1200" noProof="0" dirty="0">
              <a:solidFill>
                <a:srgbClr val="101623">
                  <a:tint val="75000"/>
                </a:srgbClr>
              </a:solidFill>
              <a:latin typeface="Calibri" panose="020F0502020204030204"/>
              <a:ea typeface="+mn-ea"/>
              <a:cs typeface="+mn-cs"/>
            </a:endParaRPr>
          </a:p>
        </p:txBody>
      </p:sp>
      <p:sp>
        <p:nvSpPr>
          <p:cNvPr id="5" name="Foliennummernplatzhalter 4">
            <a:extLst>
              <a:ext uri="{FF2B5EF4-FFF2-40B4-BE49-F238E27FC236}">
                <a16:creationId xmlns:a16="http://schemas.microsoft.com/office/drawing/2014/main" id="{10458931-4B41-5370-0EFE-FCA313A39116}"/>
              </a:ext>
            </a:extLst>
          </p:cNvPr>
          <p:cNvSpPr>
            <a:spLocks noGrp="1"/>
          </p:cNvSpPr>
          <p:nvPr>
            <p:ph type="sldNum" sz="quarter" idx="12"/>
          </p:nvPr>
        </p:nvSpPr>
        <p:spPr/>
        <p:txBody>
          <a:bodyPr/>
          <a:lstStyle/>
          <a:p>
            <a:pPr defTabSz="342900">
              <a:buClrTx/>
            </a:pPr>
            <a:fld id="{36EAFFE7-40E2-CA47-82C0-73D0FC591208}" type="slidenum">
              <a:rPr lang="en-US" kern="1200" noProof="0" smtClean="0">
                <a:solidFill>
                  <a:srgbClr val="101623">
                    <a:tint val="75000"/>
                  </a:srgbClr>
                </a:solidFill>
                <a:latin typeface="Calibri" panose="020F0502020204030204"/>
                <a:ea typeface="+mn-ea"/>
                <a:cs typeface="+mn-cs"/>
              </a:rPr>
              <a:pPr defTabSz="342900">
                <a:buClrTx/>
              </a:pPr>
              <a:t>31</a:t>
            </a:fld>
            <a:endParaRPr lang="en-US" kern="1200" noProof="0" dirty="0">
              <a:solidFill>
                <a:srgbClr val="101623">
                  <a:tint val="75000"/>
                </a:srgbClr>
              </a:solidFill>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7" name="Textfeld 6">
                <a:extLst>
                  <a:ext uri="{FF2B5EF4-FFF2-40B4-BE49-F238E27FC236}">
                    <a16:creationId xmlns:a16="http://schemas.microsoft.com/office/drawing/2014/main" id="{B999B5A6-5CE1-678B-600B-D8284012A26E}"/>
                  </a:ext>
                </a:extLst>
              </p:cNvPr>
              <p:cNvSpPr txBox="1"/>
              <p:nvPr/>
            </p:nvSpPr>
            <p:spPr>
              <a:xfrm>
                <a:off x="226979" y="1957555"/>
                <a:ext cx="8709498" cy="2862322"/>
              </a:xfrm>
              <a:prstGeom prst="rect">
                <a:avLst/>
              </a:prstGeom>
              <a:noFill/>
            </p:spPr>
            <p:txBody>
              <a:bodyPr wrap="square" rtlCol="0">
                <a:spAutoFit/>
              </a:bodyPr>
              <a:lstStyle/>
              <a:p>
                <a:pPr marL="285750" indent="-285750">
                  <a:buFont typeface="Arial" panose="020B0604020202020204" pitchFamily="34" charset="0"/>
                  <a:buChar char="•"/>
                </a:pPr>
                <a:r>
                  <a:rPr lang="en-US" sz="1800" b="1" noProof="0" dirty="0">
                    <a:solidFill>
                      <a:srgbClr val="FF0000"/>
                    </a:solidFill>
                    <a:latin typeface="Segoe UI" panose="020B0502040204020203" pitchFamily="34" charset="0"/>
                    <a:cs typeface="Segoe UI" panose="020B0502040204020203" pitchFamily="34" charset="0"/>
                  </a:rPr>
                  <a:t>Nr. 1: </a:t>
                </a:r>
                <a:r>
                  <a:rPr lang="en-US" sz="1800" noProof="0" dirty="0">
                    <a:latin typeface="Segoe UI" panose="020B0502040204020203" pitchFamily="34" charset="0"/>
                    <a:cs typeface="Segoe UI" panose="020B0502040204020203" pitchFamily="34" charset="0"/>
                  </a:rPr>
                  <a:t>plug in </a:t>
                </a:r>
                <a14:m>
                  <m:oMath xmlns:m="http://schemas.openxmlformats.org/officeDocument/2006/math">
                    <m:r>
                      <a:rPr lang="en-US" sz="1800" i="1" noProof="0" smtClean="0">
                        <a:latin typeface="Cambria Math" panose="02040503050406030204" pitchFamily="18" charset="0"/>
                        <a:cs typeface="Segoe UI" panose="020B0502040204020203" pitchFamily="34" charset="0"/>
                      </a:rPr>
                      <m:t>𝑢</m:t>
                    </m:r>
                    <m:r>
                      <a:rPr lang="en-US" sz="1800" i="1" noProof="0" smtClean="0">
                        <a:latin typeface="Cambria Math" panose="02040503050406030204" pitchFamily="18" charset="0"/>
                        <a:cs typeface="Segoe UI" panose="020B0502040204020203" pitchFamily="34" charset="0"/>
                      </a:rPr>
                      <m:t>=−</m:t>
                    </m:r>
                    <m:r>
                      <a:rPr lang="en-US" sz="1800" i="1" noProof="0" smtClean="0">
                        <a:latin typeface="Cambria Math" panose="02040503050406030204" pitchFamily="18" charset="0"/>
                        <a:cs typeface="Segoe UI" panose="020B0502040204020203" pitchFamily="34" charset="0"/>
                      </a:rPr>
                      <m:t>𝑘𝑦</m:t>
                    </m:r>
                  </m:oMath>
                </a14:m>
                <a:r>
                  <a:rPr lang="en-US" sz="1800" noProof="0" dirty="0">
                    <a:latin typeface="Segoe UI" panose="020B0502040204020203" pitchFamily="34" charset="0"/>
                    <a:cs typeface="Segoe UI" panose="020B0502040204020203" pitchFamily="34" charset="0"/>
                  </a:rPr>
                  <a:t> in the state-space form and reorder it to find </a:t>
                </a:r>
                <a14:m>
                  <m:oMath xmlns:m="http://schemas.openxmlformats.org/officeDocument/2006/math">
                    <m:acc>
                      <m:accPr>
                        <m:chr m:val="̇"/>
                        <m:ctrlPr>
                          <a:rPr lang="en-US" sz="1800" i="1" noProof="0" smtClean="0">
                            <a:latin typeface="Cambria Math" panose="02040503050406030204" pitchFamily="18" charset="0"/>
                            <a:cs typeface="Segoe UI" panose="020B0502040204020203" pitchFamily="34" charset="0"/>
                          </a:rPr>
                        </m:ctrlPr>
                      </m:accPr>
                      <m:e>
                        <m:r>
                          <a:rPr lang="en-US" sz="1800" i="1" noProof="0" smtClean="0">
                            <a:latin typeface="Cambria Math" panose="02040503050406030204" pitchFamily="18" charset="0"/>
                            <a:cs typeface="Segoe UI" panose="020B0502040204020203" pitchFamily="34" charset="0"/>
                          </a:rPr>
                          <m:t>𝑥</m:t>
                        </m:r>
                      </m:e>
                    </m:acc>
                    <m:r>
                      <a:rPr lang="en-US" sz="1800" i="1" noProof="0" smtClean="0">
                        <a:latin typeface="Cambria Math" panose="02040503050406030204" pitchFamily="18" charset="0"/>
                        <a:cs typeface="Segoe UI" panose="020B0502040204020203" pitchFamily="34" charset="0"/>
                      </a:rPr>
                      <m:t>=</m:t>
                    </m:r>
                    <m:sSub>
                      <m:sSubPr>
                        <m:ctrlPr>
                          <a:rPr lang="en-US" sz="1800" i="1" noProof="0" smtClean="0">
                            <a:latin typeface="Cambria Math" panose="02040503050406030204" pitchFamily="18" charset="0"/>
                            <a:cs typeface="Segoe UI" panose="020B0502040204020203" pitchFamily="34" charset="0"/>
                          </a:rPr>
                        </m:ctrlPr>
                      </m:sSubPr>
                      <m:e>
                        <m:r>
                          <a:rPr lang="en-US" sz="1800" i="1" noProof="0" smtClean="0">
                            <a:latin typeface="Cambria Math" panose="02040503050406030204" pitchFamily="18" charset="0"/>
                            <a:cs typeface="Segoe UI" panose="020B0502040204020203" pitchFamily="34" charset="0"/>
                          </a:rPr>
                          <m:t>𝐴</m:t>
                        </m:r>
                      </m:e>
                      <m:sub>
                        <m:r>
                          <a:rPr lang="en-US" sz="1800" i="1" noProof="0">
                            <a:latin typeface="Cambria Math" panose="02040503050406030204" pitchFamily="18" charset="0"/>
                            <a:cs typeface="Segoe UI" panose="020B0502040204020203" pitchFamily="34" charset="0"/>
                          </a:rPr>
                          <m:t>𝑐𝑙</m:t>
                        </m:r>
                      </m:sub>
                    </m:sSub>
                    <m:r>
                      <a:rPr lang="en-US" sz="1800" i="1" noProof="0" smtClean="0">
                        <a:latin typeface="Cambria Math" panose="02040503050406030204" pitchFamily="18" charset="0"/>
                        <a:cs typeface="Segoe UI" panose="020B0502040204020203" pitchFamily="34" charset="0"/>
                      </a:rPr>
                      <m:t>𝑥</m:t>
                    </m:r>
                  </m:oMath>
                </a14:m>
                <a:r>
                  <a:rPr lang="en-US" sz="1800" noProof="0" dirty="0">
                    <a:latin typeface="Segoe UI" panose="020B0502040204020203" pitchFamily="34" charset="0"/>
                    <a:cs typeface="Segoe UI" panose="020B0502040204020203" pitchFamily="34" charset="0"/>
                  </a:rPr>
                  <a:t> </a:t>
                </a:r>
              </a:p>
              <a:p>
                <a:pPr marL="285750" indent="-285750">
                  <a:buFont typeface="Arial" panose="020B0604020202020204" pitchFamily="34" charset="0"/>
                  <a:buChar char="•"/>
                </a:pPr>
                <a:r>
                  <a:rPr lang="en-US" sz="1800" b="1" noProof="0" dirty="0">
                    <a:solidFill>
                      <a:srgbClr val="FF0000"/>
                    </a:solidFill>
                    <a:latin typeface="Segoe UI" panose="020B0502040204020203" pitchFamily="34" charset="0"/>
                    <a:cs typeface="Segoe UI" panose="020B0502040204020203" pitchFamily="34" charset="0"/>
                  </a:rPr>
                  <a:t>Nr. 2:</a:t>
                </a:r>
                <a:r>
                  <a:rPr lang="en-US" sz="1800" noProof="0" dirty="0">
                    <a:solidFill>
                      <a:srgbClr val="FF0000"/>
                    </a:solidFill>
                    <a:latin typeface="Segoe UI" panose="020B0502040204020203" pitchFamily="34" charset="0"/>
                    <a:cs typeface="Segoe UI" panose="020B0502040204020203" pitchFamily="34" charset="0"/>
                  </a:rPr>
                  <a:t> </a:t>
                </a:r>
                <a:r>
                  <a:rPr lang="en-US" sz="1800" noProof="0" dirty="0">
                    <a:solidFill>
                      <a:schemeClr val="tx1"/>
                    </a:solidFill>
                    <a:latin typeface="Segoe UI" panose="020B0502040204020203" pitchFamily="34" charset="0"/>
                    <a:cs typeface="Segoe UI" panose="020B0502040204020203" pitchFamily="34" charset="0"/>
                  </a:rPr>
                  <a:t>Especially try to solve a) and d), e). Try understanding the solutions for b) and c) if you don’t want to solve it on your own. Focus more on the form of the root locus, instead of the exact breakaway points</a:t>
                </a:r>
              </a:p>
              <a:p>
                <a:pPr marL="285750" indent="-285750">
                  <a:buFont typeface="Arial" panose="020B0604020202020204" pitchFamily="34" charset="0"/>
                  <a:buChar char="•"/>
                </a:pPr>
                <a:r>
                  <a:rPr lang="en-US" sz="1800" b="1" noProof="0" dirty="0">
                    <a:solidFill>
                      <a:srgbClr val="FF0000"/>
                    </a:solidFill>
                    <a:latin typeface="Segoe UI" panose="020B0502040204020203" pitchFamily="34" charset="0"/>
                    <a:cs typeface="Segoe UI" panose="020B0502040204020203" pitchFamily="34" charset="0"/>
                  </a:rPr>
                  <a:t>Nr. 3:</a:t>
                </a:r>
                <a:r>
                  <a:rPr lang="en-US" sz="1800" noProof="0" dirty="0">
                    <a:latin typeface="Segoe UI" panose="020B0502040204020203" pitchFamily="34" charset="0"/>
                    <a:cs typeface="Segoe UI" panose="020B0502040204020203" pitchFamily="34" charset="0"/>
                  </a:rPr>
                  <a:t> Use magnitude &amp; phase rule</a:t>
                </a:r>
              </a:p>
              <a:p>
                <a:pPr marL="285750" indent="-285750">
                  <a:buFont typeface="Arial" panose="020B0604020202020204" pitchFamily="34" charset="0"/>
                  <a:buChar char="•"/>
                </a:pPr>
                <a:r>
                  <a:rPr lang="en-US" sz="1800" noProof="0" dirty="0">
                    <a:latin typeface="Segoe UI" panose="020B0502040204020203" pitchFamily="34" charset="0"/>
                    <a:cs typeface="Segoe UI" panose="020B0502040204020203" pitchFamily="34" charset="0"/>
                  </a:rPr>
                  <a:t>Nr. 4: Calculations get messy, try to understand solutions</a:t>
                </a:r>
              </a:p>
              <a:p>
                <a:pPr marL="285750" indent="-285750">
                  <a:buFont typeface="Arial" panose="020B0604020202020204" pitchFamily="34" charset="0"/>
                  <a:buChar char="•"/>
                </a:pPr>
                <a:r>
                  <a:rPr lang="en-US" sz="1800" b="1" noProof="0" dirty="0">
                    <a:solidFill>
                      <a:srgbClr val="FF0000"/>
                    </a:solidFill>
                    <a:latin typeface="Segoe UI" panose="020B0502040204020203" pitchFamily="34" charset="0"/>
                    <a:cs typeface="Segoe UI" panose="020B0502040204020203" pitchFamily="34" charset="0"/>
                  </a:rPr>
                  <a:t>Nr. 5:</a:t>
                </a:r>
                <a:r>
                  <a:rPr lang="en-US" sz="1800" noProof="0" dirty="0">
                    <a:latin typeface="Segoe UI" panose="020B0502040204020203" pitchFamily="34" charset="0"/>
                    <a:cs typeface="Segoe UI" panose="020B0502040204020203" pitchFamily="34" charset="0"/>
                  </a:rPr>
                  <a:t> for a) remember to be Lyapunov Stable: </a:t>
                </a:r>
                <a14:m>
                  <m:oMath xmlns:m="http://schemas.openxmlformats.org/officeDocument/2006/math">
                    <m:r>
                      <a:rPr lang="en-US" sz="1800" i="1" noProof="0">
                        <a:latin typeface="Cambria Math" panose="02040503050406030204" pitchFamily="18" charset="0"/>
                      </a:rPr>
                      <m:t>𝑅𝑒</m:t>
                    </m:r>
                    <m:d>
                      <m:dPr>
                        <m:ctrlPr>
                          <a:rPr lang="en-US" sz="1800" i="1" noProof="0">
                            <a:latin typeface="Cambria Math" panose="02040503050406030204" pitchFamily="18" charset="0"/>
                          </a:rPr>
                        </m:ctrlPr>
                      </m:dPr>
                      <m:e>
                        <m:sSub>
                          <m:sSubPr>
                            <m:ctrlPr>
                              <a:rPr lang="en-US" sz="1800" i="1" noProof="0">
                                <a:latin typeface="Cambria Math" panose="02040503050406030204" pitchFamily="18" charset="0"/>
                              </a:rPr>
                            </m:ctrlPr>
                          </m:sSubPr>
                          <m:e>
                            <m:r>
                              <a:rPr lang="en-US" sz="1800" i="1" noProof="0">
                                <a:latin typeface="Cambria Math" panose="02040503050406030204" pitchFamily="18" charset="0"/>
                              </a:rPr>
                              <m:t>𝜆</m:t>
                            </m:r>
                          </m:e>
                          <m:sub>
                            <m:r>
                              <a:rPr lang="en-US" sz="1800" i="1" noProof="0">
                                <a:latin typeface="Cambria Math" panose="02040503050406030204" pitchFamily="18" charset="0"/>
                              </a:rPr>
                              <m:t>𝑖</m:t>
                            </m:r>
                          </m:sub>
                        </m:sSub>
                      </m:e>
                    </m:d>
                    <m:r>
                      <a:rPr lang="en-US" sz="1800" i="1" noProof="0">
                        <a:latin typeface="Cambria Math" panose="02040503050406030204" pitchFamily="18" charset="0"/>
                      </a:rPr>
                      <m:t>≤0 ∀</m:t>
                    </m:r>
                    <m:r>
                      <a:rPr lang="en-US" sz="1800" i="1" noProof="0">
                        <a:latin typeface="Cambria Math" panose="02040503050406030204" pitchFamily="18" charset="0"/>
                      </a:rPr>
                      <m:t>𝑖</m:t>
                    </m:r>
                  </m:oMath>
                </a14:m>
                <a:r>
                  <a:rPr lang="en-US" sz="1800" noProof="0" dirty="0"/>
                  <a:t> </a:t>
                </a:r>
              </a:p>
              <a:p>
                <a:r>
                  <a:rPr lang="en-US" sz="1800" noProof="0" dirty="0">
                    <a:latin typeface="Segoe UI" panose="020B0502040204020203" pitchFamily="34" charset="0"/>
                    <a:cs typeface="Segoe UI" panose="020B0502040204020203" pitchFamily="34" charset="0"/>
                  </a:rPr>
                  <a:t>for b) you can solve the whole exercise only looking at open loop </a:t>
                </a:r>
                <a14:m>
                  <m:oMath xmlns:m="http://schemas.openxmlformats.org/officeDocument/2006/math">
                    <m:sSub>
                      <m:sSubPr>
                        <m:ctrlPr>
                          <a:rPr lang="en-US" sz="1800" i="1" noProof="0" smtClean="0">
                            <a:latin typeface="Cambria Math" panose="02040503050406030204" pitchFamily="18" charset="0"/>
                            <a:cs typeface="Segoe UI" panose="020B0502040204020203" pitchFamily="34" charset="0"/>
                          </a:rPr>
                        </m:ctrlPr>
                      </m:sSubPr>
                      <m:e>
                        <m:r>
                          <a:rPr lang="en-US" sz="1800" i="1" noProof="0" smtClean="0">
                            <a:latin typeface="Cambria Math" panose="02040503050406030204" pitchFamily="18" charset="0"/>
                            <a:cs typeface="Segoe UI" panose="020B0502040204020203" pitchFamily="34" charset="0"/>
                          </a:rPr>
                          <m:t>𝑝</m:t>
                        </m:r>
                      </m:e>
                      <m:sub>
                        <m:r>
                          <a:rPr lang="en-US" sz="1800" i="1" noProof="0" smtClean="0">
                            <a:latin typeface="Cambria Math" panose="02040503050406030204" pitchFamily="18" charset="0"/>
                            <a:cs typeface="Segoe UI" panose="020B0502040204020203" pitchFamily="34" charset="0"/>
                          </a:rPr>
                          <m:t>𝑖</m:t>
                        </m:r>
                      </m:sub>
                    </m:sSub>
                    <m:r>
                      <a:rPr lang="en-US" sz="1800" i="1" noProof="0" smtClean="0">
                        <a:latin typeface="Cambria Math" panose="02040503050406030204" pitchFamily="18" charset="0"/>
                        <a:cs typeface="Segoe UI" panose="020B0502040204020203" pitchFamily="34" charset="0"/>
                      </a:rPr>
                      <m:t> &amp; </m:t>
                    </m:r>
                    <m:sSub>
                      <m:sSubPr>
                        <m:ctrlPr>
                          <a:rPr lang="en-US" sz="1800" i="1" noProof="0" smtClean="0">
                            <a:latin typeface="Cambria Math" panose="02040503050406030204" pitchFamily="18" charset="0"/>
                            <a:cs typeface="Segoe UI" panose="020B0502040204020203" pitchFamily="34" charset="0"/>
                          </a:rPr>
                        </m:ctrlPr>
                      </m:sSubPr>
                      <m:e>
                        <m:r>
                          <a:rPr lang="en-US" sz="1800" i="1" noProof="0" smtClean="0">
                            <a:latin typeface="Cambria Math" panose="02040503050406030204" pitchFamily="18" charset="0"/>
                            <a:cs typeface="Segoe UI" panose="020B0502040204020203" pitchFamily="34" charset="0"/>
                          </a:rPr>
                          <m:t>𝑧</m:t>
                        </m:r>
                      </m:e>
                      <m:sub>
                        <m:r>
                          <a:rPr lang="en-US" sz="1800" i="1" noProof="0" smtClean="0">
                            <a:latin typeface="Cambria Math" panose="02040503050406030204" pitchFamily="18" charset="0"/>
                            <a:cs typeface="Segoe UI" panose="020B0502040204020203" pitchFamily="34" charset="0"/>
                          </a:rPr>
                          <m:t>𝑖</m:t>
                        </m:r>
                      </m:sub>
                    </m:sSub>
                  </m:oMath>
                </a14:m>
                <a:endParaRPr lang="en-US" sz="1800" noProof="0" dirty="0">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US" sz="1800" noProof="0" dirty="0">
                    <a:latin typeface="Segoe UI" panose="020B0502040204020203" pitchFamily="34" charset="0"/>
                    <a:cs typeface="Segoe UI" panose="020B0502040204020203" pitchFamily="34" charset="0"/>
                  </a:rPr>
                  <a:t>Nr.6: look at the slides for the derivation of </a:t>
                </a:r>
                <a14:m>
                  <m:oMath xmlns:m="http://schemas.openxmlformats.org/officeDocument/2006/math">
                    <m:r>
                      <a:rPr lang="en-US" sz="1800" i="1" noProof="0" smtClean="0">
                        <a:latin typeface="Cambria Math" panose="02040503050406030204" pitchFamily="18" charset="0"/>
                        <a:cs typeface="Segoe UI" panose="020B0502040204020203" pitchFamily="34" charset="0"/>
                      </a:rPr>
                      <m:t>𝑇</m:t>
                    </m:r>
                    <m:r>
                      <a:rPr lang="en-US" sz="1800" i="1" noProof="0" smtClean="0">
                        <a:latin typeface="Cambria Math" panose="02040503050406030204" pitchFamily="18" charset="0"/>
                        <a:cs typeface="Segoe UI" panose="020B0502040204020203" pitchFamily="34" charset="0"/>
                      </a:rPr>
                      <m:t>(</m:t>
                    </m:r>
                    <m:r>
                      <a:rPr lang="en-US" sz="1800" i="1" noProof="0" smtClean="0">
                        <a:latin typeface="Cambria Math" panose="02040503050406030204" pitchFamily="18" charset="0"/>
                        <a:cs typeface="Segoe UI" panose="020B0502040204020203" pitchFamily="34" charset="0"/>
                      </a:rPr>
                      <m:t>𝑠</m:t>
                    </m:r>
                    <m:r>
                      <a:rPr lang="en-US" sz="1800" i="1" noProof="0" smtClean="0">
                        <a:latin typeface="Cambria Math" panose="02040503050406030204" pitchFamily="18" charset="0"/>
                        <a:cs typeface="Segoe UI" panose="020B0502040204020203" pitchFamily="34" charset="0"/>
                      </a:rPr>
                      <m:t>) </m:t>
                    </m:r>
                  </m:oMath>
                </a14:m>
                <a:r>
                  <a:rPr lang="en-US" sz="1800" noProof="0" dirty="0">
                    <a:latin typeface="Segoe UI" panose="020B0502040204020203" pitchFamily="34" charset="0"/>
                    <a:cs typeface="Segoe UI" panose="020B0502040204020203" pitchFamily="34" charset="0"/>
                  </a:rPr>
                  <a:t>and apply it, can give you a good understanding for deriving various transfer functions</a:t>
                </a:r>
              </a:p>
            </p:txBody>
          </p:sp>
        </mc:Choice>
        <mc:Fallback xmlns="">
          <p:sp>
            <p:nvSpPr>
              <p:cNvPr id="7" name="Textfeld 6">
                <a:extLst>
                  <a:ext uri="{FF2B5EF4-FFF2-40B4-BE49-F238E27FC236}">
                    <a16:creationId xmlns:a16="http://schemas.microsoft.com/office/drawing/2014/main" id="{B999B5A6-5CE1-678B-600B-D8284012A26E}"/>
                  </a:ext>
                </a:extLst>
              </p:cNvPr>
              <p:cNvSpPr txBox="1">
                <a:spLocks noRot="1" noChangeAspect="1" noMove="1" noResize="1" noEditPoints="1" noAdjustHandles="1" noChangeArrowheads="1" noChangeShapeType="1" noTextEdit="1"/>
              </p:cNvSpPr>
              <p:nvPr/>
            </p:nvSpPr>
            <p:spPr>
              <a:xfrm>
                <a:off x="226979" y="1957555"/>
                <a:ext cx="8709498" cy="2862322"/>
              </a:xfrm>
              <a:prstGeom prst="rect">
                <a:avLst/>
              </a:prstGeom>
              <a:blipFill>
                <a:blip r:embed="rId3"/>
                <a:stretch>
                  <a:fillRect l="-582" t="-885" r="-873" b="-2212"/>
                </a:stretch>
              </a:blipFill>
            </p:spPr>
            <p:txBody>
              <a:bodyPr/>
              <a:lstStyle/>
              <a:p>
                <a:r>
                  <a:rPr lang="de-DE">
                    <a:noFill/>
                  </a:rPr>
                  <a:t> </a:t>
                </a:r>
              </a:p>
            </p:txBody>
          </p:sp>
        </mc:Fallback>
      </mc:AlternateContent>
      <p:sp>
        <p:nvSpPr>
          <p:cNvPr id="3" name="Rectangle: Rounded Corners 17">
            <a:extLst>
              <a:ext uri="{FF2B5EF4-FFF2-40B4-BE49-F238E27FC236}">
                <a16:creationId xmlns:a16="http://schemas.microsoft.com/office/drawing/2014/main" id="{2393670F-C058-9152-541B-F75E93C8FDAF}"/>
              </a:ext>
            </a:extLst>
          </p:cNvPr>
          <p:cNvSpPr/>
          <p:nvPr/>
        </p:nvSpPr>
        <p:spPr>
          <a:xfrm>
            <a:off x="5557737" y="29241"/>
            <a:ext cx="3586264" cy="733834"/>
          </a:xfrm>
          <a:prstGeom prst="roundRect">
            <a:avLst>
              <a:gd name="adj" fmla="val 12642"/>
            </a:avLst>
          </a:prstGeom>
          <a:solidFill>
            <a:schemeClr val="tx1">
              <a:lumMod val="90000"/>
              <a:lumOff val="10000"/>
            </a:schemeClr>
          </a:solidFill>
          <a:ln>
            <a:noFill/>
          </a:ln>
        </p:spPr>
        <p:style>
          <a:lnRef idx="2">
            <a:schemeClr val="dk1">
              <a:shade val="50000"/>
            </a:schemeClr>
          </a:lnRef>
          <a:fillRef idx="1">
            <a:schemeClr val="dk1"/>
          </a:fillRef>
          <a:effectRef idx="0">
            <a:schemeClr val="dk1"/>
          </a:effectRef>
          <a:fontRef idx="minor">
            <a:schemeClr val="lt1"/>
          </a:fontRef>
        </p:style>
        <p:txBody>
          <a:bodyPr lIns="360000" rtlCol="0" anchor="ctr"/>
          <a:lstStyle/>
          <a:p>
            <a:r>
              <a:rPr lang="en-US" noProof="0" dirty="0">
                <a:latin typeface="Segoe UI" panose="020B0502040204020203" pitchFamily="34" charset="0"/>
                <a:cs typeface="Segoe UI" panose="020B0502040204020203" pitchFamily="34" charset="0"/>
              </a:rPr>
              <a:t>I personally would recommend solving at least the problems marked red</a:t>
            </a:r>
          </a:p>
        </p:txBody>
      </p:sp>
    </p:spTree>
    <p:extLst>
      <p:ext uri="{BB962C8B-B14F-4D97-AF65-F5344CB8AC3E}">
        <p14:creationId xmlns:p14="http://schemas.microsoft.com/office/powerpoint/2010/main" val="20372889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6E65319-C120-C099-FB22-07576EC8CCDC}"/>
              </a:ext>
            </a:extLst>
          </p:cNvPr>
          <p:cNvSpPr>
            <a:spLocks noGrp="1"/>
          </p:cNvSpPr>
          <p:nvPr>
            <p:ph type="ctrTitle"/>
          </p:nvPr>
        </p:nvSpPr>
        <p:spPr/>
        <p:txBody>
          <a:bodyPr/>
          <a:lstStyle/>
          <a:p>
            <a:r>
              <a:rPr lang="en-US" noProof="0" dirty="0"/>
              <a:t>Questions?</a:t>
            </a:r>
          </a:p>
        </p:txBody>
      </p:sp>
      <p:sp>
        <p:nvSpPr>
          <p:cNvPr id="3" name="Untertitel 2">
            <a:extLst>
              <a:ext uri="{FF2B5EF4-FFF2-40B4-BE49-F238E27FC236}">
                <a16:creationId xmlns:a16="http://schemas.microsoft.com/office/drawing/2014/main" id="{8CABF65E-A2BE-C5A3-A238-B2C34F5C372C}"/>
              </a:ext>
            </a:extLst>
          </p:cNvPr>
          <p:cNvSpPr>
            <a:spLocks noGrp="1"/>
          </p:cNvSpPr>
          <p:nvPr>
            <p:ph type="subTitle" idx="1"/>
          </p:nvPr>
        </p:nvSpPr>
        <p:spPr/>
        <p:txBody>
          <a:bodyPr/>
          <a:lstStyle/>
          <a:p>
            <a:endParaRPr lang="en-US" noProof="0" dirty="0"/>
          </a:p>
        </p:txBody>
      </p:sp>
      <p:sp>
        <p:nvSpPr>
          <p:cNvPr id="4" name="Fußzeilenplatzhalter 3">
            <a:extLst>
              <a:ext uri="{FF2B5EF4-FFF2-40B4-BE49-F238E27FC236}">
                <a16:creationId xmlns:a16="http://schemas.microsoft.com/office/drawing/2014/main" id="{CEF77125-0866-A1E0-1A75-FABC1474E211}"/>
              </a:ext>
            </a:extLst>
          </p:cNvPr>
          <p:cNvSpPr>
            <a:spLocks noGrp="1"/>
          </p:cNvSpPr>
          <p:nvPr>
            <p:ph type="ftr" sz="quarter" idx="11"/>
          </p:nvPr>
        </p:nvSpPr>
        <p:spPr/>
        <p:txBody>
          <a:bodyPr/>
          <a:lstStyle/>
          <a:p>
            <a:pPr defTabSz="342900">
              <a:buClrTx/>
            </a:pPr>
            <a:r>
              <a:rPr lang="en-US" kern="1200" noProof="0" dirty="0">
                <a:solidFill>
                  <a:srgbClr val="101623">
                    <a:tint val="75000"/>
                  </a:srgbClr>
                </a:solidFill>
                <a:latin typeface="Calibri" panose="020F0502020204030204"/>
                <a:ea typeface="+mn-ea"/>
                <a:cs typeface="+mn-cs"/>
              </a:rPr>
              <a:t>Kissan Varatharajan - </a:t>
            </a:r>
            <a:r>
              <a:rPr lang="en-US" kern="1200" noProof="0" dirty="0" err="1">
                <a:solidFill>
                  <a:srgbClr val="101623">
                    <a:tint val="75000"/>
                  </a:srgbClr>
                </a:solidFill>
                <a:latin typeface="Calibri" panose="020F0502020204030204"/>
                <a:ea typeface="+mn-ea"/>
                <a:cs typeface="+mn-cs"/>
              </a:rPr>
              <a:t>kissanv.github.io</a:t>
            </a:r>
            <a:endParaRPr lang="en-US" kern="1200" noProof="0" dirty="0">
              <a:solidFill>
                <a:srgbClr val="101623">
                  <a:tint val="75000"/>
                </a:srgbClr>
              </a:solidFill>
              <a:latin typeface="Calibri" panose="020F0502020204030204"/>
              <a:ea typeface="+mn-ea"/>
              <a:cs typeface="+mn-cs"/>
            </a:endParaRPr>
          </a:p>
        </p:txBody>
      </p:sp>
      <p:sp>
        <p:nvSpPr>
          <p:cNvPr id="5" name="Foliennummernplatzhalter 4">
            <a:extLst>
              <a:ext uri="{FF2B5EF4-FFF2-40B4-BE49-F238E27FC236}">
                <a16:creationId xmlns:a16="http://schemas.microsoft.com/office/drawing/2014/main" id="{18004AFB-473A-87EE-195F-BED0DD24BB2A}"/>
              </a:ext>
            </a:extLst>
          </p:cNvPr>
          <p:cNvSpPr>
            <a:spLocks noGrp="1"/>
          </p:cNvSpPr>
          <p:nvPr>
            <p:ph type="sldNum" sz="quarter" idx="12"/>
          </p:nvPr>
        </p:nvSpPr>
        <p:spPr/>
        <p:txBody>
          <a:bodyPr/>
          <a:lstStyle/>
          <a:p>
            <a:pPr defTabSz="342900">
              <a:buClrTx/>
            </a:pPr>
            <a:fld id="{36EAFFE7-40E2-CA47-82C0-73D0FC591208}" type="slidenum">
              <a:rPr lang="en-US" kern="1200" noProof="0" smtClean="0">
                <a:solidFill>
                  <a:srgbClr val="101623">
                    <a:tint val="75000"/>
                  </a:srgbClr>
                </a:solidFill>
                <a:latin typeface="Calibri" panose="020F0502020204030204"/>
                <a:ea typeface="+mn-ea"/>
                <a:cs typeface="+mn-cs"/>
              </a:rPr>
              <a:pPr defTabSz="342900">
                <a:buClrTx/>
              </a:pPr>
              <a:t>32</a:t>
            </a:fld>
            <a:endParaRPr lang="en-US" kern="1200" noProof="0" dirty="0">
              <a:solidFill>
                <a:srgbClr val="101623">
                  <a:tint val="75000"/>
                </a:srgbClr>
              </a:solidFill>
              <a:latin typeface="Calibri" panose="020F0502020204030204"/>
              <a:ea typeface="+mn-ea"/>
              <a:cs typeface="+mn-cs"/>
            </a:endParaRPr>
          </a:p>
        </p:txBody>
      </p:sp>
    </p:spTree>
    <p:extLst>
      <p:ext uri="{BB962C8B-B14F-4D97-AF65-F5344CB8AC3E}">
        <p14:creationId xmlns:p14="http://schemas.microsoft.com/office/powerpoint/2010/main" val="124272159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D962236-C78D-1583-548D-CDC22CC086D8}"/>
              </a:ext>
            </a:extLst>
          </p:cNvPr>
          <p:cNvSpPr>
            <a:spLocks noGrp="1"/>
          </p:cNvSpPr>
          <p:nvPr>
            <p:ph type="ctrTitle"/>
          </p:nvPr>
        </p:nvSpPr>
        <p:spPr>
          <a:xfrm>
            <a:off x="1143000" y="599514"/>
            <a:ext cx="6858000" cy="1790700"/>
          </a:xfrm>
        </p:spPr>
        <p:txBody>
          <a:bodyPr/>
          <a:lstStyle/>
          <a:p>
            <a:r>
              <a:rPr lang="en-US" noProof="0" dirty="0"/>
              <a:t>Feedback? </a:t>
            </a:r>
          </a:p>
        </p:txBody>
      </p:sp>
      <p:sp>
        <p:nvSpPr>
          <p:cNvPr id="3" name="Untertitel 2">
            <a:extLst>
              <a:ext uri="{FF2B5EF4-FFF2-40B4-BE49-F238E27FC236}">
                <a16:creationId xmlns:a16="http://schemas.microsoft.com/office/drawing/2014/main" id="{CB38DF9A-4CB3-2931-74A1-D2FC05310A1B}"/>
              </a:ext>
            </a:extLst>
          </p:cNvPr>
          <p:cNvSpPr>
            <a:spLocks noGrp="1"/>
          </p:cNvSpPr>
          <p:nvPr>
            <p:ph type="subTitle" idx="1"/>
          </p:nvPr>
        </p:nvSpPr>
        <p:spPr>
          <a:xfrm>
            <a:off x="400589" y="2494113"/>
            <a:ext cx="8342822" cy="1241822"/>
          </a:xfrm>
        </p:spPr>
        <p:txBody>
          <a:bodyPr>
            <a:normAutofit lnSpcReduction="10000"/>
          </a:bodyPr>
          <a:lstStyle/>
          <a:p>
            <a:r>
              <a:rPr lang="en-US" noProof="0" dirty="0"/>
              <a:t>Too fast? Too slow? Less theory, more exercises?</a:t>
            </a:r>
          </a:p>
          <a:p>
            <a:r>
              <a:rPr lang="en-US" noProof="0" dirty="0"/>
              <a:t>I would appreciate your feedback. Please let me know.</a:t>
            </a:r>
          </a:p>
          <a:p>
            <a:r>
              <a:rPr lang="en-US" noProof="0" dirty="0">
                <a:hlinkClick r:id="rId2"/>
              </a:rPr>
              <a:t>https://docs.google.com/forms/d/e/1FAIpQLSdHl0kjWo63aNzDkAV0cnmQadCAj5L0D7v7aSh0BK7BBdEgpA/viewform?usp=header</a:t>
            </a:r>
            <a:endParaRPr lang="en-US" noProof="0" dirty="0"/>
          </a:p>
          <a:p>
            <a:endParaRPr lang="en-US" noProof="0" dirty="0"/>
          </a:p>
        </p:txBody>
      </p:sp>
      <p:sp>
        <p:nvSpPr>
          <p:cNvPr id="4" name="Fußzeilenplatzhalter 3">
            <a:extLst>
              <a:ext uri="{FF2B5EF4-FFF2-40B4-BE49-F238E27FC236}">
                <a16:creationId xmlns:a16="http://schemas.microsoft.com/office/drawing/2014/main" id="{D0382365-2B79-A2DC-45B8-AA3C069F09F9}"/>
              </a:ext>
            </a:extLst>
          </p:cNvPr>
          <p:cNvSpPr>
            <a:spLocks noGrp="1"/>
          </p:cNvSpPr>
          <p:nvPr>
            <p:ph type="ftr" sz="quarter" idx="11"/>
          </p:nvPr>
        </p:nvSpPr>
        <p:spPr/>
        <p:txBody>
          <a:bodyPr/>
          <a:lstStyle/>
          <a:p>
            <a:pPr defTabSz="342900">
              <a:buClrTx/>
            </a:pPr>
            <a:r>
              <a:rPr lang="en-US" kern="1200" noProof="0" dirty="0">
                <a:solidFill>
                  <a:srgbClr val="101623">
                    <a:tint val="75000"/>
                  </a:srgbClr>
                </a:solidFill>
                <a:latin typeface="Calibri" panose="020F0502020204030204"/>
                <a:ea typeface="+mn-ea"/>
                <a:cs typeface="+mn-cs"/>
              </a:rPr>
              <a:t>Kissan Varatharajan - </a:t>
            </a:r>
            <a:r>
              <a:rPr lang="en-US" kern="1200" noProof="0" dirty="0" err="1">
                <a:solidFill>
                  <a:srgbClr val="101623">
                    <a:tint val="75000"/>
                  </a:srgbClr>
                </a:solidFill>
                <a:latin typeface="Calibri" panose="020F0502020204030204"/>
                <a:ea typeface="+mn-ea"/>
                <a:cs typeface="+mn-cs"/>
              </a:rPr>
              <a:t>kissanv.github.io</a:t>
            </a:r>
            <a:endParaRPr lang="en-US" kern="1200" noProof="0" dirty="0">
              <a:solidFill>
                <a:srgbClr val="101623">
                  <a:tint val="75000"/>
                </a:srgbClr>
              </a:solidFill>
              <a:latin typeface="Calibri" panose="020F0502020204030204"/>
              <a:ea typeface="+mn-ea"/>
              <a:cs typeface="+mn-cs"/>
            </a:endParaRPr>
          </a:p>
        </p:txBody>
      </p:sp>
      <p:sp>
        <p:nvSpPr>
          <p:cNvPr id="5" name="Foliennummernplatzhalter 4">
            <a:extLst>
              <a:ext uri="{FF2B5EF4-FFF2-40B4-BE49-F238E27FC236}">
                <a16:creationId xmlns:a16="http://schemas.microsoft.com/office/drawing/2014/main" id="{374564F6-4B5F-BBD9-45BC-F1FCCD4F698F}"/>
              </a:ext>
            </a:extLst>
          </p:cNvPr>
          <p:cNvSpPr>
            <a:spLocks noGrp="1"/>
          </p:cNvSpPr>
          <p:nvPr>
            <p:ph type="sldNum" sz="quarter" idx="12"/>
          </p:nvPr>
        </p:nvSpPr>
        <p:spPr/>
        <p:txBody>
          <a:bodyPr/>
          <a:lstStyle/>
          <a:p>
            <a:pPr defTabSz="342900">
              <a:buClrTx/>
            </a:pPr>
            <a:fld id="{36EAFFE7-40E2-CA47-82C0-73D0FC591208}" type="slidenum">
              <a:rPr lang="en-US" kern="1200" noProof="0" smtClean="0">
                <a:solidFill>
                  <a:srgbClr val="101623">
                    <a:tint val="75000"/>
                  </a:srgbClr>
                </a:solidFill>
                <a:latin typeface="Calibri" panose="020F0502020204030204"/>
                <a:ea typeface="+mn-ea"/>
                <a:cs typeface="+mn-cs"/>
              </a:rPr>
              <a:pPr defTabSz="342900">
                <a:buClrTx/>
              </a:pPr>
              <a:t>33</a:t>
            </a:fld>
            <a:endParaRPr lang="en-US" kern="1200" noProof="0" dirty="0">
              <a:solidFill>
                <a:srgbClr val="101623">
                  <a:tint val="75000"/>
                </a:srgbClr>
              </a:solidFill>
              <a:latin typeface="Calibri" panose="020F0502020204030204"/>
              <a:ea typeface="+mn-ea"/>
              <a:cs typeface="+mn-cs"/>
            </a:endParaRPr>
          </a:p>
        </p:txBody>
      </p:sp>
    </p:spTree>
    <p:extLst>
      <p:ext uri="{BB962C8B-B14F-4D97-AF65-F5344CB8AC3E}">
        <p14:creationId xmlns:p14="http://schemas.microsoft.com/office/powerpoint/2010/main" val="4182598170"/>
      </p:ext>
    </p:extLst>
  </p:cSld>
  <p:clrMapOvr>
    <a:masterClrMapping/>
  </p:clrMapOvr>
</p:sld>
</file>

<file path=ppt/theme/theme1.xml><?xml version="1.0" encoding="utf-8"?>
<a:theme xmlns:a="http://schemas.openxmlformats.org/drawingml/2006/main" name="Office">
  <a:themeElements>
    <a:clrScheme name="Custom 1">
      <a:dk1>
        <a:srgbClr val="101623"/>
      </a:dk1>
      <a:lt1>
        <a:srgbClr val="FFFFFF"/>
      </a:lt1>
      <a:dk2>
        <a:srgbClr val="44546A"/>
      </a:dk2>
      <a:lt2>
        <a:srgbClr val="E7E6E6"/>
      </a:lt2>
      <a:accent1>
        <a:srgbClr val="4472C4"/>
      </a:accent1>
      <a:accent2>
        <a:srgbClr val="ED7DEA"/>
      </a:accent2>
      <a:accent3>
        <a:srgbClr val="47DE13"/>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S1_Week5_kvaratharaja_annotated" id="{1325B490-456F-614D-BFB2-E826360AF242}" vid="{3DDC5642-7B7C-754C-809D-713C14150B84}"/>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Template>
  <TotalTime>0</TotalTime>
  <Words>2290</Words>
  <Application>Microsoft Macintosh PowerPoint</Application>
  <PresentationFormat>Bildschirmpräsentation (16:9)</PresentationFormat>
  <Paragraphs>369</Paragraphs>
  <Slides>33</Slides>
  <Notes>7</Notes>
  <HiddenSlides>0</HiddenSlides>
  <MMClips>0</MMClips>
  <ScaleCrop>false</ScaleCrop>
  <HeadingPairs>
    <vt:vector size="6" baseType="variant">
      <vt:variant>
        <vt:lpstr>Verwendete Schriftarten</vt:lpstr>
      </vt:variant>
      <vt:variant>
        <vt:i4>9</vt:i4>
      </vt:variant>
      <vt:variant>
        <vt:lpstr>Design</vt:lpstr>
      </vt:variant>
      <vt:variant>
        <vt:i4>1</vt:i4>
      </vt:variant>
      <vt:variant>
        <vt:lpstr>Folientitel</vt:lpstr>
      </vt:variant>
      <vt:variant>
        <vt:i4>33</vt:i4>
      </vt:variant>
    </vt:vector>
  </HeadingPairs>
  <TitlesOfParts>
    <vt:vector size="43" baseType="lpstr">
      <vt:lpstr>Segoe UI Light</vt:lpstr>
      <vt:lpstr>Segoe UI Black</vt:lpstr>
      <vt:lpstr>Arial</vt:lpstr>
      <vt:lpstr>Quattrocento Sans</vt:lpstr>
      <vt:lpstr>Calibri</vt:lpstr>
      <vt:lpstr>Segoe UI Semibold</vt:lpstr>
      <vt:lpstr>Cambria Math</vt:lpstr>
      <vt:lpstr>Segoe UI</vt:lpstr>
      <vt:lpstr>Wingdings</vt:lpstr>
      <vt:lpstr>Office</vt:lpstr>
      <vt:lpstr>CS1 Week 7</vt:lpstr>
      <vt:lpstr>Recap Last Week</vt:lpstr>
      <vt:lpstr>Quiz 1</vt:lpstr>
      <vt:lpstr>Quiz 2</vt:lpstr>
      <vt:lpstr>Quiz 3 </vt:lpstr>
      <vt:lpstr>Quiz 4</vt:lpstr>
      <vt:lpstr>Quiz 5</vt:lpstr>
      <vt:lpstr>Motivation</vt:lpstr>
      <vt:lpstr>Course Schedule</vt:lpstr>
      <vt:lpstr>Today</vt:lpstr>
      <vt:lpstr>1. Feedback Control</vt:lpstr>
      <vt:lpstr>The Initial Problem</vt:lpstr>
      <vt:lpstr>Key Relations</vt:lpstr>
      <vt:lpstr>Effects of Proportional Control C(s)=k</vt:lpstr>
      <vt:lpstr>Effects of Proportional Control</vt:lpstr>
      <vt:lpstr>2. Root Locus</vt:lpstr>
      <vt:lpstr>Proportional Feedback</vt:lpstr>
      <vt:lpstr>Root Locus Rules</vt:lpstr>
      <vt:lpstr>Root Locus Properties</vt:lpstr>
      <vt:lpstr>Example</vt:lpstr>
      <vt:lpstr>Example</vt:lpstr>
      <vt:lpstr>PowerPoint-Präsentation</vt:lpstr>
      <vt:lpstr>Zooming Out</vt:lpstr>
      <vt:lpstr>Asymptotes</vt:lpstr>
      <vt:lpstr>How to Draw Root Locus</vt:lpstr>
      <vt:lpstr>Examples</vt:lpstr>
      <vt:lpstr>Examples</vt:lpstr>
      <vt:lpstr>Exam Question</vt:lpstr>
      <vt:lpstr>Exam Question</vt:lpstr>
      <vt:lpstr>Different Controllers</vt:lpstr>
      <vt:lpstr>Tips for Problem Set 6</vt:lpstr>
      <vt:lpstr>Questions?</vt:lpstr>
      <vt:lpstr>Feedback?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CS1 Week 6 Annotated</dc:title>
  <dc:creator>Varatharajan  Kissan</dc:creator>
  <cp:lastModifiedBy>Varatharajan  Kissan</cp:lastModifiedBy>
  <cp:revision>4</cp:revision>
  <dcterms:created xsi:type="dcterms:W3CDTF">2025-10-18T14:01:04Z</dcterms:created>
  <dcterms:modified xsi:type="dcterms:W3CDTF">2025-10-30T22:41:40Z</dcterms:modified>
</cp:coreProperties>
</file>