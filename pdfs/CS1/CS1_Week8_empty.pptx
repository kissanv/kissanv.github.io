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8"/>
  </p:notesMasterIdLst>
  <p:handoutMasterIdLst>
    <p:handoutMasterId r:id="rId29"/>
  </p:handoutMasterIdLst>
  <p:sldIdLst>
    <p:sldId id="256" r:id="rId2"/>
    <p:sldId id="1052" r:id="rId3"/>
    <p:sldId id="1189" r:id="rId4"/>
    <p:sldId id="1266" r:id="rId5"/>
    <p:sldId id="1249" r:id="rId6"/>
    <p:sldId id="1070" r:id="rId7"/>
    <p:sldId id="257" r:id="rId8"/>
    <p:sldId id="1097" r:id="rId9"/>
    <p:sldId id="1251" r:id="rId10"/>
    <p:sldId id="1252" r:id="rId11"/>
    <p:sldId id="1253" r:id="rId12"/>
    <p:sldId id="1254" r:id="rId13"/>
    <p:sldId id="1255" r:id="rId14"/>
    <p:sldId id="1258" r:id="rId15"/>
    <p:sldId id="1259" r:id="rId16"/>
    <p:sldId id="1261" r:id="rId17"/>
    <p:sldId id="1260" r:id="rId18"/>
    <p:sldId id="1263" r:id="rId19"/>
    <p:sldId id="1257" r:id="rId20"/>
    <p:sldId id="1262" r:id="rId21"/>
    <p:sldId id="1256" r:id="rId22"/>
    <p:sldId id="1264" r:id="rId23"/>
    <p:sldId id="1265" r:id="rId24"/>
    <p:sldId id="1171" r:id="rId25"/>
    <p:sldId id="1118" r:id="rId26"/>
    <p:sldId id="1067" r:id="rId2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0"/>
    </p:embeddedFont>
    <p:embeddedFont>
      <p:font typeface="Quattrocento Sans" panose="020B0502050000020003" pitchFamily="34" charset="0"/>
      <p:regular r:id="rId31"/>
      <p:bold r:id="rId32"/>
      <p:italic r:id="rId33"/>
      <p:boldItalic r:id="rId34"/>
    </p:embeddedFont>
    <p:embeddedFont>
      <p:font typeface="Segoe UI" panose="020B0502040204020203" pitchFamily="34" charset="0"/>
      <p:regular r:id="rId35"/>
      <p:bold r:id="rId36"/>
      <p:italic r:id="rId37"/>
      <p:boldItalic r:id="rId38"/>
    </p:embeddedFont>
    <p:embeddedFont>
      <p:font typeface="Segoe UI Black" panose="020B0A02040204020203" pitchFamily="34" charset="0"/>
      <p:bold r:id="rId39"/>
      <p:italic r:id="rId40"/>
      <p:boldItalic r:id="rId41"/>
    </p:embeddedFont>
    <p:embeddedFont>
      <p:font typeface="Segoe UI Light" panose="020B0502040204020203" pitchFamily="34" charset="0"/>
      <p:regular r:id="rId42"/>
      <p:italic r:id="rId43"/>
    </p:embeddedFont>
    <p:embeddedFont>
      <p:font typeface="Segoe UI Semibold" panose="020B0702040204020203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tandardabschnitt" id="{C6295B93-5FFC-9442-A817-245B0E7A1F78}">
          <p14:sldIdLst>
            <p14:sldId id="256"/>
            <p14:sldId id="1052"/>
            <p14:sldId id="1189"/>
            <p14:sldId id="1266"/>
            <p14:sldId id="1249"/>
            <p14:sldId id="1070"/>
            <p14:sldId id="257"/>
          </p14:sldIdLst>
        </p14:section>
        <p14:section name="Time response" id="{1FBDD870-616A-2043-9AB2-93A2A117B0C5}">
          <p14:sldIdLst>
            <p14:sldId id="1097"/>
            <p14:sldId id="1251"/>
            <p14:sldId id="1252"/>
            <p14:sldId id="1253"/>
            <p14:sldId id="1254"/>
          </p14:sldIdLst>
        </p14:section>
        <p14:section name="System Response" id="{99F6F273-773A-6046-92C4-2E3701EFB2E9}">
          <p14:sldIdLst>
            <p14:sldId id="1255"/>
            <p14:sldId id="1258"/>
            <p14:sldId id="1259"/>
            <p14:sldId id="1261"/>
            <p14:sldId id="1260"/>
            <p14:sldId id="1263"/>
            <p14:sldId id="1257"/>
            <p14:sldId id="1262"/>
          </p14:sldIdLst>
        </p14:section>
        <p14:section name="PID-Control" id="{AB066B52-7B3D-FD40-BEC1-580AB52DEF13}">
          <p14:sldIdLst>
            <p14:sldId id="1256"/>
            <p14:sldId id="1264"/>
            <p14:sldId id="1265"/>
          </p14:sldIdLst>
        </p14:section>
        <p14:section name="Summary &amp; Problem Sets" id="{BCE4D2BE-C8A5-E54A-85DF-74588FB6A961}">
          <p14:sldIdLst>
            <p14:sldId id="1171"/>
          </p14:sldIdLst>
        </p14:section>
        <p14:section name="Ende" id="{FDF356B0-7B14-AF44-83A9-6B143533D1BA}">
          <p14:sldIdLst>
            <p14:sldId id="1118"/>
            <p14:sldId id="10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8F5"/>
    <a:srgbClr val="178F55"/>
    <a:srgbClr val="CCCCCC"/>
    <a:srgbClr val="E7E7E8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1796"/>
  </p:normalViewPr>
  <p:slideViewPr>
    <p:cSldViewPr snapToGrid="0">
      <p:cViewPr varScale="1">
        <p:scale>
          <a:sx n="81" d="100"/>
          <a:sy n="81" d="100"/>
        </p:scale>
        <p:origin x="176" y="17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20:11:53.169"/>
    </inkml:context>
    <inkml:brush xml:id="br0">
      <inkml:brushProperty name="width" value="0.08571" units="cm"/>
      <inkml:brushProperty name="height" value="0.08571" units="cm"/>
      <inkml:brushProperty name="color" value="#FFC114"/>
    </inkml:brush>
  </inkml:definitions>
  <inkml:trace contextRef="#ctx0" brushRef="#br0">1 503 9235,'8'-13'511,"7"0"-283,2-7 1,6-2-30,2-6 0,1-3-252,5-5 1,-1 2 136,4-3 1,-2 3-524,-1 0 1,-2 6 286,-4 3 0,-1 0-605,-2 6 0,2 0 42,-5 5 715,-3 2 0,-4 8 0,-4 0 0</inkml:trace>
  <inkml:trace contextRef="#ctx0" brushRef="#br0" timeOffset="499">51 937 8097,'12'-17'-8,"2"-3"0,2-1 133,0-4 1,6-4 254,3-2 1,2-5-129,6-3 0,0-3-58,6-2 1,0 0 3,3-3 1,0-2 52,3-4 0,-3 6-160,0 0 0,-2 4 156,-3 4 1,-1-1-509,-3 4 1,-3 4-42,-2 7 0,-3 3-184,-3 6 0,-1 0 269,-4 2 1,-4 3-114,-2 5 0,-5 3-865,0 3 1195,-4 3 0,-32 43 0,-12 13 0</inkml:trace>
  <inkml:trace contextRef="#ctx0" brushRef="#br0" timeOffset="975">101 1581 8097,'-4'5'-105,"3"0"361,-1-2-198,1-3 293,1 4-84,3-4 1,5-4 22,3-5 1,4-4 126,-1-6 1,6-6 3,5-6 0,5-7-133,6-7 0,4-7 196,8-12 0,3-5-324,7-9 0,4 0 76,-1 0 0,0 1-90,-2 7 0,-1 1-162,1 2 0,-2-2-135,-4 2 0,-1 3-418,-4 8 1,0-1 105,0 4 1,-5 5 194,-6 6 0,-5 8-563,-7 6 0,-4 9-306,-5 6-232,-3 2 1369,-1 8 0,-7 6 0</inkml:trace>
  <inkml:trace contextRef="#ctx0" brushRef="#br0" timeOffset="1401">695 1464 8059,'8'-12'721,"1"-2"1,6-6-251,5-5 0,9-12-164,7-11 0,7-8 281,10-9 0,-1-1-512,3 0 1,1-1 305,3 0 0,-1 3-135,1-1 0,-4 9-377,-2 0 0,-2 1-15,-1 2 0,-1 1-86,-2 5 1,-5 5-599,-5 6 0,-3 1 431,-1 2 0,-3 3-50,-2 2 1,-6 10 47,-2 4 1,-3 5-939,-4 3 1338,0 2 0,-5 4 0,0 0 0</inkml:trace>
  <inkml:trace contextRef="#ctx0" brushRef="#br0" timeOffset="1817">1782 879 8805,'-5'-1'1577,"3"-2"0,5-5-980,6-6 0,7-9 98,9-5 0,9-11-237,8-6 0,5-7-122,9-4 1,2-4-308,7-1 1,0 1 198,-4 7 0,-4 5-865,-7 9 1,-4 0-65,-4 5 1,-1 0-715,-2 6 0,-5 4 1415,-3 4 0,3-5 0,5-1 0</inkml:trace>
  <inkml:trace contextRef="#ctx0" brushRef="#br0" timeOffset="2448">2786 620 8010,'-5'-4'1757,"1"-1"-1147,4-3 0,4-3 114,2 0 1,7-8-361,4 0 1,9-8-143,2-4 1,10-5-58,4-3 0,5-3-126,1-3 1,1 2-717,1-1 0,-1 2 474,-5 3 1,-4 6-2366,-9 5 2568,-2 5 0,3-12 0,2 0 0</inkml:trace>
  <inkml:trace contextRef="#ctx0" brushRef="#br0" timeOffset="2892">3296 586 8009,'-5'5'637,"1"-1"1,6-9-91,4-3 1,4-5 246,10-7 1,6-6-186,7-7 0,12-8 4,8-7 1,3-1-278,3-1 1,-2 4-110,-5 5 1,-2 2-667,-8 6 1,-5 4 325,-4 4 1,-3 5-1189,-5 6 1,-4 2 1300,-1 3 0,-6 1 0,-2 0 0</inkml:trace>
  <inkml:trace contextRef="#ctx0" brushRef="#br0" timeOffset="3540">3982 536 8009,'-9'5'393,"1"-2"211,-1-3 1,4 3 593,-1 0-789,4 0 0,1-4 191,4-2 1,7 0-167,-2-5 0,7 0-123,2-5 1,3-4-131,5-3 1,4-6-141,2 1 1,2-5-177,3 3 1,1-5-352,2 1 1,1 0-2448,-3 0 2933,-1 6 0,-6 12 0,-2 5 0</inkml:trace>
  <inkml:trace contextRef="#ctx0" brushRef="#br0" timeOffset="3951">4458 553 9113,'10'-10'521,"1"-1"1,6-4-294,8-7 0,6-2 697,8-9 0,4 0-1175,7-6 1,-4 4 162,-1-2 1,-7 7-645,-4 2 731,-5 6 0,-7 5 0,-2 5 0</inkml:trace>
  <inkml:trace contextRef="#ctx0" brushRef="#br0" timeOffset="4515">5127 436 8009,'-3'4'954,"2"0"0,1-5-713,5-2 1,6-2 61,3-6 0,6-3-61,2-6 0,6-1-68,3-4 0,5-4-183,3-2 1,1 0-281,-1 0 0,2-2-168,-2 3 0,-3 2 41,-2 3 416,-5 0 0,4-4 0,1-5 0</inkml:trace>
  <inkml:trace contextRef="#ctx0" brushRef="#br0" timeOffset="4983">5637 419 7779,'1'5'1615,"2"-3"-1041,-2-1 0,9-4 0,-1-3 1,5-2-138,0-4 0,5-1-63,3-7 1,6-1-184,3-4 1,2-3 35,4 0 1,-2-3-536,4 3 1,-1-2 253,1 2 0,-2 4-2357,-3 4 2411,-5 2 0,0 5 0,-4 1 0</inkml:trace>
  <inkml:trace contextRef="#ctx0" brushRef="#br0" timeOffset="5426">6097 494 8545,'9'-4'322,"0"0"548,2-5 0,10-4-286,7-3 1,7-6-458,4-6 1,5 0-73,4-3 0,0-1-149,0 5 0,-4 0-642,-5 4 1,-3 3 459,-5 3 0,1 0 276,-4 1 0,-15-16 0,-7-3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20:29:31.1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24575,'2'1'0,"-1"0"0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20:29:38.9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2068 406 24575,'-3'-2'0,"2"11"0,-3 12 0,-1 15 0,-1 6 0,-1 4 0,2-8 0,3-10 0,1-13 0,1-16 0,5-9 0,9-14 0,13-15 0,7-4 0,0 3 0,-9 11 0,-15 18 0,-21 29 0,-28 39 0,9-15 0,-3 4 0,-5 8 0,-2 1 0,3-4 0,1-2 0,-18 25 0,19-27 0,19-30 0,14-27 0,15-27 0,10-17 0,4-2 0,-5 12 0,-17 20 0,-28 19 0,-37 24 0,-28 22 0,40-15 0,0 1 0,-32 23 0,31-18 0,25-21 0,25-23 0,16-18 0,8-9 0,3 1 0,-8 12 0,-9 16 0,-8 11 0,-5 10 0,-4 4 0,-1 3 0,-2 9 0,-7 24 0,-9 28 0,8-30 0,0 2 0,0 0 0,0-1 0,-10 27 0,12-33 0,8-32 0,9-34 0,8-27 0,6-17 0,5-8 0,-2 12 0,-7 21 0,-6 22 0,-6 24 0,-8 25 0,-10 28 0,-6 15 0,-1 0 0,6-17 0,8-25 0,5-25 0,3-31 0,2-37 0,1-29 0,0 40 0,0 0 0,0-37 0,-1 35 0,-1 26 0,-4 25 0,-5 26 0,-6 33 0,7 2 0,1 9 0,0 21 0,2 7-213,2-19 0,1 4 0,0 0 213,1 1 0,0 0 0,1-2 0,-1-9 0,0-3 0,0-3 0,-1 15 0,-1-8 0,-2 10 0,1-51 0,4-98 0,1-20 0,0-18 0,1 31 0,0-6 0,0-4 0,0 1-386,0-9 1,0-1 0,0-1 0,0 2 385,1 4 0,-1 1 0,1 3 0,0 3 0,-1-5 0,1 4 0,1 8 294,-1 3 1,0 10-295,1-4 0,-12 72 0,-7 31 0,-2 18 0,-3 5 0,-2 10 0,-1 5-535,0 2 0,-1 6 1,-1 3-1,1 2 535,4-12 0,0 2 0,1 2 0,0-1 0,0-1 0,-2 16 0,0 1 0,2-3 0,1-2-112,-2 11 0,2-4 0,3-7 112,1 5 0,3-12 691,4-27 0,1-9-691,1-2 0,4-49 0,2-57 0,1-15 0,0-18 0,0 21 0,0-7 0,0-5 0,0-3-98,0 4 0,1-5 0,-1-1 0,0-2 1,1 1 97,0-3 0,1 0 0,-1-1 0,1 1 0,0 3 0,1-14 0,0 2 0,0 3 0,2 6 102,0-2 1,1 6-1,1 9-102,1 0 0,1 11 0,3-8 0,-3 50 0,-3 20 0,9 13 2811,20 31-2811,-5 9 0,2 10 0,-4 3 0,0 7 0,-1 5-617,4 18 0,-2 8 1,-3 4 616,-7-11 0,-2 5 0,-3 3 0,-2-1-415,-3-14 0,-3 1 0,0 0 0,-3 0 0,-2-1 415,-1 15 0,-3 0 0,-3-1 0,-2-4 0,-2-8 0,-2-3 0,-2-2 0,-3-5 0,-4 3 0,-2-5 0,-2-7 0,-8 6 0,0-10 0,-15 17 0,22-44 1693,15-31-1693,7-32 2287,3-41-2287,2 10 0,2-7 0,5-21 0,4-6 0,-1 28 0,2-1 0,1 0 0,10-29 0,3 3 0,-1 15 0,0 7 0,-7 20 0,-2 6 0,1-11 0,-25 32 0,-37 17 0,-7 12 0,-11 6 0,-24 7 0,-6 5 0,22-4 0,-2 1 0,0 2 0,-1 2 0,1 1 0,3-1 0,-18 7 0,8-1 0,22-9 0,6-3 0,-9 0 0,60-35 0,56-31 0,-7 12 0,6-3 0,14-8 0,2 1 0,2 0 0,0 1 0,-5 2 0,-3 2 0,-10 6 0,-4 1 0,23-16 0,-30 16 0,-25 15 0,-23 9 0,-33 3 0,-26 0 0,-20-3 0,2-3 0,26-1 0,24-5 0,35-12 0,61-31 0,-3 16 0,11-1 0,-9 8 0,6-1 0,1 0-225,6-2 0,1 1 0,0 1 225,-6 4 0,0 1 0,-4 2 0,18-8 0,-8 3 0,-23 12 0,-6 4 0,12-5 0,-35 15 0,-16 6 0,-4-1 0,9-8 675,28-18-675,38-25 0,-21 17 0,5-1 0,5-3 0,1 0 0,-2 3 0,-3 2 0,-10 7 0,-4 3 0,16-6 0,-28 16 0,-23 13 0,-17 5 0,-25 10 0,-61 29 0,16-6 0,-10 5 0,10-5 0,-5 2 0,-2 0-252,-3 2 0,-2 1 0,1-3 252,7-3 0,0-2 0,3-1 0,-20 6 0,7-5 0,25-10 0,8-5 0,-16-1 0,46-23 0,40-18 0,24-12 0,22-10 756,17-4-756,-37 27 0,0 1 0,2-1 0,0 1 0,-1 2 0,-2 2 0,29-14 0,-20 12 0,-24 9 0,-51 8 0,-60 9 0,8 3 0,-8 0 0,-15 1 0,-3-1 0,0 1 0,1-2 0,13-1 0,6-2 0,23 0 0,8-2 0,-12-3 0,38-7 0,28-17 0,34-25 0,0 10 0,2 1 0,10-10 0,9-3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14:31.405"/>
    </inkml:context>
    <inkml:brush xml:id="br0">
      <inkml:brushProperty name="width" value="0.5" units="cm"/>
      <inkml:brushProperty name="height" value="1" units="cm"/>
      <inkml:brushProperty name="color" value="#47DE13"/>
      <inkml:brushProperty name="tip" value="rectangle"/>
      <inkml:brushProperty name="rasterOp" value="maskPen"/>
    </inkml:brush>
  </inkml:definitions>
  <inkml:trace contextRef="#ctx0" brushRef="#br0">1609 1878 12208,'-42'78'983,"9"-1"0,6-25-986,8 5 23,-9 1 61,5-6-187,5-6 212,2-16-707,9-14 176,28-82 299,-5 27 43,3-9 0,0-1 137,4 3-181,0 1 275,0 4-229,0 1 160,5 6-133,-8 4 11,1 7-270,-9 7 335,-42 81 279,16-27-247,-12 10 0,-1 2 27,3 7-79,-10-10 27,10 4-201,-4-10 211,10-7-662,7-11 814,41-88-39,0 15 17,-1-8 0,3-5-109,19-23-32,-25 41 0,0-1-52,3-1 1,0 0 129,18-39-268,-2 17 86,-21 28-718,-7 19 696,-53 88 143,21-32-99,-13 15 0,-2 2 273,6-3-47,-11 4-65,6-1-107,1-10 18,10-7-1002,6-16 664,43-84 173,-17 31 54,10-10 1,-1 0 193,-10 17-263,4 5 902,-6 5-983,16 6 168,-6-8 48,12 6-3,-15-14-32,3 5 176,-8 5 12,9-4-412,-4 9 293,5-3 33,5 9-380,-9-3-139,8-1 241,-4 3 107,1-2 189,4 5-58,-5 4-57,5-5 210,-4 12 830,4 5-723,-86-44-167,50 33-59,-74-51-41,70 43 44,-11-9 0,0 1 87,0 3-60,0 2 53,0 0 95,0 5-105,0-5 15,0-1 231,0 1-157,0-1-71,0-5 219,0 5-166,0-5 56,0 6-165,0-1-162,0 1 188,0-1-185,0-4 53,0-2-23,5 0 62,-9 1 0,8 6 242,-9 4-104,0-3-37,4 9-39,-4-4-50,-1 5-47,5-5-29,-4-2 23,5-4-24,0-1 43,0-4 9,0-2 20,0 0-64,5 1 47,-3 1-128,8-2 90,-9 0 42,4-4 4,0 9-26,-3-8 70,3 8 82,-5-4-112,0 6 95,0-6-60,0 5-74,0-10 18,5 9 10,-4-4-24,4 1 16,-5-2 4,6 0 1,0-4 0,0 5-107,5-6 73,-5 0 24,0 0 6,5 5-16,-15 1 201,8 6-63,-9-1-103,5 1 22,0-1-251,0 1 285,0-6 189,0-1-340,5 0-38,1-8 10,6 6-414,-6-8 479,-6 16-27,-1 1 164,-9 22-203,8-9-148,-3-2 273,10-23-77,2 3-30,9-12-48,-3 14 154,-1-5 181,-12 5-44,-1 7-419,-5 5 345,12-9-1062,0-4 583,46 76 398,-20-37 6,12 28 0,0 4-58,-4-11 37,-4 10 23,3 2-25,-4-1 19,-1 4-22,1 2 254,-6-5-186,4 9 19,-8-10 28,8 5 16,-9 6 67,4-4-105,-5 3 3,5-4-4,-3 4-121,3 2 114,-5 10-6,0 1 63,0 6-2,0-1 5,0 6-54,0-4 148,0 3-116,0-4 34,0-6-109,0-6-21,0 4 35,0-13-15,0 7-341,-5-9 204,3-6-121,-3-6 98,5-11-2,-5-18 136,-1-93-19,-1 18 25,4-10 1,1-5-21,2-26 5,0 45 1,0-1-5,0-3 1,0 1 0,0-4 0,0 2-36,0 3 0,0 1 35,2 2 1,1 2-24,4-24 3,4 24-16,-4 28 147,3 104 23,-9-32-3,2 20 0,-1 6 532,-2 18-329,-2-38 1,-1 2-145,3 5 1,-1 1-36,-2 0 0,1 0-2,2-1 1,0-1-18,0-1 0,0 0-52,-1-7 1,2-3-255,4 32-219,1-25 125,6-24-273,-6-21 265,15-73 103,-18 24-109,7-21 0,1-7 139,-5 15 1,-1 0 65,4-12 0,0-5 81,3-8 1,-1-3-89,1 0 1,-1 0 169,1 2 0,-1 1-115,-2 2 0,0 3 118,2 12 1,0 6 75,2-18-82,-2 31 233,-1 34-152,-8 68 274,3 13-249,-7-12 0,-1 4-107,2 0 1,0 0 193,-1 6 1,-1 2-98,3 2 1,0 1-48,0 4 0,0 0-31,0-4 1,0-2-114,0-9 1,0-2 44,2-12 1,1-5-340,9 19 350,0-39-710,5-19 590,5-72-301,-8-10 277,0 9 0,-1-4-7,-7 4 0,0 0 140,5-1 0,0 0-80,-2-9 0,0-1 100,2 8 1,1 2-101,-3-1 0,0 3 48,13-35-57,-15 44 251,3 26-81,-10 120 269,0-2-13,-2-7 0,-1 6-92,3-18 1,-1-1 71,-4 5 0,0 2-39,4-2 1,1 0-165,-3 2 0,0-2 5,5-5 1,2-4-114,-2-9 0,2-5 32,13 33-550,-5-40-494,5-24 453,5-89-26,-3 3 395,-5-3 0,0-5 62,-3 14 0,1 0 159,2-5 1,0 0-88,0-3 1,1 0 43,2 7 0,1 1-95,1 2 0,1 3 198,16-27-193,-1 32-28,-12 22 278,-17 97 378,-12-6-104,-2 0 1,-2 4-154,-4-16 1,0-2-81,2 1 1,-1-1-10,-15 42-127,10-7 55,2-17-356,9-22-692,7-19 534,37-104 294,-7 13 11,-3-4 0,1-4-104,6-21-9,-4 5-109,-2 17-360,-11 14-147,-5 32 521,-27 116 717,-1-30 55,3 13 1,-2 2 491,-6 4 0,8-11-645,-4-3-80,6-9-603,-1-16-639,6-14 369,21-99 369,0 20 183,1-9 0,2 0 195,5-4-231,0 1 16,-6 6-16,5 15-10,-14 3 443,2 26 93,-30 80-164,9-33-34,-10 62-127,11-61 43,8-6-109,-3-1-1020,0-5 788,39-87 210,-30 50-95,37-74 171,-34 70 442,-1 0-394,4 73-105,-9-38-3,5 56-227,-6-62 596,0 1-356,-6 25 18,0-14 9,0 25-128,-5-24 111,10 4-77,-4 1-24,0-5-15,4 4 46,-4 0 10,5-4 162,0 4-137,0 0-11,0-3 25,0 3 123,0 0-130,0-4-28,0 4 0,5 0 31,-4-3-94,4 3-5,-5 0 123,0-4-8,0 4-8,0 0-22,0-4 30,0 4 17,0 1 5,0-5-89,0 4 45,0 0-141,5-4 16,-4 4 61,5 0 1,-1-3 75,-4 3-44,4 0-51,-5-4-38,0 4 88,5 0 32,-4-3 30,5 3-35,-6 0-273,0-4 124,0 4 63,5 0 130,-4-4-55,4 5-3,-5-1 1,0-4 2,0 4-4,5 0-4,-4-4 1,5 4 153,-1 1-139,-4-5 24,9 4-56,-9 0-49,10-9 71,-10 13-72,9-13 63,-9 9-8,10 0 25,-10-3-37,4 3 25,0 0 0,-4-4-49,10 4 51,-10 0-18,9-9 20,-9 13 4,10-13 75,-5 10-204,5-6 115,-4-1 2,3 7 27,-4-5 40,6-1-50,-1 4 2,1-8-4,-1 9 20,1-5 5,-1 0-219,1 0 12,-1 0 4,1 0 113,-1 0 141,1 0-9,-1 0-109,1 0-188,-1 0 164,6 0 38,-4 0 80,3 0 34,-4 0-74,-1 0-267,1 0 55,-1 0 222,-4 5-70,3-4-93,-4 4 234,1-5-92,3 0-53,-4 5 222,1-4-509,3 4 285,-4-5-117,6 0-203,-1 0 335,1 0 18,-1 0 87,1 0 18,-1 0-406,1 0 648,-1 0-277,1 0-94,-1 0 284,1 0-306,-62-71 0,26 17-4,-14-14 0,0-3 10,4-10 101,-1-9-67,1 2-3,-1-15-27,1 5 292,-6-10-28,4-2-8,14 38 1,0 1 52,-14-46-197,16 48 0,0 1-305,-14-36 231,5 12-328,1 7 121,-1 4-75,5 1 54,-4-1 85,0-4-85,-1-7 69,-1-7 292,-3-9-229,4 3 367,-1 2-96,2 6 124,10 5-249,2 15 14,9 9-852,-3 22 745,29 114-68,-14-45 117,10 42 1,2 9-52,-5-39 0,-1 0 206,4 28 0,0 5 0,2-4 0,0-1 26,-2-1 1,0-1-152,-4-6 0,1-2 14,-1-11 0,-1-3-88,-2 36 149,2-29-285,-10-35-230,0-18 79,-25-98-47,3 5 271,-2-3 0,-2-7 132,6 12 0,-1-1 0,-3-7 0,0-2-64,0 4 1,2 1 0,2 3 0,1 2 159,5 15 0,2 1 1,-1 2-1,1 1 23,1 2 1,-1 0 16,3 3 0,1-2-80,-3-18 0,0-2-18,2 8 0,0 1-1,0-16 0,0 1-49,0 19 1,1 4-258,2-26 178,-4 38-366,3 28 459,-9 108 181,8-13-86,2 6 0,2 8-119,3-15 1,2 0 0,1 6 0,1 0 76,1-3 0,0-1 1,-1-5-1,0-3-57,1-18 0,0-1 1,-1 6-1,0 1 102,1-3 0,0 1-56,1-1 0,0 1-41,1 11 0,0 1-10,0-4 0,0 1-14,0 1 1,0-2-48,4 29-28,-9-49 32,4-29-119,-20-110 142,6 28 1,-5-20 0,-1-5-29,5 29 1,1 3-1,-3-8 1,1 1 44,3 9 0,0 0 0,0-2 0,0-1-2,0 2 0,0-1 1,2-3-1,0 0 16,-2-6 0,0-1 1,2 3-1,0-1-20,0-1 0,0 0 0,0 2 1,1 1 24,-1 6 1,0 1-28,1 1 0,-1 0 18,-3-9 0,1 1-67,2 13 0,-1 2-61,-14-47 2,8 52-238,-4 42 308,1 62-20,8-3 100,0 9 0,1 7 1,5-11-1,2 2-36,-2 17 0,0 3 1,2-5-1,-1-2 34,1-15 1,0-2 0,1 6 0,-1 0-42,2 0 0,0 2 1,1 3-1,-1 1 69,2 5 1,0-1 0,-1-6 0,0-1-12,0-1 1,-2-2 0,0-6 0,1-1 27,2-5 1,0-1 77,-2 42-90,2-35 1,2 1-262,6 32 282,-5-1-563,9-47 73,-15-40 368,4-89 0,-15-12 22,2 23 1,1-4 0,-1 9 0,0 2-3,1 10 0,-1 1 1,0 0-1,-1-1 6,2-3 0,-1 0 0,0-2 0,1-1 53,1-1 1,0 0-1,0-4 1,1 0-49,-1-6 0,0 0 0,1 7 0,0 2 129,1-2 1,0 1-21,-1 8 0,0 0-50,2-10 1,0 0-46,-3 6 1,0 1 1,1 6 1,-1 3-213,-6-16 82,1 51 119,-6 99 71,4-31-83,4 26 0,2 9 0,3-28 0,1 0 81,1 19 0,1 1 1,0-5-1,0-2-24,1-10 0,0-2 0,1 6 0,0 1-16,0 4 1,1 0-1,1 5 1,1 1-36,1 4 1,1-1 0,0-4 0,0-1 25,-1 0 1,1-1-1,2-6 1,0-2-61,-1-4 1,1-1-1,0-3 1,-1-1 22,-1-5 0,0-1-183,0 32 116,9 15-37,-7-30-62,4-9-218,-2-27 435,-15-77 1,-4-28 0,5 19-1,-1-3-53,-8-38 1,-1-5-1,4 14 1,1 6 99,1 21 0,1 3 1,0-7-1,1-2-29,0 1 1,0-2 0,1-5 0,-1-2 33,0-2 1,0 0 0,1 0 0,0 0-37,1 1 1,0 2 0,1 3 0,0 2 42,1 3 0,0 1-145,2 5 0,-1 0 110,-1-2 1,-1 1-176,-2-37 196,-2 16-452,-4 46 372,-5 71 0,0 24 0,3 10 25,1 0 0,1 4 0,5-17 0,1-2 64,1-3 0,0 1 0,-1 4 0,1 1-44,2 2 1,0 1-1,0 2 1,0 1-33,2-2 1,0 0 0,1 5 0,0 1 54,0 3 1,2 1-1,1 4 1,2 1-40,1-1 1,1-1 0,2-2-1,-1-2-2,-1-6 1,0-2 15,1-6 1,2 1-125,0 14 1,1-1 42,0-14 0,0 0-126,3 6 0,-2-3-159,5 24 185,-1-37-33,-11-27 630,-6-114-340,-11 23 1,3-20-1,-1-8-57,0 30 1,-1 2 0,1-5-1,1 2 2,3 14 0,-1 2 0,-2-3 0,1-1 77,-1 0 0,0-1 1,0-1-1,1-1-2,1-1 1,0 0-32,1 6 1,-1 0-413,0-7 1,0 1 4,0-26-6,1 19-582,5 57 820,0 51 1,0 28-1,0-13 1,1 4-20,1 24 0,0 3 197,-2-12 0,1-2 0,5-5 0,1 1-51,-3 1 1,0 0 0,2 0-1,2-2 156,-2-12 0,-1-2-36,1-2 0,0 2 7,2 18 1,0 3-189,1-8 0,-1 0 8,1 12 1,0-1 33,0-14 0,0-5-175,7 34-185,-4-24 73,-1-32 796,-4-15-252,-23-87-93,11 43-119,-20-65 16,23 69-1082,-3-4 0,21 93 726,-2-14 206,-3 11 0,1 4 87,4 22-169,-4-1 291,-6-17-108,-1-17 141,-5-19 793,0-21-848,21-84-557,-16 42-81,15-64 188,-20 80-517,5-2 726,2 71 9,-1-20-7,-1 57 300,-5-34-210,0 5 202,0-10-35,0 2-143,5-19 285,-3-2 688,8-12 0,1-107-386,-3 40-365,0-34 0,-1-8 142,0-15-571,-2 36 1,1-1 122,1 4 0,3 4-699,13-29 285,-4 26 35,8 33 106,-15 23 250,0 49-99,-7-18-141,-5 49 375,0-32-22,-5 21-95,4 0 0,-10 0 260,5-10-180,0-8 140,1-17 842,5-16-708,15-89 255,-1 9-457,-1 0 1,2-3 174,13-26-538,-4-1 176,10 9-358,-15 9 122,8 23 152,-20 27-309,3 8 153,-15 88 156,-1-34 57,0 59-28,-5-46 28,5-3 411,-6 3-264,1-16 467,5-1 510,-5-17-672,41-82-131,-12 16-68,7-13 1,5-3 33,10-22-200,-17 41 0,0 0 190,18-35-239,-1 12 102,-11 23-205,-6 23-44,-6 13 229,-6 61-457,-4-33 130,-7 54-4,-7-46 266,-4 19-7,-1-5 391,1 1-153,-1-1 838,6-11-177,52-82-897,-13 9 175,2-10 1,2-3-424,7-12 171,-8 12-166,-2 11 75,-5 16-360,-12 14 193,5 62 273,-14-8 247,-3 45-257,-17-26 139,-6 1-106,-4-6 247,4-1 329,-4-15-325,14-3 862,-2-20-679,41-69-94,-8 4-203,3-3 1,3-2 33,17-23-314,-4 10 125,7 7 91,-13 17-68,-1 17 90,-7 12-327,-10 17 346,-7 42 245,-6-26 65,0 25-232,32-77-392,-17 17 112,27-25 69,-34 23-504,3 8 1636,6-9-1146,-85 50 70,56-24-265,-81 33 70,68-27 65,-13-3 97,-1 4-17,-12 1-22,-7-1 37,-4-5 2,-6 5-2,0-5 129,-12 6-114,5-1 407,1 6 37,12-5 61,11 5-205,11-11-140,12-6 82,12-31-303,6-3 227,5-27-174,5 4 52,1-12 26,6-7 41,-1 1-11,1-4-279,-6 14 261,-1 7-173,-15 19-271,-3 21 297,-25 33-32,16 22 199,-15 27-148,19 10 374,1-4-179,0 4 262,5-10-47,1-6 145,-1-12 18,6-17 90,-4-12-413,-7-84 76,3 29-240,3-16 1,1-5 83,-7-16 18,6 25 0,-1-3-51,-2-5 0,-1 0 0,-2-3 1,-1 0-127,-2 5 1,1 2 44,-12-27 238,-7 25-150,18 27-315,-1 18 19,9 67 194,6-25 201,2 20 0,3 4-79,6 1 483,-4 23-188,9-15-51,-8-17 437,3-14-643,-4-74 1,-2-24-160,-4 5 1,2-32 0,1-7 59,-2 40 1,0 3 0,-1-5 0,0-1 7,1 7 1,0-1 0,-3-3 0,0 0 38,-1-4 1,1-1 0,-1 0 0,0-1-5,2 4 1,1 0 0,-1-1 0,0 0-21,0 0 1,1 1-1,1 0 1,0 0-117,0 3 1,0 1 57,1 4 0,-1-2 53,-4-10 0,-1-2-126,0 1 0,0 0 65,0-4 0,0 0-1,1 6 0,0 4-78,2-22 257,-5 25 116,10 29-167,-25 114 329,21-41-286,-5 23 0,0 2 469,10-10-116,0 9-328,0-12-40,0-16 163,0-13-660,10-113 137,-2 15 110,0-12 0,0-7-18,-2 19 0,0 2-159,0-7 1,-1-1 207,1-2 1,0 0 22,-3 6 0,0 0 203,0 3 1,-1 1-140,-1 12 1,-2 1 217,2 3 1,-2 2 39,-4-20 533,-1 19 268,-6 28 0,-14 84-589,15-33-342,-3 21 1,3 2 40,10-9 5,-5 5-189,6-2 138,0-16 330,0-11-431,0-79-11,0 12 41,0-7 0,0-3-276,6-16 141,-5 0 117,9-4 32,-9 19-75,10 3 447,-10 18-246,9 9 494,-4 7-58,11 2-86,1 3 365,0 0-493,-2-9-10,-9 8-309,-12-14-298,-8 9-121,0 1 164,-7-4-55,17 8 132,-12-9-255,8-1 260,-4 5 244,-1-9-146,6 4 17,-4-6 22,9 1 44,-5-1-4,6 1-47,0-1 94,0 1-65,0-1-5,0 6-24,0-4 32,0 8-992,0-3 699,-20 5-260,10 6 320,-12-10 242,17 2-160,5 1-285,0-8 364,0 13-131,0-9 18,5 0 96,-4 4 109,4-4 18,-5 0-125,0 3 328,0-3-270,0 0-13,0 4 24,0-4-81,0 0 74,0 3-265,0-3 180,0 0 16,0 4-11,0-4-87,0 0 34,0 4-213,0-5 416,0 1-41,0 4-7,0-4 0,0 0-98,6 4 17,-5-4-688,4-1 1324,-20 10-608,-4-2 203,-1 4-123,-10 60-3,26-40-34,-11 53 17,9-39-84,5-3 75,-9 23-50,9-17 17,-4 8 35,-1-1-7,5-8 16,-4 15-8,0-10-4,4 4-3,-4 0 0,5-4 1,-6 4 0,5 0 0,-4-3 0,5 3 0,0 0 20,0-4 1,0 9 24,0-8-34,0 3-17,0 0 18,0-4 4,0 4-5,0 0 55,0-4 3,0 4-28,0 1-14,0-5-18,0 4-142,-5 0 102,4-4-43,-4 4 81,5 0-30,0-3 151,0 3-91,0 0-30,0-4 46,0 4-61,0 0-26,0-3-79,5 3 105,-4 0 66,4-4-22,-5 4-38,0 0 10,0-4 9,0 5-2,0-1-34,0-4 4,0 4 15,0 0 0,0-4 0,0 4 0,0 1 0,5-5 0,-4 4-26,5 0 25,-6-4-17,5 4 20,-4 0-9,4-3 51,-5 3-35,0 0-4,0-4 88,0 4-105,0 0-31,0-3 44,0 3-4,0 0-9,0-4 3,0 4-1,0 0 19,0-4-93,0 4 84,0 6-5,0-9 2,0 8-11,0-10 24,0 0-23,0 5 30,0-3-22,0 3 20,5 0-10,-4-4-5,5 9-35,-6-8 32,0 13 1,0-13-4,0 14 166,0-10-115,0 6 16,0-1-25,0-5 7,0 5-11,0-5 9,0 0-60,0-1 53,0 1-131,0-5 111,0 4-61,0 0 37,0-4 138,0 4-129,0 0 47,0-3-31,-6 8-17,5-4 6,-4 1 1,5-2-11,0 0 20,0-4-44,0 4 27,0 0 55,0-4-48,0 5-3,0-1 1,0-4-15,0 4 20,0 0-47,0-4 29,0 4 0,0 1 10,0-5 3,0 4 3,0 0 78,0-4-77,0 4 5,0 0-47,0-3 49,0 8-337,0-9 256,5 9 94,-4-8-79,5 3 115,-6 0-98,5-4 89,-4 4-61,4 0 30,-5-4-6,0 5-159,5-1 135,-4-4-113,5 4 93,-6 0 76,5-4-85,-4 4 45,4 1-43,-5-5 63,0 4-12,0 0 46,0-4-162,0 4 92,5 5-150,-4-12 131,5 11 19,-6-9-51,5 1 59,-4 9 16,4-8-21,-5 3 32,0 0-14,0-4-46,0 4 34,5 5-7,-4-12 4,5 11 9,-6-9-3,0 1-57,0 9 47,0-9 10,0 4-12,5 6 15,-4-14-15,4 12 10,-5-9 55,0 1-45,0 9 2,0-8-20,0 3-128,0 0 130,0 1-137,5-5 110,-4 8 118,5-12-89,-6 8 7,0 0 49,0-4-62,0 4 45,5 0 128,-4-4-143,4 4-12,-5 1 25,0-5 21,0 4-26,0 0 23,0-4 89,0 4-11,0 0 6,0-3-14,0 3-55,0 0 7,0-4 4,0 4 70,0 0-83,0-3 137,0 3-128,5 0-53,-4-4 49,4 4-70,-5 0-27,0-4-23,0 5 201,6-1-25,-5-4-135,4 4-10,-5 0-35,0-4 9,0 4 177,0 0-132,0-3-40,0 3-62,0 0-12,0-4-88,0 4 136,0 0 25,0-3 253,5 3-184,-4 0-23,4-4 34,-5 4-48,6 0-189,-5-3-113,4 3 191,-5 0 183,5-4-145,-4 4 182,4 0-75,-5-4-39,0 4 33,0 1 153,6-5-231,-5 4 74,4 0-10,-5-4-4,0 4 17,0 0-16,0-3 3,0 3-182,0 0 227,0-4 52,0 4-73,0 0-52,0-3 63,5 3-18,-4 0-19,4-4 13,-5 4 164,0 0-175,0-4 523,0 5-152,-5-1-705,-1-4 0,-6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135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735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6297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4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6626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4334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790DAB1-6132-8E49-950C-7A4598C8BD5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B0CD05D9-D09D-3D4F-ABB6-B8CE6E32BC22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6185C12D-6E52-F241-A7F7-3B7AD5C9557C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EF7524D-3A07-A34A-9723-8DF210E9AD9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0C7E59-597D-B54B-A9E3-7D29B1447A1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AE2E1015-23F4-4B40-A11E-C001C2B9BC0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2D306621-6DD1-614E-A652-AE9A8EB2D1A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7C8DF265-596D-3D4F-8B95-AA2651B4D46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EBA4EB2-964C-114D-A560-441B6A37627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42EF2A13-8ED6-3345-A350-8DA17845BB6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53B36267-238A-A141-939E-43BF76AEAD21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07.11.25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C2C286-74A8-CF18-6D5D-5483E3A588C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25D8FA1-CEF5-7E41-FFD1-9BC94CF745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9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10.jpeg"/><Relationship Id="rId4" Type="http://schemas.openxmlformats.org/officeDocument/2006/relationships/image" Target="../media/image13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customXml" Target="../ink/ink1.xml"/><Relationship Id="rId12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49.png"/><Relationship Id="rId5" Type="http://schemas.openxmlformats.org/officeDocument/2006/relationships/image" Target="../media/image44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0.png"/><Relationship Id="rId3" Type="http://schemas.openxmlformats.org/officeDocument/2006/relationships/image" Target="../media/image2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4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customXml" Target="../ink/ink2.xml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1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customXml" Target="../ink/ink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73.png"/><Relationship Id="rId7" Type="http://schemas.openxmlformats.org/officeDocument/2006/relationships/image" Target="../media/image8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86.png"/><Relationship Id="rId21" Type="http://schemas.openxmlformats.org/officeDocument/2006/relationships/image" Target="../media/image87.png"/><Relationship Id="rId7" Type="http://schemas.openxmlformats.org/officeDocument/2006/relationships/image" Target="../media/image94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7.png"/><Relationship Id="rId5" Type="http://schemas.openxmlformats.org/officeDocument/2006/relationships/image" Target="../media/image92.png"/><Relationship Id="rId15" Type="http://schemas.openxmlformats.org/officeDocument/2006/relationships/image" Target="../media/image101.png"/><Relationship Id="rId23" Type="http://schemas.openxmlformats.org/officeDocument/2006/relationships/image" Target="../media/image90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dHl0kjWo63aNzDkAV0cnmQadCAj5L0D7v7aSh0BK7BBdEgpA/viewform?usp=header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CS1 Week 8</a:t>
            </a:r>
            <a:br>
              <a:rPr lang="en-US" noProof="0" dirty="0"/>
            </a:br>
            <a:r>
              <a:rPr lang="en-US" noProof="0" dirty="0"/>
              <a:t>Empty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Time-Domain Specifications, PID Control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DF04DF-8383-902C-FBB4-F0102DCA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1110B-6CB5-5994-04AE-824730E5F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Recap Last Week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AD3CD8-E8F2-3C33-7DB9-8804A5B9A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010242-2D10-B3FC-938D-3ADDCFE1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E08D1C-18D4-1751-941C-81AF9A2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1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780CC6-E1DB-3F98-83C4-1DEEB9E7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A1775-A4F8-EB01-E052-BF7EEAECD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54" y="1369219"/>
            <a:ext cx="8679942" cy="326350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The Root Locus plot is a plot that shows…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165A5-333E-12B4-B27B-9CF0428A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0BEDA5-655A-7FD9-BCF1-35297F5D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4274F1B5-1457-AC76-495C-13031067C193}"/>
              </a:ext>
            </a:extLst>
          </p:cNvPr>
          <p:cNvSpPr/>
          <p:nvPr/>
        </p:nvSpPr>
        <p:spPr>
          <a:xfrm>
            <a:off x="628649" y="3425393"/>
            <a:ext cx="6653599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that shows us how a closed-loop system behaves when we close our eyes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1788C5D7-3A42-C654-C0D8-6812CAFBC84A}"/>
              </a:ext>
            </a:extLst>
          </p:cNvPr>
          <p:cNvSpPr/>
          <p:nvPr/>
        </p:nvSpPr>
        <p:spPr>
          <a:xfrm>
            <a:off x="628650" y="2751793"/>
            <a:ext cx="665359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that shows us how a closed-loop system behaves for different gains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Rectangle: Rounded Corners 18">
            <a:extLst>
              <a:ext uri="{FF2B5EF4-FFF2-40B4-BE49-F238E27FC236}">
                <a16:creationId xmlns:a16="http://schemas.microsoft.com/office/drawing/2014/main" id="{9FE528F3-7E15-BC77-44C2-A655B842AC95}"/>
              </a:ext>
            </a:extLst>
          </p:cNvPr>
          <p:cNvSpPr/>
          <p:nvPr/>
        </p:nvSpPr>
        <p:spPr>
          <a:xfrm>
            <a:off x="628650" y="2073395"/>
            <a:ext cx="6653598" cy="498355"/>
          </a:xfrm>
          <a:prstGeom prst="roundRect">
            <a:avLst>
              <a:gd name="adj" fmla="val 1122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Bef>
                <a:spcPts val="200"/>
              </a:spcBef>
            </a:pPr>
            <a:r>
              <a:rPr lang="en-US" b="1" noProof="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A.   </a:t>
            </a:r>
            <a:r>
              <a:rPr lang="en-US" b="1" noProof="0" dirty="0">
                <a:solidFill>
                  <a:schemeClr val="tx1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that shows us how a closed-loop system behaves for different poles/zeros</a:t>
            </a:r>
            <a:endParaRPr lang="en-US" b="1" noProof="0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93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6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1EA643C3-A3C9-AF81-150E-A6CD14BB6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328" y="2128724"/>
            <a:ext cx="3749672" cy="299070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F579B3F-AEE9-B8AC-D7C1-FF5E3DF47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47" y="772645"/>
            <a:ext cx="7886700" cy="994172"/>
          </a:xfrm>
        </p:spPr>
        <p:txBody>
          <a:bodyPr/>
          <a:lstStyle/>
          <a:p>
            <a:r>
              <a:rPr lang="en-US" noProof="0" dirty="0"/>
              <a:t>Quiz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47150D2-1390-5671-A37A-475445992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8847" y="1518608"/>
                <a:ext cx="8566251" cy="35624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Draw the Root Locus of the following transfer function: </a:t>
                </a:r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CH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CH" i="1" dirty="0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+4</m:t>
                            </m:r>
                          </m:e>
                        </m:d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+5</m:t>
                            </m:r>
                          </m:e>
                        </m:d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+6</m:t>
                            </m:r>
                          </m:e>
                        </m:d>
                      </m:den>
                    </m:f>
                  </m:oMath>
                </a14:m>
                <a:endParaRPr lang="en-US" noProof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poles &amp; zeros of the open-loop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noProof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Analyze the real axis (which segments are on RL?)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the asymptotes for the excess poles: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Draw Root Locus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noProof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noProof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47150D2-1390-5671-A37A-475445992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847" y="1518608"/>
                <a:ext cx="8566251" cy="3562479"/>
              </a:xfrm>
              <a:blipFill>
                <a:blip r:embed="rId4"/>
                <a:stretch>
                  <a:fillRect l="-740"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4B1678-5EC4-D3EF-6DBC-23432A30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1824F2-84F9-FCBE-C344-F890FE58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41CC41F0-1974-EBEB-116C-074B2517361A}"/>
              </a:ext>
            </a:extLst>
          </p:cNvPr>
          <p:cNvGrpSpPr/>
          <p:nvPr/>
        </p:nvGrpSpPr>
        <p:grpSpPr>
          <a:xfrm>
            <a:off x="4904513" y="172641"/>
            <a:ext cx="4060935" cy="1029367"/>
            <a:chOff x="4891261" y="102393"/>
            <a:chExt cx="4060935" cy="102936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AAEAB3C-FBCE-32E0-4684-ECE4B616A94F}"/>
                </a:ext>
              </a:extLst>
            </p:cNvPr>
            <p:cNvSpPr/>
            <p:nvPr/>
          </p:nvSpPr>
          <p:spPr>
            <a:xfrm>
              <a:off x="5362418" y="321780"/>
              <a:ext cx="216000" cy="21600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0E47D8D3-C78B-A8ED-465B-1F7182B8A7EC}"/>
                </a:ext>
              </a:extLst>
            </p:cNvPr>
            <p:cNvCxnSpPr>
              <a:cxnSpLocks/>
            </p:cNvCxnSpPr>
            <p:nvPr/>
          </p:nvCxnSpPr>
          <p:spPr>
            <a:xfrm>
              <a:off x="8241382" y="424960"/>
              <a:ext cx="7108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36F6BEA-D49F-E88F-1E26-6B4EA9EEFCE4}"/>
                </a:ext>
              </a:extLst>
            </p:cNvPr>
            <p:cNvGrpSpPr/>
            <p:nvPr/>
          </p:nvGrpSpPr>
          <p:grpSpPr>
            <a:xfrm>
              <a:off x="7354668" y="164444"/>
              <a:ext cx="886714" cy="553007"/>
              <a:chOff x="2403054" y="3026666"/>
              <a:chExt cx="545710" cy="553007"/>
            </a:xfrm>
          </p:grpSpPr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5AC8C1DB-66B2-A0E4-ADFE-42DBC73EB4A1}"/>
                  </a:ext>
                </a:extLst>
              </p:cNvPr>
              <p:cNvSpPr/>
              <p:nvPr/>
            </p:nvSpPr>
            <p:spPr>
              <a:xfrm>
                <a:off x="2403054" y="3026666"/>
                <a:ext cx="545710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CC89347E-BA8D-3926-8132-E42353A3C268}"/>
                      </a:ext>
                    </a:extLst>
                  </p:cNvPr>
                  <p:cNvSpPr txBox="1"/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CC89347E-BA8D-3926-8132-E42353A3C2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F00852B1-5F29-EC26-CAEA-ABC05D35B793}"/>
                </a:ext>
              </a:extLst>
            </p:cNvPr>
            <p:cNvGrpSpPr/>
            <p:nvPr/>
          </p:nvGrpSpPr>
          <p:grpSpPr>
            <a:xfrm>
              <a:off x="6014915" y="164444"/>
              <a:ext cx="943472" cy="553007"/>
              <a:chOff x="2676164" y="3940223"/>
              <a:chExt cx="587951" cy="553007"/>
            </a:xfrm>
          </p:grpSpPr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9A8D05BC-6C56-CF1F-A355-FEA96E977362}"/>
                  </a:ext>
                </a:extLst>
              </p:cNvPr>
              <p:cNvSpPr/>
              <p:nvPr/>
            </p:nvSpPr>
            <p:spPr>
              <a:xfrm>
                <a:off x="2676164" y="3940223"/>
                <a:ext cx="587951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2D263D4C-BAE8-74AC-352C-760508010F7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111" y="4006502"/>
                    <a:ext cx="2301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2D263D4C-BAE8-74AC-352C-760508010F7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111" y="4006502"/>
                    <a:ext cx="23016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E36CFA84-E542-AEDF-C4F5-CF3ECF703AB7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5573194" y="440947"/>
              <a:ext cx="44172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E7BBAB22-BD3F-F2BC-F7C7-0B21C8F9F28D}"/>
                </a:ext>
              </a:extLst>
            </p:cNvPr>
            <p:cNvCxnSpPr>
              <a:cxnSpLocks/>
            </p:cNvCxnSpPr>
            <p:nvPr/>
          </p:nvCxnSpPr>
          <p:spPr>
            <a:xfrm>
              <a:off x="4891261" y="427669"/>
              <a:ext cx="471157" cy="21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4397DF0-E17C-DA4D-AE6F-0BE29E6F79A0}"/>
                    </a:ext>
                  </a:extLst>
                </p:cNvPr>
                <p:cNvSpPr txBox="1"/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4397DF0-E17C-DA4D-AE6F-0BE29E6F7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blipFill>
                  <a:blip r:embed="rId7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4E7FEEFA-FDC1-7577-8EE1-E9805D83D3ED}"/>
                    </a:ext>
                  </a:extLst>
                </p:cNvPr>
                <p:cNvSpPr txBox="1"/>
                <p:nvPr/>
              </p:nvSpPr>
              <p:spPr>
                <a:xfrm>
                  <a:off x="6640490" y="10239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4E7FEEFA-FDC1-7577-8EE1-E9805D83D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490" y="102393"/>
                  <a:ext cx="1041569" cy="338554"/>
                </a:xfrm>
                <a:prstGeom prst="rect">
                  <a:avLst/>
                </a:prstGeom>
                <a:blipFill>
                  <a:blip r:embed="rId8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FC805E6A-DFE6-98EC-EBC2-5FC34FEEDF65}"/>
                </a:ext>
              </a:extLst>
            </p:cNvPr>
            <p:cNvCxnSpPr>
              <a:cxnSpLocks/>
            </p:cNvCxnSpPr>
            <p:nvPr/>
          </p:nvCxnSpPr>
          <p:spPr>
            <a:xfrm>
              <a:off x="6968970" y="415816"/>
              <a:ext cx="3595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40927DB1-E03D-4145-C99B-5097544D1459}"/>
                </a:ext>
              </a:extLst>
            </p:cNvPr>
            <p:cNvCxnSpPr>
              <a:cxnSpLocks/>
            </p:cNvCxnSpPr>
            <p:nvPr/>
          </p:nvCxnSpPr>
          <p:spPr>
            <a:xfrm>
              <a:off x="8515349" y="424960"/>
              <a:ext cx="0" cy="706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B71D15C5-84F7-305D-963A-029E1E5CD029}"/>
                    </a:ext>
                  </a:extLst>
                </p:cNvPr>
                <p:cNvSpPr txBox="1"/>
                <p:nvPr/>
              </p:nvSpPr>
              <p:spPr>
                <a:xfrm>
                  <a:off x="5105406" y="406794"/>
                  <a:ext cx="10415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B71D15C5-84F7-305D-963A-029E1E5CD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6" y="406794"/>
                  <a:ext cx="1041569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Gewinkelte Verbindung 19">
              <a:extLst>
                <a:ext uri="{FF2B5EF4-FFF2-40B4-BE49-F238E27FC236}">
                  <a16:creationId xmlns:a16="http://schemas.microsoft.com/office/drawing/2014/main" id="{50B1BC66-2EFE-8DE5-FF4D-19BD42A23DBD}"/>
                </a:ext>
              </a:extLst>
            </p:cNvPr>
            <p:cNvCxnSpPr/>
            <p:nvPr/>
          </p:nvCxnSpPr>
          <p:spPr>
            <a:xfrm rot="10800000">
              <a:off x="5470419" y="537780"/>
              <a:ext cx="3044931" cy="593980"/>
            </a:xfrm>
            <a:prstGeom prst="bentConnector3">
              <a:avLst>
                <a:gd name="adj1" fmla="val 10005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6B50FCF0-80E1-D1CA-30A8-2952F423E67B}"/>
                  </a:ext>
                </a:extLst>
              </p:cNvPr>
              <p:cNvSpPr txBox="1"/>
              <p:nvPr/>
            </p:nvSpPr>
            <p:spPr>
              <a:xfrm>
                <a:off x="4953307" y="166413"/>
                <a:ext cx="3232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6B50FCF0-80E1-D1CA-30A8-2952F423E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307" y="166413"/>
                <a:ext cx="32329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88601A6-4741-2A64-E0B8-E7CDDB464079}"/>
                  </a:ext>
                </a:extLst>
              </p:cNvPr>
              <p:cNvSpPr txBox="1"/>
              <p:nvPr/>
            </p:nvSpPr>
            <p:spPr>
              <a:xfrm>
                <a:off x="8556673" y="187431"/>
                <a:ext cx="3384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88601A6-4741-2A64-E0B8-E7CDDB464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673" y="187431"/>
                <a:ext cx="338426" cy="307777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17">
                <a:extLst>
                  <a:ext uri="{FF2B5EF4-FFF2-40B4-BE49-F238E27FC236}">
                    <a16:creationId xmlns:a16="http://schemas.microsoft.com/office/drawing/2014/main" id="{02FB890B-6F90-3C52-2025-C10E77F3289A}"/>
                  </a:ext>
                </a:extLst>
              </p:cNvPr>
              <p:cNvSpPr/>
              <p:nvPr/>
            </p:nvSpPr>
            <p:spPr>
              <a:xfrm>
                <a:off x="2176958" y="91819"/>
                <a:ext cx="2463033" cy="733834"/>
              </a:xfrm>
              <a:prstGeom prst="roundRect">
                <a:avLst>
                  <a:gd name="adj" fmla="val 1264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noProof="0" smtClean="0">
                              <a:latin typeface="Cambria Math" panose="02040503050406030204" pitchFamily="18" charset="0"/>
                            </a:rPr>
                            <m:t>com</m:t>
                          </m:r>
                        </m:sub>
                      </m:sSub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Rectangle: Rounded Corners 17">
                <a:extLst>
                  <a:ext uri="{FF2B5EF4-FFF2-40B4-BE49-F238E27FC236}">
                    <a16:creationId xmlns:a16="http://schemas.microsoft.com/office/drawing/2014/main" id="{02FB890B-6F90-3C52-2025-C10E77F32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6958" y="91819"/>
                <a:ext cx="2463033" cy="733834"/>
              </a:xfrm>
              <a:prstGeom prst="roundRect">
                <a:avLst>
                  <a:gd name="adj" fmla="val 12642"/>
                </a:avLst>
              </a:prstGeom>
              <a:blipFill>
                <a:blip r:embed="rId12"/>
                <a:stretch>
                  <a:fillRect t="-31034" b="-293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17">
                <a:extLst>
                  <a:ext uri="{FF2B5EF4-FFF2-40B4-BE49-F238E27FC236}">
                    <a16:creationId xmlns:a16="http://schemas.microsoft.com/office/drawing/2014/main" id="{FEAA5A0C-A843-A299-FA13-2DCFD046B535}"/>
                  </a:ext>
                </a:extLst>
              </p:cNvPr>
              <p:cNvSpPr/>
              <p:nvPr/>
            </p:nvSpPr>
            <p:spPr>
              <a:xfrm>
                <a:off x="47360" y="91819"/>
                <a:ext cx="2022526" cy="733834"/>
              </a:xfrm>
              <a:prstGeom prst="roundRect">
                <a:avLst>
                  <a:gd name="adj" fmla="val 1264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200" i="1"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∠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⋅360°</m:t>
                          </m:r>
                        </m:num>
                        <m:den>
                          <m:r>
                            <a:rPr lang="de-CH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de-CH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CH" sz="1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ar-AE" sz="1200" dirty="0"/>
              </a:p>
            </p:txBody>
          </p:sp>
        </mc:Choice>
        <mc:Fallback xmlns="">
          <p:sp>
            <p:nvSpPr>
              <p:cNvPr id="27" name="Rectangle: Rounded Corners 17">
                <a:extLst>
                  <a:ext uri="{FF2B5EF4-FFF2-40B4-BE49-F238E27FC236}">
                    <a16:creationId xmlns:a16="http://schemas.microsoft.com/office/drawing/2014/main" id="{FEAA5A0C-A843-A299-FA13-2DCFD046B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0" y="91819"/>
                <a:ext cx="2022526" cy="733834"/>
              </a:xfrm>
              <a:prstGeom prst="roundRect">
                <a:avLst>
                  <a:gd name="adj" fmla="val 12642"/>
                </a:avLst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64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604918-5220-A082-387A-F9F019EA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Quiz 3</a:t>
            </a:r>
          </a:p>
        </p:txBody>
      </p:sp>
      <p:pic>
        <p:nvPicPr>
          <p:cNvPr id="7" name="Inhaltsplatzhalter 6" descr="Ein Bild, das Text, Quittung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D38BE82-D2BD-2CDA-E684-1C93D3341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210" y="1268016"/>
            <a:ext cx="8329579" cy="3057096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194F17-AE61-1671-4B0F-5198E8CE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880880-4CEC-45F9-7C10-40A82645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08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 dirty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638709"/>
              </p:ext>
            </p:extLst>
          </p:nvPr>
        </p:nvGraphicFramePr>
        <p:xfrm>
          <a:off x="1515762" y="601877"/>
          <a:ext cx="6977657" cy="4114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Introduction, Control Architectures, Motivation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Modeling, Model examples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System properties, Linearization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Analysis: Time response, Stability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1: Definition and properties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Transfer functions 2: Poles and Zeros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Proportional feedback control, Root Locus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Time-Domain specifications, PID control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 response, Bode plots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The Nyquist condition, Time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Frequency-domain Specifications, Dynamic Compensation, Loop Shaping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delays, Successive loop closure, Nonlinearities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Describing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to Uncertainty and Robustness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20" name="Textfeld 19">
            <a:extLst>
              <a:ext uri="{FF2B5EF4-FFF2-40B4-BE49-F238E27FC236}">
                <a16:creationId xmlns:a16="http://schemas.microsoft.com/office/drawing/2014/main" id="{F4099E1C-F5C1-8EB0-C32A-9FABF9E13B5C}"/>
              </a:ext>
            </a:extLst>
          </p:cNvPr>
          <p:cNvSpPr txBox="1"/>
          <p:nvPr/>
        </p:nvSpPr>
        <p:spPr>
          <a:xfrm>
            <a:off x="387695" y="1188631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54D5136-D84F-27EE-492C-52DB88CD3DA3}"/>
              </a:ext>
            </a:extLst>
          </p:cNvPr>
          <p:cNvSpPr txBox="1"/>
          <p:nvPr/>
        </p:nvSpPr>
        <p:spPr>
          <a:xfrm>
            <a:off x="483876" y="2528472"/>
            <a:ext cx="7248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Analysis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CF889FA-8E46-8663-A0F5-184385FA3DD1}"/>
              </a:ext>
            </a:extLst>
          </p:cNvPr>
          <p:cNvSpPr txBox="1"/>
          <p:nvPr/>
        </p:nvSpPr>
        <p:spPr>
          <a:xfrm>
            <a:off x="403725" y="4071829"/>
            <a:ext cx="8050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Synthesis</a:t>
            </a:r>
          </a:p>
        </p:txBody>
      </p:sp>
      <p:sp>
        <p:nvSpPr>
          <p:cNvPr id="37" name="Geschweifte Klammer links 36">
            <a:extLst>
              <a:ext uri="{FF2B5EF4-FFF2-40B4-BE49-F238E27FC236}">
                <a16:creationId xmlns:a16="http://schemas.microsoft.com/office/drawing/2014/main" id="{0B0A67E7-7C57-C73E-4879-C13FFF882B68}"/>
              </a:ext>
            </a:extLst>
          </p:cNvPr>
          <p:cNvSpPr/>
          <p:nvPr/>
        </p:nvSpPr>
        <p:spPr>
          <a:xfrm>
            <a:off x="1208754" y="1820468"/>
            <a:ext cx="257337" cy="171052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Geschweifte Klammer links 37">
            <a:extLst>
              <a:ext uri="{FF2B5EF4-FFF2-40B4-BE49-F238E27FC236}">
                <a16:creationId xmlns:a16="http://schemas.microsoft.com/office/drawing/2014/main" id="{2D72810E-ED2B-7956-66CA-4602D2A82388}"/>
              </a:ext>
            </a:extLst>
          </p:cNvPr>
          <p:cNvSpPr/>
          <p:nvPr/>
        </p:nvSpPr>
        <p:spPr>
          <a:xfrm>
            <a:off x="1208754" y="994180"/>
            <a:ext cx="196599" cy="6505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CBA056D0-42DA-D2CE-1EC0-9CCE338DF6B3}"/>
              </a:ext>
            </a:extLst>
          </p:cNvPr>
          <p:cNvSpPr/>
          <p:nvPr/>
        </p:nvSpPr>
        <p:spPr>
          <a:xfrm>
            <a:off x="1170298" y="3735078"/>
            <a:ext cx="257337" cy="935113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-US" noProof="0" dirty="0"/>
              <a:t>Today</a:t>
            </a:r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en-US" u="sng" noProof="0" dirty="0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System Specifications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en-US" u="sng" noProof="0" dirty="0"/>
              <a:t>Time-Domain Specifications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800"/>
              <a:buNone/>
            </a:pPr>
            <a:endParaRPr lang="en-US" u="sng" noProof="0" dirty="0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Kissan Varatharajan - </a:t>
            </a:r>
            <a:r>
              <a:rPr lang="en-US" noProof="0" dirty="0" err="1"/>
              <a:t>kissanv.github.io</a:t>
            </a:r>
            <a:endParaRPr lang="en-US" noProof="0"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5152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4AE5C-3E2F-B68C-A037-64DF367C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959851" cy="1790700"/>
          </a:xfrm>
        </p:spPr>
        <p:txBody>
          <a:bodyPr/>
          <a:lstStyle/>
          <a:p>
            <a:r>
              <a:rPr lang="en-US" noProof="0" dirty="0"/>
              <a:t>1. System Specifications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EC819A-74B0-7EC8-4337-41DC3E86B6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3F9BA-5972-1172-A390-8A7AA1A2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2D4EBF-656E-D2D2-0159-2EA0943B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333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098B99-FC75-E348-ED3D-406646E38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A35D9A-128F-F5EB-83A0-50412C549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23" y="1344669"/>
            <a:ext cx="3797599" cy="3263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noProof="0" dirty="0"/>
              <a:t>Week 7: Closed-Loop Stability</a:t>
            </a:r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endParaRPr lang="en-US" sz="1600" noProof="0" dirty="0"/>
          </a:p>
          <a:p>
            <a:pPr marL="0" indent="0">
              <a:buNone/>
            </a:pPr>
            <a:r>
              <a:rPr lang="en-US" sz="1600" noProof="0" dirty="0"/>
              <a:t>Job's finished? 🤔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E140ED-3C22-4FC7-8641-7DBBE219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E55A7B-920D-0A10-4347-EB3885AAB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6EDD45F-0B8A-8FAC-B4B6-AA49E7C9385B}"/>
              </a:ext>
            </a:extLst>
          </p:cNvPr>
          <p:cNvGrpSpPr/>
          <p:nvPr/>
        </p:nvGrpSpPr>
        <p:grpSpPr>
          <a:xfrm>
            <a:off x="4904513" y="172641"/>
            <a:ext cx="4060935" cy="1029367"/>
            <a:chOff x="4891261" y="102393"/>
            <a:chExt cx="4060935" cy="102936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0DE1CFA-E755-FC56-80C3-5E99D50ADEE1}"/>
                </a:ext>
              </a:extLst>
            </p:cNvPr>
            <p:cNvSpPr/>
            <p:nvPr/>
          </p:nvSpPr>
          <p:spPr>
            <a:xfrm>
              <a:off x="5362418" y="321780"/>
              <a:ext cx="216000" cy="21600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A9A2EC13-9F0B-3AAA-2F74-23A6C8821994}"/>
                </a:ext>
              </a:extLst>
            </p:cNvPr>
            <p:cNvCxnSpPr>
              <a:cxnSpLocks/>
            </p:cNvCxnSpPr>
            <p:nvPr/>
          </p:nvCxnSpPr>
          <p:spPr>
            <a:xfrm>
              <a:off x="8241382" y="424960"/>
              <a:ext cx="7108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E0739D6A-AB35-C055-17A2-3C2D81578F24}"/>
                </a:ext>
              </a:extLst>
            </p:cNvPr>
            <p:cNvGrpSpPr/>
            <p:nvPr/>
          </p:nvGrpSpPr>
          <p:grpSpPr>
            <a:xfrm>
              <a:off x="7354668" y="164444"/>
              <a:ext cx="886714" cy="553007"/>
              <a:chOff x="2403054" y="3026666"/>
              <a:chExt cx="545710" cy="553007"/>
            </a:xfrm>
          </p:grpSpPr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0B2C4B06-A796-5C7F-61B9-574DB1E11DBB}"/>
                  </a:ext>
                </a:extLst>
              </p:cNvPr>
              <p:cNvSpPr/>
              <p:nvPr/>
            </p:nvSpPr>
            <p:spPr>
              <a:xfrm>
                <a:off x="2403054" y="3026666"/>
                <a:ext cx="545710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4083BE7F-0B5A-D65A-66F2-E2BDC9502B75}"/>
                      </a:ext>
                    </a:extLst>
                  </p:cNvPr>
                  <p:cNvSpPr txBox="1"/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4083BE7F-0B5A-D65A-66F2-E2BDC9502B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B21819EB-9961-E464-8911-34025F377762}"/>
                </a:ext>
              </a:extLst>
            </p:cNvPr>
            <p:cNvGrpSpPr/>
            <p:nvPr/>
          </p:nvGrpSpPr>
          <p:grpSpPr>
            <a:xfrm>
              <a:off x="6014915" y="164444"/>
              <a:ext cx="943472" cy="553007"/>
              <a:chOff x="2676164" y="3940223"/>
              <a:chExt cx="587951" cy="553007"/>
            </a:xfrm>
          </p:grpSpPr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E2484295-2651-91CD-86F6-EA27C46364CA}"/>
                  </a:ext>
                </a:extLst>
              </p:cNvPr>
              <p:cNvSpPr/>
              <p:nvPr/>
            </p:nvSpPr>
            <p:spPr>
              <a:xfrm>
                <a:off x="2676164" y="3940223"/>
                <a:ext cx="587951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A40CB2DF-2CD9-4917-9B66-3CF8433A5C8D}"/>
                      </a:ext>
                    </a:extLst>
                  </p:cNvPr>
                  <p:cNvSpPr txBox="1"/>
                  <p:nvPr/>
                </p:nvSpPr>
                <p:spPr>
                  <a:xfrm>
                    <a:off x="2869111" y="4006502"/>
                    <a:ext cx="23016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20" name="Textfeld 19">
                    <a:extLst>
                      <a:ext uri="{FF2B5EF4-FFF2-40B4-BE49-F238E27FC236}">
                        <a16:creationId xmlns:a16="http://schemas.microsoft.com/office/drawing/2014/main" id="{A40CB2DF-2CD9-4917-9B66-3CF8433A5C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9111" y="4006502"/>
                    <a:ext cx="23016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952931EA-DEF6-98DF-76A2-BF6F96B8DF5B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5573194" y="440947"/>
              <a:ext cx="44172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CDA9EAC5-A7AB-0EF5-6C52-7255C66F01A1}"/>
                </a:ext>
              </a:extLst>
            </p:cNvPr>
            <p:cNvCxnSpPr>
              <a:cxnSpLocks/>
            </p:cNvCxnSpPr>
            <p:nvPr/>
          </p:nvCxnSpPr>
          <p:spPr>
            <a:xfrm>
              <a:off x="4891261" y="427669"/>
              <a:ext cx="471157" cy="21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EB8CA0EC-4BFC-7F02-F84E-D31A7CB63D2E}"/>
                    </a:ext>
                  </a:extLst>
                </p:cNvPr>
                <p:cNvSpPr txBox="1"/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EB8CA0EC-4BFC-7F02-F84E-D31A7CB63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9F3924F2-1A83-51F6-A501-4B4551DF26FF}"/>
                    </a:ext>
                  </a:extLst>
                </p:cNvPr>
                <p:cNvSpPr txBox="1"/>
                <p:nvPr/>
              </p:nvSpPr>
              <p:spPr>
                <a:xfrm>
                  <a:off x="6640490" y="10239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9F3924F2-1A83-51F6-A501-4B4551DF2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490" y="102393"/>
                  <a:ext cx="1041569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17857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D6B21390-6F8F-E6E1-A06F-4BECB43FE13B}"/>
                </a:ext>
              </a:extLst>
            </p:cNvPr>
            <p:cNvCxnSpPr>
              <a:cxnSpLocks/>
            </p:cNvCxnSpPr>
            <p:nvPr/>
          </p:nvCxnSpPr>
          <p:spPr>
            <a:xfrm>
              <a:off x="6968970" y="415816"/>
              <a:ext cx="3595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 Verbindung 15">
              <a:extLst>
                <a:ext uri="{FF2B5EF4-FFF2-40B4-BE49-F238E27FC236}">
                  <a16:creationId xmlns:a16="http://schemas.microsoft.com/office/drawing/2014/main" id="{E05956E1-322A-D918-1539-5F82CD172E73}"/>
                </a:ext>
              </a:extLst>
            </p:cNvPr>
            <p:cNvCxnSpPr>
              <a:cxnSpLocks/>
            </p:cNvCxnSpPr>
            <p:nvPr/>
          </p:nvCxnSpPr>
          <p:spPr>
            <a:xfrm>
              <a:off x="8515349" y="424960"/>
              <a:ext cx="0" cy="706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B7475B99-716C-FB61-CB71-AD1AFC7DCD69}"/>
                    </a:ext>
                  </a:extLst>
                </p:cNvPr>
                <p:cNvSpPr txBox="1"/>
                <p:nvPr/>
              </p:nvSpPr>
              <p:spPr>
                <a:xfrm>
                  <a:off x="5105406" y="406794"/>
                  <a:ext cx="10415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B7475B99-716C-FB61-CB71-AD1AFC7DC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6" y="406794"/>
                  <a:ext cx="1041569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winkelte Verbindung 17">
              <a:extLst>
                <a:ext uri="{FF2B5EF4-FFF2-40B4-BE49-F238E27FC236}">
                  <a16:creationId xmlns:a16="http://schemas.microsoft.com/office/drawing/2014/main" id="{3F8FFAD3-698C-1215-F215-7DE1E015295B}"/>
                </a:ext>
              </a:extLst>
            </p:cNvPr>
            <p:cNvCxnSpPr/>
            <p:nvPr/>
          </p:nvCxnSpPr>
          <p:spPr>
            <a:xfrm rot="10800000">
              <a:off x="5470419" y="537780"/>
              <a:ext cx="3044931" cy="593980"/>
            </a:xfrm>
            <a:prstGeom prst="bentConnector3">
              <a:avLst>
                <a:gd name="adj1" fmla="val 10005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C9DF7E14-10C1-D9D3-CDA3-1876EA0CEA68}"/>
                  </a:ext>
                </a:extLst>
              </p:cNvPr>
              <p:cNvSpPr txBox="1"/>
              <p:nvPr/>
            </p:nvSpPr>
            <p:spPr>
              <a:xfrm>
                <a:off x="4953307" y="166413"/>
                <a:ext cx="3232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C9DF7E14-10C1-D9D3-CDA3-1876EA0CE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307" y="166413"/>
                <a:ext cx="32329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E63B5CC-F892-E8D4-D819-97CAD68F87C9}"/>
                  </a:ext>
                </a:extLst>
              </p:cNvPr>
              <p:cNvSpPr txBox="1"/>
              <p:nvPr/>
            </p:nvSpPr>
            <p:spPr>
              <a:xfrm>
                <a:off x="8556673" y="187431"/>
                <a:ext cx="3384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9E63B5CC-F892-E8D4-D819-97CAD68F8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673" y="187431"/>
                <a:ext cx="338426" cy="307777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Grafik 27" descr="Ein Bild, das Diagramm, Reihe, Kreis enthält.&#10;&#10;KI-generierte Inhalte können fehlerhaft sein.">
            <a:extLst>
              <a:ext uri="{FF2B5EF4-FFF2-40B4-BE49-F238E27FC236}">
                <a16:creationId xmlns:a16="http://schemas.microsoft.com/office/drawing/2014/main" id="{58DF6425-FB63-3408-EAA8-28E51BE5B3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886" y="1663870"/>
            <a:ext cx="2624444" cy="2266911"/>
          </a:xfrm>
          <a:prstGeom prst="rect">
            <a:avLst/>
          </a:prstGeom>
        </p:spPr>
      </p:pic>
      <p:pic>
        <p:nvPicPr>
          <p:cNvPr id="30" name="Grafik 29" descr="Ein Bild, das Text, Menschliches Gesicht, Anzug, Mann enthält.&#10;&#10;KI-generierte Inhalte können fehlerhaft sein.">
            <a:extLst>
              <a:ext uri="{FF2B5EF4-FFF2-40B4-BE49-F238E27FC236}">
                <a16:creationId xmlns:a16="http://schemas.microsoft.com/office/drawing/2014/main" id="{7BCCE9C5-7DC3-CF4A-244C-074BC9D423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3441" y="1583831"/>
            <a:ext cx="1815894" cy="2664628"/>
          </a:xfrm>
          <a:prstGeom prst="rect">
            <a:avLst/>
          </a:prstGeom>
        </p:spPr>
      </p:pic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86B0934D-E9B2-38B2-8BE3-50472315EDFC}"/>
              </a:ext>
            </a:extLst>
          </p:cNvPr>
          <p:cNvSpPr txBox="1">
            <a:spLocks/>
          </p:cNvSpPr>
          <p:nvPr/>
        </p:nvSpPr>
        <p:spPr>
          <a:xfrm>
            <a:off x="5375670" y="1359659"/>
            <a:ext cx="3797599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Segoe UI" panose="020F0502020204030204" pitchFamily="34" charset="0"/>
                <a:ea typeface="+mn-ea"/>
                <a:cs typeface="Segoe UI" panose="020F05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1600" noProof="0" dirty="0"/>
              <a:t>Week 8: Closed-Loop Specifications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r>
              <a:rPr lang="en-US" sz="1600" noProof="0" dirty="0"/>
              <a:t>We need to make sure it's quick and can handle disturbances and errors well!</a:t>
            </a:r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  <a:p>
            <a:pPr marL="0" indent="0">
              <a:buClrTx/>
              <a:buFont typeface="Arial" panose="020B0604020202020204" pitchFamily="34" charset="0"/>
              <a:buNone/>
            </a:pPr>
            <a:endParaRPr lang="en-US" sz="1600" noProof="0" dirty="0"/>
          </a:p>
        </p:txBody>
      </p:sp>
      <p:pic>
        <p:nvPicPr>
          <p:cNvPr id="45" name="Grafik 44" descr="Ein Bild, das Reihe, Schrift, Text, Diagramm enthält.&#10;&#10;KI-generierte Inhalte können fehlerhaft sein.">
            <a:extLst>
              <a:ext uri="{FF2B5EF4-FFF2-40B4-BE49-F238E27FC236}">
                <a16:creationId xmlns:a16="http://schemas.microsoft.com/office/drawing/2014/main" id="{BC85E42B-3254-E7A9-44B0-4AD42D62C4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7426" y="1825191"/>
            <a:ext cx="3148425" cy="1909532"/>
          </a:xfrm>
          <a:prstGeom prst="rect">
            <a:avLst/>
          </a:prstGeom>
        </p:spPr>
      </p:pic>
      <p:pic>
        <p:nvPicPr>
          <p:cNvPr id="46" name="Inhaltsplatzhalter 6" descr="Ein Bild, das Fahrzeug, Rad, Transport, Landfahrzeug enthält.&#10;&#10;KI-generierte Inhalte können fehlerhaft sein.">
            <a:extLst>
              <a:ext uri="{FF2B5EF4-FFF2-40B4-BE49-F238E27FC236}">
                <a16:creationId xmlns:a16="http://schemas.microsoft.com/office/drawing/2014/main" id="{10EEE16A-0E64-44F7-D8B0-E464EFC80BD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1220" t="33713" r="27727" b="17755"/>
          <a:stretch>
            <a:fillRect/>
          </a:stretch>
        </p:blipFill>
        <p:spPr>
          <a:xfrm>
            <a:off x="7858213" y="2636459"/>
            <a:ext cx="1250958" cy="5593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789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0D2A3-5E50-48EC-62B7-E40B0537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Steady-State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C7AFC49-8DD9-FC1D-4CAF-2FF43A77AC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8277" y="1214505"/>
                <a:ext cx="8955724" cy="14024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Assume we apply a step input to a system. Does the output approach the reference?</a:t>
                </a:r>
              </a:p>
              <a:p>
                <a:pPr marL="0" indent="0">
                  <a:buNone/>
                </a:pPr>
                <a:r>
                  <a:rPr lang="en-US" noProof="0" dirty="0"/>
                  <a:t>As defined last week, the relationship between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noProof="0" dirty="0"/>
                  <a:t> and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noProof="0" dirty="0"/>
                  <a:t> is captured with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noProof="0" dirty="0"/>
                  <a:t>we find the steady-state error as: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C7AFC49-8DD9-FC1D-4CAF-2FF43A77A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277" y="1214505"/>
                <a:ext cx="8955724" cy="1402420"/>
              </a:xfrm>
              <a:blipFill>
                <a:blip r:embed="rId2"/>
                <a:stretch>
                  <a:fillRect l="-567" t="-45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4B5FA5-23EE-ABA9-7B9E-23CDEBB78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967FC4-CE5A-207E-4612-4FB424A3E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BFA52363-F369-60D5-BA3D-78C1105F4C2E}"/>
              </a:ext>
            </a:extLst>
          </p:cNvPr>
          <p:cNvGrpSpPr/>
          <p:nvPr/>
        </p:nvGrpSpPr>
        <p:grpSpPr>
          <a:xfrm>
            <a:off x="4839246" y="125638"/>
            <a:ext cx="4060935" cy="1029367"/>
            <a:chOff x="4891261" y="102393"/>
            <a:chExt cx="4060935" cy="102936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780F66-F50E-7440-E909-D18008175F88}"/>
                </a:ext>
              </a:extLst>
            </p:cNvPr>
            <p:cNvSpPr/>
            <p:nvPr/>
          </p:nvSpPr>
          <p:spPr>
            <a:xfrm>
              <a:off x="5362418" y="321780"/>
              <a:ext cx="216000" cy="216000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68578FD4-7399-9354-379C-11EE6FBDED93}"/>
                </a:ext>
              </a:extLst>
            </p:cNvPr>
            <p:cNvCxnSpPr>
              <a:cxnSpLocks/>
            </p:cNvCxnSpPr>
            <p:nvPr/>
          </p:nvCxnSpPr>
          <p:spPr>
            <a:xfrm>
              <a:off x="8241382" y="424960"/>
              <a:ext cx="7108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089E01E3-8469-4C45-FB6D-D283AB67BC19}"/>
                </a:ext>
              </a:extLst>
            </p:cNvPr>
            <p:cNvGrpSpPr/>
            <p:nvPr/>
          </p:nvGrpSpPr>
          <p:grpSpPr>
            <a:xfrm>
              <a:off x="7354668" y="164444"/>
              <a:ext cx="886714" cy="553007"/>
              <a:chOff x="2403054" y="3026666"/>
              <a:chExt cx="545710" cy="553007"/>
            </a:xfrm>
          </p:grpSpPr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376F3098-BD57-644E-945D-68FD85491902}"/>
                  </a:ext>
                </a:extLst>
              </p:cNvPr>
              <p:cNvSpPr/>
              <p:nvPr/>
            </p:nvSpPr>
            <p:spPr>
              <a:xfrm>
                <a:off x="2403054" y="3026666"/>
                <a:ext cx="545710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CCD3691C-B6AB-C4F7-F8B5-536DD4F52D3A}"/>
                      </a:ext>
                    </a:extLst>
                  </p:cNvPr>
                  <p:cNvSpPr txBox="1"/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𝑃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s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)</m:t>
                          </m:r>
                        </m:oMath>
                      </m:oMathPara>
                    </a14:m>
                    <a:endParaRPr lang="en-US" noProof="0" dirty="0"/>
                  </a:p>
                </p:txBody>
              </p:sp>
            </mc:Choice>
            <mc:Fallback xmlns=""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CCD3691C-B6AB-C4F7-F8B5-536DD4F52D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9135" y="3107336"/>
                    <a:ext cx="42197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0293CF5-40F8-68E5-5487-D9ADAA337FF7}"/>
                </a:ext>
              </a:extLst>
            </p:cNvPr>
            <p:cNvGrpSpPr/>
            <p:nvPr/>
          </p:nvGrpSpPr>
          <p:grpSpPr>
            <a:xfrm>
              <a:off x="6014915" y="164444"/>
              <a:ext cx="943472" cy="553007"/>
              <a:chOff x="2676164" y="3940223"/>
              <a:chExt cx="587951" cy="553007"/>
            </a:xfrm>
          </p:grpSpPr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D208065F-DD15-C994-FEFC-F35814C9A7DA}"/>
                  </a:ext>
                </a:extLst>
              </p:cNvPr>
              <p:cNvSpPr/>
              <p:nvPr/>
            </p:nvSpPr>
            <p:spPr>
              <a:xfrm>
                <a:off x="2676164" y="3940223"/>
                <a:ext cx="587951" cy="553007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feld 36">
                    <a:extLst>
                      <a:ext uri="{FF2B5EF4-FFF2-40B4-BE49-F238E27FC236}">
                        <a16:creationId xmlns:a16="http://schemas.microsoft.com/office/drawing/2014/main" id="{16D33AEE-433F-151D-9393-EBB3ED680828}"/>
                      </a:ext>
                    </a:extLst>
                  </p:cNvPr>
                  <p:cNvSpPr txBox="1"/>
                  <p:nvPr/>
                </p:nvSpPr>
                <p:spPr>
                  <a:xfrm>
                    <a:off x="2769897" y="4038240"/>
                    <a:ext cx="4285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𝑠</m:t>
                              </m:r>
                            </m:e>
                          </m:d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37" name="Textfeld 36">
                    <a:extLst>
                      <a:ext uri="{FF2B5EF4-FFF2-40B4-BE49-F238E27FC236}">
                        <a16:creationId xmlns:a16="http://schemas.microsoft.com/office/drawing/2014/main" id="{16D33AEE-433F-151D-9393-EBB3ED6808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69897" y="4038240"/>
                    <a:ext cx="42855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6667" r="-10909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BFA4CD57-7852-3420-333B-714C50E8345D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5573194" y="440947"/>
              <a:ext cx="44172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287B9DF3-7E34-CCF6-F495-C6DA0C449E6C}"/>
                </a:ext>
              </a:extLst>
            </p:cNvPr>
            <p:cNvCxnSpPr>
              <a:cxnSpLocks/>
            </p:cNvCxnSpPr>
            <p:nvPr/>
          </p:nvCxnSpPr>
          <p:spPr>
            <a:xfrm>
              <a:off x="4891261" y="427669"/>
              <a:ext cx="471157" cy="21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63865294-60DB-4D59-8AAC-C2EE974426AA}"/>
                    </a:ext>
                  </a:extLst>
                </p:cNvPr>
                <p:cNvSpPr txBox="1"/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30" name="Textfeld 29">
                  <a:extLst>
                    <a:ext uri="{FF2B5EF4-FFF2-40B4-BE49-F238E27FC236}">
                      <a16:creationId xmlns:a16="http://schemas.microsoft.com/office/drawing/2014/main" id="{63865294-60DB-4D59-8AAC-C2EE97442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2885" y="126943"/>
                  <a:ext cx="1041569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43EC32D5-91AA-8387-9AEA-A25A08BDBB7C}"/>
                    </a:ext>
                  </a:extLst>
                </p:cNvPr>
                <p:cNvSpPr txBox="1"/>
                <p:nvPr/>
              </p:nvSpPr>
              <p:spPr>
                <a:xfrm>
                  <a:off x="6640490" y="10239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31" name="Textfeld 30">
                  <a:extLst>
                    <a:ext uri="{FF2B5EF4-FFF2-40B4-BE49-F238E27FC236}">
                      <a16:creationId xmlns:a16="http://schemas.microsoft.com/office/drawing/2014/main" id="{43EC32D5-91AA-8387-9AEA-A25A08BDBB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0490" y="102393"/>
                  <a:ext cx="1041569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99BC5C06-BD85-E902-8572-6D4A5174A377}"/>
                </a:ext>
              </a:extLst>
            </p:cNvPr>
            <p:cNvCxnSpPr>
              <a:cxnSpLocks/>
            </p:cNvCxnSpPr>
            <p:nvPr/>
          </p:nvCxnSpPr>
          <p:spPr>
            <a:xfrm>
              <a:off x="6968970" y="415816"/>
              <a:ext cx="35954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 Verbindung 32">
              <a:extLst>
                <a:ext uri="{FF2B5EF4-FFF2-40B4-BE49-F238E27FC236}">
                  <a16:creationId xmlns:a16="http://schemas.microsoft.com/office/drawing/2014/main" id="{FEE00A69-2BBF-A286-4A6F-9FCB425C2706}"/>
                </a:ext>
              </a:extLst>
            </p:cNvPr>
            <p:cNvCxnSpPr>
              <a:cxnSpLocks/>
            </p:cNvCxnSpPr>
            <p:nvPr/>
          </p:nvCxnSpPr>
          <p:spPr>
            <a:xfrm>
              <a:off x="8515349" y="424960"/>
              <a:ext cx="0" cy="706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5D452D58-6F13-1CA9-4DCE-DE3B0432697B}"/>
                    </a:ext>
                  </a:extLst>
                </p:cNvPr>
                <p:cNvSpPr txBox="1"/>
                <p:nvPr/>
              </p:nvSpPr>
              <p:spPr>
                <a:xfrm>
                  <a:off x="5105406" y="406794"/>
                  <a:ext cx="10415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sz="1800" noProof="0" dirty="0"/>
                </a:p>
              </p:txBody>
            </p:sp>
          </mc:Choice>
          <mc:Fallback xmlns="">
            <p:sp>
              <p:nvSpPr>
                <p:cNvPr id="34" name="Textfeld 33">
                  <a:extLst>
                    <a:ext uri="{FF2B5EF4-FFF2-40B4-BE49-F238E27FC236}">
                      <a16:creationId xmlns:a16="http://schemas.microsoft.com/office/drawing/2014/main" id="{5D452D58-6F13-1CA9-4DCE-DE3B04326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5406" y="406794"/>
                  <a:ext cx="104156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2069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Gewinkelte Verbindung 34">
              <a:extLst>
                <a:ext uri="{FF2B5EF4-FFF2-40B4-BE49-F238E27FC236}">
                  <a16:creationId xmlns:a16="http://schemas.microsoft.com/office/drawing/2014/main" id="{7CFA5A9C-B029-979A-F2F1-5A92871F0CE2}"/>
                </a:ext>
              </a:extLst>
            </p:cNvPr>
            <p:cNvCxnSpPr/>
            <p:nvPr/>
          </p:nvCxnSpPr>
          <p:spPr>
            <a:xfrm rot="10800000">
              <a:off x="5470419" y="537780"/>
              <a:ext cx="3044931" cy="593980"/>
            </a:xfrm>
            <a:prstGeom prst="bentConnector3">
              <a:avLst>
                <a:gd name="adj1" fmla="val 10005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87EBE237-8394-C8C7-4BAD-5E0E11488873}"/>
                  </a:ext>
                </a:extLst>
              </p:cNvPr>
              <p:cNvSpPr txBox="1"/>
              <p:nvPr/>
            </p:nvSpPr>
            <p:spPr>
              <a:xfrm>
                <a:off x="4888040" y="119410"/>
                <a:ext cx="32329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87EBE237-8394-C8C7-4BAD-5E0E11488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040" y="119410"/>
                <a:ext cx="32329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C4FDB664-AC93-A46F-3EA3-CA67F5450B27}"/>
                  </a:ext>
                </a:extLst>
              </p:cNvPr>
              <p:cNvSpPr txBox="1"/>
              <p:nvPr/>
            </p:nvSpPr>
            <p:spPr>
              <a:xfrm>
                <a:off x="8491406" y="140428"/>
                <a:ext cx="33842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C4FDB664-AC93-A46F-3EA3-CA67F5450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406" y="140428"/>
                <a:ext cx="338426" cy="307777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83CBD093-E2F3-86EE-C764-212D9A01A6AE}"/>
                  </a:ext>
                </a:extLst>
              </p:cNvPr>
              <p:cNvSpPr txBox="1"/>
              <p:nvPr/>
            </p:nvSpPr>
            <p:spPr>
              <a:xfrm>
                <a:off x="188276" y="2584955"/>
                <a:ext cx="4163261" cy="659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func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endParaRPr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83CBD093-E2F3-86EE-C764-212D9A01A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76" y="2584955"/>
                <a:ext cx="4163261" cy="659348"/>
              </a:xfrm>
              <a:prstGeom prst="rect">
                <a:avLst/>
              </a:prstGeom>
              <a:blipFill>
                <a:blip r:embed="rId10"/>
                <a:stretch>
                  <a:fillRect l="-608" t="-1887" r="-912" b="-94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0E113A7-C1FD-E750-B826-A05740994337}"/>
                  </a:ext>
                </a:extLst>
              </p:cNvPr>
              <p:cNvSpPr txBox="1"/>
              <p:nvPr/>
            </p:nvSpPr>
            <p:spPr>
              <a:xfrm>
                <a:off x="271533" y="2962294"/>
                <a:ext cx="2566344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/>
                  <a:t>step input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en-US" sz="1600" noProof="0" dirty="0"/>
                  <a:t>, hence</a:t>
                </a:r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0E113A7-C1FD-E750-B826-A05740994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33" y="2962294"/>
                <a:ext cx="2566344" cy="441275"/>
              </a:xfrm>
              <a:prstGeom prst="rect">
                <a:avLst/>
              </a:prstGeom>
              <a:blipFill>
                <a:blip r:embed="rId11"/>
                <a:stretch>
                  <a:fillRect l="-1478" r="-493" b="-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53D7ABE1-0DCB-9E41-6A8A-81B902184642}"/>
                  </a:ext>
                </a:extLst>
              </p:cNvPr>
              <p:cNvSpPr txBox="1"/>
              <p:nvPr/>
            </p:nvSpPr>
            <p:spPr>
              <a:xfrm>
                <a:off x="188277" y="3296376"/>
                <a:ext cx="4163260" cy="589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noProof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func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53D7ABE1-0DCB-9E41-6A8A-81B902184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77" y="3296376"/>
                <a:ext cx="4163260" cy="589777"/>
              </a:xfrm>
              <a:prstGeom prst="rect">
                <a:avLst/>
              </a:prstGeom>
              <a:blipFill>
                <a:blip r:embed="rId12"/>
                <a:stretch>
                  <a:fillRect r="-12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5C6BDAA3-95E1-C20B-EC16-B658D3BBED7E}"/>
                  </a:ext>
                </a:extLst>
              </p:cNvPr>
              <p:cNvSpPr txBox="1"/>
              <p:nvPr/>
            </p:nvSpPr>
            <p:spPr>
              <a:xfrm>
                <a:off x="186478" y="3924686"/>
                <a:ext cx="560185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/>
                  <a:t>That means, that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sz="1600" noProof="0" dirty="0"/>
                  <a:t> to be zero </a:t>
                </a:r>
                <a14:m>
                  <m:oMath xmlns:m="http://schemas.openxmlformats.org/officeDocument/2006/math">
                    <m:r>
                      <a:rPr lang="en-US" sz="1600" i="1" noProof="0" dirty="0" smtClean="0">
                        <a:latin typeface="Cambria Math" panose="02040503050406030204" pitchFamily="18" charset="0"/>
                      </a:rPr>
                      <m:t>⟶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5C6BDAA3-95E1-C20B-EC16-B658D3BBE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78" y="3924686"/>
                <a:ext cx="5601855" cy="338554"/>
              </a:xfrm>
              <a:prstGeom prst="rect">
                <a:avLst/>
              </a:prstGeom>
              <a:blipFill>
                <a:blip r:embed="rId13"/>
                <a:stretch>
                  <a:fillRect l="-451" t="-7407" b="-259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1C384B21-AB38-BF36-22E7-C3532A81C31A}"/>
                  </a:ext>
                </a:extLst>
              </p:cNvPr>
              <p:cNvSpPr txBox="1"/>
              <p:nvPr/>
            </p:nvSpPr>
            <p:spPr>
              <a:xfrm>
                <a:off x="186478" y="4233667"/>
                <a:ext cx="645721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⟶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What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property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must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general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𝑠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possess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for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this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to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hold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true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1C384B21-AB38-BF36-22E7-C3532A81C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78" y="4233667"/>
                <a:ext cx="6457217" cy="338554"/>
              </a:xfrm>
              <a:prstGeom prst="rect">
                <a:avLst/>
              </a:prstGeom>
              <a:blipFill>
                <a:blip r:embed="rId14"/>
                <a:stretch>
                  <a:fillRect l="-392" t="-7407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7CFF4227-A829-46A9-398A-ED1AF8632D0C}"/>
                  </a:ext>
                </a:extLst>
              </p:cNvPr>
              <p:cNvSpPr txBox="1"/>
              <p:nvPr/>
            </p:nvSpPr>
            <p:spPr>
              <a:xfrm>
                <a:off x="6571407" y="4233667"/>
                <a:ext cx="271309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/>
                  <a:t>We need a pole at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noProof="0" dirty="0"/>
                  <a:t>!</a:t>
                </a:r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7CFF4227-A829-46A9-398A-ED1AF863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407" y="4233667"/>
                <a:ext cx="2713099" cy="338554"/>
              </a:xfrm>
              <a:prstGeom prst="rect">
                <a:avLst/>
              </a:prstGeom>
              <a:blipFill>
                <a:blip r:embed="rId15"/>
                <a:stretch>
                  <a:fillRect l="-930" t="-3704" b="-259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Geschweifte Klammer links 49">
            <a:extLst>
              <a:ext uri="{FF2B5EF4-FFF2-40B4-BE49-F238E27FC236}">
                <a16:creationId xmlns:a16="http://schemas.microsoft.com/office/drawing/2014/main" id="{C688ECE7-D3BF-CF35-E9CC-6A63C3490D4C}"/>
              </a:ext>
            </a:extLst>
          </p:cNvPr>
          <p:cNvSpPr/>
          <p:nvPr/>
        </p:nvSpPr>
        <p:spPr>
          <a:xfrm rot="16200000">
            <a:off x="8561491" y="4323897"/>
            <a:ext cx="137116" cy="471017"/>
          </a:xfrm>
          <a:prstGeom prst="leftBrac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EC4E995-3E5C-A666-EE4D-48B9242AFF85}"/>
              </a:ext>
            </a:extLst>
          </p:cNvPr>
          <p:cNvSpPr txBox="1"/>
          <p:nvPr/>
        </p:nvSpPr>
        <p:spPr>
          <a:xfrm>
            <a:off x="8148072" y="4607005"/>
            <a:ext cx="1088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accent3"/>
                </a:solidFill>
              </a:rPr>
              <a:t>Integrators!</a:t>
            </a: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A4052F34-E547-1089-7D7A-3ECB9A732C66}"/>
              </a:ext>
            </a:extLst>
          </p:cNvPr>
          <p:cNvCxnSpPr>
            <a:cxnSpLocks/>
          </p:cNvCxnSpPr>
          <p:nvPr/>
        </p:nvCxnSpPr>
        <p:spPr>
          <a:xfrm>
            <a:off x="1732883" y="2473915"/>
            <a:ext cx="0" cy="270898"/>
          </a:xfrm>
          <a:prstGeom prst="straightConnector1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>
            <a:extLst>
              <a:ext uri="{FF2B5EF4-FFF2-40B4-BE49-F238E27FC236}">
                <a16:creationId xmlns:a16="http://schemas.microsoft.com/office/drawing/2014/main" id="{749DC359-EEC6-21C8-0BB9-F68398327936}"/>
              </a:ext>
            </a:extLst>
          </p:cNvPr>
          <p:cNvSpPr txBox="1"/>
          <p:nvPr/>
        </p:nvSpPr>
        <p:spPr>
          <a:xfrm>
            <a:off x="1259297" y="2302128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accent3"/>
                </a:solidFill>
              </a:rPr>
              <a:t>using FVT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01BF06DE-18BF-9A4E-973E-3F3CF1F02D0A}"/>
              </a:ext>
            </a:extLst>
          </p:cNvPr>
          <p:cNvCxnSpPr>
            <a:cxnSpLocks/>
          </p:cNvCxnSpPr>
          <p:nvPr/>
        </p:nvCxnSpPr>
        <p:spPr>
          <a:xfrm flipV="1">
            <a:off x="1101776" y="3461784"/>
            <a:ext cx="180871" cy="26948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02E5186A-0BB0-9616-1094-250FF5FCE7D5}"/>
              </a:ext>
            </a:extLst>
          </p:cNvPr>
          <p:cNvCxnSpPr>
            <a:cxnSpLocks/>
          </p:cNvCxnSpPr>
          <p:nvPr/>
        </p:nvCxnSpPr>
        <p:spPr>
          <a:xfrm flipV="1">
            <a:off x="2590216" y="3397990"/>
            <a:ext cx="244034" cy="3642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C15AEDFA-EA3B-FCD6-1A8D-8B6195245952}"/>
              </a:ext>
            </a:extLst>
          </p:cNvPr>
          <p:cNvCxnSpPr>
            <a:cxnSpLocks/>
          </p:cNvCxnSpPr>
          <p:nvPr/>
        </p:nvCxnSpPr>
        <p:spPr>
          <a:xfrm flipV="1">
            <a:off x="8515350" y="2767236"/>
            <a:ext cx="0" cy="217481"/>
          </a:xfrm>
          <a:prstGeom prst="straightConnector1">
            <a:avLst/>
          </a:prstGeom>
          <a:ln w="1905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B44FB1F7-68B7-4727-EEA3-EA29CE4F1EFC}"/>
              </a:ext>
            </a:extLst>
          </p:cNvPr>
          <p:cNvGrpSpPr/>
          <p:nvPr/>
        </p:nvGrpSpPr>
        <p:grpSpPr>
          <a:xfrm>
            <a:off x="6049146" y="2253776"/>
            <a:ext cx="2945914" cy="1852336"/>
            <a:chOff x="6049146" y="2253776"/>
            <a:chExt cx="2945914" cy="1852336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61ECFB45-6D50-7744-DD80-3D073956E0A7}"/>
                </a:ext>
              </a:extLst>
            </p:cNvPr>
            <p:cNvGrpSpPr/>
            <p:nvPr/>
          </p:nvGrpSpPr>
          <p:grpSpPr>
            <a:xfrm>
              <a:off x="6049146" y="2253776"/>
              <a:ext cx="2536796" cy="1852336"/>
              <a:chOff x="5636769" y="2246107"/>
              <a:chExt cx="2536796" cy="1852336"/>
            </a:xfrm>
          </p:grpSpPr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A72B137A-EDDA-699B-DB0B-AA6AD2219325}"/>
                  </a:ext>
                </a:extLst>
              </p:cNvPr>
              <p:cNvGrpSpPr/>
              <p:nvPr/>
            </p:nvGrpSpPr>
            <p:grpSpPr>
              <a:xfrm>
                <a:off x="5636769" y="2246107"/>
                <a:ext cx="2536796" cy="1852336"/>
                <a:chOff x="6583680" y="2766060"/>
                <a:chExt cx="2536796" cy="1852336"/>
              </a:xfrm>
            </p:grpSpPr>
            <p:cxnSp>
              <p:nvCxnSpPr>
                <p:cNvPr id="7" name="Gewinkelte Verbindung 6">
                  <a:extLst>
                    <a:ext uri="{FF2B5EF4-FFF2-40B4-BE49-F238E27FC236}">
                      <a16:creationId xmlns:a16="http://schemas.microsoft.com/office/drawing/2014/main" id="{43C09400-97C6-C27D-3E67-B2BCCBBECB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83680" y="2766060"/>
                  <a:ext cx="2453640" cy="1337489"/>
                </a:xfrm>
                <a:prstGeom prst="bentConnector3">
                  <a:avLst>
                    <a:gd name="adj1" fmla="val 0"/>
                  </a:avLst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" name="Gruppieren 7">
                  <a:extLst>
                    <a:ext uri="{FF2B5EF4-FFF2-40B4-BE49-F238E27FC236}">
                      <a16:creationId xmlns:a16="http://schemas.microsoft.com/office/drawing/2014/main" id="{19EB43B9-6B9B-7089-6302-C4DAE7B20F02}"/>
                    </a:ext>
                  </a:extLst>
                </p:cNvPr>
                <p:cNvGrpSpPr/>
                <p:nvPr/>
              </p:nvGrpSpPr>
              <p:grpSpPr>
                <a:xfrm>
                  <a:off x="6837812" y="2968376"/>
                  <a:ext cx="2282664" cy="1650020"/>
                  <a:chOff x="6826325" y="2942807"/>
                  <a:chExt cx="2282664" cy="1650020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" name="Textfeld 8">
                        <a:extLst>
                          <a:ext uri="{FF2B5EF4-FFF2-40B4-BE49-F238E27FC236}">
                            <a16:creationId xmlns:a16="http://schemas.microsoft.com/office/drawing/2014/main" id="{2C03B5DA-2539-4290-5EDB-A64728A991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49764" y="3449009"/>
                        <a:ext cx="552715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i="1" noProof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b="0" i="1" noProof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noProof="0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m:oMathPara>
                        </a14:m>
                        <a:endParaRPr/>
                      </a:p>
                    </p:txBody>
                  </p:sp>
                </mc:Choice>
                <mc:Fallback xmlns="">
                  <p:sp>
                    <p:nvSpPr>
                      <p:cNvPr id="9" name="Textfeld 8">
                        <a:extLst>
                          <a:ext uri="{FF2B5EF4-FFF2-40B4-BE49-F238E27FC236}">
                            <a16:creationId xmlns:a16="http://schemas.microsoft.com/office/drawing/2014/main" id="{2C03B5DA-2539-4290-5EDB-A64728A991F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049764" y="3449009"/>
                        <a:ext cx="552715" cy="307777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t="-4000" r="-6818" b="-20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" name="Textfeld 9">
                        <a:extLst>
                          <a:ext uri="{FF2B5EF4-FFF2-40B4-BE49-F238E27FC236}">
                            <a16:creationId xmlns:a16="http://schemas.microsoft.com/office/drawing/2014/main" id="{E6FD9658-D969-2A1B-F5F2-2B6E1F8C389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813716" y="4102059"/>
                        <a:ext cx="295273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oMath>
                          </m:oMathPara>
                        </a14:m>
                        <a:endParaRPr lang="en-US" noProof="0" dirty="0"/>
                      </a:p>
                    </p:txBody>
                  </p:sp>
                </mc:Choice>
                <mc:Fallback xmlns="">
                  <p:sp>
                    <p:nvSpPr>
                      <p:cNvPr id="10" name="Textfeld 9">
                        <a:extLst>
                          <a:ext uri="{FF2B5EF4-FFF2-40B4-BE49-F238E27FC236}">
                            <a16:creationId xmlns:a16="http://schemas.microsoft.com/office/drawing/2014/main" id="{E6FD9658-D969-2A1B-F5F2-2B6E1F8C389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13716" y="4102059"/>
                        <a:ext cx="295273" cy="307777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" name="Freihandform 10">
                    <a:extLst>
                      <a:ext uri="{FF2B5EF4-FFF2-40B4-BE49-F238E27FC236}">
                        <a16:creationId xmlns:a16="http://schemas.microsoft.com/office/drawing/2014/main" id="{12198C18-F416-9D70-735E-D56E6B3FB609}"/>
                      </a:ext>
                    </a:extLst>
                  </p:cNvPr>
                  <p:cNvSpPr/>
                  <p:nvPr/>
                </p:nvSpPr>
                <p:spPr>
                  <a:xfrm rot="6900422">
                    <a:off x="7015821" y="2753311"/>
                    <a:ext cx="1650020" cy="2029011"/>
                  </a:xfrm>
                  <a:custGeom>
                    <a:avLst/>
                    <a:gdLst>
                      <a:gd name="connsiteX0" fmla="*/ 0 w 1363980"/>
                      <a:gd name="connsiteY0" fmla="*/ 0 h 876300"/>
                      <a:gd name="connsiteX1" fmla="*/ 1363980 w 1363980"/>
                      <a:gd name="connsiteY1" fmla="*/ 876300 h 876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363980" h="876300">
                        <a:moveTo>
                          <a:pt x="0" y="0"/>
                        </a:moveTo>
                        <a:cubicBezTo>
                          <a:pt x="352425" y="403860"/>
                          <a:pt x="704850" y="807720"/>
                          <a:pt x="1363980" y="876300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 dirty="0"/>
                  </a:p>
                </p:txBody>
              </p:sp>
            </p:grpSp>
          </p:grpSp>
          <p:cxnSp>
            <p:nvCxnSpPr>
              <p:cNvPr id="17" name="Gerade Verbindung 16">
                <a:extLst>
                  <a:ext uri="{FF2B5EF4-FFF2-40B4-BE49-F238E27FC236}">
                    <a16:creationId xmlns:a16="http://schemas.microsoft.com/office/drawing/2014/main" id="{258A7AE5-9917-7AB7-BF6E-7C47715EBC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6769" y="2774023"/>
                <a:ext cx="2536796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feld 20">
                    <a:extLst>
                      <a:ext uri="{FF2B5EF4-FFF2-40B4-BE49-F238E27FC236}">
                        <a16:creationId xmlns:a16="http://schemas.microsoft.com/office/drawing/2014/main" id="{F7C46852-28E2-29CD-EC5E-B68BDFCF8DF6}"/>
                      </a:ext>
                    </a:extLst>
                  </p:cNvPr>
                  <p:cNvSpPr txBox="1"/>
                  <p:nvPr/>
                </p:nvSpPr>
                <p:spPr>
                  <a:xfrm>
                    <a:off x="7153182" y="2466246"/>
                    <a:ext cx="536044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noProof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oMath>
                      </m:oMathPara>
                    </a14:m>
                    <a:endParaRPr/>
                  </a:p>
                </p:txBody>
              </p:sp>
            </mc:Choice>
            <mc:Fallback xmlns="">
              <p:sp>
                <p:nvSpPr>
                  <p:cNvPr id="21" name="Textfeld 20">
                    <a:extLst>
                      <a:ext uri="{FF2B5EF4-FFF2-40B4-BE49-F238E27FC236}">
                        <a16:creationId xmlns:a16="http://schemas.microsoft.com/office/drawing/2014/main" id="{F7C46852-28E2-29CD-EC5E-B68BDFCF8D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53182" y="2466246"/>
                    <a:ext cx="536044" cy="30777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t="-4000" r="-6977" b="-24000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0110DF1E-C6C3-0302-9FE2-619D7CB5860D}"/>
                    </a:ext>
                  </a:extLst>
                </p:cNvPr>
                <p:cNvSpPr txBox="1"/>
                <p:nvPr/>
              </p:nvSpPr>
              <p:spPr>
                <a:xfrm>
                  <a:off x="8522430" y="2676940"/>
                  <a:ext cx="47263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b="1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𝒔𝒔</m:t>
                            </m:r>
                          </m:sub>
                        </m:sSub>
                      </m:oMath>
                    </m:oMathPara>
                  </a14:m>
                  <a:endParaRPr lang="en-US" b="1" noProof="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0110DF1E-C6C3-0302-9FE2-619D7CB586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2430" y="2676940"/>
                  <a:ext cx="472630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6521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8" grpId="0"/>
      <p:bldP spid="50" grpId="0" animBg="1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6761CF-2B5C-00EA-8875-BA3DE3CC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Integrators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1AC291D-A0A8-6181-4A1A-0A7213703B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1600" noProof="0" dirty="0"/>
                  <a:t>If constant error </a:t>
                </a:r>
                <a14:m>
                  <m:oMath xmlns:m="http://schemas.openxmlformats.org/officeDocument/2006/math">
                    <m:r>
                      <a:rPr lang="en-US" sz="1600" i="1" noProof="0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1600" noProof="0" dirty="0"/>
                  <a:t> is integrated, it steadily grows</a:t>
                </a:r>
              </a:p>
              <a:p>
                <a:r>
                  <a:rPr lang="en-US" sz="1600" noProof="0" dirty="0"/>
                  <a:t>Controller tries to minimize this growth and drives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noProof="0" dirty="0"/>
                  <a:t> to zero</a:t>
                </a:r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1AC291D-A0A8-6181-4A1A-0A7213703B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2" t="-1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4616DA-F44E-82A0-4E65-7021B9831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85001E3-7C0E-D988-24D3-3DB47293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1B9F6EAA-EB5C-0340-6803-0A4C4CF15557}"/>
              </a:ext>
            </a:extLst>
          </p:cNvPr>
          <p:cNvGrpSpPr/>
          <p:nvPr/>
        </p:nvGrpSpPr>
        <p:grpSpPr>
          <a:xfrm>
            <a:off x="6087341" y="142256"/>
            <a:ext cx="2536796" cy="1852336"/>
            <a:chOff x="5636769" y="2246107"/>
            <a:chExt cx="2536796" cy="1852336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EC2E2DEF-F607-3E9C-BC8B-E92A5A9F19D7}"/>
                </a:ext>
              </a:extLst>
            </p:cNvPr>
            <p:cNvGrpSpPr/>
            <p:nvPr/>
          </p:nvGrpSpPr>
          <p:grpSpPr>
            <a:xfrm>
              <a:off x="5636769" y="2246107"/>
              <a:ext cx="2536796" cy="1852336"/>
              <a:chOff x="6583680" y="2766060"/>
              <a:chExt cx="2536796" cy="1852336"/>
            </a:xfrm>
          </p:grpSpPr>
          <p:cxnSp>
            <p:nvCxnSpPr>
              <p:cNvPr id="19" name="Gewinkelte Verbindung 18">
                <a:extLst>
                  <a:ext uri="{FF2B5EF4-FFF2-40B4-BE49-F238E27FC236}">
                    <a16:creationId xmlns:a16="http://schemas.microsoft.com/office/drawing/2014/main" id="{D89B43AB-4B13-4BB8-29EA-887889A245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3680" y="2766060"/>
                <a:ext cx="2453640" cy="1337489"/>
              </a:xfrm>
              <a:prstGeom prst="bentConnector3">
                <a:avLst>
                  <a:gd name="adj1" fmla="val 0"/>
                </a:avLst>
              </a:prstGeom>
              <a:ln w="254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30BE93A8-A995-B998-9B9B-885F3D8B7E1F}"/>
                  </a:ext>
                </a:extLst>
              </p:cNvPr>
              <p:cNvGrpSpPr/>
              <p:nvPr/>
            </p:nvGrpSpPr>
            <p:grpSpPr>
              <a:xfrm>
                <a:off x="6837812" y="2968376"/>
                <a:ext cx="2282664" cy="1650020"/>
                <a:chOff x="6826325" y="2942807"/>
                <a:chExt cx="2282664" cy="16500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7360A32F-362F-BF5C-0CB5-E100900FD9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49764" y="3449009"/>
                      <a:ext cx="552715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b="0" i="1" noProof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noProof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21" name="Textfeld 20">
                      <a:extLst>
                        <a:ext uri="{FF2B5EF4-FFF2-40B4-BE49-F238E27FC236}">
                          <a16:creationId xmlns:a16="http://schemas.microsoft.com/office/drawing/2014/main" id="{7360A32F-362F-BF5C-0CB5-E100900FD9D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49764" y="3449009"/>
                      <a:ext cx="552715" cy="3077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C8F9B82D-2378-2629-D2C2-2BD2B123B8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13716" y="4102059"/>
                      <a:ext cx="295273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oMath>
                        </m:oMathPara>
                      </a14:m>
                      <a:endParaRPr lang="en-US" noProof="0"/>
                    </a:p>
                  </p:txBody>
                </p:sp>
              </mc:Choice>
              <mc:Fallback xmlns="">
                <p:sp>
                  <p:nvSpPr>
                    <p:cNvPr id="22" name="Textfeld 21">
                      <a:extLst>
                        <a:ext uri="{FF2B5EF4-FFF2-40B4-BE49-F238E27FC236}">
                          <a16:creationId xmlns:a16="http://schemas.microsoft.com/office/drawing/2014/main" id="{C8F9B82D-2378-2629-D2C2-2BD2B123B8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3716" y="4102059"/>
                      <a:ext cx="295273" cy="30777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Freihandform 22">
                  <a:extLst>
                    <a:ext uri="{FF2B5EF4-FFF2-40B4-BE49-F238E27FC236}">
                      <a16:creationId xmlns:a16="http://schemas.microsoft.com/office/drawing/2014/main" id="{1B07DF6D-2F5D-6CF2-4DAA-545307A35B4D}"/>
                    </a:ext>
                  </a:extLst>
                </p:cNvPr>
                <p:cNvSpPr/>
                <p:nvPr/>
              </p:nvSpPr>
              <p:spPr>
                <a:xfrm rot="6900422">
                  <a:off x="7015821" y="2753311"/>
                  <a:ext cx="1650020" cy="2029011"/>
                </a:xfrm>
                <a:custGeom>
                  <a:avLst/>
                  <a:gdLst>
                    <a:gd name="connsiteX0" fmla="*/ 0 w 1363980"/>
                    <a:gd name="connsiteY0" fmla="*/ 0 h 876300"/>
                    <a:gd name="connsiteX1" fmla="*/ 1363980 w 1363980"/>
                    <a:gd name="connsiteY1" fmla="*/ 876300 h 8763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63980" h="876300">
                      <a:moveTo>
                        <a:pt x="0" y="0"/>
                      </a:moveTo>
                      <a:cubicBezTo>
                        <a:pt x="352425" y="403860"/>
                        <a:pt x="704850" y="807720"/>
                        <a:pt x="1363980" y="876300"/>
                      </a:cubicBezTo>
                    </a:path>
                  </a:pathLst>
                </a:custGeom>
                <a:noFill/>
                <a:ln w="25400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/>
                </a:p>
              </p:txBody>
            </p:sp>
          </p:grpSp>
        </p:grpSp>
        <p:cxnSp>
          <p:nvCxnSpPr>
            <p:cNvPr id="17" name="Gerade Verbindung 16">
              <a:extLst>
                <a:ext uri="{FF2B5EF4-FFF2-40B4-BE49-F238E27FC236}">
                  <a16:creationId xmlns:a16="http://schemas.microsoft.com/office/drawing/2014/main" id="{AD4EDE24-EF58-4B83-0F29-7248E07C6B68}"/>
                </a:ext>
              </a:extLst>
            </p:cNvPr>
            <p:cNvCxnSpPr>
              <a:cxnSpLocks/>
            </p:cNvCxnSpPr>
            <p:nvPr/>
          </p:nvCxnSpPr>
          <p:spPr>
            <a:xfrm>
              <a:off x="5636769" y="2774023"/>
              <a:ext cx="253679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F026D15E-56DC-5B29-175D-9B6781F5F832}"/>
                    </a:ext>
                  </a:extLst>
                </p:cNvPr>
                <p:cNvSpPr txBox="1"/>
                <p:nvPr/>
              </p:nvSpPr>
              <p:spPr>
                <a:xfrm>
                  <a:off x="7153182" y="2466246"/>
                  <a:ext cx="53604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F026D15E-56DC-5B29-175D-9B6781F5F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3182" y="2466246"/>
                  <a:ext cx="536044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A366453-4E9F-CE0E-E078-19E19902BBCD}"/>
                  </a:ext>
                </a:extLst>
              </p:cNvPr>
              <p:cNvSpPr txBox="1"/>
              <p:nvPr/>
            </p:nvSpPr>
            <p:spPr>
              <a:xfrm>
                <a:off x="8624137" y="588144"/>
                <a:ext cx="4726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b="1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𝒔𝒔</m:t>
                          </m:r>
                        </m:sub>
                      </m:sSub>
                    </m:oMath>
                  </m:oMathPara>
                </a14:m>
                <a:endParaRPr lang="en-US" b="1" noProof="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A366453-4E9F-CE0E-E078-19E19902B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137" y="588144"/>
                <a:ext cx="47263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E425B7A-EFD4-ADFA-372F-F694D1A727E0}"/>
              </a:ext>
            </a:extLst>
          </p:cNvPr>
          <p:cNvCxnSpPr>
            <a:cxnSpLocks/>
          </p:cNvCxnSpPr>
          <p:nvPr/>
        </p:nvCxnSpPr>
        <p:spPr>
          <a:xfrm flipV="1">
            <a:off x="8625531" y="633293"/>
            <a:ext cx="0" cy="217481"/>
          </a:xfrm>
          <a:prstGeom prst="straightConnector1">
            <a:avLst/>
          </a:prstGeom>
          <a:ln w="1905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09A928B7-0805-0982-420C-8C9FE2E2F7F9}"/>
                  </a:ext>
                </a:extLst>
              </p14:cNvPr>
              <p14:cNvContentPartPr/>
              <p14:nvPr/>
            </p14:nvContentPartPr>
            <p14:xfrm>
              <a:off x="6104953" y="658407"/>
              <a:ext cx="2400120" cy="57564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09A928B7-0805-0982-420C-8C9FE2E2F7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89471" y="642917"/>
                <a:ext cx="2430725" cy="606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F7E161A-C1B5-E611-88BC-9F4ACCBA6CE6}"/>
                  </a:ext>
                </a:extLst>
              </p:cNvPr>
              <p:cNvSpPr txBox="1"/>
              <p:nvPr/>
            </p:nvSpPr>
            <p:spPr>
              <a:xfrm>
                <a:off x="741859" y="2043181"/>
                <a:ext cx="7162602" cy="6874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Example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Given an open loop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DE" sz="160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sz="16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sz="16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sz="16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sz="1600" i="1" dirty="0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de-DE" sz="1600" dirty="0"/>
                  <a:t>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what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DE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de-DE" sz="1600" i="1" dirty="0" err="1" smtClean="0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de-DE" sz="1600" dirty="0"/>
                  <a:t>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for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step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input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  <a:p>
                <a:endParaRPr lang="de-D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F7E161A-C1B5-E611-88BC-9F4ACCBA6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59" y="2043181"/>
                <a:ext cx="7162602" cy="687496"/>
              </a:xfrm>
              <a:prstGeom prst="rect">
                <a:avLst/>
              </a:prstGeom>
              <a:blipFill>
                <a:blip r:embed="rId9"/>
                <a:stretch>
                  <a:fillRect l="-531" b="-89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7D9FFE6E-5936-8779-14B7-CE231933DF8D}"/>
                  </a:ext>
                </a:extLst>
              </p:cNvPr>
              <p:cNvSpPr txBox="1"/>
              <p:nvPr/>
            </p:nvSpPr>
            <p:spPr>
              <a:xfrm>
                <a:off x="2446236" y="2499725"/>
                <a:ext cx="3521092" cy="5964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de-DE" sz="1600" i="1" dirty="0" err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𝑠𝑠</m:t>
                          </m:r>
                        </m:sub>
                      </m:sSub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𝑆</m:t>
                      </m:r>
                      <m:d>
                        <m:d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e>
                      </m:d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1+</m:t>
                          </m:r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e-DE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de-DE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1+1</m:t>
                          </m:r>
                          <m:r>
                            <m:rPr>
                              <m:lit/>
                            </m:r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/</m:t>
                          </m:r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den>
                      </m:f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2</m:t>
                          </m:r>
                        </m:num>
                        <m:den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7D9FFE6E-5936-8779-14B7-CE231933D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36" y="2499725"/>
                <a:ext cx="3521092" cy="596445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FEC2B714-3C45-108D-D7E2-9A0FDFCC0698}"/>
                  </a:ext>
                </a:extLst>
              </p:cNvPr>
              <p:cNvSpPr txBox="1"/>
              <p:nvPr/>
            </p:nvSpPr>
            <p:spPr>
              <a:xfrm>
                <a:off x="741859" y="3170739"/>
                <a:ext cx="4175567" cy="441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Let's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add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 </a:t>
                </a:r>
                <a:r>
                  <a:rPr lang="de-DE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integrator</a:t>
                </a:r>
                <a:r>
                  <a:rPr lang="de-D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DE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𝐿</m:t>
                    </m:r>
                    <m:d>
                      <m:dPr>
                        <m:ctrlP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e>
                    </m:d>
                    <m:r>
                      <a:rPr lang="de-DE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den>
                    </m:f>
                    <m:r>
                      <a:rPr lang="de-DE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⋅</m:t>
                    </m:r>
                    <m:f>
                      <m:fPr>
                        <m:ctrlP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  <m:r>
                          <a:rPr lang="de-DE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+2</m:t>
                        </m:r>
                      </m:den>
                    </m:f>
                    <m:r>
                      <a:rPr lang="de-DE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de-DE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de-DE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de-DE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de-DE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p>
                        </m:sSup>
                        <m:r>
                          <a:rPr lang="de-DE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+2</m:t>
                        </m:r>
                        <m:r>
                          <a:rPr lang="de-DE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𝑠</m:t>
                        </m:r>
                      </m:den>
                    </m:f>
                  </m:oMath>
                </a14:m>
                <a:endParaRPr lang="de-D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FEC2B714-3C45-108D-D7E2-9A0FDFCC0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59" y="3170739"/>
                <a:ext cx="4175567" cy="441275"/>
              </a:xfrm>
              <a:prstGeom prst="rect">
                <a:avLst/>
              </a:prstGeom>
              <a:blipFill>
                <a:blip r:embed="rId11"/>
                <a:stretch>
                  <a:fillRect l="-909" r="-909" b="-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8E5569CF-17FC-1E52-27C9-FD01A9B9EED0}"/>
                  </a:ext>
                </a:extLst>
              </p:cNvPr>
              <p:cNvSpPr txBox="1"/>
              <p:nvPr/>
            </p:nvSpPr>
            <p:spPr>
              <a:xfrm>
                <a:off x="2446236" y="3618168"/>
                <a:ext cx="3521092" cy="5964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𝑒</m:t>
                          </m:r>
                        </m:e>
                        <m:sub>
                          <m:r>
                            <a:rPr lang="de-DE" sz="1600" i="1" dirty="0" err="1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𝑠𝑠</m:t>
                          </m:r>
                        </m:sub>
                      </m:sSub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𝑆</m:t>
                      </m:r>
                      <m:d>
                        <m:d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e>
                      </m:d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1+</m:t>
                          </m:r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de-DE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de-DE" sz="1600" i="1" dirty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f>
                        <m:fPr>
                          <m:ctrl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fPr>
                        <m:num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1+1</m:t>
                          </m:r>
                          <m:r>
                            <m:rPr>
                              <m:lit/>
                            </m:rPr>
                            <a:rPr lang="de-DE" sz="1600" i="1" dirty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/</m:t>
                          </m:r>
                          <m:r>
                            <m:rPr>
                              <m:lit/>
                            </m:rPr>
                            <a:rPr lang="de-CH" sz="1600" b="0" i="1" dirty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den>
                      </m:f>
                      <m:r>
                        <a:rPr lang="de-DE" sz="1600" i="1" dirty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r>
                        <a:rPr lang="de-CH" sz="1600" b="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0</m:t>
                      </m:r>
                    </m:oMath>
                  </m:oMathPara>
                </a14:m>
                <a:endParaRPr lang="de-DE" sz="1600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8E5569CF-17FC-1E52-27C9-FD01A9B9E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36" y="3618168"/>
                <a:ext cx="3521092" cy="596445"/>
              </a:xfrm>
              <a:prstGeom prst="rect">
                <a:avLst/>
              </a:prstGeom>
              <a:blipFill>
                <a:blip r:embed="rId1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feld 34">
            <a:extLst>
              <a:ext uri="{FF2B5EF4-FFF2-40B4-BE49-F238E27FC236}">
                <a16:creationId xmlns:a16="http://schemas.microsoft.com/office/drawing/2014/main" id="{41DFB816-749D-287A-F21E-EFF183B0B593}"/>
              </a:ext>
            </a:extLst>
          </p:cNvPr>
          <p:cNvSpPr txBox="1"/>
          <p:nvPr/>
        </p:nvSpPr>
        <p:spPr>
          <a:xfrm>
            <a:off x="628650" y="4315816"/>
            <a:ext cx="7488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Great,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now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know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output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actually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want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DE" sz="1600" dirty="0" err="1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</a:t>
            </a:r>
            <a:r>
              <a:rPr lang="de-DE" sz="16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01500864-20F3-9D85-929E-CCDE2F52F9C5}"/>
              </a:ext>
            </a:extLst>
          </p:cNvPr>
          <p:cNvGrpSpPr/>
          <p:nvPr/>
        </p:nvGrpSpPr>
        <p:grpSpPr>
          <a:xfrm>
            <a:off x="6735012" y="2687570"/>
            <a:ext cx="1667129" cy="606543"/>
            <a:chOff x="6735012" y="2687570"/>
            <a:chExt cx="1667129" cy="6065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F55663CA-AF2F-CFB3-450F-09CCDB50FD9E}"/>
                    </a:ext>
                  </a:extLst>
                </p:cNvPr>
                <p:cNvSpPr txBox="1"/>
                <p:nvPr/>
              </p:nvSpPr>
              <p:spPr>
                <a:xfrm>
                  <a:off x="6901361" y="2706587"/>
                  <a:ext cx="1404786" cy="5135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18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de-CH" sz="1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den>
                      </m:f>
                    </m:oMath>
                  </a14:m>
                  <a:endParaRPr lang="de-DE" sz="1800" dirty="0"/>
                </a:p>
              </p:txBody>
            </p:sp>
          </mc:Choice>
          <mc:Fallback xmlns="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F55663CA-AF2F-CFB3-450F-09CCDB50F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1361" y="2706587"/>
                  <a:ext cx="1404786" cy="51353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Rectangle: Rounded Corners 17">
              <a:extLst>
                <a:ext uri="{FF2B5EF4-FFF2-40B4-BE49-F238E27FC236}">
                  <a16:creationId xmlns:a16="http://schemas.microsoft.com/office/drawing/2014/main" id="{948E09E9-7850-5403-5C26-41D030DD3B51}"/>
                </a:ext>
              </a:extLst>
            </p:cNvPr>
            <p:cNvSpPr/>
            <p:nvPr/>
          </p:nvSpPr>
          <p:spPr>
            <a:xfrm>
              <a:off x="6735012" y="2687570"/>
              <a:ext cx="1667129" cy="60654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95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1" grpId="0"/>
      <p:bldP spid="32" grpId="0"/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742A8CD-A7F1-82F1-7110-3AA9AA659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r="130" b="17402"/>
          <a:stretch>
            <a:fillRect/>
          </a:stretch>
        </p:blipFill>
        <p:spPr>
          <a:xfrm>
            <a:off x="255559" y="623713"/>
            <a:ext cx="8632881" cy="3896074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801622-48E0-4AC6-4665-527C69CE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6367F4-2875-0B5C-46BD-CB8D406A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17">
                <a:extLst>
                  <a:ext uri="{FF2B5EF4-FFF2-40B4-BE49-F238E27FC236}">
                    <a16:creationId xmlns:a16="http://schemas.microsoft.com/office/drawing/2014/main" id="{4CFF229B-6ABF-8C39-85A4-B8E973E257A2}"/>
                  </a:ext>
                </a:extLst>
              </p:cNvPr>
              <p:cNvSpPr/>
              <p:nvPr/>
            </p:nvSpPr>
            <p:spPr>
              <a:xfrm>
                <a:off x="255559" y="102393"/>
                <a:ext cx="3210655" cy="733834"/>
              </a:xfrm>
              <a:prstGeom prst="roundRect">
                <a:avLst>
                  <a:gd name="adj" fmla="val 12642"/>
                </a:avLst>
              </a:prstGeom>
              <a:solidFill>
                <a:schemeClr val="tx1">
                  <a:lumMod val="90000"/>
                  <a:lumOff val="10000"/>
                </a:schemeClr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r>
                  <a:rPr lang="en-US" noProof="0" dirty="0">
                    <a:cs typeface="Segoe UI" panose="020B0502040204020203" pitchFamily="34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i="1" noProof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𝑞</m:t>
                    </m:r>
                  </m:oMath>
                </a14:m>
                <a:r>
                  <a:rPr lang="en-US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	order of ramp input</a:t>
                </a:r>
              </a:p>
              <a:p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Type:	number of integrators</a:t>
                </a:r>
                <a:endParaRPr lang="en-US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8" name="Rectangle: Rounded Corners 17">
                <a:extLst>
                  <a:ext uri="{FF2B5EF4-FFF2-40B4-BE49-F238E27FC236}">
                    <a16:creationId xmlns:a16="http://schemas.microsoft.com/office/drawing/2014/main" id="{4CFF229B-6ABF-8C39-85A4-B8E973E257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59" y="102393"/>
                <a:ext cx="3210655" cy="733834"/>
              </a:xfrm>
              <a:prstGeom prst="roundRect">
                <a:avLst>
                  <a:gd name="adj" fmla="val 1264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06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85B63-7EF4-BA82-D763-BD5DFA465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2. Time-Domain Specifications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F80FCC-0994-0CF8-479C-575BE43F75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CF0B9B-9C91-B742-3ED9-54E08A3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D84DE9-BEF8-7F8B-442F-3B707860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894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F102B2-DB80-AE16-C934-B6BF5D4C7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Time-Domain Specifications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707D6B2-1345-B71B-ED81-127EC4CB2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4407" y="1606152"/>
                <a:ext cx="3495760" cy="326350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100%</m:t>
                        </m:r>
                      </m:sub>
                    </m:sSub>
                  </m:oMath>
                </a14:m>
                <a:r>
                  <a:rPr lang="en-US" noProof="0" dirty="0"/>
                  <a:t>:</a:t>
                </a:r>
                <a:r>
                  <a:rPr lang="en-US" noProof="0" dirty="0">
                    <a:solidFill>
                      <a:schemeClr val="accent2"/>
                    </a:solidFill>
                  </a:rPr>
                  <a:t>  	</a:t>
                </a:r>
                <a:r>
                  <a:rPr lang="en-US" noProof="0" dirty="0"/>
                  <a:t>Rise Time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noProof="0" dirty="0">
                    <a:solidFill>
                      <a:schemeClr val="accent2"/>
                    </a:solidFill>
                  </a:rPr>
                  <a:t>		</a:t>
                </a:r>
                <a:r>
                  <a:rPr lang="en-US" noProof="0" dirty="0"/>
                  <a:t>Peak Time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:</a:t>
                </a:r>
                <a:r>
                  <a:rPr lang="en-US" noProof="0" dirty="0">
                    <a:solidFill>
                      <a:schemeClr val="accent2"/>
                    </a:solidFill>
                  </a:rPr>
                  <a:t>		</a:t>
                </a:r>
                <a:r>
                  <a:rPr lang="en-US" noProof="0" dirty="0"/>
                  <a:t>Settling Time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noProof="0" dirty="0">
                    <a:solidFill>
                      <a:schemeClr val="accent2"/>
                    </a:solidFill>
                  </a:rPr>
                  <a:t>		</a:t>
                </a:r>
                <a:r>
                  <a:rPr lang="en-US" noProof="0" dirty="0"/>
                  <a:t>Peak Overshoot</a:t>
                </a:r>
              </a:p>
              <a:p>
                <a:endParaRPr lang="en-US" noProof="0" dirty="0">
                  <a:solidFill>
                    <a:schemeClr val="accent2"/>
                  </a:solidFill>
                </a:endParaRPr>
              </a:p>
              <a:p>
                <a:endParaRPr lang="en-US" noProof="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707D6B2-1345-B71B-ED81-127EC4CB2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4407" y="1606152"/>
                <a:ext cx="3495760" cy="3263504"/>
              </a:xfrm>
              <a:blipFill>
                <a:blip r:embed="rId2"/>
                <a:stretch>
                  <a:fillRect l="-1083" t="-19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BC3AFC-B3BD-3B4F-72AE-42F34D0E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6CDCD3-F18A-73BD-BFCA-B47256B7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Gewinkelte Verbindung 5">
            <a:extLst>
              <a:ext uri="{FF2B5EF4-FFF2-40B4-BE49-F238E27FC236}">
                <a16:creationId xmlns:a16="http://schemas.microsoft.com/office/drawing/2014/main" id="{59932FD0-3B7E-149F-7CEF-95237F204C69}"/>
              </a:ext>
            </a:extLst>
          </p:cNvPr>
          <p:cNvCxnSpPr>
            <a:cxnSpLocks/>
          </p:cNvCxnSpPr>
          <p:nvPr/>
        </p:nvCxnSpPr>
        <p:spPr>
          <a:xfrm>
            <a:off x="628650" y="1613186"/>
            <a:ext cx="4450618" cy="2775569"/>
          </a:xfrm>
          <a:prstGeom prst="bentConnector3">
            <a:avLst>
              <a:gd name="adj1" fmla="val 0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D496C9F-42F7-2CBA-975A-E12BBAA301FA}"/>
                  </a:ext>
                </a:extLst>
              </p:cNvPr>
              <p:cNvSpPr txBox="1"/>
              <p:nvPr/>
            </p:nvSpPr>
            <p:spPr>
              <a:xfrm>
                <a:off x="195332" y="1305842"/>
                <a:ext cx="6055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D496C9F-42F7-2CBA-975A-E12BBAA30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32" y="1305842"/>
                <a:ext cx="605550" cy="338554"/>
              </a:xfrm>
              <a:prstGeom prst="rect">
                <a:avLst/>
              </a:prstGeom>
              <a:blipFill>
                <a:blip r:embed="rId3"/>
                <a:stretch>
                  <a:fillRect t="-3571" r="-10417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2B2DB58-BFDB-1C7F-1B2C-0C47733692C6}"/>
                  </a:ext>
                </a:extLst>
              </p:cNvPr>
              <p:cNvSpPr txBox="1"/>
              <p:nvPr/>
            </p:nvSpPr>
            <p:spPr>
              <a:xfrm>
                <a:off x="5079268" y="4215518"/>
                <a:ext cx="329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2B2DB58-BFDB-1C7F-1B2C-0C4773369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268" y="4215518"/>
                <a:ext cx="32912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D32227D-423D-F930-D3D3-047F7F41A904}"/>
              </a:ext>
            </a:extLst>
          </p:cNvPr>
          <p:cNvGrpSpPr/>
          <p:nvPr/>
        </p:nvGrpSpPr>
        <p:grpSpPr>
          <a:xfrm>
            <a:off x="628650" y="2365800"/>
            <a:ext cx="4264761" cy="2018995"/>
            <a:chOff x="1250899" y="2267712"/>
            <a:chExt cx="4264761" cy="2018995"/>
          </a:xfrm>
        </p:grpSpPr>
        <p:cxnSp>
          <p:nvCxnSpPr>
            <p:cNvPr id="18" name="Gerade Verbindung 17">
              <a:extLst>
                <a:ext uri="{FF2B5EF4-FFF2-40B4-BE49-F238E27FC236}">
                  <a16:creationId xmlns:a16="http://schemas.microsoft.com/office/drawing/2014/main" id="{13C5F039-A623-62F8-DC3F-DF17364F5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899" y="2267712"/>
              <a:ext cx="0" cy="2018995"/>
            </a:xfrm>
            <a:prstGeom prst="line">
              <a:avLst/>
            </a:prstGeom>
            <a:ln w="317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 Verbindung 22">
              <a:extLst>
                <a:ext uri="{FF2B5EF4-FFF2-40B4-BE49-F238E27FC236}">
                  <a16:creationId xmlns:a16="http://schemas.microsoft.com/office/drawing/2014/main" id="{10BD4139-A9C4-E7D1-98F0-5298C2928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0899" y="2267712"/>
              <a:ext cx="4264761" cy="0"/>
            </a:xfrm>
            <a:prstGeom prst="line">
              <a:avLst/>
            </a:prstGeom>
            <a:ln w="317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6DCC533B-7F5E-70C7-74AD-59A393B71AA2}"/>
                  </a:ext>
                </a:extLst>
              </p:cNvPr>
              <p:cNvSpPr txBox="1"/>
              <p:nvPr/>
            </p:nvSpPr>
            <p:spPr>
              <a:xfrm>
                <a:off x="4893411" y="2158117"/>
                <a:ext cx="34464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1600" noProof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6DCC533B-7F5E-70C7-74AD-59A393B71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3411" y="2158117"/>
                <a:ext cx="344646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4C32374-E9FC-CD78-165D-FA71B044FE14}"/>
                  </a:ext>
                </a:extLst>
              </p:cNvPr>
              <p:cNvSpPr txBox="1"/>
              <p:nvPr/>
            </p:nvSpPr>
            <p:spPr>
              <a:xfrm>
                <a:off x="-22741" y="2158117"/>
                <a:ext cx="5709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noProof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F4C32374-E9FC-CD78-165D-FA71B044F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741" y="2158117"/>
                <a:ext cx="570989" cy="338554"/>
              </a:xfrm>
              <a:prstGeom prst="rect">
                <a:avLst/>
              </a:prstGeom>
              <a:blipFill>
                <a:blip r:embed="rId6"/>
                <a:stretch>
                  <a:fillRect t="-3571" r="-869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reihandform 33">
            <a:extLst>
              <a:ext uri="{FF2B5EF4-FFF2-40B4-BE49-F238E27FC236}">
                <a16:creationId xmlns:a16="http://schemas.microsoft.com/office/drawing/2014/main" id="{86BE9252-22A3-8730-D626-EDB2A6A9B63D}"/>
              </a:ext>
            </a:extLst>
          </p:cNvPr>
          <p:cNvSpPr/>
          <p:nvPr/>
        </p:nvSpPr>
        <p:spPr>
          <a:xfrm>
            <a:off x="643737" y="1686111"/>
            <a:ext cx="4515923" cy="2703009"/>
          </a:xfrm>
          <a:custGeom>
            <a:avLst/>
            <a:gdLst>
              <a:gd name="connsiteX0" fmla="*/ 0 w 4315968"/>
              <a:gd name="connsiteY0" fmla="*/ 2703009 h 2703009"/>
              <a:gd name="connsiteX1" fmla="*/ 453542 w 4315968"/>
              <a:gd name="connsiteY1" fmla="*/ 32961 h 2703009"/>
              <a:gd name="connsiteX2" fmla="*/ 929030 w 4315968"/>
              <a:gd name="connsiteY2" fmla="*/ 1159502 h 2703009"/>
              <a:gd name="connsiteX3" fmla="*/ 1704441 w 4315968"/>
              <a:gd name="connsiteY3" fmla="*/ 347515 h 2703009"/>
              <a:gd name="connsiteX4" fmla="*/ 2523744 w 4315968"/>
              <a:gd name="connsiteY4" fmla="*/ 976622 h 2703009"/>
              <a:gd name="connsiteX5" fmla="*/ 3416198 w 4315968"/>
              <a:gd name="connsiteY5" fmla="*/ 493819 h 2703009"/>
              <a:gd name="connsiteX6" fmla="*/ 4315968 w 4315968"/>
              <a:gd name="connsiteY6" fmla="*/ 559655 h 270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15968" h="2703009">
                <a:moveTo>
                  <a:pt x="0" y="2703009"/>
                </a:moveTo>
                <a:cubicBezTo>
                  <a:pt x="149352" y="1496610"/>
                  <a:pt x="298704" y="290212"/>
                  <a:pt x="453542" y="32961"/>
                </a:cubicBezTo>
                <a:cubicBezTo>
                  <a:pt x="608380" y="-224290"/>
                  <a:pt x="720547" y="1107076"/>
                  <a:pt x="929030" y="1159502"/>
                </a:cubicBezTo>
                <a:cubicBezTo>
                  <a:pt x="1137513" y="1211928"/>
                  <a:pt x="1438655" y="377995"/>
                  <a:pt x="1704441" y="347515"/>
                </a:cubicBezTo>
                <a:cubicBezTo>
                  <a:pt x="1970227" y="317035"/>
                  <a:pt x="2238451" y="952238"/>
                  <a:pt x="2523744" y="976622"/>
                </a:cubicBezTo>
                <a:cubicBezTo>
                  <a:pt x="2809037" y="1001006"/>
                  <a:pt x="3117494" y="563314"/>
                  <a:pt x="3416198" y="493819"/>
                </a:cubicBezTo>
                <a:cubicBezTo>
                  <a:pt x="3714902" y="424324"/>
                  <a:pt x="4015435" y="491989"/>
                  <a:pt x="4315968" y="559655"/>
                </a:cubicBez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60025FBB-F970-4393-FCDF-01FBF2909B73}"/>
              </a:ext>
            </a:extLst>
          </p:cNvPr>
          <p:cNvCxnSpPr>
            <a:cxnSpLocks/>
          </p:cNvCxnSpPr>
          <p:nvPr/>
        </p:nvCxnSpPr>
        <p:spPr>
          <a:xfrm>
            <a:off x="945321" y="2365800"/>
            <a:ext cx="0" cy="2018995"/>
          </a:xfrm>
          <a:prstGeom prst="line">
            <a:avLst/>
          </a:prstGeom>
          <a:ln w="254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C0A32107-87F7-EE2D-4492-9AAF2896A468}"/>
                  </a:ext>
                </a:extLst>
              </p:cNvPr>
              <p:cNvSpPr txBox="1"/>
              <p:nvPr/>
            </p:nvSpPr>
            <p:spPr>
              <a:xfrm>
                <a:off x="628649" y="4384795"/>
                <a:ext cx="6591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noProof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100%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C0A32107-87F7-EE2D-4492-9AAF2896A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4384795"/>
                <a:ext cx="659155" cy="307777"/>
              </a:xfrm>
              <a:prstGeom prst="rect">
                <a:avLst/>
              </a:prstGeom>
              <a:blipFill>
                <a:blip r:embed="rId7"/>
                <a:stretch>
                  <a:fillRect t="-4000" r="-5660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Gerade Verbindung 39">
            <a:extLst>
              <a:ext uri="{FF2B5EF4-FFF2-40B4-BE49-F238E27FC236}">
                <a16:creationId xmlns:a16="http://schemas.microsoft.com/office/drawing/2014/main" id="{3BF649D2-A849-5230-D5F7-A934FF9E14FC}"/>
              </a:ext>
            </a:extLst>
          </p:cNvPr>
          <p:cNvCxnSpPr>
            <a:cxnSpLocks/>
          </p:cNvCxnSpPr>
          <p:nvPr/>
        </p:nvCxnSpPr>
        <p:spPr>
          <a:xfrm>
            <a:off x="1162845" y="1690045"/>
            <a:ext cx="44642" cy="2702134"/>
          </a:xfrm>
          <a:prstGeom prst="line">
            <a:avLst/>
          </a:prstGeom>
          <a:ln w="25400">
            <a:solidFill>
              <a:schemeClr val="accent5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67004D51-1377-AF5A-84B7-1187EB1E4FC0}"/>
                  </a:ext>
                </a:extLst>
              </p:cNvPr>
              <p:cNvSpPr txBox="1"/>
              <p:nvPr/>
            </p:nvSpPr>
            <p:spPr>
              <a:xfrm>
                <a:off x="1225821" y="3994371"/>
                <a:ext cx="398378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noProof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67004D51-1377-AF5A-84B7-1187EB1E4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21" y="3994371"/>
                <a:ext cx="398378" cy="324384"/>
              </a:xfrm>
              <a:prstGeom prst="rect">
                <a:avLst/>
              </a:prstGeom>
              <a:blipFill>
                <a:blip r:embed="rId8"/>
                <a:stretch>
                  <a:fillRect t="-3846" r="-9375" b="-153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B455A67A-6BBF-9E40-8A57-898D5B44BE8A}"/>
              </a:ext>
            </a:extLst>
          </p:cNvPr>
          <p:cNvCxnSpPr>
            <a:cxnSpLocks/>
          </p:cNvCxnSpPr>
          <p:nvPr/>
        </p:nvCxnSpPr>
        <p:spPr>
          <a:xfrm flipV="1">
            <a:off x="1537209" y="1686111"/>
            <a:ext cx="0" cy="679689"/>
          </a:xfrm>
          <a:prstGeom prst="straightConnector1">
            <a:avLst/>
          </a:prstGeom>
          <a:ln w="25400">
            <a:solidFill>
              <a:srgbClr val="0708F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3B2EFF06-476D-7C3C-F652-01F363873E0C}"/>
                  </a:ext>
                </a:extLst>
              </p:cNvPr>
              <p:cNvSpPr txBox="1"/>
              <p:nvPr/>
            </p:nvSpPr>
            <p:spPr>
              <a:xfrm>
                <a:off x="1568485" y="1568236"/>
                <a:ext cx="457305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solidFill>
                                <a:srgbClr val="0708F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solidFill>
                                <a:srgbClr val="0708F5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 noProof="0" smtClean="0">
                              <a:solidFill>
                                <a:srgbClr val="0708F5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0" name="Textfeld 49">
                <a:extLst>
                  <a:ext uri="{FF2B5EF4-FFF2-40B4-BE49-F238E27FC236}">
                    <a16:creationId xmlns:a16="http://schemas.microsoft.com/office/drawing/2014/main" id="{3B2EFF06-476D-7C3C-F652-01F363873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485" y="1568236"/>
                <a:ext cx="457305" cy="324384"/>
              </a:xfrm>
              <a:prstGeom prst="rect">
                <a:avLst/>
              </a:prstGeom>
              <a:blipFill>
                <a:blip r:embed="rId9"/>
                <a:stretch>
                  <a:fillRect t="-3846" r="-8108" b="-153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Gerade Verbindung 50">
            <a:extLst>
              <a:ext uri="{FF2B5EF4-FFF2-40B4-BE49-F238E27FC236}">
                <a16:creationId xmlns:a16="http://schemas.microsoft.com/office/drawing/2014/main" id="{6A013F07-91A0-96F3-6982-1B3CD1226F5B}"/>
              </a:ext>
            </a:extLst>
          </p:cNvPr>
          <p:cNvCxnSpPr>
            <a:cxnSpLocks/>
          </p:cNvCxnSpPr>
          <p:nvPr/>
        </p:nvCxnSpPr>
        <p:spPr>
          <a:xfrm>
            <a:off x="611557" y="2149571"/>
            <a:ext cx="4626500" cy="8546"/>
          </a:xfrm>
          <a:prstGeom prst="line">
            <a:avLst/>
          </a:prstGeom>
          <a:ln w="25400">
            <a:solidFill>
              <a:schemeClr val="accent4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55">
            <a:extLst>
              <a:ext uri="{FF2B5EF4-FFF2-40B4-BE49-F238E27FC236}">
                <a16:creationId xmlns:a16="http://schemas.microsoft.com/office/drawing/2014/main" id="{648A09DE-F3CB-743F-781A-7CB032D86D49}"/>
              </a:ext>
            </a:extLst>
          </p:cNvPr>
          <p:cNvCxnSpPr>
            <a:cxnSpLocks/>
          </p:cNvCxnSpPr>
          <p:nvPr/>
        </p:nvCxnSpPr>
        <p:spPr>
          <a:xfrm>
            <a:off x="643737" y="2583448"/>
            <a:ext cx="4594320" cy="0"/>
          </a:xfrm>
          <a:prstGeom prst="line">
            <a:avLst/>
          </a:prstGeom>
          <a:ln w="25400">
            <a:solidFill>
              <a:schemeClr val="accent4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B99D6233-4B6D-D421-4B45-1E608F52C494}"/>
                  </a:ext>
                </a:extLst>
              </p:cNvPr>
              <p:cNvSpPr txBox="1"/>
              <p:nvPr/>
            </p:nvSpPr>
            <p:spPr>
              <a:xfrm>
                <a:off x="4964925" y="2650126"/>
                <a:ext cx="4078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B99D6233-4B6D-D421-4B45-1E608F52C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4925" y="2650126"/>
                <a:ext cx="407804" cy="307777"/>
              </a:xfrm>
              <a:prstGeom prst="rect">
                <a:avLst/>
              </a:prstGeom>
              <a:blipFill>
                <a:blip r:embed="rId10"/>
                <a:stretch>
                  <a:fillRect t="-4000" r="-9091" b="-2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4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  <p:bldP spid="50" grpId="0"/>
      <p:bldP spid="5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B50B3-22FC-98CD-6230-B3839A60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9446"/>
            <a:ext cx="7886700" cy="994172"/>
          </a:xfrm>
        </p:spPr>
        <p:txBody>
          <a:bodyPr/>
          <a:lstStyle/>
          <a:p>
            <a:r>
              <a:rPr lang="en-US" noProof="0" dirty="0"/>
              <a:t>Step Response of a 1</a:t>
            </a:r>
            <a:r>
              <a:rPr lang="en-US" baseline="30000" noProof="0" dirty="0"/>
              <a:t>st</a:t>
            </a:r>
            <a:r>
              <a:rPr lang="en-US" noProof="0" dirty="0"/>
              <a:t> Order System</a:t>
            </a:r>
          </a:p>
        </p:txBody>
      </p:sp>
      <p:pic>
        <p:nvPicPr>
          <p:cNvPr id="7" name="Inhaltsplatzhalter 6" descr="Ein Bild, das Text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7B4893C6-B29D-AC0B-4B69-8F1723B3E8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8045"/>
          <a:stretch>
            <a:fillRect/>
          </a:stretch>
        </p:blipFill>
        <p:spPr>
          <a:xfrm>
            <a:off x="628650" y="931243"/>
            <a:ext cx="3308889" cy="1346715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096947-CD89-71A6-FD22-03FD4ECA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CD9B42-D5DC-F8F4-63BF-8802FEB5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A7CE7871-5A30-B74E-110A-A15C9F57718A}"/>
                  </a:ext>
                </a:extLst>
              </p14:cNvPr>
              <p14:cNvContentPartPr/>
              <p14:nvPr/>
            </p14:nvContentPartPr>
            <p14:xfrm>
              <a:off x="1290913" y="2565105"/>
              <a:ext cx="1440" cy="144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A7CE7871-5A30-B74E-110A-A15C9F5771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4793" y="2558985"/>
                <a:ext cx="1368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FF95882C-024E-8402-9460-70886D961133}"/>
                  </a:ext>
                </a:extLst>
              </p14:cNvPr>
              <p14:cNvContentPartPr/>
              <p14:nvPr/>
            </p14:nvContentPartPr>
            <p14:xfrm>
              <a:off x="372553" y="2120145"/>
              <a:ext cx="888120" cy="98532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FF95882C-024E-8402-9460-70886D9611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6433" y="2114025"/>
                <a:ext cx="900360" cy="99756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Grafik 10" descr="Ein Bild, das weiß, Design enthält.&#10;&#10;KI-generierte Inhalte können fehlerhaft sein.">
            <a:extLst>
              <a:ext uri="{FF2B5EF4-FFF2-40B4-BE49-F238E27FC236}">
                <a16:creationId xmlns:a16="http://schemas.microsoft.com/office/drawing/2014/main" id="{C00903AC-8075-B842-CA99-D8C41D17A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1941184"/>
            <a:ext cx="533505" cy="357921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276356B-1F4F-5158-2620-B784E51AC6ED}"/>
              </a:ext>
            </a:extLst>
          </p:cNvPr>
          <p:cNvGrpSpPr/>
          <p:nvPr/>
        </p:nvGrpSpPr>
        <p:grpSpPr>
          <a:xfrm>
            <a:off x="4056921" y="1997841"/>
            <a:ext cx="4527009" cy="2128642"/>
            <a:chOff x="4056921" y="1997841"/>
            <a:chExt cx="4527009" cy="2128642"/>
          </a:xfrm>
        </p:grpSpPr>
        <p:pic>
          <p:nvPicPr>
            <p:cNvPr id="13" name="Grafik 12" descr="Ein Bild, das Reihe, Diagramm, Text, parallel enthält.&#10;&#10;KI-generierte Inhalte können fehlerhaft sein.">
              <a:extLst>
                <a:ext uri="{FF2B5EF4-FFF2-40B4-BE49-F238E27FC236}">
                  <a16:creationId xmlns:a16="http://schemas.microsoft.com/office/drawing/2014/main" id="{BFCF665A-CCFC-2967-9EA8-85024D660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56921" y="1997841"/>
              <a:ext cx="4527009" cy="21286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D6E6799E-CB0A-8CEA-DF52-4BBC0E139A70}"/>
                    </a:ext>
                  </a:extLst>
                </p:cNvPr>
                <p:cNvSpPr txBox="1"/>
                <p:nvPr/>
              </p:nvSpPr>
              <p:spPr>
                <a:xfrm>
                  <a:off x="4351199" y="2139458"/>
                  <a:ext cx="3171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200" noProof="0" dirty="0"/>
                </a:p>
              </p:txBody>
            </p:sp>
          </mc:Choice>
          <mc:Fallback xmlns="">
            <p:sp>
              <p:nvSpPr>
                <p:cNvPr id="16" name="Textfeld 15">
                  <a:extLst>
                    <a:ext uri="{FF2B5EF4-FFF2-40B4-BE49-F238E27FC236}">
                      <a16:creationId xmlns:a16="http://schemas.microsoft.com/office/drawing/2014/main" id="{D6E6799E-CB0A-8CEA-DF52-4BBC0E139A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1199" y="2139458"/>
                  <a:ext cx="317138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ABC0884-5667-BB8C-0D6E-8A2F5AB6CAC7}"/>
              </a:ext>
            </a:extLst>
          </p:cNvPr>
          <p:cNvGrpSpPr/>
          <p:nvPr/>
        </p:nvGrpSpPr>
        <p:grpSpPr>
          <a:xfrm>
            <a:off x="876352" y="1995871"/>
            <a:ext cx="2671311" cy="2130612"/>
            <a:chOff x="876352" y="1995871"/>
            <a:chExt cx="2671311" cy="2130612"/>
          </a:xfrm>
        </p:grpSpPr>
        <p:pic>
          <p:nvPicPr>
            <p:cNvPr id="14" name="Inhaltsplatzhalter 6" descr="Ein Bild, das Reihe, Diagramm enthält.&#10;&#10;KI-generierte Inhalte können fehlerhaft sein.">
              <a:extLst>
                <a:ext uri="{FF2B5EF4-FFF2-40B4-BE49-F238E27FC236}">
                  <a16:creationId xmlns:a16="http://schemas.microsoft.com/office/drawing/2014/main" id="{92581CDC-F88C-9E23-93CD-E0343CE12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76352" y="1995871"/>
              <a:ext cx="2671311" cy="2130612"/>
            </a:xfrm>
            <a:prstGeom prst="rect">
              <a:avLst/>
            </a:prstGeom>
          </p:spPr>
        </p:pic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17BEFB50-CEF8-6664-5321-A76906ADCC7E}"/>
                </a:ext>
              </a:extLst>
            </p:cNvPr>
            <p:cNvSpPr txBox="1"/>
            <p:nvPr/>
          </p:nvSpPr>
          <p:spPr>
            <a:xfrm>
              <a:off x="1464390" y="286554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noProof="0" dirty="0">
                  <a:solidFill>
                    <a:srgbClr val="FF0000"/>
                  </a:solidFill>
                </a:rPr>
                <a:t>x</a:t>
              </a:r>
              <a:endParaRPr lang="en-US" noProof="0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4814A1EB-A2BF-DD22-C3A8-D2A757454CD5}"/>
                    </a:ext>
                  </a:extLst>
                </p:cNvPr>
                <p:cNvSpPr txBox="1"/>
                <p:nvPr/>
              </p:nvSpPr>
              <p:spPr>
                <a:xfrm>
                  <a:off x="1181417" y="2537495"/>
                  <a:ext cx="488724" cy="4970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noProof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noProof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4814A1EB-A2BF-DD22-C3A8-D2A757454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417" y="2537495"/>
                  <a:ext cx="488724" cy="497059"/>
                </a:xfrm>
                <a:prstGeom prst="rect">
                  <a:avLst/>
                </a:prstGeom>
                <a:blipFill>
                  <a:blip r:embed="rId12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4B1A575-A0B3-A8B6-E971-2136931E8F54}"/>
                  </a:ext>
                </a:extLst>
              </p:cNvPr>
              <p:cNvSpPr txBox="1"/>
              <p:nvPr/>
            </p:nvSpPr>
            <p:spPr>
              <a:xfrm>
                <a:off x="302677" y="3861998"/>
                <a:ext cx="9266299" cy="953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/>
                  <a:t>Specifications: </a:t>
                </a:r>
                <a:br>
                  <a:rPr lang="en-US" sz="1600" noProof="0" dirty="0"/>
                </a:br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Settling Time:</a:t>
                </a:r>
                <a:r>
                  <a:rPr lang="en-US" sz="1600" noProof="0" dirty="0"/>
                  <a:t> </a:t>
                </a:r>
              </a:p>
              <a:p>
                <a:r>
                  <a:rPr lang="en-US" sz="1600" noProof="0" dirty="0"/>
                  <a:t> Time to get within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1600" noProof="0" dirty="0"/>
                  <a:t> of tolerance of the reference signal</a:t>
                </a: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4B1A575-A0B3-A8B6-E971-2136931E8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77" y="3861998"/>
                <a:ext cx="9266299" cy="953274"/>
              </a:xfrm>
              <a:prstGeom prst="rect">
                <a:avLst/>
              </a:prstGeom>
              <a:blipFill>
                <a:blip r:embed="rId13"/>
                <a:stretch>
                  <a:fillRect l="-411" t="-2632" b="-65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nhaltsplatzhalter 6" descr="Ein Bild, das Text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E397CB54-0189-F273-3DEC-9BE226DDB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16"/>
          <a:stretch>
            <a:fillRect/>
          </a:stretch>
        </p:blipFill>
        <p:spPr>
          <a:xfrm>
            <a:off x="4051462" y="856476"/>
            <a:ext cx="4651851" cy="134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4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3C3E0407-E7C9-948F-09C5-2FC40BFF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73" y="845871"/>
            <a:ext cx="1985177" cy="186538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954B91E-A877-4386-5F45-9E853818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7739"/>
            <a:ext cx="7886700" cy="994172"/>
          </a:xfrm>
        </p:spPr>
        <p:txBody>
          <a:bodyPr/>
          <a:lstStyle/>
          <a:p>
            <a:r>
              <a:rPr lang="en-US" noProof="0" dirty="0"/>
              <a:t>Step Response of a 2</a:t>
            </a:r>
            <a:r>
              <a:rPr lang="en-US" baseline="30000" noProof="0" dirty="0"/>
              <a:t>nd</a:t>
            </a:r>
            <a:r>
              <a:rPr lang="en-US" noProof="0" dirty="0"/>
              <a:t> Order System</a:t>
            </a:r>
          </a:p>
        </p:txBody>
      </p:sp>
      <p:pic>
        <p:nvPicPr>
          <p:cNvPr id="7" name="Inhaltsplatzhalter 6" descr="Ein Bild, das Text, Schrift, Reihe, Handschrift enthält.&#10;&#10;KI-generierte Inhalte können fehlerhaft sein.">
            <a:extLst>
              <a:ext uri="{FF2B5EF4-FFF2-40B4-BE49-F238E27FC236}">
                <a16:creationId xmlns:a16="http://schemas.microsoft.com/office/drawing/2014/main" id="{C6619698-513C-54D6-456D-95EC20DB9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2059" y="1258591"/>
            <a:ext cx="4255506" cy="902682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38C0C1-9198-83B7-78B8-D44A4F74A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E167FA-E094-58EF-8FF2-58421ED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 descr="Ein Bild, das Text, Reihe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D0DAC7C8-DE9E-A906-A33C-1E14FEB90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697" y="1041796"/>
            <a:ext cx="2941163" cy="1214172"/>
          </a:xfrm>
          <a:prstGeom prst="rect">
            <a:avLst/>
          </a:prstGeom>
        </p:spPr>
      </p:pic>
      <p:pic>
        <p:nvPicPr>
          <p:cNvPr id="13" name="Grafik 12" descr="Ein Bild, das Reihe, Diagramm, weiß enthält.&#10;&#10;KI-generierte Inhalte können fehlerhaft sein.">
            <a:extLst>
              <a:ext uri="{FF2B5EF4-FFF2-40B4-BE49-F238E27FC236}">
                <a16:creationId xmlns:a16="http://schemas.microsoft.com/office/drawing/2014/main" id="{9F015A48-56A1-ABD2-34C2-5B4B37331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1660" y="2765322"/>
            <a:ext cx="4649298" cy="194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F958CAF-87DC-7777-964B-C0F3454D6DB5}"/>
                  </a:ext>
                </a:extLst>
              </p:cNvPr>
              <p:cNvSpPr txBox="1"/>
              <p:nvPr/>
            </p:nvSpPr>
            <p:spPr>
              <a:xfrm>
                <a:off x="53074" y="2354962"/>
                <a:ext cx="352857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For an underdamped system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𝜁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&lt;1</m:t>
                        </m:r>
                      </m:e>
                    </m:d>
                  </m:oMath>
                </a14:m>
                <a:r>
                  <a:rPr lang="en-US" sz="16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F958CAF-87DC-7777-964B-C0F3454D6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4" y="2354962"/>
                <a:ext cx="3528571" cy="338554"/>
              </a:xfrm>
              <a:prstGeom prst="rect">
                <a:avLst/>
              </a:prstGeom>
              <a:blipFill>
                <a:blip r:embed="rId6"/>
                <a:stretch>
                  <a:fillRect l="-1075" t="-7143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EA98937-240A-3D0C-5CB8-11D0E1BD6B78}"/>
                  </a:ext>
                </a:extLst>
              </p:cNvPr>
              <p:cNvSpPr txBox="1"/>
              <p:nvPr/>
            </p:nvSpPr>
            <p:spPr>
              <a:xfrm>
                <a:off x="5029200" y="2584013"/>
                <a:ext cx="4572000" cy="2401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Specifications: </a:t>
                </a:r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Settling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sz="1600" i="1" noProof="0" smtClean="0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Peak Overshoot: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𝜎𝜋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600" noProof="0" dirty="0"/>
                  <a:t>	</a:t>
                </a:r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Dampening Ratio: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  <m: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func>
                              <m:funcPr>
                                <m:ctrlPr>
                                  <a:rPr lang="en-US" sz="16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600" i="0" noProof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6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sz="1600" i="1" noProof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sup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1600" noProof="0" dirty="0"/>
              </a:p>
              <a:p>
                <a:r>
                  <a:rPr lang="en-US" sz="1600" b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Rise Time:</a:t>
                </a:r>
                <a:r>
                  <a:rPr lang="en-US" sz="1600" noProof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100%</m:t>
                        </m:r>
                      </m:sub>
                    </m:sSub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sz="1600" noProof="0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EA98937-240A-3D0C-5CB8-11D0E1BD6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584013"/>
                <a:ext cx="4572000" cy="2401748"/>
              </a:xfrm>
              <a:prstGeom prst="rect">
                <a:avLst/>
              </a:prstGeom>
              <a:blipFill>
                <a:blip r:embed="rId7"/>
                <a:stretch>
                  <a:fillRect l="-833" t="-5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24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6" descr="Ein Bild, das Reihe, Diagramm enthält.&#10;&#10;KI-generierte Inhalte können fehlerhaft sein.">
            <a:extLst>
              <a:ext uri="{FF2B5EF4-FFF2-40B4-BE49-F238E27FC236}">
                <a16:creationId xmlns:a16="http://schemas.microsoft.com/office/drawing/2014/main" id="{7E988372-D84F-E492-4A71-3C1833157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081" y="1121262"/>
            <a:ext cx="4632474" cy="369481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908A679-8839-5FCB-131C-570C94E70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8113906" cy="994172"/>
          </a:xfrm>
        </p:spPr>
        <p:txBody>
          <a:bodyPr>
            <a:normAutofit/>
          </a:bodyPr>
          <a:lstStyle/>
          <a:p>
            <a:r>
              <a:rPr lang="en-US" noProof="0" dirty="0"/>
              <a:t>Time-Domain Specifications Visualization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691A69-4FC5-8C26-5872-616B7B0982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704" y="1381492"/>
                <a:ext cx="4226685" cy="3263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noProof="0" dirty="0"/>
                  <a:t>Specifications for 2</a:t>
                </a:r>
                <a:r>
                  <a:rPr lang="en-US" baseline="30000" noProof="0" dirty="0"/>
                  <a:t>nd</a:t>
                </a:r>
                <a:r>
                  <a:rPr lang="en-US" noProof="0" dirty="0"/>
                  <a:t> order systems: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chemeClr val="accent4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Settling Time:</a:t>
                </a:r>
                <a:r>
                  <a:rPr lang="en-US" noProof="0" dirty="0">
                    <a:solidFill>
                      <a:schemeClr val="accent4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US" i="1" noProof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US" i="1" noProof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US" i="1" noProof="0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rgbClr val="0708F5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Peak Overshoot:</a:t>
                </a:r>
                <a:r>
                  <a:rPr lang="en-US" noProof="0" dirty="0">
                    <a:solidFill>
                      <a:srgbClr val="0708F5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 noProof="0" smtClean="0">
                        <a:solidFill>
                          <a:srgbClr val="0708F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noProof="0" smtClean="0">
                            <a:solidFill>
                              <a:srgbClr val="0708F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  <m:t>𝜎𝜋</m:t>
                            </m:r>
                          </m:num>
                          <m:den>
                            <m:r>
                              <a:rPr lang="en-US" i="1" noProof="0" smtClean="0">
                                <a:solidFill>
                                  <a:srgbClr val="0708F5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den>
                        </m:f>
                      </m:sup>
                    </m:sSup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r>
                  <a:rPr lang="en-US" b="1" noProof="0" dirty="0">
                    <a:solidFill>
                      <a:schemeClr val="accent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Rise Time:</a:t>
                </a:r>
                <a:r>
                  <a:rPr lang="en-US" noProof="0" dirty="0">
                    <a:solidFill>
                      <a:schemeClr val="accent2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100%</m:t>
                        </m:r>
                      </m:sub>
                    </m:sSub>
                    <m:r>
                      <a:rPr lang="en-US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num>
                      <m:den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i="1" noProof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 noProof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 noProof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noProof="0" dirty="0">
                  <a:solidFill>
                    <a:schemeClr val="accent2"/>
                  </a:solidFill>
                </a:endParaRP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r>
                  <a:rPr lang="en-US" b="1" i="1" noProof="0" dirty="0">
                    <a:solidFill>
                      <a:schemeClr val="accent3"/>
                    </a:solidFill>
                  </a:rPr>
                  <a:t>Desired region</a:t>
                </a:r>
                <a:r>
                  <a:rPr lang="en-US" noProof="0" dirty="0"/>
                  <a:t> 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4691A69-4FC5-8C26-5872-616B7B098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704" y="1381492"/>
                <a:ext cx="4226685" cy="3263504"/>
              </a:xfrm>
              <a:blipFill>
                <a:blip r:embed="rId3"/>
                <a:stretch>
                  <a:fillRect l="-1198" t="-19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72F7608-DC94-4258-8785-26D187A8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05FFFA-047A-F4BB-F3B3-D017B24F7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A3B47D1-99F2-ACAD-F792-8184EF4FCBB8}"/>
              </a:ext>
            </a:extLst>
          </p:cNvPr>
          <p:cNvSpPr txBox="1"/>
          <p:nvPr/>
        </p:nvSpPr>
        <p:spPr>
          <a:xfrm>
            <a:off x="6196755" y="2283590"/>
            <a:ext cx="301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AE25E39-F9D0-3094-3306-9F9C6F2EC517}"/>
              </a:ext>
            </a:extLst>
          </p:cNvPr>
          <p:cNvSpPr txBox="1"/>
          <p:nvPr/>
        </p:nvSpPr>
        <p:spPr>
          <a:xfrm>
            <a:off x="6224043" y="335381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1DE2FE3-3DEE-38A1-90AC-E2600A38C59B}"/>
              </a:ext>
            </a:extLst>
          </p:cNvPr>
          <p:cNvSpPr txBox="1"/>
          <p:nvPr/>
        </p:nvSpPr>
        <p:spPr>
          <a:xfrm>
            <a:off x="5906691" y="2816010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noProof="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</a:t>
            </a:r>
            <a:endParaRPr lang="en-US" noProof="0" dirty="0">
              <a:solidFill>
                <a:schemeClr val="accent5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Bogen 9">
            <a:extLst>
              <a:ext uri="{FF2B5EF4-FFF2-40B4-BE49-F238E27FC236}">
                <a16:creationId xmlns:a16="http://schemas.microsoft.com/office/drawing/2014/main" id="{1A4C0B0B-5315-4094-01AF-E6B7A212A791}"/>
              </a:ext>
            </a:extLst>
          </p:cNvPr>
          <p:cNvSpPr/>
          <p:nvPr/>
        </p:nvSpPr>
        <p:spPr>
          <a:xfrm rot="18039400">
            <a:off x="5172845" y="2031775"/>
            <a:ext cx="1063865" cy="1056380"/>
          </a:xfrm>
          <a:custGeom>
            <a:avLst/>
            <a:gdLst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2" fmla="*/ 916759 w 1833518"/>
              <a:gd name="connsiteY2" fmla="*/ 437057 h 874113"/>
              <a:gd name="connsiteX3" fmla="*/ 916759 w 1833518"/>
              <a:gd name="connsiteY3" fmla="*/ 0 h 874113"/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0" fmla="*/ 0 w 915427"/>
              <a:gd name="connsiteY0" fmla="*/ 0 h 1056380"/>
              <a:gd name="connsiteX1" fmla="*/ 915427 w 915427"/>
              <a:gd name="connsiteY1" fmla="*/ 413509 h 1056380"/>
              <a:gd name="connsiteX2" fmla="*/ 0 w 915427"/>
              <a:gd name="connsiteY2" fmla="*/ 437057 h 1056380"/>
              <a:gd name="connsiteX3" fmla="*/ 0 w 915427"/>
              <a:gd name="connsiteY3" fmla="*/ 0 h 1056380"/>
              <a:gd name="connsiteX0" fmla="*/ 0 w 915427"/>
              <a:gd name="connsiteY0" fmla="*/ 0 h 1056380"/>
              <a:gd name="connsiteX1" fmla="*/ 756425 w 915427"/>
              <a:gd name="connsiteY1" fmla="*/ 1056380 h 1056380"/>
              <a:gd name="connsiteX0" fmla="*/ 126593 w 1042020"/>
              <a:gd name="connsiteY0" fmla="*/ 0 h 1056380"/>
              <a:gd name="connsiteX1" fmla="*/ 1042020 w 1042020"/>
              <a:gd name="connsiteY1" fmla="*/ 413509 h 1056380"/>
              <a:gd name="connsiteX2" fmla="*/ 126593 w 1042020"/>
              <a:gd name="connsiteY2" fmla="*/ 437057 h 1056380"/>
              <a:gd name="connsiteX3" fmla="*/ 126593 w 1042020"/>
              <a:gd name="connsiteY3" fmla="*/ 0 h 1056380"/>
              <a:gd name="connsiteX0" fmla="*/ 0 w 1042020"/>
              <a:gd name="connsiteY0" fmla="*/ 495077 h 1056380"/>
              <a:gd name="connsiteX1" fmla="*/ 883018 w 1042020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3865" h="1056380" stroke="0" extrusionOk="0">
                <a:moveTo>
                  <a:pt x="148438" y="0"/>
                </a:moveTo>
                <a:cubicBezTo>
                  <a:pt x="635557" y="0"/>
                  <a:pt x="1037620" y="181616"/>
                  <a:pt x="1063865" y="413509"/>
                </a:cubicBezTo>
                <a:lnTo>
                  <a:pt x="148438" y="437057"/>
                </a:lnTo>
                <a:lnTo>
                  <a:pt x="148438" y="0"/>
                </a:lnTo>
                <a:close/>
              </a:path>
              <a:path w="1063865" h="1056380" fill="none">
                <a:moveTo>
                  <a:pt x="0" y="559459"/>
                </a:moveTo>
                <a:cubicBezTo>
                  <a:pt x="418953" y="299833"/>
                  <a:pt x="878618" y="824487"/>
                  <a:pt x="904863" y="105638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9320DA1C-6CF4-8E17-3DB3-42320587F804}"/>
              </a:ext>
            </a:extLst>
          </p:cNvPr>
          <p:cNvCxnSpPr>
            <a:cxnSpLocks/>
          </p:cNvCxnSpPr>
          <p:nvPr/>
        </p:nvCxnSpPr>
        <p:spPr>
          <a:xfrm>
            <a:off x="4678003" y="3015618"/>
            <a:ext cx="77875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ogen 9">
            <a:extLst>
              <a:ext uri="{FF2B5EF4-FFF2-40B4-BE49-F238E27FC236}">
                <a16:creationId xmlns:a16="http://schemas.microsoft.com/office/drawing/2014/main" id="{27C25B47-4601-DDC9-195D-2FFD1271CC5B}"/>
              </a:ext>
            </a:extLst>
          </p:cNvPr>
          <p:cNvSpPr/>
          <p:nvPr/>
        </p:nvSpPr>
        <p:spPr>
          <a:xfrm rot="10800000">
            <a:off x="5305410" y="3032478"/>
            <a:ext cx="1063865" cy="1056380"/>
          </a:xfrm>
          <a:custGeom>
            <a:avLst/>
            <a:gdLst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2" fmla="*/ 916759 w 1833518"/>
              <a:gd name="connsiteY2" fmla="*/ 437057 h 874113"/>
              <a:gd name="connsiteX3" fmla="*/ 916759 w 1833518"/>
              <a:gd name="connsiteY3" fmla="*/ 0 h 874113"/>
              <a:gd name="connsiteX0" fmla="*/ 916759 w 1833518"/>
              <a:gd name="connsiteY0" fmla="*/ 0 h 874113"/>
              <a:gd name="connsiteX1" fmla="*/ 1832186 w 1833518"/>
              <a:gd name="connsiteY1" fmla="*/ 413509 h 874113"/>
              <a:gd name="connsiteX0" fmla="*/ 0 w 915427"/>
              <a:gd name="connsiteY0" fmla="*/ 0 h 1056380"/>
              <a:gd name="connsiteX1" fmla="*/ 915427 w 915427"/>
              <a:gd name="connsiteY1" fmla="*/ 413509 h 1056380"/>
              <a:gd name="connsiteX2" fmla="*/ 0 w 915427"/>
              <a:gd name="connsiteY2" fmla="*/ 437057 h 1056380"/>
              <a:gd name="connsiteX3" fmla="*/ 0 w 915427"/>
              <a:gd name="connsiteY3" fmla="*/ 0 h 1056380"/>
              <a:gd name="connsiteX0" fmla="*/ 0 w 915427"/>
              <a:gd name="connsiteY0" fmla="*/ 0 h 1056380"/>
              <a:gd name="connsiteX1" fmla="*/ 756425 w 915427"/>
              <a:gd name="connsiteY1" fmla="*/ 1056380 h 1056380"/>
              <a:gd name="connsiteX0" fmla="*/ 126593 w 1042020"/>
              <a:gd name="connsiteY0" fmla="*/ 0 h 1056380"/>
              <a:gd name="connsiteX1" fmla="*/ 1042020 w 1042020"/>
              <a:gd name="connsiteY1" fmla="*/ 413509 h 1056380"/>
              <a:gd name="connsiteX2" fmla="*/ 126593 w 1042020"/>
              <a:gd name="connsiteY2" fmla="*/ 437057 h 1056380"/>
              <a:gd name="connsiteX3" fmla="*/ 126593 w 1042020"/>
              <a:gd name="connsiteY3" fmla="*/ 0 h 1056380"/>
              <a:gd name="connsiteX0" fmla="*/ 0 w 1042020"/>
              <a:gd name="connsiteY0" fmla="*/ 495077 h 1056380"/>
              <a:gd name="connsiteX1" fmla="*/ 883018 w 1042020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  <a:gd name="connsiteX0" fmla="*/ 148438 w 1063865"/>
              <a:gd name="connsiteY0" fmla="*/ 0 h 1056380"/>
              <a:gd name="connsiteX1" fmla="*/ 1063865 w 1063865"/>
              <a:gd name="connsiteY1" fmla="*/ 413509 h 1056380"/>
              <a:gd name="connsiteX2" fmla="*/ 148438 w 1063865"/>
              <a:gd name="connsiteY2" fmla="*/ 437057 h 1056380"/>
              <a:gd name="connsiteX3" fmla="*/ 148438 w 1063865"/>
              <a:gd name="connsiteY3" fmla="*/ 0 h 1056380"/>
              <a:gd name="connsiteX0" fmla="*/ 0 w 1063865"/>
              <a:gd name="connsiteY0" fmla="*/ 559459 h 1056380"/>
              <a:gd name="connsiteX1" fmla="*/ 904863 w 1063865"/>
              <a:gd name="connsiteY1" fmla="*/ 1056380 h 1056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63865" h="1056380" stroke="0" extrusionOk="0">
                <a:moveTo>
                  <a:pt x="148438" y="0"/>
                </a:moveTo>
                <a:cubicBezTo>
                  <a:pt x="635557" y="0"/>
                  <a:pt x="1037620" y="181616"/>
                  <a:pt x="1063865" y="413509"/>
                </a:cubicBezTo>
                <a:lnTo>
                  <a:pt x="148438" y="437057"/>
                </a:lnTo>
                <a:lnTo>
                  <a:pt x="148438" y="0"/>
                </a:lnTo>
                <a:close/>
              </a:path>
              <a:path w="1063865" h="1056380" fill="none">
                <a:moveTo>
                  <a:pt x="0" y="559459"/>
                </a:moveTo>
                <a:cubicBezTo>
                  <a:pt x="418953" y="299833"/>
                  <a:pt x="878618" y="824487"/>
                  <a:pt x="904863" y="105638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8D0692B5-F6EB-5FE9-68CE-2EB0250984A8}"/>
              </a:ext>
            </a:extLst>
          </p:cNvPr>
          <p:cNvCxnSpPr>
            <a:cxnSpLocks/>
          </p:cNvCxnSpPr>
          <p:nvPr/>
        </p:nvCxnSpPr>
        <p:spPr>
          <a:xfrm flipV="1">
            <a:off x="4765225" y="3017855"/>
            <a:ext cx="1870859" cy="1582071"/>
          </a:xfrm>
          <a:prstGeom prst="line">
            <a:avLst/>
          </a:prstGeom>
          <a:ln w="25400">
            <a:solidFill>
              <a:srgbClr val="0708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C36BA9F9-0CCF-1810-21E4-0DDFD47A76BD}"/>
              </a:ext>
            </a:extLst>
          </p:cNvPr>
          <p:cNvCxnSpPr>
            <a:cxnSpLocks/>
          </p:cNvCxnSpPr>
          <p:nvPr/>
        </p:nvCxnSpPr>
        <p:spPr>
          <a:xfrm>
            <a:off x="5305409" y="3007299"/>
            <a:ext cx="77875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B05E4668-3BF6-27EF-657B-6D7E2FFED94A}"/>
              </a:ext>
            </a:extLst>
          </p:cNvPr>
          <p:cNvCxnSpPr>
            <a:cxnSpLocks/>
          </p:cNvCxnSpPr>
          <p:nvPr/>
        </p:nvCxnSpPr>
        <p:spPr>
          <a:xfrm>
            <a:off x="5768304" y="1441859"/>
            <a:ext cx="0" cy="308087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1AF57D72-A036-ACFD-E710-DDA52A4557FC}"/>
              </a:ext>
            </a:extLst>
          </p:cNvPr>
          <p:cNvCxnSpPr>
            <a:cxnSpLocks/>
          </p:cNvCxnSpPr>
          <p:nvPr/>
        </p:nvCxnSpPr>
        <p:spPr>
          <a:xfrm>
            <a:off x="4817979" y="1608028"/>
            <a:ext cx="1818105" cy="1411632"/>
          </a:xfrm>
          <a:prstGeom prst="line">
            <a:avLst/>
          </a:prstGeom>
          <a:ln w="25400">
            <a:solidFill>
              <a:srgbClr val="0708F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44D6090-D6CB-12BD-ABF2-D4E3B03977CB}"/>
              </a:ext>
            </a:extLst>
          </p:cNvPr>
          <p:cNvSpPr/>
          <p:nvPr/>
        </p:nvSpPr>
        <p:spPr>
          <a:xfrm>
            <a:off x="5388015" y="1833056"/>
            <a:ext cx="2604968" cy="2475568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331162D7-625A-6892-9BCB-77418A7BEA57}"/>
                  </a:ext>
                </a:extLst>
              </p14:cNvPr>
              <p14:cNvContentPartPr/>
              <p14:nvPr/>
            </p14:nvContentPartPr>
            <p14:xfrm>
              <a:off x="4802571" y="1768820"/>
              <a:ext cx="774000" cy="261252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331162D7-625A-6892-9BCB-77418A7BEA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12529" y="1588820"/>
                <a:ext cx="953724" cy="297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04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28207-AEFC-E392-20CF-8BAF805C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Dominant Poles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B8C2013-0074-5771-E3F0-2711C02AC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noProof="0" dirty="0"/>
                  <a:t>Thought experiment: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B8C2013-0074-5771-E3F0-2711C02AC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3" t="-23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832F048-B9A0-1FEC-A476-F2CF005C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D86BA56-3BE7-DA97-B5C3-588D3612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29AC104-A4B3-E857-31D9-547469D60E1C}"/>
                  </a:ext>
                </a:extLst>
              </p:cNvPr>
              <p:cNvSpPr txBox="1"/>
              <p:nvPr/>
            </p:nvSpPr>
            <p:spPr>
              <a:xfrm>
                <a:off x="628650" y="1663745"/>
                <a:ext cx="1668501" cy="100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noProof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noProof="0" smtClean="0">
                            <a:solidFill>
                              <a:srgbClr val="178F5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noProof="0" smtClean="0">
                            <a:solidFill>
                              <a:srgbClr val="178F55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800" i="1" noProof="0" smtClean="0">
                            <a:solidFill>
                              <a:srgbClr val="178F5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 noProof="0" smtClean="0">
                            <a:solidFill>
                              <a:srgbClr val="178F5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 noProof="0" smtClean="0">
                            <a:solidFill>
                              <a:srgbClr val="178F55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80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800" i="1" noProof="0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sz="18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den>
                      </m:f>
                    </m:oMath>
                  </m:oMathPara>
                </a14:m>
                <a:endParaRPr lang="en-US" sz="1800" noProof="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229AC104-A4B3-E857-31D9-547469D60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63745"/>
                <a:ext cx="1668501" cy="1009956"/>
              </a:xfrm>
              <a:prstGeom prst="rect">
                <a:avLst/>
              </a:prstGeom>
              <a:blipFill>
                <a:blip r:embed="rId3"/>
                <a:stretch>
                  <a:fillRect r="-2273" b="-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E1010E-6765-B4C5-2593-497C19E36F9E}"/>
                  </a:ext>
                </a:extLst>
              </p:cNvPr>
              <p:cNvSpPr txBox="1"/>
              <p:nvPr/>
            </p:nvSpPr>
            <p:spPr>
              <a:xfrm>
                <a:off x="260196" y="2916694"/>
                <a:ext cx="5274201" cy="9289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What do you expect for a system with both poles?</a:t>
                </a:r>
                <a:endParaRPr lang="en-US" sz="1800" i="1" noProof="0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8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18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noProof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</m:e>
                          </m:d>
                        </m:den>
                      </m:f>
                      <m:r>
                        <a:rPr lang="en-US" sz="18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den>
                      </m:f>
                    </m:oMath>
                  </m:oMathPara>
                </a14:m>
                <a:endParaRPr lang="en-US" sz="1800" i="1" noProof="0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4E1010E-6765-B4C5-2593-497C19E36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96" y="2916694"/>
                <a:ext cx="5274201" cy="928972"/>
              </a:xfrm>
              <a:prstGeom prst="rect">
                <a:avLst/>
              </a:prstGeom>
              <a:blipFill>
                <a:blip r:embed="rId4"/>
                <a:stretch>
                  <a:fillRect l="-962" t="-270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3A12B047-2CAD-B438-506F-7DC82F0ECDC3}"/>
              </a:ext>
            </a:extLst>
          </p:cNvPr>
          <p:cNvGrpSpPr/>
          <p:nvPr/>
        </p:nvGrpSpPr>
        <p:grpSpPr>
          <a:xfrm>
            <a:off x="3383408" y="1173943"/>
            <a:ext cx="2519443" cy="1989560"/>
            <a:chOff x="3854719" y="1168729"/>
            <a:chExt cx="2519443" cy="1989560"/>
          </a:xfrm>
        </p:grpSpPr>
        <p:cxnSp>
          <p:nvCxnSpPr>
            <p:cNvPr id="8" name="Gewinkelte Verbindung 7">
              <a:extLst>
                <a:ext uri="{FF2B5EF4-FFF2-40B4-BE49-F238E27FC236}">
                  <a16:creationId xmlns:a16="http://schemas.microsoft.com/office/drawing/2014/main" id="{0E7F6738-146F-217A-B3E9-2CD7D593B416}"/>
                </a:ext>
              </a:extLst>
            </p:cNvPr>
            <p:cNvCxnSpPr>
              <a:cxnSpLocks/>
            </p:cNvCxnSpPr>
            <p:nvPr/>
          </p:nvCxnSpPr>
          <p:spPr>
            <a:xfrm>
              <a:off x="3854719" y="1402556"/>
              <a:ext cx="2519443" cy="1281901"/>
            </a:xfrm>
            <a:prstGeom prst="bentConnector3">
              <a:avLst>
                <a:gd name="adj1" fmla="val 173"/>
              </a:avLst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1B96DFA8-61E3-3B53-04FD-34E50BBEBF30}"/>
                </a:ext>
              </a:extLst>
            </p:cNvPr>
            <p:cNvCxnSpPr/>
            <p:nvPr/>
          </p:nvCxnSpPr>
          <p:spPr>
            <a:xfrm flipH="1">
              <a:off x="3854719" y="1641845"/>
              <a:ext cx="2519443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ihandform 16">
              <a:extLst>
                <a:ext uri="{FF2B5EF4-FFF2-40B4-BE49-F238E27FC236}">
                  <a16:creationId xmlns:a16="http://schemas.microsoft.com/office/drawing/2014/main" id="{10A411D9-AEF7-1497-F7C9-3D3EB275F00D}"/>
                </a:ext>
              </a:extLst>
            </p:cNvPr>
            <p:cNvSpPr/>
            <p:nvPr/>
          </p:nvSpPr>
          <p:spPr>
            <a:xfrm rot="6900422">
              <a:off x="4102956" y="1194952"/>
              <a:ext cx="1959833" cy="1907388"/>
            </a:xfrm>
            <a:custGeom>
              <a:avLst/>
              <a:gdLst>
                <a:gd name="connsiteX0" fmla="*/ 0 w 1363980"/>
                <a:gd name="connsiteY0" fmla="*/ 0 h 876300"/>
                <a:gd name="connsiteX1" fmla="*/ 1363980 w 1363980"/>
                <a:gd name="connsiteY1" fmla="*/ 876300 h 876300"/>
                <a:gd name="connsiteX0" fmla="*/ 0 w 2197802"/>
                <a:gd name="connsiteY0" fmla="*/ 0 h 5170897"/>
                <a:gd name="connsiteX1" fmla="*/ 2197802 w 2197802"/>
                <a:gd name="connsiteY1" fmla="*/ 5170897 h 5170897"/>
                <a:gd name="connsiteX0" fmla="*/ 0 w 2197802"/>
                <a:gd name="connsiteY0" fmla="*/ 0 h 5170897"/>
                <a:gd name="connsiteX1" fmla="*/ 2197802 w 2197802"/>
                <a:gd name="connsiteY1" fmla="*/ 5170897 h 5170897"/>
                <a:gd name="connsiteX0" fmla="*/ 0 w 2121095"/>
                <a:gd name="connsiteY0" fmla="*/ -1 h 4861194"/>
                <a:gd name="connsiteX1" fmla="*/ 2121095 w 2121095"/>
                <a:gd name="connsiteY1" fmla="*/ 4861194 h 4861194"/>
                <a:gd name="connsiteX0" fmla="*/ 0 w 2121095"/>
                <a:gd name="connsiteY0" fmla="*/ -1 h 4861194"/>
                <a:gd name="connsiteX1" fmla="*/ 2121095 w 2121095"/>
                <a:gd name="connsiteY1" fmla="*/ 4861194 h 4861194"/>
                <a:gd name="connsiteX0" fmla="*/ -1 w 1940879"/>
                <a:gd name="connsiteY0" fmla="*/ 0 h 3971397"/>
                <a:gd name="connsiteX1" fmla="*/ 1940879 w 1940879"/>
                <a:gd name="connsiteY1" fmla="*/ 3833836 h 3971397"/>
                <a:gd name="connsiteX0" fmla="*/ 0 w 1940880"/>
                <a:gd name="connsiteY0" fmla="*/ 0 h 4038615"/>
                <a:gd name="connsiteX1" fmla="*/ 1940880 w 1940880"/>
                <a:gd name="connsiteY1" fmla="*/ 3833836 h 4038615"/>
                <a:gd name="connsiteX0" fmla="*/ 0 w 1975239"/>
                <a:gd name="connsiteY0" fmla="*/ 0 h 4069094"/>
                <a:gd name="connsiteX1" fmla="*/ 1975239 w 1975239"/>
                <a:gd name="connsiteY1" fmla="*/ 3878413 h 4069094"/>
                <a:gd name="connsiteX0" fmla="*/ 0 w 1975239"/>
                <a:gd name="connsiteY0" fmla="*/ 0 h 4197054"/>
                <a:gd name="connsiteX1" fmla="*/ 1975239 w 1975239"/>
                <a:gd name="connsiteY1" fmla="*/ 3878413 h 4197054"/>
                <a:gd name="connsiteX0" fmla="*/ 0 w 2041233"/>
                <a:gd name="connsiteY0" fmla="*/ 1 h 4582066"/>
                <a:gd name="connsiteX1" fmla="*/ 2041233 w 2041233"/>
                <a:gd name="connsiteY1" fmla="*/ 4395737 h 4582066"/>
                <a:gd name="connsiteX0" fmla="*/ 0 w 2041233"/>
                <a:gd name="connsiteY0" fmla="*/ 1 h 4557165"/>
                <a:gd name="connsiteX1" fmla="*/ 2041233 w 2041233"/>
                <a:gd name="connsiteY1" fmla="*/ 4395737 h 4557165"/>
                <a:gd name="connsiteX0" fmla="*/ 0 w 2044877"/>
                <a:gd name="connsiteY0" fmla="*/ 1 h 4456758"/>
                <a:gd name="connsiteX1" fmla="*/ 2044877 w 2044877"/>
                <a:gd name="connsiteY1" fmla="*/ 4270467 h 445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4877" h="4456758">
                  <a:moveTo>
                    <a:pt x="0" y="1"/>
                  </a:moveTo>
                  <a:cubicBezTo>
                    <a:pt x="1041156" y="5348468"/>
                    <a:pt x="1424326" y="4492148"/>
                    <a:pt x="2044877" y="4270467"/>
                  </a:cubicBezTo>
                </a:path>
              </a:pathLst>
            </a:cu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Freihandform 23">
              <a:extLst>
                <a:ext uri="{FF2B5EF4-FFF2-40B4-BE49-F238E27FC236}">
                  <a16:creationId xmlns:a16="http://schemas.microsoft.com/office/drawing/2014/main" id="{5C4CB974-E1E3-81C2-4098-E05F9F5472B4}"/>
                </a:ext>
              </a:extLst>
            </p:cNvPr>
            <p:cNvSpPr/>
            <p:nvPr/>
          </p:nvSpPr>
          <p:spPr>
            <a:xfrm rot="6900422">
              <a:off x="4138374" y="1259596"/>
              <a:ext cx="1945220" cy="1852166"/>
            </a:xfrm>
            <a:custGeom>
              <a:avLst/>
              <a:gdLst>
                <a:gd name="connsiteX0" fmla="*/ 0 w 1363980"/>
                <a:gd name="connsiteY0" fmla="*/ 0 h 876300"/>
                <a:gd name="connsiteX1" fmla="*/ 1363980 w 1363980"/>
                <a:gd name="connsiteY1" fmla="*/ 876300 h 876300"/>
                <a:gd name="connsiteX0" fmla="*/ 0 w 2197802"/>
                <a:gd name="connsiteY0" fmla="*/ 0 h 5170897"/>
                <a:gd name="connsiteX1" fmla="*/ 2197802 w 2197802"/>
                <a:gd name="connsiteY1" fmla="*/ 5170897 h 5170897"/>
                <a:gd name="connsiteX0" fmla="*/ 0 w 2197802"/>
                <a:gd name="connsiteY0" fmla="*/ 0 h 5170897"/>
                <a:gd name="connsiteX1" fmla="*/ 2197802 w 2197802"/>
                <a:gd name="connsiteY1" fmla="*/ 5170897 h 5170897"/>
                <a:gd name="connsiteX0" fmla="*/ 0 w 2121095"/>
                <a:gd name="connsiteY0" fmla="*/ -1 h 4861194"/>
                <a:gd name="connsiteX1" fmla="*/ 2121095 w 2121095"/>
                <a:gd name="connsiteY1" fmla="*/ 4861194 h 4861194"/>
                <a:gd name="connsiteX0" fmla="*/ 0 w 2121095"/>
                <a:gd name="connsiteY0" fmla="*/ -1 h 4861194"/>
                <a:gd name="connsiteX1" fmla="*/ 2121095 w 2121095"/>
                <a:gd name="connsiteY1" fmla="*/ 4861194 h 4861194"/>
                <a:gd name="connsiteX0" fmla="*/ -1 w 1940879"/>
                <a:gd name="connsiteY0" fmla="*/ 0 h 3971397"/>
                <a:gd name="connsiteX1" fmla="*/ 1940879 w 1940879"/>
                <a:gd name="connsiteY1" fmla="*/ 3833836 h 3971397"/>
                <a:gd name="connsiteX0" fmla="*/ 0 w 1940880"/>
                <a:gd name="connsiteY0" fmla="*/ 0 h 4038615"/>
                <a:gd name="connsiteX1" fmla="*/ 1940880 w 1940880"/>
                <a:gd name="connsiteY1" fmla="*/ 3833836 h 4038615"/>
                <a:gd name="connsiteX0" fmla="*/ 0 w 1975239"/>
                <a:gd name="connsiteY0" fmla="*/ 0 h 4069094"/>
                <a:gd name="connsiteX1" fmla="*/ 1975239 w 1975239"/>
                <a:gd name="connsiteY1" fmla="*/ 3878413 h 4069094"/>
                <a:gd name="connsiteX0" fmla="*/ 0 w 1975239"/>
                <a:gd name="connsiteY0" fmla="*/ 0 h 4197054"/>
                <a:gd name="connsiteX1" fmla="*/ 1975239 w 1975239"/>
                <a:gd name="connsiteY1" fmla="*/ 3878413 h 4197054"/>
                <a:gd name="connsiteX0" fmla="*/ 0 w 2041233"/>
                <a:gd name="connsiteY0" fmla="*/ 1 h 4582066"/>
                <a:gd name="connsiteX1" fmla="*/ 2041233 w 2041233"/>
                <a:gd name="connsiteY1" fmla="*/ 4395737 h 4582066"/>
                <a:gd name="connsiteX0" fmla="*/ 0 w 2041233"/>
                <a:gd name="connsiteY0" fmla="*/ 1 h 4557165"/>
                <a:gd name="connsiteX1" fmla="*/ 2041233 w 2041233"/>
                <a:gd name="connsiteY1" fmla="*/ 4395737 h 4557165"/>
                <a:gd name="connsiteX0" fmla="*/ 0 w 2044877"/>
                <a:gd name="connsiteY0" fmla="*/ 1 h 4456758"/>
                <a:gd name="connsiteX1" fmla="*/ 2044877 w 2044877"/>
                <a:gd name="connsiteY1" fmla="*/ 4270467 h 4456758"/>
                <a:gd name="connsiteX0" fmla="*/ 0 w 1979762"/>
                <a:gd name="connsiteY0" fmla="*/ 1 h 4889876"/>
                <a:gd name="connsiteX1" fmla="*/ 1979762 w 1979762"/>
                <a:gd name="connsiteY1" fmla="*/ 4788376 h 4889876"/>
                <a:gd name="connsiteX0" fmla="*/ 0 w 2122343"/>
                <a:gd name="connsiteY0" fmla="*/ 1 h 4875217"/>
                <a:gd name="connsiteX1" fmla="*/ 2122343 w 2122343"/>
                <a:gd name="connsiteY1" fmla="*/ 4771686 h 4875217"/>
                <a:gd name="connsiteX0" fmla="*/ 0 w 2122343"/>
                <a:gd name="connsiteY0" fmla="*/ 1 h 4786722"/>
                <a:gd name="connsiteX1" fmla="*/ 2122343 w 2122343"/>
                <a:gd name="connsiteY1" fmla="*/ 4771686 h 4786722"/>
                <a:gd name="connsiteX0" fmla="*/ 0 w 2142163"/>
                <a:gd name="connsiteY0" fmla="*/ 1 h 4777710"/>
                <a:gd name="connsiteX1" fmla="*/ 2142163 w 2142163"/>
                <a:gd name="connsiteY1" fmla="*/ 4762620 h 4777710"/>
                <a:gd name="connsiteX0" fmla="*/ 0 w 2135359"/>
                <a:gd name="connsiteY0" fmla="*/ 0 h 4797830"/>
                <a:gd name="connsiteX1" fmla="*/ 2135359 w 2135359"/>
                <a:gd name="connsiteY1" fmla="*/ 4782861 h 479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5359" h="4797830">
                  <a:moveTo>
                    <a:pt x="0" y="0"/>
                  </a:moveTo>
                  <a:cubicBezTo>
                    <a:pt x="648515" y="2733502"/>
                    <a:pt x="1514808" y="5004542"/>
                    <a:pt x="2135359" y="4782861"/>
                  </a:cubicBezTo>
                </a:path>
              </a:pathLst>
            </a:custGeom>
            <a:noFill/>
            <a:ln w="25400">
              <a:solidFill>
                <a:srgbClr val="178F5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25D32FA0-1712-3371-8E1A-93A176826DF9}"/>
              </a:ext>
            </a:extLst>
          </p:cNvPr>
          <p:cNvSpPr txBox="1"/>
          <p:nvPr/>
        </p:nvSpPr>
        <p:spPr>
          <a:xfrm>
            <a:off x="260196" y="4342894"/>
            <a:ext cx="8014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Poles closer to the origin have a higher influence!! </a:t>
            </a:r>
          </a:p>
          <a:p>
            <a:endParaRPr lang="en-US" sz="1800" noProof="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8F72240D-20A0-8195-643A-94CA8EF1FA71}"/>
              </a:ext>
            </a:extLst>
          </p:cNvPr>
          <p:cNvGrpSpPr/>
          <p:nvPr/>
        </p:nvGrpSpPr>
        <p:grpSpPr>
          <a:xfrm>
            <a:off x="5666250" y="2777703"/>
            <a:ext cx="2519443" cy="1989560"/>
            <a:chOff x="5666250" y="2777703"/>
            <a:chExt cx="2519443" cy="1989560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BB4F9464-3B55-202F-59BA-922F1DC8C145}"/>
                </a:ext>
              </a:extLst>
            </p:cNvPr>
            <p:cNvGrpSpPr/>
            <p:nvPr/>
          </p:nvGrpSpPr>
          <p:grpSpPr>
            <a:xfrm>
              <a:off x="5666250" y="2777703"/>
              <a:ext cx="2519443" cy="1989560"/>
              <a:chOff x="3854719" y="1168729"/>
              <a:chExt cx="2519443" cy="1989560"/>
            </a:xfrm>
          </p:grpSpPr>
          <p:cxnSp>
            <p:nvCxnSpPr>
              <p:cNvPr id="28" name="Gewinkelte Verbindung 27">
                <a:extLst>
                  <a:ext uri="{FF2B5EF4-FFF2-40B4-BE49-F238E27FC236}">
                    <a16:creationId xmlns:a16="http://schemas.microsoft.com/office/drawing/2014/main" id="{D289BA16-5268-79FA-915E-333E9B5292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4719" y="1402556"/>
                <a:ext cx="2519443" cy="1281901"/>
              </a:xfrm>
              <a:prstGeom prst="bentConnector3">
                <a:avLst>
                  <a:gd name="adj1" fmla="val 173"/>
                </a:avLst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 Verbindung 28">
                <a:extLst>
                  <a:ext uri="{FF2B5EF4-FFF2-40B4-BE49-F238E27FC236}">
                    <a16:creationId xmlns:a16="http://schemas.microsoft.com/office/drawing/2014/main" id="{0FD25A39-F0F5-B322-9891-505B3510AA1C}"/>
                  </a:ext>
                </a:extLst>
              </p:cNvPr>
              <p:cNvCxnSpPr/>
              <p:nvPr/>
            </p:nvCxnSpPr>
            <p:spPr>
              <a:xfrm flipH="1">
                <a:off x="3854719" y="1641845"/>
                <a:ext cx="2519443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Freihandform 29">
                <a:extLst>
                  <a:ext uri="{FF2B5EF4-FFF2-40B4-BE49-F238E27FC236}">
                    <a16:creationId xmlns:a16="http://schemas.microsoft.com/office/drawing/2014/main" id="{720C01BF-647D-89D0-4025-6B23D7A8BE5B}"/>
                  </a:ext>
                </a:extLst>
              </p:cNvPr>
              <p:cNvSpPr/>
              <p:nvPr/>
            </p:nvSpPr>
            <p:spPr>
              <a:xfrm rot="6900422">
                <a:off x="4102956" y="1194952"/>
                <a:ext cx="1959833" cy="1907388"/>
              </a:xfrm>
              <a:custGeom>
                <a:avLst/>
                <a:gdLst>
                  <a:gd name="connsiteX0" fmla="*/ 0 w 1363980"/>
                  <a:gd name="connsiteY0" fmla="*/ 0 h 876300"/>
                  <a:gd name="connsiteX1" fmla="*/ 1363980 w 1363980"/>
                  <a:gd name="connsiteY1" fmla="*/ 876300 h 876300"/>
                  <a:gd name="connsiteX0" fmla="*/ 0 w 2197802"/>
                  <a:gd name="connsiteY0" fmla="*/ 0 h 5170897"/>
                  <a:gd name="connsiteX1" fmla="*/ 2197802 w 2197802"/>
                  <a:gd name="connsiteY1" fmla="*/ 5170897 h 5170897"/>
                  <a:gd name="connsiteX0" fmla="*/ 0 w 2197802"/>
                  <a:gd name="connsiteY0" fmla="*/ 0 h 5170897"/>
                  <a:gd name="connsiteX1" fmla="*/ 2197802 w 2197802"/>
                  <a:gd name="connsiteY1" fmla="*/ 5170897 h 5170897"/>
                  <a:gd name="connsiteX0" fmla="*/ 0 w 2121095"/>
                  <a:gd name="connsiteY0" fmla="*/ -1 h 4861194"/>
                  <a:gd name="connsiteX1" fmla="*/ 2121095 w 2121095"/>
                  <a:gd name="connsiteY1" fmla="*/ 4861194 h 4861194"/>
                  <a:gd name="connsiteX0" fmla="*/ 0 w 2121095"/>
                  <a:gd name="connsiteY0" fmla="*/ -1 h 4861194"/>
                  <a:gd name="connsiteX1" fmla="*/ 2121095 w 2121095"/>
                  <a:gd name="connsiteY1" fmla="*/ 4861194 h 4861194"/>
                  <a:gd name="connsiteX0" fmla="*/ -1 w 1940879"/>
                  <a:gd name="connsiteY0" fmla="*/ 0 h 3971397"/>
                  <a:gd name="connsiteX1" fmla="*/ 1940879 w 1940879"/>
                  <a:gd name="connsiteY1" fmla="*/ 3833836 h 3971397"/>
                  <a:gd name="connsiteX0" fmla="*/ 0 w 1940880"/>
                  <a:gd name="connsiteY0" fmla="*/ 0 h 4038615"/>
                  <a:gd name="connsiteX1" fmla="*/ 1940880 w 1940880"/>
                  <a:gd name="connsiteY1" fmla="*/ 3833836 h 4038615"/>
                  <a:gd name="connsiteX0" fmla="*/ 0 w 1975239"/>
                  <a:gd name="connsiteY0" fmla="*/ 0 h 4069094"/>
                  <a:gd name="connsiteX1" fmla="*/ 1975239 w 1975239"/>
                  <a:gd name="connsiteY1" fmla="*/ 3878413 h 4069094"/>
                  <a:gd name="connsiteX0" fmla="*/ 0 w 1975239"/>
                  <a:gd name="connsiteY0" fmla="*/ 0 h 4197054"/>
                  <a:gd name="connsiteX1" fmla="*/ 1975239 w 1975239"/>
                  <a:gd name="connsiteY1" fmla="*/ 3878413 h 4197054"/>
                  <a:gd name="connsiteX0" fmla="*/ 0 w 2041233"/>
                  <a:gd name="connsiteY0" fmla="*/ 1 h 4582066"/>
                  <a:gd name="connsiteX1" fmla="*/ 2041233 w 2041233"/>
                  <a:gd name="connsiteY1" fmla="*/ 4395737 h 4582066"/>
                  <a:gd name="connsiteX0" fmla="*/ 0 w 2041233"/>
                  <a:gd name="connsiteY0" fmla="*/ 1 h 4557165"/>
                  <a:gd name="connsiteX1" fmla="*/ 2041233 w 2041233"/>
                  <a:gd name="connsiteY1" fmla="*/ 4395737 h 4557165"/>
                  <a:gd name="connsiteX0" fmla="*/ 0 w 2044877"/>
                  <a:gd name="connsiteY0" fmla="*/ 1 h 4456758"/>
                  <a:gd name="connsiteX1" fmla="*/ 2044877 w 2044877"/>
                  <a:gd name="connsiteY1" fmla="*/ 4270467 h 4456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44877" h="4456758">
                    <a:moveTo>
                      <a:pt x="0" y="1"/>
                    </a:moveTo>
                    <a:cubicBezTo>
                      <a:pt x="1041156" y="5348468"/>
                      <a:pt x="1424326" y="4492148"/>
                      <a:pt x="2044877" y="4270467"/>
                    </a:cubicBezTo>
                  </a:path>
                </a:pathLst>
              </a:custGeom>
              <a:noFill/>
              <a:ln w="254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31" name="Freihandform 30">
                <a:extLst>
                  <a:ext uri="{FF2B5EF4-FFF2-40B4-BE49-F238E27FC236}">
                    <a16:creationId xmlns:a16="http://schemas.microsoft.com/office/drawing/2014/main" id="{26978D61-9CEA-04BE-7E96-B70216511073}"/>
                  </a:ext>
                </a:extLst>
              </p:cNvPr>
              <p:cNvSpPr/>
              <p:nvPr/>
            </p:nvSpPr>
            <p:spPr>
              <a:xfrm rot="6900422">
                <a:off x="4138374" y="1259596"/>
                <a:ext cx="1945220" cy="1852166"/>
              </a:xfrm>
              <a:custGeom>
                <a:avLst/>
                <a:gdLst>
                  <a:gd name="connsiteX0" fmla="*/ 0 w 1363980"/>
                  <a:gd name="connsiteY0" fmla="*/ 0 h 876300"/>
                  <a:gd name="connsiteX1" fmla="*/ 1363980 w 1363980"/>
                  <a:gd name="connsiteY1" fmla="*/ 876300 h 876300"/>
                  <a:gd name="connsiteX0" fmla="*/ 0 w 2197802"/>
                  <a:gd name="connsiteY0" fmla="*/ 0 h 5170897"/>
                  <a:gd name="connsiteX1" fmla="*/ 2197802 w 2197802"/>
                  <a:gd name="connsiteY1" fmla="*/ 5170897 h 5170897"/>
                  <a:gd name="connsiteX0" fmla="*/ 0 w 2197802"/>
                  <a:gd name="connsiteY0" fmla="*/ 0 h 5170897"/>
                  <a:gd name="connsiteX1" fmla="*/ 2197802 w 2197802"/>
                  <a:gd name="connsiteY1" fmla="*/ 5170897 h 5170897"/>
                  <a:gd name="connsiteX0" fmla="*/ 0 w 2121095"/>
                  <a:gd name="connsiteY0" fmla="*/ -1 h 4861194"/>
                  <a:gd name="connsiteX1" fmla="*/ 2121095 w 2121095"/>
                  <a:gd name="connsiteY1" fmla="*/ 4861194 h 4861194"/>
                  <a:gd name="connsiteX0" fmla="*/ 0 w 2121095"/>
                  <a:gd name="connsiteY0" fmla="*/ -1 h 4861194"/>
                  <a:gd name="connsiteX1" fmla="*/ 2121095 w 2121095"/>
                  <a:gd name="connsiteY1" fmla="*/ 4861194 h 4861194"/>
                  <a:gd name="connsiteX0" fmla="*/ -1 w 1940879"/>
                  <a:gd name="connsiteY0" fmla="*/ 0 h 3971397"/>
                  <a:gd name="connsiteX1" fmla="*/ 1940879 w 1940879"/>
                  <a:gd name="connsiteY1" fmla="*/ 3833836 h 3971397"/>
                  <a:gd name="connsiteX0" fmla="*/ 0 w 1940880"/>
                  <a:gd name="connsiteY0" fmla="*/ 0 h 4038615"/>
                  <a:gd name="connsiteX1" fmla="*/ 1940880 w 1940880"/>
                  <a:gd name="connsiteY1" fmla="*/ 3833836 h 4038615"/>
                  <a:gd name="connsiteX0" fmla="*/ 0 w 1975239"/>
                  <a:gd name="connsiteY0" fmla="*/ 0 h 4069094"/>
                  <a:gd name="connsiteX1" fmla="*/ 1975239 w 1975239"/>
                  <a:gd name="connsiteY1" fmla="*/ 3878413 h 4069094"/>
                  <a:gd name="connsiteX0" fmla="*/ 0 w 1975239"/>
                  <a:gd name="connsiteY0" fmla="*/ 0 h 4197054"/>
                  <a:gd name="connsiteX1" fmla="*/ 1975239 w 1975239"/>
                  <a:gd name="connsiteY1" fmla="*/ 3878413 h 4197054"/>
                  <a:gd name="connsiteX0" fmla="*/ 0 w 2041233"/>
                  <a:gd name="connsiteY0" fmla="*/ 1 h 4582066"/>
                  <a:gd name="connsiteX1" fmla="*/ 2041233 w 2041233"/>
                  <a:gd name="connsiteY1" fmla="*/ 4395737 h 4582066"/>
                  <a:gd name="connsiteX0" fmla="*/ 0 w 2041233"/>
                  <a:gd name="connsiteY0" fmla="*/ 1 h 4557165"/>
                  <a:gd name="connsiteX1" fmla="*/ 2041233 w 2041233"/>
                  <a:gd name="connsiteY1" fmla="*/ 4395737 h 4557165"/>
                  <a:gd name="connsiteX0" fmla="*/ 0 w 2044877"/>
                  <a:gd name="connsiteY0" fmla="*/ 1 h 4456758"/>
                  <a:gd name="connsiteX1" fmla="*/ 2044877 w 2044877"/>
                  <a:gd name="connsiteY1" fmla="*/ 4270467 h 4456758"/>
                  <a:gd name="connsiteX0" fmla="*/ 0 w 1979762"/>
                  <a:gd name="connsiteY0" fmla="*/ 1 h 4889876"/>
                  <a:gd name="connsiteX1" fmla="*/ 1979762 w 1979762"/>
                  <a:gd name="connsiteY1" fmla="*/ 4788376 h 4889876"/>
                  <a:gd name="connsiteX0" fmla="*/ 0 w 2122343"/>
                  <a:gd name="connsiteY0" fmla="*/ 1 h 4875217"/>
                  <a:gd name="connsiteX1" fmla="*/ 2122343 w 2122343"/>
                  <a:gd name="connsiteY1" fmla="*/ 4771686 h 4875217"/>
                  <a:gd name="connsiteX0" fmla="*/ 0 w 2122343"/>
                  <a:gd name="connsiteY0" fmla="*/ 1 h 4786722"/>
                  <a:gd name="connsiteX1" fmla="*/ 2122343 w 2122343"/>
                  <a:gd name="connsiteY1" fmla="*/ 4771686 h 4786722"/>
                  <a:gd name="connsiteX0" fmla="*/ 0 w 2142163"/>
                  <a:gd name="connsiteY0" fmla="*/ 1 h 4777710"/>
                  <a:gd name="connsiteX1" fmla="*/ 2142163 w 2142163"/>
                  <a:gd name="connsiteY1" fmla="*/ 4762620 h 4777710"/>
                  <a:gd name="connsiteX0" fmla="*/ 0 w 2135359"/>
                  <a:gd name="connsiteY0" fmla="*/ 0 h 4797830"/>
                  <a:gd name="connsiteX1" fmla="*/ 2135359 w 2135359"/>
                  <a:gd name="connsiteY1" fmla="*/ 4782861 h 4797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35359" h="4797830">
                    <a:moveTo>
                      <a:pt x="0" y="0"/>
                    </a:moveTo>
                    <a:cubicBezTo>
                      <a:pt x="648515" y="2733502"/>
                      <a:pt x="1514808" y="5004542"/>
                      <a:pt x="2135359" y="4782861"/>
                    </a:cubicBezTo>
                  </a:path>
                </a:pathLst>
              </a:custGeom>
              <a:noFill/>
              <a:ln w="25400">
                <a:solidFill>
                  <a:srgbClr val="178F5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37" name="Freihandform 36">
              <a:extLst>
                <a:ext uri="{FF2B5EF4-FFF2-40B4-BE49-F238E27FC236}">
                  <a16:creationId xmlns:a16="http://schemas.microsoft.com/office/drawing/2014/main" id="{83970997-6742-4E59-5046-FD75F26AF115}"/>
                </a:ext>
              </a:extLst>
            </p:cNvPr>
            <p:cNvSpPr/>
            <p:nvPr/>
          </p:nvSpPr>
          <p:spPr>
            <a:xfrm rot="6900422">
              <a:off x="5940320" y="2853804"/>
              <a:ext cx="1956382" cy="1846809"/>
            </a:xfrm>
            <a:custGeom>
              <a:avLst/>
              <a:gdLst>
                <a:gd name="connsiteX0" fmla="*/ 0 w 1363980"/>
                <a:gd name="connsiteY0" fmla="*/ 0 h 876300"/>
                <a:gd name="connsiteX1" fmla="*/ 1363980 w 1363980"/>
                <a:gd name="connsiteY1" fmla="*/ 876300 h 876300"/>
                <a:gd name="connsiteX0" fmla="*/ 0 w 2197802"/>
                <a:gd name="connsiteY0" fmla="*/ 0 h 5170897"/>
                <a:gd name="connsiteX1" fmla="*/ 2197802 w 2197802"/>
                <a:gd name="connsiteY1" fmla="*/ 5170897 h 5170897"/>
                <a:gd name="connsiteX0" fmla="*/ 0 w 2197802"/>
                <a:gd name="connsiteY0" fmla="*/ 0 h 5170897"/>
                <a:gd name="connsiteX1" fmla="*/ 2197802 w 2197802"/>
                <a:gd name="connsiteY1" fmla="*/ 5170897 h 5170897"/>
                <a:gd name="connsiteX0" fmla="*/ 0 w 2121095"/>
                <a:gd name="connsiteY0" fmla="*/ -1 h 4861194"/>
                <a:gd name="connsiteX1" fmla="*/ 2121095 w 2121095"/>
                <a:gd name="connsiteY1" fmla="*/ 4861194 h 4861194"/>
                <a:gd name="connsiteX0" fmla="*/ 0 w 2121095"/>
                <a:gd name="connsiteY0" fmla="*/ -1 h 4861194"/>
                <a:gd name="connsiteX1" fmla="*/ 2121095 w 2121095"/>
                <a:gd name="connsiteY1" fmla="*/ 4861194 h 4861194"/>
                <a:gd name="connsiteX0" fmla="*/ -1 w 1940879"/>
                <a:gd name="connsiteY0" fmla="*/ 0 h 3971397"/>
                <a:gd name="connsiteX1" fmla="*/ 1940879 w 1940879"/>
                <a:gd name="connsiteY1" fmla="*/ 3833836 h 3971397"/>
                <a:gd name="connsiteX0" fmla="*/ 0 w 1940880"/>
                <a:gd name="connsiteY0" fmla="*/ 0 h 4038615"/>
                <a:gd name="connsiteX1" fmla="*/ 1940880 w 1940880"/>
                <a:gd name="connsiteY1" fmla="*/ 3833836 h 4038615"/>
                <a:gd name="connsiteX0" fmla="*/ 0 w 1975239"/>
                <a:gd name="connsiteY0" fmla="*/ 0 h 4069094"/>
                <a:gd name="connsiteX1" fmla="*/ 1975239 w 1975239"/>
                <a:gd name="connsiteY1" fmla="*/ 3878413 h 4069094"/>
                <a:gd name="connsiteX0" fmla="*/ 0 w 1975239"/>
                <a:gd name="connsiteY0" fmla="*/ 0 h 4197054"/>
                <a:gd name="connsiteX1" fmla="*/ 1975239 w 1975239"/>
                <a:gd name="connsiteY1" fmla="*/ 3878413 h 4197054"/>
                <a:gd name="connsiteX0" fmla="*/ 0 w 2041233"/>
                <a:gd name="connsiteY0" fmla="*/ 1 h 4582066"/>
                <a:gd name="connsiteX1" fmla="*/ 2041233 w 2041233"/>
                <a:gd name="connsiteY1" fmla="*/ 4395737 h 4582066"/>
                <a:gd name="connsiteX0" fmla="*/ 0 w 2041233"/>
                <a:gd name="connsiteY0" fmla="*/ 1 h 4557165"/>
                <a:gd name="connsiteX1" fmla="*/ 2041233 w 2041233"/>
                <a:gd name="connsiteY1" fmla="*/ 4395737 h 4557165"/>
                <a:gd name="connsiteX0" fmla="*/ 0 w 2044877"/>
                <a:gd name="connsiteY0" fmla="*/ 1 h 4456758"/>
                <a:gd name="connsiteX1" fmla="*/ 2044877 w 2044877"/>
                <a:gd name="connsiteY1" fmla="*/ 4270467 h 4456758"/>
                <a:gd name="connsiteX0" fmla="*/ 0 w 1979762"/>
                <a:gd name="connsiteY0" fmla="*/ 1 h 4889876"/>
                <a:gd name="connsiteX1" fmla="*/ 1979762 w 1979762"/>
                <a:gd name="connsiteY1" fmla="*/ 4788376 h 4889876"/>
                <a:gd name="connsiteX0" fmla="*/ 0 w 2122343"/>
                <a:gd name="connsiteY0" fmla="*/ 1 h 4875217"/>
                <a:gd name="connsiteX1" fmla="*/ 2122343 w 2122343"/>
                <a:gd name="connsiteY1" fmla="*/ 4771686 h 4875217"/>
                <a:gd name="connsiteX0" fmla="*/ 0 w 2122343"/>
                <a:gd name="connsiteY0" fmla="*/ 1 h 4786722"/>
                <a:gd name="connsiteX1" fmla="*/ 2122343 w 2122343"/>
                <a:gd name="connsiteY1" fmla="*/ 4771686 h 4786722"/>
                <a:gd name="connsiteX0" fmla="*/ 0 w 2142163"/>
                <a:gd name="connsiteY0" fmla="*/ 1 h 4777710"/>
                <a:gd name="connsiteX1" fmla="*/ 2142163 w 2142163"/>
                <a:gd name="connsiteY1" fmla="*/ 4762620 h 4777710"/>
                <a:gd name="connsiteX0" fmla="*/ 0 w 2135359"/>
                <a:gd name="connsiteY0" fmla="*/ 0 h 4797830"/>
                <a:gd name="connsiteX1" fmla="*/ 2135359 w 2135359"/>
                <a:gd name="connsiteY1" fmla="*/ 4782861 h 4797830"/>
                <a:gd name="connsiteX0" fmla="*/ 0 w 2045098"/>
                <a:gd name="connsiteY0" fmla="*/ 0 h 5340734"/>
                <a:gd name="connsiteX1" fmla="*/ 2045098 w 2045098"/>
                <a:gd name="connsiteY1" fmla="*/ 5328447 h 5340734"/>
                <a:gd name="connsiteX0" fmla="*/ 0 w 2147612"/>
                <a:gd name="connsiteY0" fmla="*/ -1 h 4783412"/>
                <a:gd name="connsiteX1" fmla="*/ 2147612 w 2147612"/>
                <a:gd name="connsiteY1" fmla="*/ 4768356 h 4783412"/>
                <a:gd name="connsiteX0" fmla="*/ 0 w 2147612"/>
                <a:gd name="connsiteY0" fmla="*/ -1 h 4784733"/>
                <a:gd name="connsiteX1" fmla="*/ 2147612 w 2147612"/>
                <a:gd name="connsiteY1" fmla="*/ 4768356 h 4784733"/>
                <a:gd name="connsiteX0" fmla="*/ 0 w 2147612"/>
                <a:gd name="connsiteY0" fmla="*/ -1 h 4783953"/>
                <a:gd name="connsiteX1" fmla="*/ 2147612 w 2147612"/>
                <a:gd name="connsiteY1" fmla="*/ 4768356 h 4783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7612" h="4783953">
                  <a:moveTo>
                    <a:pt x="0" y="-1"/>
                  </a:moveTo>
                  <a:cubicBezTo>
                    <a:pt x="606678" y="2821485"/>
                    <a:pt x="1527061" y="4990037"/>
                    <a:pt x="2147612" y="4768356"/>
                  </a:cubicBezTo>
                </a:path>
              </a:pathLst>
            </a:custGeom>
            <a:noFill/>
            <a:ln w="254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86295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54201-D577-35DA-F7C8-F5BD6F7A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Dominant Poles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D74411C-873B-1ADD-62E2-9D3CFCCEA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91194"/>
                <a:ext cx="4501699" cy="3263504"/>
              </a:xfrm>
            </p:spPr>
            <p:txBody>
              <a:bodyPr>
                <a:normAutofit/>
              </a:bodyPr>
              <a:lstStyle/>
              <a:p>
                <a:r>
                  <a:rPr lang="en-US" noProof="0" dirty="0"/>
                  <a:t>Idea: Given a higher order system, approximate as a 1</a:t>
                </a:r>
                <a:r>
                  <a:rPr lang="en-US" baseline="30000" noProof="0" dirty="0"/>
                  <a:t>st</a:t>
                </a:r>
                <a:r>
                  <a:rPr lang="en-US" noProof="0" dirty="0"/>
                  <a:t> order or 2</a:t>
                </a:r>
                <a:r>
                  <a:rPr lang="en-US" baseline="30000" noProof="0" dirty="0"/>
                  <a:t>nd</a:t>
                </a:r>
                <a:r>
                  <a:rPr lang="en-US" noProof="0" dirty="0"/>
                  <a:t> order system, for which we have system specifications</a:t>
                </a:r>
              </a:p>
              <a:p>
                <a:r>
                  <a:rPr lang="en-US" noProof="0" dirty="0"/>
                  <a:t>Recall Impulse Response: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𝑖𝑚𝑝</m:t>
                          </m:r>
                        </m:sub>
                      </m:sSub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p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noProof="0" dirty="0"/>
              </a:p>
              <a:p>
                <a:r>
                  <a:rPr lang="en-US" noProof="0" dirty="0"/>
                  <a:t>Poles close to imaginary axis decay the slowest </a:t>
                </a:r>
                <a14:m>
                  <m:oMath xmlns:m="http://schemas.openxmlformats.org/officeDocument/2006/math">
                    <m:r>
                      <a:rPr lang="en-US" i="1" noProof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noProof="0" dirty="0"/>
                  <a:t> most dominant</a:t>
                </a:r>
              </a:p>
              <a:p>
                <a:r>
                  <a:rPr lang="en-US" b="1" noProof="0" dirty="0"/>
                  <a:t>Exception</a:t>
                </a:r>
                <a:r>
                  <a:rPr lang="en-US" noProof="0" dirty="0"/>
                  <a:t>: If those poles have small residues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due to zeros lying close to the poles (pole-zero cancellation)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D74411C-873B-1ADD-62E2-9D3CFCCEA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91194"/>
                <a:ext cx="4501699" cy="3263504"/>
              </a:xfrm>
              <a:blipFill>
                <a:blip r:embed="rId2"/>
                <a:stretch>
                  <a:fillRect l="-843" t="-1938" r="-196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BCB9B6-19C3-027C-4BFD-4805D059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69E9CD-E88E-2505-B087-53B115F5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28E0E911-C7DB-DF37-FC4B-E7EB718601DF}"/>
              </a:ext>
            </a:extLst>
          </p:cNvPr>
          <p:cNvGrpSpPr/>
          <p:nvPr/>
        </p:nvGrpSpPr>
        <p:grpSpPr>
          <a:xfrm>
            <a:off x="6179204" y="957577"/>
            <a:ext cx="2386913" cy="1903779"/>
            <a:chOff x="6179204" y="957577"/>
            <a:chExt cx="2386913" cy="1903779"/>
          </a:xfrm>
        </p:grpSpPr>
        <p:pic>
          <p:nvPicPr>
            <p:cNvPr id="7" name="Inhaltsplatzhalter 6" descr="Ein Bild, das Reihe, Diagramm enthält.&#10;&#10;KI-generierte Inhalte können fehlerhaft sein.">
              <a:extLst>
                <a:ext uri="{FF2B5EF4-FFF2-40B4-BE49-F238E27FC236}">
                  <a16:creationId xmlns:a16="http://schemas.microsoft.com/office/drawing/2014/main" id="{D670E74C-EF25-8509-8A0F-440CEED5D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9204" y="957577"/>
              <a:ext cx="2386913" cy="1903779"/>
            </a:xfrm>
            <a:prstGeom prst="rect">
              <a:avLst/>
            </a:prstGeom>
          </p:spPr>
        </p:pic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AB38EA22-A74A-132D-44FD-EF369E6BF10B}"/>
                </a:ext>
              </a:extLst>
            </p:cNvPr>
            <p:cNvSpPr txBox="1"/>
            <p:nvPr/>
          </p:nvSpPr>
          <p:spPr>
            <a:xfrm>
              <a:off x="6985638" y="1472683"/>
              <a:ext cx="279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AEC9232-9CAA-E7B4-F1C1-C87B985A0D88}"/>
                </a:ext>
              </a:extLst>
            </p:cNvPr>
            <p:cNvSpPr txBox="1"/>
            <p:nvPr/>
          </p:nvSpPr>
          <p:spPr>
            <a:xfrm>
              <a:off x="6985638" y="2076345"/>
              <a:ext cx="279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5E7E709F-A3B1-CD61-BCCD-D9A9094C5841}"/>
                </a:ext>
              </a:extLst>
            </p:cNvPr>
            <p:cNvSpPr txBox="1"/>
            <p:nvPr/>
          </p:nvSpPr>
          <p:spPr>
            <a:xfrm>
              <a:off x="6706394" y="1762579"/>
              <a:ext cx="279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10F45FE2-36A3-67E3-40C3-02AE4F6DC1F4}"/>
                </a:ext>
              </a:extLst>
            </p:cNvPr>
            <p:cNvSpPr txBox="1"/>
            <p:nvPr/>
          </p:nvSpPr>
          <p:spPr>
            <a:xfrm>
              <a:off x="6343423" y="1191265"/>
              <a:ext cx="279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</a:t>
              </a: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852F0F3-47D7-EB36-3D9A-70C81CFD0CAE}"/>
                </a:ext>
              </a:extLst>
            </p:cNvPr>
            <p:cNvSpPr txBox="1"/>
            <p:nvPr/>
          </p:nvSpPr>
          <p:spPr>
            <a:xfrm>
              <a:off x="6343423" y="2353526"/>
              <a:ext cx="2792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092B21B-47B7-51F1-2F80-BA3F60994BC8}"/>
                </a:ext>
              </a:extLst>
            </p:cNvPr>
            <p:cNvSpPr/>
            <p:nvPr/>
          </p:nvSpPr>
          <p:spPr>
            <a:xfrm>
              <a:off x="6973762" y="1472683"/>
              <a:ext cx="279244" cy="985509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B858875E-1977-52F2-EED6-A797C7B38FE4}"/>
                </a:ext>
              </a:extLst>
            </p:cNvPr>
            <p:cNvSpPr txBox="1"/>
            <p:nvPr/>
          </p:nvSpPr>
          <p:spPr>
            <a:xfrm>
              <a:off x="7276758" y="1384492"/>
              <a:ext cx="78739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noProof="0" dirty="0">
                  <a:solidFill>
                    <a:schemeClr val="accent2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dominant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D6D21F0-7950-D420-6D00-745FE519A048}"/>
              </a:ext>
            </a:extLst>
          </p:cNvPr>
          <p:cNvGrpSpPr/>
          <p:nvPr/>
        </p:nvGrpSpPr>
        <p:grpSpPr>
          <a:xfrm>
            <a:off x="6186824" y="2861356"/>
            <a:ext cx="2386913" cy="1903779"/>
            <a:chOff x="6186824" y="2861356"/>
            <a:chExt cx="2386913" cy="1903779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1927DE9E-4110-BC71-BE60-B35EB3F26691}"/>
                </a:ext>
              </a:extLst>
            </p:cNvPr>
            <p:cNvGrpSpPr/>
            <p:nvPr/>
          </p:nvGrpSpPr>
          <p:grpSpPr>
            <a:xfrm>
              <a:off x="6186824" y="2861356"/>
              <a:ext cx="2386913" cy="1903779"/>
              <a:chOff x="6179204" y="957577"/>
              <a:chExt cx="2386913" cy="1903779"/>
            </a:xfrm>
          </p:grpSpPr>
          <p:pic>
            <p:nvPicPr>
              <p:cNvPr id="20" name="Inhaltsplatzhalter 6" descr="Ein Bild, das Reihe, Diagramm enthält.&#10;&#10;KI-generierte Inhalte können fehlerhaft sein.">
                <a:extLst>
                  <a:ext uri="{FF2B5EF4-FFF2-40B4-BE49-F238E27FC236}">
                    <a16:creationId xmlns:a16="http://schemas.microsoft.com/office/drawing/2014/main" id="{D8B3FD63-C716-6C27-9007-515465851C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79204" y="957577"/>
                <a:ext cx="2386913" cy="1903779"/>
              </a:xfrm>
              <a:prstGeom prst="rect">
                <a:avLst/>
              </a:prstGeom>
            </p:spPr>
          </p:pic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63ED6E66-B5A4-84FF-18F1-B36D47ADD65C}"/>
                  </a:ext>
                </a:extLst>
              </p:cNvPr>
              <p:cNvSpPr txBox="1"/>
              <p:nvPr/>
            </p:nvSpPr>
            <p:spPr>
              <a:xfrm>
                <a:off x="6985638" y="1472683"/>
                <a:ext cx="2792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32C88D93-40FA-3C80-D10B-62205DD98F39}"/>
                  </a:ext>
                </a:extLst>
              </p:cNvPr>
              <p:cNvSpPr txBox="1"/>
              <p:nvPr/>
            </p:nvSpPr>
            <p:spPr>
              <a:xfrm>
                <a:off x="6985638" y="2076345"/>
                <a:ext cx="2792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FD4A94E3-3F9E-FEB2-143B-2BB0EE189335}"/>
                  </a:ext>
                </a:extLst>
              </p:cNvPr>
              <p:cNvSpPr txBox="1"/>
              <p:nvPr/>
            </p:nvSpPr>
            <p:spPr>
              <a:xfrm>
                <a:off x="6706394" y="1762579"/>
                <a:ext cx="2792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A75EEB7-7851-34D6-D524-7976F3E79117}"/>
                  </a:ext>
                </a:extLst>
              </p:cNvPr>
              <p:cNvSpPr txBox="1"/>
              <p:nvPr/>
            </p:nvSpPr>
            <p:spPr>
              <a:xfrm>
                <a:off x="6343423" y="1191265"/>
                <a:ext cx="2792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34E48F19-5348-0669-83B8-14C6C1BBD7C8}"/>
                  </a:ext>
                </a:extLst>
              </p:cNvPr>
              <p:cNvSpPr txBox="1"/>
              <p:nvPr/>
            </p:nvSpPr>
            <p:spPr>
              <a:xfrm>
                <a:off x="6343423" y="2353526"/>
                <a:ext cx="2792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F8B9D8B-9F66-6736-3B96-E2312A07788E}"/>
                  </a:ext>
                </a:extLst>
              </p:cNvPr>
              <p:cNvSpPr/>
              <p:nvPr/>
            </p:nvSpPr>
            <p:spPr>
              <a:xfrm>
                <a:off x="6706671" y="1684247"/>
                <a:ext cx="263450" cy="547890"/>
              </a:xfrm>
              <a:prstGeom prst="ellipse">
                <a:avLst/>
              </a:prstGeom>
              <a:noFill/>
              <a:ln w="25400"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D64856CC-54DC-68A2-7257-27A0812740BB}"/>
                  </a:ext>
                </a:extLst>
              </p:cNvPr>
              <p:cNvSpPr txBox="1"/>
              <p:nvPr/>
            </p:nvSpPr>
            <p:spPr>
              <a:xfrm>
                <a:off x="6312696" y="2196582"/>
                <a:ext cx="78739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noProof="0" dirty="0">
                    <a:solidFill>
                      <a:schemeClr val="accent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dominant</a:t>
                </a: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81334224-A931-0E67-937E-CEF31105DFF6}"/>
                </a:ext>
              </a:extLst>
            </p:cNvPr>
            <p:cNvSpPr txBox="1"/>
            <p:nvPr/>
          </p:nvSpPr>
          <p:spPr>
            <a:xfrm>
              <a:off x="7024144" y="3430413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</a:t>
              </a:r>
              <a:endParaRPr lang="en-US" noProof="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6753A610-C83A-D9FD-5D2E-4B6CAF2C213C}"/>
                </a:ext>
              </a:extLst>
            </p:cNvPr>
            <p:cNvSpPr txBox="1"/>
            <p:nvPr/>
          </p:nvSpPr>
          <p:spPr>
            <a:xfrm>
              <a:off x="7024144" y="3935046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>
                  <a:solidFill>
                    <a:schemeClr val="accent5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</a:t>
              </a:r>
              <a:endParaRPr lang="en-US" noProof="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01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E85D75-542B-5635-E457-2C119EA5D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994172"/>
          </a:xfrm>
        </p:spPr>
        <p:txBody>
          <a:bodyPr/>
          <a:lstStyle/>
          <a:p>
            <a:r>
              <a:rPr lang="en-US" noProof="0" dirty="0"/>
              <a:t>Dominant Poles Approximation</a:t>
            </a:r>
          </a:p>
        </p:txBody>
      </p:sp>
      <p:pic>
        <p:nvPicPr>
          <p:cNvPr id="7" name="Inhaltsplatzhalter 6" descr="Ein Bild, das Reihe, Text, Diagramm, Zahl enthält.&#10;&#10;KI-generierte Inhalte können fehlerhaft sein.">
            <a:extLst>
              <a:ext uri="{FF2B5EF4-FFF2-40B4-BE49-F238E27FC236}">
                <a16:creationId xmlns:a16="http://schemas.microsoft.com/office/drawing/2014/main" id="{BB78A213-0790-1FE9-0755-A3C78476B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76"/>
          <a:stretch>
            <a:fillRect/>
          </a:stretch>
        </p:blipFill>
        <p:spPr>
          <a:xfrm>
            <a:off x="824262" y="964448"/>
            <a:ext cx="3436576" cy="2379939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B22CDD-389A-7579-8300-53C03DAD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D17861-5723-25E8-FEB1-2C8C4FDA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 descr="Ein Bild, das Text, Reihe, Diagramm, Quittung enthält.&#10;&#10;KI-generierte Inhalte können fehlerhaft sein.">
            <a:extLst>
              <a:ext uri="{FF2B5EF4-FFF2-40B4-BE49-F238E27FC236}">
                <a16:creationId xmlns:a16="http://schemas.microsoft.com/office/drawing/2014/main" id="{D50CE5A4-EDDD-7DB8-3D19-FC81EF50B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34"/>
          <a:stretch>
            <a:fillRect/>
          </a:stretch>
        </p:blipFill>
        <p:spPr>
          <a:xfrm>
            <a:off x="4572000" y="909526"/>
            <a:ext cx="3436576" cy="2434861"/>
          </a:xfrm>
          <a:prstGeom prst="rect">
            <a:avLst/>
          </a:prstGeom>
        </p:spPr>
      </p:pic>
      <p:pic>
        <p:nvPicPr>
          <p:cNvPr id="11" name="Grafik 10" descr="Ein Bild, das Text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60964BDA-B62F-7F29-25CA-2BD6AF498E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010" b="3090"/>
          <a:stretch>
            <a:fillRect/>
          </a:stretch>
        </p:blipFill>
        <p:spPr>
          <a:xfrm>
            <a:off x="1070650" y="3492588"/>
            <a:ext cx="2641952" cy="360854"/>
          </a:xfrm>
          <a:prstGeom prst="rect">
            <a:avLst/>
          </a:prstGeom>
        </p:spPr>
      </p:pic>
      <p:pic>
        <p:nvPicPr>
          <p:cNvPr id="13" name="Grafik 12" descr="Ein Bild, das Text, Schrift, Reihe, weiß enthält.&#10;&#10;KI-generierte Inhalte können fehlerhaft sein.">
            <a:extLst>
              <a:ext uri="{FF2B5EF4-FFF2-40B4-BE49-F238E27FC236}">
                <a16:creationId xmlns:a16="http://schemas.microsoft.com/office/drawing/2014/main" id="{4AC8452E-21F2-2A55-2BA1-891116FDE4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39"/>
          <a:stretch>
            <a:fillRect/>
          </a:stretch>
        </p:blipFill>
        <p:spPr>
          <a:xfrm>
            <a:off x="1139364" y="3994212"/>
            <a:ext cx="2426087" cy="424459"/>
          </a:xfrm>
          <a:prstGeom prst="rect">
            <a:avLst/>
          </a:prstGeom>
        </p:spPr>
      </p:pic>
      <p:pic>
        <p:nvPicPr>
          <p:cNvPr id="15" name="Grafik 14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F790E4D2-3E25-C797-86B6-6DAB184F53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543" b="6850"/>
          <a:stretch>
            <a:fillRect/>
          </a:stretch>
        </p:blipFill>
        <p:spPr>
          <a:xfrm>
            <a:off x="4848104" y="3524597"/>
            <a:ext cx="2711464" cy="341683"/>
          </a:xfrm>
          <a:prstGeom prst="rect">
            <a:avLst/>
          </a:prstGeom>
        </p:spPr>
      </p:pic>
      <p:pic>
        <p:nvPicPr>
          <p:cNvPr id="17" name="Grafik 16" descr="Ein Bild, das Schrift, weiß, Reihe, Zahl enthält.&#10;&#10;KI-generierte Inhalte können fehlerhaft sein.">
            <a:extLst>
              <a:ext uri="{FF2B5EF4-FFF2-40B4-BE49-F238E27FC236}">
                <a16:creationId xmlns:a16="http://schemas.microsoft.com/office/drawing/2014/main" id="{F9856D00-17B6-52E3-25DE-63B6DFF22D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393" b="1"/>
          <a:stretch>
            <a:fillRect/>
          </a:stretch>
        </p:blipFill>
        <p:spPr>
          <a:xfrm>
            <a:off x="5632820" y="3986734"/>
            <a:ext cx="1483906" cy="431937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64614F2-0531-DF71-930A-23D28B9EC31B}"/>
              </a:ext>
            </a:extLst>
          </p:cNvPr>
          <p:cNvGrpSpPr/>
          <p:nvPr/>
        </p:nvGrpSpPr>
        <p:grpSpPr>
          <a:xfrm>
            <a:off x="6848220" y="164193"/>
            <a:ext cx="2259525" cy="606543"/>
            <a:chOff x="6735012" y="2687570"/>
            <a:chExt cx="1713527" cy="6065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906938CF-C6B9-5AA9-1F30-CA478724358B}"/>
                    </a:ext>
                  </a:extLst>
                </p:cNvPr>
                <p:cNvSpPr txBox="1"/>
                <p:nvPr/>
              </p:nvSpPr>
              <p:spPr>
                <a:xfrm>
                  <a:off x="6781410" y="2795467"/>
                  <a:ext cx="1667129" cy="3907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𝑎𝑝𝑝𝑟𝑜𝑥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0</m:t>
                            </m:r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de-DE" sz="1800" dirty="0"/>
                </a:p>
              </p:txBody>
            </p:sp>
          </mc:Choice>
          <mc:Fallback xmlns=""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906938CF-C6B9-5AA9-1F30-CA47872435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410" y="2795467"/>
                  <a:ext cx="1667129" cy="390748"/>
                </a:xfrm>
                <a:prstGeom prst="rect">
                  <a:avLst/>
                </a:prstGeom>
                <a:blipFill>
                  <a:blip r:embed="rId8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: Rounded Corners 17">
              <a:extLst>
                <a:ext uri="{FF2B5EF4-FFF2-40B4-BE49-F238E27FC236}">
                  <a16:creationId xmlns:a16="http://schemas.microsoft.com/office/drawing/2014/main" id="{F93F01A7-D040-2090-DCB4-1BDE2F513B12}"/>
                </a:ext>
              </a:extLst>
            </p:cNvPr>
            <p:cNvSpPr/>
            <p:nvPr/>
          </p:nvSpPr>
          <p:spPr>
            <a:xfrm>
              <a:off x="6735012" y="2687570"/>
              <a:ext cx="1667129" cy="60654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55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760478-D289-316F-5959-77CF814E3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3. PID-Control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8EEFD3-8A51-E6D5-04B4-AE30D5A2E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A6B7A4-A7DD-A31F-8F0C-6DBA572B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653057-0297-E987-CFAF-6AABA167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6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1AB5F-9043-6C26-C2DB-1EE2D8C4C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6576"/>
            <a:ext cx="7886700" cy="994172"/>
          </a:xfrm>
        </p:spPr>
        <p:txBody>
          <a:bodyPr/>
          <a:lstStyle/>
          <a:p>
            <a:r>
              <a:rPr lang="en-US" noProof="0" dirty="0"/>
              <a:t>PID Control</a:t>
            </a:r>
          </a:p>
        </p:txBody>
      </p:sp>
      <p:pic>
        <p:nvPicPr>
          <p:cNvPr id="7" name="Inhaltsplatzhalter 6" descr="Ein Bild, das Text, Schrift, Handschrift, Reihe enthält.&#10;&#10;KI-generierte Inhalte können fehlerhaft sein.">
            <a:extLst>
              <a:ext uri="{FF2B5EF4-FFF2-40B4-BE49-F238E27FC236}">
                <a16:creationId xmlns:a16="http://schemas.microsoft.com/office/drawing/2014/main" id="{8A5E215D-F269-462E-0414-84515886D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0775" y="948668"/>
            <a:ext cx="3178596" cy="1024907"/>
          </a:xfr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3383200-7CAF-1FC9-58DB-462EE902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656F8E-B65D-5AEE-5152-BF53ABC7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60E1FBF3-2469-9652-28C4-0BD54EE7BC31}"/>
              </a:ext>
            </a:extLst>
          </p:cNvPr>
          <p:cNvGrpSpPr/>
          <p:nvPr/>
        </p:nvGrpSpPr>
        <p:grpSpPr>
          <a:xfrm>
            <a:off x="4507660" y="511286"/>
            <a:ext cx="4942338" cy="1060709"/>
            <a:chOff x="1804866" y="1928669"/>
            <a:chExt cx="4942338" cy="106070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72312CF7-F43D-5D49-9093-2313FDEBA276}"/>
                </a:ext>
              </a:extLst>
            </p:cNvPr>
            <p:cNvGrpSpPr/>
            <p:nvPr/>
          </p:nvGrpSpPr>
          <p:grpSpPr>
            <a:xfrm>
              <a:off x="2111506" y="1960011"/>
              <a:ext cx="4346444" cy="1029367"/>
              <a:chOff x="2057698" y="2240230"/>
              <a:chExt cx="4346444" cy="102936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0BE5EB1-A13D-6104-5CCB-94EA0E96BCFB}"/>
                  </a:ext>
                </a:extLst>
              </p:cNvPr>
              <p:cNvSpPr/>
              <p:nvPr/>
            </p:nvSpPr>
            <p:spPr>
              <a:xfrm>
                <a:off x="2528855" y="2459617"/>
                <a:ext cx="216000" cy="216000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noProof="0" dirty="0"/>
              </a:p>
            </p:txBody>
          </p:sp>
          <p:cxnSp>
            <p:nvCxnSpPr>
              <p:cNvPr id="13" name="Gerade Verbindung mit Pfeil 12">
                <a:extLst>
                  <a:ext uri="{FF2B5EF4-FFF2-40B4-BE49-F238E27FC236}">
                    <a16:creationId xmlns:a16="http://schemas.microsoft.com/office/drawing/2014/main" id="{F79EA5BD-3A04-84AA-BF64-C6531BB16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3328" y="2562797"/>
                <a:ext cx="71081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95D66AEB-E9B2-0FB8-3570-502BBA04F039}"/>
                  </a:ext>
                </a:extLst>
              </p:cNvPr>
              <p:cNvGrpSpPr/>
              <p:nvPr/>
            </p:nvGrpSpPr>
            <p:grpSpPr>
              <a:xfrm>
                <a:off x="4610258" y="2293137"/>
                <a:ext cx="1071771" cy="553007"/>
                <a:chOff x="2403054" y="3026666"/>
                <a:chExt cx="545710" cy="553007"/>
              </a:xfrm>
            </p:grpSpPr>
            <p:sp>
              <p:nvSpPr>
                <p:cNvPr id="26" name="Rechteck 25">
                  <a:extLst>
                    <a:ext uri="{FF2B5EF4-FFF2-40B4-BE49-F238E27FC236}">
                      <a16:creationId xmlns:a16="http://schemas.microsoft.com/office/drawing/2014/main" id="{80FD6124-3C09-F3C8-A0FE-A52D7763A884}"/>
                    </a:ext>
                  </a:extLst>
                </p:cNvPr>
                <p:cNvSpPr/>
                <p:nvPr/>
              </p:nvSpPr>
              <p:spPr>
                <a:xfrm>
                  <a:off x="2403054" y="3026666"/>
                  <a:ext cx="545710" cy="553007"/>
                </a:xfrm>
                <a:prstGeom prst="rect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feld 26">
                      <a:extLst>
                        <a:ext uri="{FF2B5EF4-FFF2-40B4-BE49-F238E27FC236}">
                          <a16:creationId xmlns:a16="http://schemas.microsoft.com/office/drawing/2014/main" id="{FEE437BE-C16E-80EF-45F0-B8A1A3DEB4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59135" y="3107336"/>
                      <a:ext cx="4219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𝑃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1800" b="0" i="1" noProof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s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noProof="0" dirty="0"/>
                    </a:p>
                  </p:txBody>
                </p:sp>
              </mc:Choice>
              <mc:Fallback xmlns="">
                <p:sp>
                  <p:nvSpPr>
                    <p:cNvPr id="27" name="Textfeld 26">
                      <a:extLst>
                        <a:ext uri="{FF2B5EF4-FFF2-40B4-BE49-F238E27FC236}">
                          <a16:creationId xmlns:a16="http://schemas.microsoft.com/office/drawing/2014/main" id="{FEE437BE-C16E-80EF-45F0-B8A1A3DEB4C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59135" y="3107336"/>
                      <a:ext cx="421972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8617540F-8884-5FA6-335D-EB893C7B2A32}"/>
                  </a:ext>
                </a:extLst>
              </p:cNvPr>
              <p:cNvGrpSpPr/>
              <p:nvPr/>
            </p:nvGrpSpPr>
            <p:grpSpPr>
              <a:xfrm>
                <a:off x="3181352" y="2302281"/>
                <a:ext cx="1073758" cy="553007"/>
                <a:chOff x="2676164" y="3940223"/>
                <a:chExt cx="587951" cy="553007"/>
              </a:xfrm>
            </p:grpSpPr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6BDA9AC6-A8F5-7AE2-55A4-753D3CC019E7}"/>
                    </a:ext>
                  </a:extLst>
                </p:cNvPr>
                <p:cNvSpPr/>
                <p:nvPr/>
              </p:nvSpPr>
              <p:spPr>
                <a:xfrm>
                  <a:off x="2676164" y="3940223"/>
                  <a:ext cx="587951" cy="553007"/>
                </a:xfrm>
                <a:prstGeom prst="rect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 noProof="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7ADADD90-0A96-6233-3D03-BB1BD6F472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21835" y="4006929"/>
                      <a:ext cx="53258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𝑃𝐼𝐷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800" b="0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noProof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𝑠</m:t>
                                </m:r>
                              </m:e>
                            </m:d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25" name="Textfeld 24">
                      <a:extLst>
                        <a:ext uri="{FF2B5EF4-FFF2-40B4-BE49-F238E27FC236}">
                          <a16:creationId xmlns:a16="http://schemas.microsoft.com/office/drawing/2014/main" id="{7ADADD90-0A96-6233-3D03-BB1BD6F472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21835" y="4006929"/>
                      <a:ext cx="532582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6452" r="-7792" b="-2258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6" name="Gerade Verbindung mit Pfeil 15">
                <a:extLst>
                  <a:ext uri="{FF2B5EF4-FFF2-40B4-BE49-F238E27FC236}">
                    <a16:creationId xmlns:a16="http://schemas.microsoft.com/office/drawing/2014/main" id="{C5784947-A944-9C3B-9016-7DC53E5A4D8A}"/>
                  </a:ext>
                </a:extLst>
              </p:cNvPr>
              <p:cNvCxnSpPr>
                <a:cxnSpLocks/>
                <a:endCxn id="24" idx="1"/>
              </p:cNvCxnSpPr>
              <p:nvPr/>
            </p:nvCxnSpPr>
            <p:spPr>
              <a:xfrm>
                <a:off x="2739631" y="2578784"/>
                <a:ext cx="441721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2DDB5551-955F-8A4F-DAB9-77DF554D5B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7698" y="2565506"/>
                <a:ext cx="471157" cy="211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D029402F-8C96-8AD2-26EE-04C4A85D8C2F}"/>
                      </a:ext>
                    </a:extLst>
                  </p:cNvPr>
                  <p:cNvSpPr txBox="1"/>
                  <p:nvPr/>
                </p:nvSpPr>
                <p:spPr>
                  <a:xfrm>
                    <a:off x="2409322" y="2264780"/>
                    <a:ext cx="104156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oMath>
                      </m:oMathPara>
                    </a14:m>
                    <a:endParaRPr lang="en-US" sz="1600" noProof="0" dirty="0"/>
                  </a:p>
                </p:txBody>
              </p:sp>
            </mc:Choice>
            <mc:Fallback xmlns="">
              <p:sp>
                <p:nvSpPr>
                  <p:cNvPr id="18" name="Textfeld 17">
                    <a:extLst>
                      <a:ext uri="{FF2B5EF4-FFF2-40B4-BE49-F238E27FC236}">
                        <a16:creationId xmlns:a16="http://schemas.microsoft.com/office/drawing/2014/main" id="{D029402F-8C96-8AD2-26EE-04C4A85D8C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09322" y="2264780"/>
                    <a:ext cx="1041569" cy="3385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FB4DB20B-79FE-76F5-E9E8-4E70CB3F528E}"/>
                      </a:ext>
                    </a:extLst>
                  </p:cNvPr>
                  <p:cNvSpPr txBox="1"/>
                  <p:nvPr/>
                </p:nvSpPr>
                <p:spPr>
                  <a:xfrm>
                    <a:off x="3911003" y="2240230"/>
                    <a:ext cx="104156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oMath>
                      </m:oMathPara>
                    </a14:m>
                    <a:endParaRPr lang="en-US" sz="1600" noProof="0" dirty="0"/>
                  </a:p>
                </p:txBody>
              </p:sp>
            </mc:Choice>
            <mc:Fallback xmlns="">
              <p:sp>
                <p:nvSpPr>
                  <p:cNvPr id="19" name="Textfeld 18">
                    <a:extLst>
                      <a:ext uri="{FF2B5EF4-FFF2-40B4-BE49-F238E27FC236}">
                        <a16:creationId xmlns:a16="http://schemas.microsoft.com/office/drawing/2014/main" id="{FB4DB20B-79FE-76F5-E9E8-4E70CB3F52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11003" y="2240230"/>
                    <a:ext cx="1041569" cy="33855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Gerade Verbindung mit Pfeil 19">
                <a:extLst>
                  <a:ext uri="{FF2B5EF4-FFF2-40B4-BE49-F238E27FC236}">
                    <a16:creationId xmlns:a16="http://schemas.microsoft.com/office/drawing/2014/main" id="{7373B695-AF73-CD81-40F9-B88D74C1C1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4351" y="2553653"/>
                <a:ext cx="35954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20">
                <a:extLst>
                  <a:ext uri="{FF2B5EF4-FFF2-40B4-BE49-F238E27FC236}">
                    <a16:creationId xmlns:a16="http://schemas.microsoft.com/office/drawing/2014/main" id="{9608AFC1-86A8-2451-FF7C-A410FE9179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8710" y="2562797"/>
                <a:ext cx="0" cy="70679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3C3FE94E-5D5B-9F13-1350-32F07C025BB7}"/>
                      </a:ext>
                    </a:extLst>
                  </p:cNvPr>
                  <p:cNvSpPr txBox="1"/>
                  <p:nvPr/>
                </p:nvSpPr>
                <p:spPr>
                  <a:xfrm>
                    <a:off x="2271843" y="2544631"/>
                    <a:ext cx="104156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US" sz="1800" noProof="0" dirty="0"/>
                  </a:p>
                </p:txBody>
              </p:sp>
            </mc:Choice>
            <mc:Fallback xmlns="">
              <p:sp>
                <p:nvSpPr>
                  <p:cNvPr id="22" name="Textfeld 21">
                    <a:extLst>
                      <a:ext uri="{FF2B5EF4-FFF2-40B4-BE49-F238E27FC236}">
                        <a16:creationId xmlns:a16="http://schemas.microsoft.com/office/drawing/2014/main" id="{3C3FE94E-5D5B-9F13-1350-32F07C025B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1843" y="2544631"/>
                    <a:ext cx="1041569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Gewinkelte Verbindung 22">
                <a:extLst>
                  <a:ext uri="{FF2B5EF4-FFF2-40B4-BE49-F238E27FC236}">
                    <a16:creationId xmlns:a16="http://schemas.microsoft.com/office/drawing/2014/main" id="{669A4210-7C71-242C-0724-3E8726F1FF4B}"/>
                  </a:ext>
                </a:extLst>
              </p:cNvPr>
              <p:cNvCxnSpPr/>
              <p:nvPr/>
            </p:nvCxnSpPr>
            <p:spPr>
              <a:xfrm rot="10800000">
                <a:off x="2636856" y="2675618"/>
                <a:ext cx="3281855" cy="593979"/>
              </a:xfrm>
              <a:prstGeom prst="bentConnector3">
                <a:avLst>
                  <a:gd name="adj1" fmla="val 99874"/>
                </a:avLst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33335B1-1442-7785-C8A2-3A0323AD46C8}"/>
                    </a:ext>
                  </a:extLst>
                </p:cNvPr>
                <p:cNvSpPr txBox="1"/>
                <p:nvPr/>
              </p:nvSpPr>
              <p:spPr>
                <a:xfrm>
                  <a:off x="5705635" y="1935783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233335B1-1442-7785-C8A2-3A0323AD4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5635" y="1935783"/>
                  <a:ext cx="1041569" cy="338554"/>
                </a:xfrm>
                <a:prstGeom prst="rect">
                  <a:avLst/>
                </a:prstGeom>
                <a:blipFill>
                  <a:blip r:embed="rId9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7FE7BCF4-4055-823A-7041-E5562E26C1A2}"/>
                    </a:ext>
                  </a:extLst>
                </p:cNvPr>
                <p:cNvSpPr txBox="1"/>
                <p:nvPr/>
              </p:nvSpPr>
              <p:spPr>
                <a:xfrm>
                  <a:off x="1804866" y="1928669"/>
                  <a:ext cx="1041569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600" noProof="0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7FE7BCF4-4055-823A-7041-E5562E26C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4866" y="1928669"/>
                  <a:ext cx="1041569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1851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2CFB3979-E3AD-A5B6-6F8B-072118D99E06}"/>
              </a:ext>
            </a:extLst>
          </p:cNvPr>
          <p:cNvCxnSpPr>
            <a:cxnSpLocks/>
          </p:cNvCxnSpPr>
          <p:nvPr/>
        </p:nvCxnSpPr>
        <p:spPr>
          <a:xfrm>
            <a:off x="6299741" y="1647608"/>
            <a:ext cx="0" cy="65193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6A8BF951-4BED-D682-C6DD-1ECBED53A98E}"/>
              </a:ext>
            </a:extLst>
          </p:cNvPr>
          <p:cNvSpPr txBox="1"/>
          <p:nvPr/>
        </p:nvSpPr>
        <p:spPr>
          <a:xfrm>
            <a:off x="6404429" y="1771238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which really is just:</a:t>
            </a:r>
          </a:p>
        </p:txBody>
      </p: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E76E196C-E40E-C9AC-DD14-BDD255519F04}"/>
              </a:ext>
            </a:extLst>
          </p:cNvPr>
          <p:cNvGrpSpPr/>
          <p:nvPr/>
        </p:nvGrpSpPr>
        <p:grpSpPr>
          <a:xfrm>
            <a:off x="4552440" y="2346031"/>
            <a:ext cx="4769596" cy="2356131"/>
            <a:chOff x="3923028" y="2411131"/>
            <a:chExt cx="4769596" cy="2356131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8C079621-A7EC-DB7E-519D-57B074E0F6FF}"/>
                </a:ext>
              </a:extLst>
            </p:cNvPr>
            <p:cNvGrpSpPr/>
            <p:nvPr/>
          </p:nvGrpSpPr>
          <p:grpSpPr>
            <a:xfrm>
              <a:off x="3923028" y="2759261"/>
              <a:ext cx="4769596" cy="2008001"/>
              <a:chOff x="1994751" y="2088768"/>
              <a:chExt cx="4769596" cy="900610"/>
            </a:xfrm>
          </p:grpSpPr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700B7AC7-1866-B41E-A9CF-02050223283C}"/>
                  </a:ext>
                </a:extLst>
              </p:cNvPr>
              <p:cNvGrpSpPr/>
              <p:nvPr/>
            </p:nvGrpSpPr>
            <p:grpSpPr>
              <a:xfrm>
                <a:off x="2111506" y="2088768"/>
                <a:ext cx="4475567" cy="900610"/>
                <a:chOff x="2057698" y="2368987"/>
                <a:chExt cx="4475567" cy="900610"/>
              </a:xfrm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264E0F06-8F33-EB1C-FBDB-6E9DB89E66FE}"/>
                    </a:ext>
                  </a:extLst>
                </p:cNvPr>
                <p:cNvSpPr/>
                <p:nvPr/>
              </p:nvSpPr>
              <p:spPr>
                <a:xfrm>
                  <a:off x="2528855" y="2526181"/>
                  <a:ext cx="216000" cy="96878"/>
                </a:xfrm>
                <a:prstGeom prst="ellipse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noProof="0" dirty="0"/>
                    <a:t>c</a:t>
                  </a:r>
                </a:p>
              </p:txBody>
            </p:sp>
            <p:cxnSp>
              <p:nvCxnSpPr>
                <p:cNvPr id="38" name="Gerade Verbindung mit Pfeil 37">
                  <a:extLst>
                    <a:ext uri="{FF2B5EF4-FFF2-40B4-BE49-F238E27FC236}">
                      <a16:creationId xmlns:a16="http://schemas.microsoft.com/office/drawing/2014/main" id="{DDBDD90D-DE1D-AB7A-9B91-69DFE75E06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22451" y="2565934"/>
                  <a:ext cx="710814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587AECEB-5F72-6B27-CD84-E9BADDB57ABF}"/>
                    </a:ext>
                  </a:extLst>
                </p:cNvPr>
                <p:cNvGrpSpPr/>
                <p:nvPr/>
              </p:nvGrpSpPr>
              <p:grpSpPr>
                <a:xfrm>
                  <a:off x="4997152" y="2469506"/>
                  <a:ext cx="858049" cy="186581"/>
                  <a:chOff x="2600048" y="3203035"/>
                  <a:chExt cx="436890" cy="186581"/>
                </a:xfrm>
              </p:grpSpPr>
              <p:sp>
                <p:nvSpPr>
                  <p:cNvPr id="51" name="Rechteck 50">
                    <a:extLst>
                      <a:ext uri="{FF2B5EF4-FFF2-40B4-BE49-F238E27FC236}">
                        <a16:creationId xmlns:a16="http://schemas.microsoft.com/office/drawing/2014/main" id="{E4E384EB-C7ED-E254-BA68-F932F0A75D43}"/>
                      </a:ext>
                    </a:extLst>
                  </p:cNvPr>
                  <p:cNvSpPr/>
                  <p:nvPr/>
                </p:nvSpPr>
                <p:spPr>
                  <a:xfrm>
                    <a:off x="2600048" y="3203036"/>
                    <a:ext cx="436890" cy="186580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00" noProof="0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Textfeld 51">
                        <a:extLst>
                          <a:ext uri="{FF2B5EF4-FFF2-40B4-BE49-F238E27FC236}">
                            <a16:creationId xmlns:a16="http://schemas.microsoft.com/office/drawing/2014/main" id="{478AD924-080B-3D0D-11A4-41EF56EEA1E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13113" y="3203035"/>
                        <a:ext cx="401370" cy="16565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180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𝑃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s</m:t>
                              </m:r>
                              <m:r>
                                <a:rPr lang="en-US" sz="1800" b="0" i="1" noProof="0" smtClean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noProof="0" dirty="0"/>
                      </a:p>
                    </p:txBody>
                  </p:sp>
                </mc:Choice>
                <mc:Fallback xmlns="">
                  <p:sp>
                    <p:nvSpPr>
                      <p:cNvPr id="52" name="Textfeld 51">
                        <a:extLst>
                          <a:ext uri="{FF2B5EF4-FFF2-40B4-BE49-F238E27FC236}">
                            <a16:creationId xmlns:a16="http://schemas.microsoft.com/office/drawing/2014/main" id="{478AD924-080B-3D0D-11A4-41EF56EEA1E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13113" y="3203035"/>
                        <a:ext cx="401370" cy="16565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b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Textfeld 49">
                      <a:extLst>
                        <a:ext uri="{FF2B5EF4-FFF2-40B4-BE49-F238E27FC236}">
                          <a16:creationId xmlns:a16="http://schemas.microsoft.com/office/drawing/2014/main" id="{5CE22E65-4295-A8C3-DC4A-87B023DF1B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64760" y="2368987"/>
                      <a:ext cx="184731" cy="16564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endParaRPr/>
                    </a:p>
                  </p:txBody>
                </p:sp>
              </mc:Choice>
              <mc:Fallback xmlns="">
                <p:sp>
                  <p:nvSpPr>
                    <p:cNvPr id="50" name="Textfeld 49">
                      <a:extLst>
                        <a:ext uri="{FF2B5EF4-FFF2-40B4-BE49-F238E27FC236}">
                          <a16:creationId xmlns:a16="http://schemas.microsoft.com/office/drawing/2014/main" id="{5CE22E65-4295-A8C3-DC4A-87B023DF1B9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64760" y="2368987"/>
                      <a:ext cx="184731" cy="16564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3C8213CA-3054-8F51-9CBF-CEC6AF8C35CE}"/>
                    </a:ext>
                  </a:extLst>
                </p:cNvPr>
                <p:cNvCxnSpPr>
                  <a:cxnSpLocks/>
                  <a:endCxn id="54" idx="1"/>
                </p:cNvCxnSpPr>
                <p:nvPr/>
              </p:nvCxnSpPr>
              <p:spPr>
                <a:xfrm>
                  <a:off x="2739631" y="2578784"/>
                  <a:ext cx="636243" cy="6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 Verbindung mit Pfeil 41">
                  <a:extLst>
                    <a:ext uri="{FF2B5EF4-FFF2-40B4-BE49-F238E27FC236}">
                      <a16:creationId xmlns:a16="http://schemas.microsoft.com/office/drawing/2014/main" id="{6A99C002-2D96-7BD1-7303-295E643C2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57698" y="2565506"/>
                  <a:ext cx="471157" cy="2112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feld 42">
                      <a:extLst>
                        <a:ext uri="{FF2B5EF4-FFF2-40B4-BE49-F238E27FC236}">
                          <a16:creationId xmlns:a16="http://schemas.microsoft.com/office/drawing/2014/main" id="{252D5F32-A2E2-2A24-AD17-B6ECA263B3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72949" y="2426385"/>
                      <a:ext cx="441721" cy="1518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oMath>
                        </m:oMathPara>
                      </a14:m>
                      <a:endParaRPr lang="en-US" sz="1600" noProof="0" dirty="0"/>
                    </a:p>
                  </p:txBody>
                </p:sp>
              </mc:Choice>
              <mc:Fallback xmlns="">
                <p:sp>
                  <p:nvSpPr>
                    <p:cNvPr id="43" name="Textfeld 42">
                      <a:extLst>
                        <a:ext uri="{FF2B5EF4-FFF2-40B4-BE49-F238E27FC236}">
                          <a16:creationId xmlns:a16="http://schemas.microsoft.com/office/drawing/2014/main" id="{252D5F32-A2E2-2A24-AD17-B6ECA263B35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72949" y="2426385"/>
                      <a:ext cx="441721" cy="15184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851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feld 43">
                      <a:extLst>
                        <a:ext uri="{FF2B5EF4-FFF2-40B4-BE49-F238E27FC236}">
                          <a16:creationId xmlns:a16="http://schemas.microsoft.com/office/drawing/2014/main" id="{BDE22320-F815-A19C-8BDC-C164616821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43908" y="2425061"/>
                      <a:ext cx="539448" cy="15184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6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oMath>
                        </m:oMathPara>
                      </a14:m>
                      <a:endParaRPr lang="en-US" sz="1600" noProof="0" dirty="0"/>
                    </a:p>
                  </p:txBody>
                </p:sp>
              </mc:Choice>
              <mc:Fallback xmlns="">
                <p:sp>
                  <p:nvSpPr>
                    <p:cNvPr id="44" name="Textfeld 43">
                      <a:extLst>
                        <a:ext uri="{FF2B5EF4-FFF2-40B4-BE49-F238E27FC236}">
                          <a16:creationId xmlns:a16="http://schemas.microsoft.com/office/drawing/2014/main" id="{BDE22320-F815-A19C-8BDC-C164616821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43908" y="2425061"/>
                      <a:ext cx="539448" cy="15184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b="-17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5" name="Gerade Verbindung mit Pfeil 44">
                  <a:extLst>
                    <a:ext uri="{FF2B5EF4-FFF2-40B4-BE49-F238E27FC236}">
                      <a16:creationId xmlns:a16="http://schemas.microsoft.com/office/drawing/2014/main" id="{A7F17E46-E191-69DA-4403-73F79C229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22982" y="2577760"/>
                  <a:ext cx="299826" cy="296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Gerade Verbindung 45">
                  <a:extLst>
                    <a:ext uri="{FF2B5EF4-FFF2-40B4-BE49-F238E27FC236}">
                      <a16:creationId xmlns:a16="http://schemas.microsoft.com/office/drawing/2014/main" id="{A9229256-BFC5-3F37-308F-7AC19CB301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8710" y="2562797"/>
                  <a:ext cx="0" cy="70679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feld 46">
                      <a:extLst>
                        <a:ext uri="{FF2B5EF4-FFF2-40B4-BE49-F238E27FC236}">
                          <a16:creationId xmlns:a16="http://schemas.microsoft.com/office/drawing/2014/main" id="{A0104A8A-4F73-994D-7465-1D647A1D803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71844" y="2768497"/>
                      <a:ext cx="992916" cy="16564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800" b="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US" sz="1800" noProof="0" dirty="0"/>
                    </a:p>
                  </p:txBody>
                </p:sp>
              </mc:Choice>
              <mc:Fallback xmlns="">
                <p:sp>
                  <p:nvSpPr>
                    <p:cNvPr id="47" name="Textfeld 46">
                      <a:extLst>
                        <a:ext uri="{FF2B5EF4-FFF2-40B4-BE49-F238E27FC236}">
                          <a16:creationId xmlns:a16="http://schemas.microsoft.com/office/drawing/2014/main" id="{A0104A8A-4F73-994D-7465-1D647A1D803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71844" y="2768497"/>
                      <a:ext cx="992916" cy="16564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8" name="Gewinkelte Verbindung 47">
                  <a:extLst>
                    <a:ext uri="{FF2B5EF4-FFF2-40B4-BE49-F238E27FC236}">
                      <a16:creationId xmlns:a16="http://schemas.microsoft.com/office/drawing/2014/main" id="{2216C67C-515E-507C-ACEE-2114D064C49E}"/>
                    </a:ext>
                  </a:extLst>
                </p:cNvPr>
                <p:cNvCxnSpPr>
                  <a:cxnSpLocks/>
                  <a:endCxn id="37" idx="4"/>
                </p:cNvCxnSpPr>
                <p:nvPr/>
              </p:nvCxnSpPr>
              <p:spPr>
                <a:xfrm rot="10800000">
                  <a:off x="2636856" y="2623059"/>
                  <a:ext cx="3281859" cy="646538"/>
                </a:xfrm>
                <a:prstGeom prst="bentConnector2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feld 34">
                    <a:extLst>
                      <a:ext uri="{FF2B5EF4-FFF2-40B4-BE49-F238E27FC236}">
                        <a16:creationId xmlns:a16="http://schemas.microsoft.com/office/drawing/2014/main" id="{963727F5-7740-3E5D-0815-A4CE1A1001B7}"/>
                      </a:ext>
                    </a:extLst>
                  </p:cNvPr>
                  <p:cNvSpPr txBox="1"/>
                  <p:nvPr/>
                </p:nvSpPr>
                <p:spPr>
                  <a:xfrm>
                    <a:off x="5722778" y="2127799"/>
                    <a:ext cx="104156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sz="1600" noProof="0" dirty="0"/>
                  </a:p>
                </p:txBody>
              </p:sp>
            </mc:Choice>
            <mc:Fallback xmlns="">
              <p:sp>
                <p:nvSpPr>
                  <p:cNvPr id="35" name="Textfeld 34">
                    <a:extLst>
                      <a:ext uri="{FF2B5EF4-FFF2-40B4-BE49-F238E27FC236}">
                        <a16:creationId xmlns:a16="http://schemas.microsoft.com/office/drawing/2014/main" id="{963727F5-7740-3E5D-0815-A4CE1A1001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22778" y="2127799"/>
                    <a:ext cx="1041569" cy="33855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0C270A4E-7ED1-B933-6AF4-5431126FBCA4}"/>
                      </a:ext>
                    </a:extLst>
                  </p:cNvPr>
                  <p:cNvSpPr txBox="1"/>
                  <p:nvPr/>
                </p:nvSpPr>
                <p:spPr>
                  <a:xfrm>
                    <a:off x="1994751" y="2141802"/>
                    <a:ext cx="658265" cy="1557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sz="1600" noProof="0" dirty="0"/>
                  </a:p>
                </p:txBody>
              </p:sp>
            </mc:Choice>
            <mc:Fallback xmlns=""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0C270A4E-7ED1-B933-6AF4-5431126FBC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4751" y="2141802"/>
                    <a:ext cx="658265" cy="15573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4286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8AF33DE9-A1C9-2629-2DD9-0FF87FE5ECCF}"/>
                </a:ext>
              </a:extLst>
            </p:cNvPr>
            <p:cNvSpPr/>
            <p:nvPr/>
          </p:nvSpPr>
          <p:spPr>
            <a:xfrm>
              <a:off x="5357959" y="3019167"/>
              <a:ext cx="858049" cy="41599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3BEAEF49-B759-63DC-8DC0-2948B55B97BC}"/>
                    </a:ext>
                  </a:extLst>
                </p:cNvPr>
                <p:cNvSpPr txBox="1"/>
                <p:nvPr/>
              </p:nvSpPr>
              <p:spPr>
                <a:xfrm>
                  <a:off x="5493554" y="2982789"/>
                  <a:ext cx="516360" cy="49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f>
                          <m:f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3BEAEF49-B759-63DC-8DC0-2948B55B9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3554" y="2982789"/>
                  <a:ext cx="516360" cy="497124"/>
                </a:xfrm>
                <a:prstGeom prst="rect">
                  <a:avLst/>
                </a:prstGeom>
                <a:blipFill>
                  <a:blip r:embed="rId18"/>
                  <a:stretch>
                    <a:fillRect r="-714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FCC95C6A-D321-7594-6BF8-54831F415A8B}"/>
                </a:ext>
              </a:extLst>
            </p:cNvPr>
            <p:cNvSpPr/>
            <p:nvPr/>
          </p:nvSpPr>
          <p:spPr>
            <a:xfrm>
              <a:off x="5357959" y="2411131"/>
              <a:ext cx="858049" cy="41599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7539CC49-376C-A198-1934-B6288513B809}"/>
                    </a:ext>
                  </a:extLst>
                </p:cNvPr>
                <p:cNvSpPr txBox="1"/>
                <p:nvPr/>
              </p:nvSpPr>
              <p:spPr>
                <a:xfrm>
                  <a:off x="5592268" y="2465241"/>
                  <a:ext cx="41492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1" name="Textfeld 60">
                  <a:extLst>
                    <a:ext uri="{FF2B5EF4-FFF2-40B4-BE49-F238E27FC236}">
                      <a16:creationId xmlns:a16="http://schemas.microsoft.com/office/drawing/2014/main" id="{7539CC49-376C-A198-1934-B6288513B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2268" y="2465241"/>
                  <a:ext cx="414921" cy="307777"/>
                </a:xfrm>
                <a:prstGeom prst="rect">
                  <a:avLst/>
                </a:prstGeom>
                <a:blipFill>
                  <a:blip r:embed="rId19"/>
                  <a:stretch>
                    <a:fillRect t="-4000" r="-9091" b="-2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Gewinkelte Verbindung 62">
              <a:extLst>
                <a:ext uri="{FF2B5EF4-FFF2-40B4-BE49-F238E27FC236}">
                  <a16:creationId xmlns:a16="http://schemas.microsoft.com/office/drawing/2014/main" id="{C143BFD5-214E-5655-5BEA-ED4395265270}"/>
                </a:ext>
              </a:extLst>
            </p:cNvPr>
            <p:cNvCxnSpPr>
              <a:endCxn id="60" idx="1"/>
            </p:cNvCxnSpPr>
            <p:nvPr/>
          </p:nvCxnSpPr>
          <p:spPr>
            <a:xfrm rot="5400000" flipH="1" flipV="1">
              <a:off x="4892788" y="2766180"/>
              <a:ext cx="612220" cy="31812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AF697956-3BBE-192A-7E18-2E8E5205AB27}"/>
                </a:ext>
              </a:extLst>
            </p:cNvPr>
            <p:cNvSpPr/>
            <p:nvPr/>
          </p:nvSpPr>
          <p:spPr>
            <a:xfrm>
              <a:off x="5357959" y="3666721"/>
              <a:ext cx="858049" cy="415999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feld 64">
                  <a:extLst>
                    <a:ext uri="{FF2B5EF4-FFF2-40B4-BE49-F238E27FC236}">
                      <a16:creationId xmlns:a16="http://schemas.microsoft.com/office/drawing/2014/main" id="{5FD7076B-4D84-6402-E645-21A9D764DEE4}"/>
                    </a:ext>
                  </a:extLst>
                </p:cNvPr>
                <p:cNvSpPr txBox="1"/>
                <p:nvPr/>
              </p:nvSpPr>
              <p:spPr>
                <a:xfrm>
                  <a:off x="5547383" y="3712745"/>
                  <a:ext cx="51475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noProof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noProof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5" name="Textfeld 64">
                  <a:extLst>
                    <a:ext uri="{FF2B5EF4-FFF2-40B4-BE49-F238E27FC236}">
                      <a16:creationId xmlns:a16="http://schemas.microsoft.com/office/drawing/2014/main" id="{5FD7076B-4D84-6402-E645-21A9D764DE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7383" y="3712745"/>
                  <a:ext cx="514756" cy="307777"/>
                </a:xfrm>
                <a:prstGeom prst="rect">
                  <a:avLst/>
                </a:prstGeom>
                <a:blipFill>
                  <a:blip r:embed="rId20"/>
                  <a:stretch>
                    <a:fillRect t="-4000" r="-4762" b="-2000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Gewinkelte Verbindung 66">
              <a:extLst>
                <a:ext uri="{FF2B5EF4-FFF2-40B4-BE49-F238E27FC236}">
                  <a16:creationId xmlns:a16="http://schemas.microsoft.com/office/drawing/2014/main" id="{C3D1B17A-C5A6-43FA-69A1-BBFA90038CD0}"/>
                </a:ext>
              </a:extLst>
            </p:cNvPr>
            <p:cNvCxnSpPr>
              <a:endCxn id="64" idx="1"/>
            </p:cNvCxnSpPr>
            <p:nvPr/>
          </p:nvCxnSpPr>
          <p:spPr>
            <a:xfrm rot="16200000" flipH="1">
              <a:off x="4873909" y="3390670"/>
              <a:ext cx="649979" cy="31812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93E9F79-3954-A3A9-4DF1-C4E8044A84E3}"/>
                </a:ext>
              </a:extLst>
            </p:cNvPr>
            <p:cNvSpPr/>
            <p:nvPr/>
          </p:nvSpPr>
          <p:spPr>
            <a:xfrm>
              <a:off x="6490558" y="3111535"/>
              <a:ext cx="216000" cy="215999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noProof="0" dirty="0"/>
                <a:t>c</a:t>
              </a:r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9DD8740A-FAE2-1447-0D37-D3F2D5597C86}"/>
                </a:ext>
              </a:extLst>
            </p:cNvPr>
            <p:cNvCxnSpPr>
              <a:cxnSpLocks/>
              <a:endCxn id="70" idx="2"/>
            </p:cNvCxnSpPr>
            <p:nvPr/>
          </p:nvCxnSpPr>
          <p:spPr>
            <a:xfrm flipV="1">
              <a:off x="6208277" y="3219535"/>
              <a:ext cx="282281" cy="43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Gewinkelte Verbindung 74">
              <a:extLst>
                <a:ext uri="{FF2B5EF4-FFF2-40B4-BE49-F238E27FC236}">
                  <a16:creationId xmlns:a16="http://schemas.microsoft.com/office/drawing/2014/main" id="{183B9164-BD1A-68B1-A394-5030CE08A99C}"/>
                </a:ext>
              </a:extLst>
            </p:cNvPr>
            <p:cNvCxnSpPr>
              <a:stCxn id="60" idx="3"/>
              <a:endCxn id="70" idx="0"/>
            </p:cNvCxnSpPr>
            <p:nvPr/>
          </p:nvCxnSpPr>
          <p:spPr>
            <a:xfrm>
              <a:off x="6216008" y="2619131"/>
              <a:ext cx="382550" cy="492404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Gewinkelte Verbindung 76">
              <a:extLst>
                <a:ext uri="{FF2B5EF4-FFF2-40B4-BE49-F238E27FC236}">
                  <a16:creationId xmlns:a16="http://schemas.microsoft.com/office/drawing/2014/main" id="{072399C2-53A8-675A-553C-93BE68AB1581}"/>
                </a:ext>
              </a:extLst>
            </p:cNvPr>
            <p:cNvCxnSpPr>
              <a:stCxn id="64" idx="3"/>
              <a:endCxn id="70" idx="4"/>
            </p:cNvCxnSpPr>
            <p:nvPr/>
          </p:nvCxnSpPr>
          <p:spPr>
            <a:xfrm flipV="1">
              <a:off x="6216008" y="3327534"/>
              <a:ext cx="382550" cy="54718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0" name="Grafik 79" descr="Ein Bild, das Reihe, Diagramm, Schrift, Text enthält.&#10;&#10;KI-generierte Inhalte können fehlerhaft sein.">
            <a:extLst>
              <a:ext uri="{FF2B5EF4-FFF2-40B4-BE49-F238E27FC236}">
                <a16:creationId xmlns:a16="http://schemas.microsoft.com/office/drawing/2014/main" id="{1DBD5A34-E300-E376-3291-7C66653A977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2700" y="2118330"/>
            <a:ext cx="1967911" cy="1529315"/>
          </a:xfrm>
          <a:prstGeom prst="rect">
            <a:avLst/>
          </a:prstGeom>
        </p:spPr>
      </p:pic>
      <p:pic>
        <p:nvPicPr>
          <p:cNvPr id="82" name="Grafik 81" descr="Ein Bild, das Reihe, Tex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182A7DF6-83B9-7089-DF09-8CDEB034234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59507" y="2112446"/>
            <a:ext cx="2069378" cy="1599342"/>
          </a:xfrm>
          <a:prstGeom prst="rect">
            <a:avLst/>
          </a:prstGeom>
        </p:spPr>
      </p:pic>
      <p:pic>
        <p:nvPicPr>
          <p:cNvPr id="84" name="Grafik 83" descr="Ein Bild, das Text, Reihe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8DCA8C29-97DA-EDC4-E290-3204632EC71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13683" y="3581196"/>
            <a:ext cx="1669176" cy="1419071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43BDC29E-66A2-9B03-815B-335EEF516800}"/>
              </a:ext>
            </a:extLst>
          </p:cNvPr>
          <p:cNvSpPr txBox="1"/>
          <p:nvPr/>
        </p:nvSpPr>
        <p:spPr>
          <a:xfrm>
            <a:off x="1813683" y="4907934"/>
            <a:ext cx="9140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 err="1"/>
              <a:t>graphs</a:t>
            </a:r>
            <a:r>
              <a:rPr lang="de-DE" sz="600" dirty="0"/>
              <a:t> </a:t>
            </a:r>
            <a:r>
              <a:rPr lang="de-DE" sz="600" dirty="0" err="1"/>
              <a:t>from</a:t>
            </a:r>
            <a:r>
              <a:rPr lang="de-DE" sz="600" dirty="0"/>
              <a:t> Joel Tan</a:t>
            </a:r>
          </a:p>
        </p:txBody>
      </p:sp>
    </p:spTree>
    <p:extLst>
      <p:ext uri="{BB962C8B-B14F-4D97-AF65-F5344CB8AC3E}">
        <p14:creationId xmlns:p14="http://schemas.microsoft.com/office/powerpoint/2010/main" val="55895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8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E1C0B0-9A69-B119-75CC-1668D103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PID Effects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1FF940D-9B84-F4D0-F4D1-2B1FA58E21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039" y="1389024"/>
                <a:ext cx="3086100" cy="326350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noProof="0" dirty="0"/>
                  <a:t>Proportional Control: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600" noProof="0" dirty="0"/>
              </a:p>
              <a:p>
                <a:r>
                  <a:rPr lang="en-US" sz="1400" noProof="0" dirty="0"/>
                  <a:t>Decrease the steady-state error</a:t>
                </a:r>
              </a:p>
              <a:p>
                <a:r>
                  <a:rPr lang="en-US" sz="1400" noProof="0" dirty="0"/>
                  <a:t>Increase the closed-loop bandwidth</a:t>
                </a:r>
              </a:p>
              <a:p>
                <a:r>
                  <a:rPr lang="en-US" sz="1400" noProof="0" dirty="0"/>
                  <a:t>Increase sensitivity to noise</a:t>
                </a:r>
              </a:p>
              <a:p>
                <a:r>
                  <a:rPr lang="en-US" sz="1400" noProof="0" dirty="0"/>
                  <a:t>Can reduce stability margins for higher-order systems (2nd order or more)</a:t>
                </a:r>
              </a:p>
              <a:p>
                <a:endParaRPr lang="en-US" noProof="0" dirty="0"/>
              </a:p>
              <a:p>
                <a:endParaRPr lang="en-US" noProof="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1FF940D-9B84-F4D0-F4D1-2B1FA58E2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039" y="1389024"/>
                <a:ext cx="3086100" cy="3263504"/>
              </a:xfrm>
              <a:blipFill>
                <a:blip r:embed="rId2"/>
                <a:stretch>
                  <a:fillRect l="-1230" t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AA24E2-CBFC-7800-433F-5ABFF3D34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FBEE2E-B04C-3A72-FA25-148E99E3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6ABBC159-6DAA-C48F-52D7-F8921D1ACC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309124" y="1301652"/>
                <a:ext cx="2727867" cy="32635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 noProof="0" dirty="0"/>
                  <a:t>Integral Control: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6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f>
                      <m:fPr>
                        <m:ctrlPr>
                          <a:rPr lang="en-US" sz="16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1600" noProof="0" dirty="0"/>
              </a:p>
              <a:p>
                <a:pPr>
                  <a:buClrTx/>
                </a:pPr>
                <a:r>
                  <a:rPr lang="en-US" sz="1400" noProof="0" dirty="0"/>
                  <a:t>Decrease the steady-state error</a:t>
                </a:r>
              </a:p>
              <a:p>
                <a:pPr>
                  <a:buClrTx/>
                </a:pPr>
                <a:r>
                  <a:rPr lang="en-US" sz="1400" noProof="0" dirty="0"/>
                  <a:t>Increase the closed-loop bandwidth</a:t>
                </a:r>
              </a:p>
              <a:p>
                <a:pPr>
                  <a:buClrTx/>
                </a:pPr>
                <a:r>
                  <a:rPr lang="en-US" sz="1400" noProof="0" dirty="0"/>
                  <a:t>Increase sensitivity to noise</a:t>
                </a:r>
              </a:p>
              <a:p>
                <a:pPr>
                  <a:buClrTx/>
                </a:pPr>
                <a:r>
                  <a:rPr lang="en-US" sz="1400" noProof="0" dirty="0"/>
                  <a:t>Can reduce stability margins for higher-order systems (2nd order or more)</a:t>
                </a:r>
              </a:p>
              <a:p>
                <a:pPr>
                  <a:buClrTx/>
                </a:pPr>
                <a:endParaRPr lang="en-US" noProof="0" dirty="0"/>
              </a:p>
              <a:p>
                <a:pPr>
                  <a:buClrTx/>
                </a:pPr>
                <a:endParaRPr lang="en-US" noProof="0" dirty="0"/>
              </a:p>
            </p:txBody>
          </p:sp>
        </mc:Choice>
        <mc:Fallback xmlns=""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6ABBC159-6DAA-C48F-52D7-F8921D1AC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124" y="1301652"/>
                <a:ext cx="2727867" cy="3263504"/>
              </a:xfrm>
              <a:prstGeom prst="rect">
                <a:avLst/>
              </a:prstGeom>
              <a:blipFill>
                <a:blip r:embed="rId3"/>
                <a:stretch>
                  <a:fillRect l="-926" r="-9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Inhaltsplatzhalter 2">
                <a:extLst>
                  <a:ext uri="{FF2B5EF4-FFF2-40B4-BE49-F238E27FC236}">
                    <a16:creationId xmlns:a16="http://schemas.microsoft.com/office/drawing/2014/main" id="{155165E6-2318-FB76-77F8-D1323DA489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55977" y="1382751"/>
                <a:ext cx="2883984" cy="32635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400" noProof="0" dirty="0"/>
                  <a:t>Derivative Control: </a:t>
                </a:r>
                <a14:m>
                  <m:oMath xmlns:m="http://schemas.openxmlformats.org/officeDocument/2006/math"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14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noProof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40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1" noProof="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sz="1400" b="0" i="1" noProof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400" noProof="0" dirty="0"/>
              </a:p>
              <a:p>
                <a:r>
                  <a:rPr lang="en-US" sz="1400" noProof="0" dirty="0"/>
                  <a:t>Reduce overshooting, increase damping</a:t>
                </a:r>
              </a:p>
              <a:p>
                <a:r>
                  <a:rPr lang="en-US" sz="1400" noProof="0" dirty="0"/>
                  <a:t>Improves stability margins</a:t>
                </a:r>
              </a:p>
              <a:p>
                <a:r>
                  <a:rPr lang="en-US" sz="1400" noProof="0" dirty="0"/>
                  <a:t>Increase sensitivity to noise</a:t>
                </a:r>
              </a:p>
              <a:p>
                <a:pPr>
                  <a:buClrTx/>
                </a:pPr>
                <a:endParaRPr lang="en-US" sz="1400" noProof="0" dirty="0"/>
              </a:p>
              <a:p>
                <a:pPr>
                  <a:buClrTx/>
                </a:pPr>
                <a:endParaRPr lang="en-US" sz="1400" noProof="0" dirty="0"/>
              </a:p>
            </p:txBody>
          </p:sp>
        </mc:Choice>
        <mc:Fallback xmlns="">
          <p:sp>
            <p:nvSpPr>
              <p:cNvPr id="7" name="Inhaltsplatzhalter 2">
                <a:extLst>
                  <a:ext uri="{FF2B5EF4-FFF2-40B4-BE49-F238E27FC236}">
                    <a16:creationId xmlns:a16="http://schemas.microsoft.com/office/drawing/2014/main" id="{155165E6-2318-FB76-77F8-D1323DA48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77" y="1382751"/>
                <a:ext cx="2883984" cy="3263504"/>
              </a:xfrm>
              <a:prstGeom prst="rect">
                <a:avLst/>
              </a:prstGeom>
              <a:blipFill>
                <a:blip r:embed="rId4"/>
                <a:stretch>
                  <a:fillRect l="-439" t="-7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939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nhaltsplatzhalter 6" descr="Ein Bild, das Text, Schrift, Reihe, Handschrift enthält.&#10;&#10;KI-generierte Inhalte können fehlerhaft sein.">
            <a:extLst>
              <a:ext uri="{FF2B5EF4-FFF2-40B4-BE49-F238E27FC236}">
                <a16:creationId xmlns:a16="http://schemas.microsoft.com/office/drawing/2014/main" id="{4220E2C8-8F59-EFEF-0A16-822529223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265" r="62100" b="14494"/>
          <a:stretch>
            <a:fillRect/>
          </a:stretch>
        </p:blipFill>
        <p:spPr>
          <a:xfrm>
            <a:off x="5359940" y="3780487"/>
            <a:ext cx="1990929" cy="5932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DAAD27D-8A89-0C85-0D2E-09677A32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315"/>
            <a:ext cx="7886700" cy="994172"/>
          </a:xfrm>
        </p:spPr>
        <p:txBody>
          <a:bodyPr/>
          <a:lstStyle/>
          <a:p>
            <a:r>
              <a:rPr lang="en-US" noProof="0" dirty="0"/>
              <a:t>Tips for Problem Set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7000160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800" b="1" i="1" noProof="0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1800" b="1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Inhaltsplatzhalter 5">
                <a:extLst>
                  <a:ext uri="{FF2B5EF4-FFF2-40B4-BE49-F238E27FC236}">
                    <a16:creationId xmlns:a16="http://schemas.microsoft.com/office/drawing/2014/main" id="{93899BAA-8742-D882-B584-EDA0E722F3F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7000160"/>
                  </p:ext>
                </p:extLst>
              </p:nvPr>
            </p:nvGraphicFramePr>
            <p:xfrm>
              <a:off x="628650" y="963383"/>
              <a:ext cx="7886700" cy="994174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396255220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4920456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78263022"/>
                        </a:ext>
                      </a:extLst>
                    </a:gridCol>
                  </a:tblGrid>
                  <a:tr h="4970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Easy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Medium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noProof="0" dirty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a:t>Hard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6955868"/>
                      </a:ext>
                    </a:extLst>
                  </a:tr>
                  <a:tr h="497087">
                    <a:tc>
                      <a:txBody>
                        <a:bodyPr/>
                        <a:lstStyle/>
                        <a:p>
                          <a:pPr algn="ctr"/>
                          <a:endParaRPr lang="en-US" noProof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102500" r="-100481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1" noProof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76017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8B719D-70FB-7DAE-35F1-4131F7F40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458931-4B41-5370-0EFE-FCA313A3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/>
              <p:nvPr/>
            </p:nvSpPr>
            <p:spPr>
              <a:xfrm>
                <a:off x="217251" y="2202418"/>
                <a:ext cx="4033736" cy="718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1(a):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90</m:t>
                        </m:r>
                      </m:sub>
                    </m:sSub>
                    <m:r>
                      <a:rPr lang="en-US" sz="160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d>
                      <m:dPr>
                        <m:ctrlP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0.14+0.4</m:t>
                        </m:r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𝜁</m:t>
                        </m:r>
                      </m:e>
                    </m:d>
                    <m:f>
                      <m:fPr>
                        <m:ctrlP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Pr>
                      <m:num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en-US" sz="16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sz="16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1600" i="1" noProof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 Apply the visualization of time-domain specifications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999B5A6-5CE1-678B-600B-D8284012A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1" y="2202418"/>
                <a:ext cx="4033736" cy="718530"/>
              </a:xfrm>
              <a:prstGeom prst="rect">
                <a:avLst/>
              </a:prstGeom>
              <a:blipFill>
                <a:blip r:embed="rId4"/>
                <a:stretch>
                  <a:fillRect l="-943" r="-943" b="-105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17">
            <a:extLst>
              <a:ext uri="{FF2B5EF4-FFF2-40B4-BE49-F238E27FC236}">
                <a16:creationId xmlns:a16="http://schemas.microsoft.com/office/drawing/2014/main" id="{2393670F-C058-9152-541B-F75E93C8FDAF}"/>
              </a:ext>
            </a:extLst>
          </p:cNvPr>
          <p:cNvSpPr/>
          <p:nvPr/>
        </p:nvSpPr>
        <p:spPr>
          <a:xfrm>
            <a:off x="5557737" y="29241"/>
            <a:ext cx="3586264" cy="733834"/>
          </a:xfrm>
          <a:prstGeom prst="roundRect">
            <a:avLst>
              <a:gd name="adj" fmla="val 1264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noProof="0" dirty="0">
                <a:latin typeface="Segoe UI" panose="020B0502040204020203" pitchFamily="34" charset="0"/>
                <a:cs typeface="Segoe UI" panose="020B0502040204020203" pitchFamily="34" charset="0"/>
              </a:rPr>
              <a:t>I personally would recommend solving at least the problems marked red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EB67D5E-482D-3C07-DA4D-F09375729EFB}"/>
              </a:ext>
            </a:extLst>
          </p:cNvPr>
          <p:cNvSpPr txBox="1"/>
          <p:nvPr/>
        </p:nvSpPr>
        <p:spPr>
          <a:xfrm>
            <a:off x="217251" y="2920948"/>
            <a:ext cx="4033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1(b):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Apply Root Locus form to TF and sketch Root Locus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36554E0-01E9-A461-CDFE-08389AC3B891}"/>
              </a:ext>
            </a:extLst>
          </p:cNvPr>
          <p:cNvSpPr txBox="1"/>
          <p:nvPr/>
        </p:nvSpPr>
        <p:spPr>
          <a:xfrm>
            <a:off x="217251" y="3458418"/>
            <a:ext cx="4033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1(c):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check if T(s) stable, messy calculations, loot at </a:t>
            </a:r>
            <a:r>
              <a:rPr lang="en-US" sz="1600" noProof="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solutionn</a:t>
            </a:r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A03E810-F050-FF80-B075-E7537BDBEB9F}"/>
                  </a:ext>
                </a:extLst>
              </p:cNvPr>
              <p:cNvSpPr txBox="1"/>
              <p:nvPr/>
            </p:nvSpPr>
            <p:spPr>
              <a:xfrm>
                <a:off x="217251" y="3995888"/>
                <a:ext cx="4033736" cy="849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noProof="0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2(a)-(c):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Remember</m:t>
                    </m:r>
                    <m:r>
                      <m:rPr>
                        <m:nor/>
                      </m:rPr>
                      <a:rPr lang="en-US" sz="160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sSub>
                      <m:sSubPr>
                        <m:ctrlP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16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𝑎𝑝𝑝𝑟𝑜𝑥</m:t>
                        </m:r>
                      </m:sub>
                    </m:sSub>
                    <m:d>
                      <m:dPr>
                        <m:ctrlP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0</m:t>
                        </m:r>
                      </m:e>
                    </m:d>
                    <m:r>
                      <a:rPr lang="en-US" sz="1600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en-US" sz="1600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𝐺</m:t>
                    </m:r>
                    <m:d>
                      <m:dPr>
                        <m:ctrlPr>
                          <a:rPr lang="en-US" sz="16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sz="1600" i="1" noProof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6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,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e>
                      <m:sub>
                        <m:r>
                          <a:rPr lang="en-US" sz="160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16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by comparing poles from approximated TF with poles at </a:t>
                </a:r>
                <a14:m>
                  <m:oMath xmlns:m="http://schemas.openxmlformats.org/officeDocument/2006/math">
                    <m:r>
                      <a:rPr lang="en-US" sz="160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−5 ±</m:t>
                    </m:r>
                    <m:r>
                      <a:rPr lang="en-US" sz="160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𝑗</m:t>
                    </m:r>
                  </m:oMath>
                </a14:m>
                <a:r>
                  <a:rPr lang="en-US" sz="16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A03E810-F050-FF80-B075-E7537BDBE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51" y="3995888"/>
                <a:ext cx="4033736" cy="849976"/>
              </a:xfrm>
              <a:prstGeom prst="rect">
                <a:avLst/>
              </a:prstGeom>
              <a:blipFill>
                <a:blip r:embed="rId5"/>
                <a:stretch>
                  <a:fillRect l="-943" t="-2941" b="-7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feld 11">
            <a:extLst>
              <a:ext uri="{FF2B5EF4-FFF2-40B4-BE49-F238E27FC236}">
                <a16:creationId xmlns:a16="http://schemas.microsoft.com/office/drawing/2014/main" id="{3E5A3146-53EA-200F-0340-0261A1EA8570}"/>
              </a:ext>
            </a:extLst>
          </p:cNvPr>
          <p:cNvSpPr txBox="1"/>
          <p:nvPr/>
        </p:nvSpPr>
        <p:spPr>
          <a:xfrm>
            <a:off x="4572000" y="2180393"/>
            <a:ext cx="4033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2(d):</a:t>
            </a:r>
            <a:r>
              <a:rPr lang="en-US" sz="16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check solutions for the plot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39743D9-F1F9-79C6-4D57-083C97C64031}"/>
              </a:ext>
            </a:extLst>
          </p:cNvPr>
          <p:cNvSpPr txBox="1"/>
          <p:nvPr/>
        </p:nvSpPr>
        <p:spPr>
          <a:xfrm>
            <a:off x="4549707" y="2518947"/>
            <a:ext cx="4033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3(a):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here again remember the visualization of the time-domain specifications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65E07AE-49AD-C2C1-3B5F-31C89DD9262C}"/>
              </a:ext>
            </a:extLst>
          </p:cNvPr>
          <p:cNvSpPr txBox="1"/>
          <p:nvPr/>
        </p:nvSpPr>
        <p:spPr>
          <a:xfrm>
            <a:off x="4549707" y="3254915"/>
            <a:ext cx="4033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3(b):</a:t>
            </a:r>
            <a:r>
              <a:rPr lang="en-US" sz="1600" b="1" noProof="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the time-domain specifications, remember how a 2</a:t>
            </a:r>
            <a:r>
              <a:rPr lang="en-US" sz="1600" baseline="300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nd</a:t>
            </a:r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order system is written:</a:t>
            </a:r>
          </a:p>
          <a:p>
            <a:endParaRPr lang="en-US" sz="1600" noProof="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600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 unsure check solutions</a:t>
            </a:r>
          </a:p>
        </p:txBody>
      </p:sp>
    </p:spTree>
    <p:extLst>
      <p:ext uri="{BB962C8B-B14F-4D97-AF65-F5344CB8AC3E}">
        <p14:creationId xmlns:p14="http://schemas.microsoft.com/office/powerpoint/2010/main" val="20372889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E65319-C120-C099-FB22-07576EC8C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Questions?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CABF65E-A2BE-C5A3-A238-B2C34F5C3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F77125-0866-A1E0-1A75-FABC1474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004AFB-473A-87EE-195F-BED0DD2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721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en-US" noProof="0" dirty="0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Too fast? Too slow? Less theory, more exercises?</a:t>
            </a:r>
          </a:p>
          <a:p>
            <a:r>
              <a:rPr lang="en-US" noProof="0" dirty="0"/>
              <a:t>I would appreciate your feedback. Please let me know.</a:t>
            </a:r>
          </a:p>
          <a:p>
            <a:r>
              <a:rPr lang="en-US" noProof="0" dirty="0">
                <a:hlinkClick r:id="rId2"/>
              </a:rPr>
              <a:t>https://docs.google.com/forms/d/e/1FAIpQLSdHl0kjWo63aNzDkAV0cnmQadCAj5L0D7v7aSh0BK7BBdEgpA/viewform?usp=header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US" kern="1200" noProof="0" dirty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1_Week5_kvaratharaja_annotated" id="{1325B490-456F-614D-BFB2-E826360AF242}" vid="{3DDC5642-7B7C-754C-809D-713C14150B8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1415</Words>
  <Application>Microsoft Macintosh PowerPoint</Application>
  <PresentationFormat>Bildschirmpräsentation (16:9)</PresentationFormat>
  <Paragraphs>315</Paragraphs>
  <Slides>26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5" baseType="lpstr">
      <vt:lpstr>Arial</vt:lpstr>
      <vt:lpstr>Calibri</vt:lpstr>
      <vt:lpstr>Cambria Math</vt:lpstr>
      <vt:lpstr>Segoe UI Semibold</vt:lpstr>
      <vt:lpstr>Segoe UI Black</vt:lpstr>
      <vt:lpstr>Segoe UI</vt:lpstr>
      <vt:lpstr>Segoe UI Light</vt:lpstr>
      <vt:lpstr>Quattrocento Sans</vt:lpstr>
      <vt:lpstr>Office</vt:lpstr>
      <vt:lpstr>CS1 Week 8 Empty</vt:lpstr>
      <vt:lpstr>Recap Last Week</vt:lpstr>
      <vt:lpstr>Quiz 1</vt:lpstr>
      <vt:lpstr>Quiz 2</vt:lpstr>
      <vt:lpstr>Quiz 3</vt:lpstr>
      <vt:lpstr>Course Schedule</vt:lpstr>
      <vt:lpstr>Today</vt:lpstr>
      <vt:lpstr>1. System Specifications</vt:lpstr>
      <vt:lpstr>Introduction</vt:lpstr>
      <vt:lpstr>Steady-State Error</vt:lpstr>
      <vt:lpstr>Integrators</vt:lpstr>
      <vt:lpstr>PowerPoint-Präsentation</vt:lpstr>
      <vt:lpstr>2. Time-Domain Specifications</vt:lpstr>
      <vt:lpstr>Time-Domain Specifications</vt:lpstr>
      <vt:lpstr>Step Response of a 1st Order System</vt:lpstr>
      <vt:lpstr>Step Response of a 2nd Order System</vt:lpstr>
      <vt:lpstr>Time-Domain Specifications Visualization</vt:lpstr>
      <vt:lpstr>Dominant Poles Approximation</vt:lpstr>
      <vt:lpstr>Dominant Poles Approximation</vt:lpstr>
      <vt:lpstr>Dominant Poles Approximation</vt:lpstr>
      <vt:lpstr>3. PID-Control</vt:lpstr>
      <vt:lpstr>PID Control</vt:lpstr>
      <vt:lpstr>PID Effects</vt:lpstr>
      <vt:lpstr>Tips for Problem Set 7</vt:lpstr>
      <vt:lpstr>Questions?</vt:lpstr>
      <vt:lpstr>Feedback?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 Week 6 Annotated</dc:title>
  <dc:creator>Varatharajan  Kissan</dc:creator>
  <cp:lastModifiedBy>Varatharajan  Kissan</cp:lastModifiedBy>
  <cp:revision>9</cp:revision>
  <dcterms:created xsi:type="dcterms:W3CDTF">2025-10-18T14:01:04Z</dcterms:created>
  <dcterms:modified xsi:type="dcterms:W3CDTF">2025-11-07T08:17:29Z</dcterms:modified>
</cp:coreProperties>
</file>