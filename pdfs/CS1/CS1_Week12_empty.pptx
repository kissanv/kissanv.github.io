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0"/>
  </p:notesMasterIdLst>
  <p:handoutMasterIdLst>
    <p:handoutMasterId r:id="rId31"/>
  </p:handoutMasterIdLst>
  <p:sldIdLst>
    <p:sldId id="256" r:id="rId2"/>
    <p:sldId id="1357" r:id="rId3"/>
    <p:sldId id="1052" r:id="rId4"/>
    <p:sldId id="1256" r:id="rId5"/>
    <p:sldId id="1342" r:id="rId6"/>
    <p:sldId id="1360" r:id="rId7"/>
    <p:sldId id="1344" r:id="rId8"/>
    <p:sldId id="1363" r:id="rId9"/>
    <p:sldId id="1070" r:id="rId10"/>
    <p:sldId id="257" r:id="rId11"/>
    <p:sldId id="1097" r:id="rId12"/>
    <p:sldId id="1345" r:id="rId13"/>
    <p:sldId id="1346" r:id="rId14"/>
    <p:sldId id="1348" r:id="rId15"/>
    <p:sldId id="1351" r:id="rId16"/>
    <p:sldId id="1349" r:id="rId17"/>
    <p:sldId id="1350" r:id="rId18"/>
    <p:sldId id="1358" r:id="rId19"/>
    <p:sldId id="1255" r:id="rId20"/>
    <p:sldId id="1352" r:id="rId21"/>
    <p:sldId id="1353" r:id="rId22"/>
    <p:sldId id="1354" r:id="rId23"/>
    <p:sldId id="1355" r:id="rId24"/>
    <p:sldId id="1356" r:id="rId25"/>
    <p:sldId id="1362" r:id="rId26"/>
    <p:sldId id="1171" r:id="rId27"/>
    <p:sldId id="1118" r:id="rId28"/>
    <p:sldId id="1067" r:id="rId2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Quattrocento Sans" panose="020B0502050000020003" pitchFamily="34" charset="0"/>
      <p:regular r:id="rId33"/>
      <p:bold r:id="rId34"/>
      <p:italic r:id="rId35"/>
      <p:boldItalic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  <p:embeddedFont>
      <p:font typeface="Segoe UI Black" panose="020B0A02040204020203" pitchFamily="34" charset="0"/>
      <p:bold r:id="rId41"/>
      <p:italic r:id="rId42"/>
      <p:boldItalic r:id="rId43"/>
    </p:embeddedFont>
    <p:embeddedFont>
      <p:font typeface="Segoe UI Light" panose="020B0502040204020203" pitchFamily="34" charset="0"/>
      <p:regular r:id="rId44"/>
      <p:italic r:id="rId45"/>
    </p:embeddedFont>
    <p:embeddedFont>
      <p:font typeface="Segoe UI Semibold" panose="020B0702040204020203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357"/>
            <p14:sldId id="1052"/>
            <p14:sldId id="1256"/>
            <p14:sldId id="1342"/>
            <p14:sldId id="1360"/>
            <p14:sldId id="1344"/>
            <p14:sldId id="1363"/>
            <p14:sldId id="1070"/>
            <p14:sldId id="257"/>
          </p14:sldIdLst>
        </p14:section>
        <p14:section name="Time-delays" id="{1FBDD870-616A-2043-9AB2-93A2A117B0C5}">
          <p14:sldIdLst>
            <p14:sldId id="1097"/>
            <p14:sldId id="1345"/>
            <p14:sldId id="1346"/>
            <p14:sldId id="1348"/>
            <p14:sldId id="1351"/>
            <p14:sldId id="1349"/>
            <p14:sldId id="1350"/>
            <p14:sldId id="1358"/>
          </p14:sldIdLst>
        </p14:section>
        <p14:section name="Cascaded Control" id="{99F6F273-773A-6046-92C4-2E3701EFB2E9}">
          <p14:sldIdLst>
            <p14:sldId id="1255"/>
            <p14:sldId id="1352"/>
            <p14:sldId id="1353"/>
          </p14:sldIdLst>
        </p14:section>
        <p14:section name="Non-Linearities" id="{2F85C271-7C87-7C43-ACBB-31FF04DF8260}">
          <p14:sldIdLst>
            <p14:sldId id="1354"/>
            <p14:sldId id="1355"/>
            <p14:sldId id="1356"/>
            <p14:sldId id="1362"/>
          </p14:sldIdLst>
        </p14:section>
        <p14:section name="Summary &amp; Problem Sets" id="{BCE4D2BE-C8A5-E54A-85DF-74588FB6A961}">
          <p14:sldIdLst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F55"/>
    <a:srgbClr val="E7E7E8"/>
    <a:srgbClr val="CCCCCC"/>
    <a:srgbClr val="0708F5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09"/>
    <p:restoredTop sz="94668"/>
  </p:normalViewPr>
  <p:slideViewPr>
    <p:cSldViewPr snapToGrid="0">
      <p:cViewPr>
        <p:scale>
          <a:sx n="183" d="100"/>
          <a:sy n="183" d="100"/>
        </p:scale>
        <p:origin x="816" y="2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47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3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30.png"/><Relationship Id="rId9" Type="http://schemas.openxmlformats.org/officeDocument/2006/relationships/image" Target="../media/image1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5.png"/><Relationship Id="rId5" Type="http://schemas.openxmlformats.org/officeDocument/2006/relationships/image" Target="../media/image220.png"/><Relationship Id="rId10" Type="http://schemas.openxmlformats.org/officeDocument/2006/relationships/image" Target="../media/image24.png"/><Relationship Id="rId4" Type="http://schemas.openxmlformats.org/officeDocument/2006/relationships/image" Target="../media/image210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22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400.png"/><Relationship Id="rId3" Type="http://schemas.openxmlformats.org/officeDocument/2006/relationships/image" Target="../media/image4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380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5" Type="http://schemas.openxmlformats.org/officeDocument/2006/relationships/image" Target="../media/image42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Relationship Id="rId1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12</a:t>
            </a:r>
            <a:br>
              <a:rPr lang="en-US" noProof="0" dirty="0"/>
            </a:br>
            <a:r>
              <a:rPr lang="en-US" noProof="0" dirty="0"/>
              <a:t>Empty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Time-delays, Designing Compensators, Non-Linearities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3EA39-4E19-B4F2-0D80-AE852DA5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Attention! 🚨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50B5AB-9D06-0EEB-6B1E-2C79D6B22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 will have to miss next week’s exercise class on </a:t>
            </a:r>
            <a:r>
              <a:rPr lang="en-US" sz="1600" u="sng" dirty="0"/>
              <a:t>Friday, 12 December </a:t>
            </a:r>
            <a:r>
              <a:rPr lang="en-US" sz="1600" dirty="0"/>
              <a:t>due to a review for my Focus Project… </a:t>
            </a:r>
          </a:p>
          <a:p>
            <a:r>
              <a:rPr lang="en-US" sz="1600" dirty="0"/>
              <a:t>I’m planning something a bit more fun for the last week (Recap Kahoot?, short insight into my Focus Project if you are interested?)</a:t>
            </a:r>
          </a:p>
          <a:p>
            <a:r>
              <a:rPr lang="en-US" sz="1600" dirty="0"/>
              <a:t>Let me know if you have any other suggestions for the last week!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A38FBA-744B-C6F8-067A-580B18F2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5E9D92-A1BA-9F46-6313-31223A93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99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5D78F-2249-A180-2CB2-666B6116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Quiz 1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870703-CC74-0BF2-199F-2AC449604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69219"/>
            <a:ext cx="8119565" cy="326350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Which statements are true?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A0ABA2-9E4A-1959-6AE7-8D003E93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6AC2EE-2027-D0AB-0256-CDB360B6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B882E51E-6BE1-059F-7F6D-1E8F23708DCC}"/>
              </a:ext>
            </a:extLst>
          </p:cNvPr>
          <p:cNvSpPr/>
          <p:nvPr/>
        </p:nvSpPr>
        <p:spPr>
          <a:xfrm>
            <a:off x="628651" y="3349852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</a:t>
            </a:r>
            <a:r>
              <a:rPr lang="en-US" b="1" noProof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Commands and </a:t>
            </a:r>
            <a:r>
              <a:rPr lang="en-US" b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disturbances act at higher frequencies</a:t>
            </a: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805053E3-D87E-1845-B976-A87498E964A6}"/>
              </a:ext>
            </a:extLst>
          </p:cNvPr>
          <p:cNvSpPr/>
          <p:nvPr/>
        </p:nvSpPr>
        <p:spPr>
          <a:xfrm>
            <a:off x="628651" y="2716957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</a:t>
            </a:r>
            <a:r>
              <a:rPr lang="en-US" b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Noise acts at lower frequencies</a:t>
            </a: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6435DAB8-9B07-D6BA-9142-F4E566954D95}"/>
              </a:ext>
            </a:extLst>
          </p:cNvPr>
          <p:cNvSpPr/>
          <p:nvPr/>
        </p:nvSpPr>
        <p:spPr>
          <a:xfrm>
            <a:off x="628652" y="2042240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</a:t>
            </a:r>
            <a:r>
              <a:rPr lang="en-US" b="1" noProof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Commands and disturbances act at lower frequencies</a:t>
            </a:r>
            <a:endParaRPr lang="en-US" b="1">
              <a:solidFill>
                <a:schemeClr val="tx1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17D65880-2025-B585-B8A2-545FFE9ACF46}"/>
              </a:ext>
            </a:extLst>
          </p:cNvPr>
          <p:cNvSpPr/>
          <p:nvPr/>
        </p:nvSpPr>
        <p:spPr>
          <a:xfrm>
            <a:off x="628650" y="3982747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</a:t>
            </a:r>
            <a:r>
              <a:rPr lang="en-US" b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Noise acts at higher frequencies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661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607FF-B945-C100-210C-CEE4E302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2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F7E4FC-C8A4-19E7-F05B-FD729D99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Which statements are true?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298C21-8595-0FA2-B941-CBFBB817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9027E6-621A-1891-F608-20BC16A5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6642DD40-EE12-619B-A56E-4D8F59416011}"/>
                  </a:ext>
                </a:extLst>
              </p:cNvPr>
              <p:cNvSpPr/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</a:t>
                </a:r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complementary sensitivity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describes the impact of noise on the error</a:t>
                </a: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6642DD40-EE12-619B-A56E-4D8F59416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424A4AA3-C1F3-E582-27B3-EA734A4CE1AA}"/>
                  </a:ext>
                </a:extLst>
              </p:cNvPr>
              <p:cNvSpPr/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</a:t>
                </a:r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sensitivity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𝑺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describes the impact of noise on the error</a:t>
                </a: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424A4AA3-C1F3-E582-27B3-EA734A4CE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6868015-57F8-C601-C6C1-FB85A8BDDDDC}"/>
                  </a:ext>
                </a:extLst>
              </p:cNvPr>
              <p:cNvSpPr/>
              <p:nvPr/>
            </p:nvSpPr>
            <p:spPr>
              <a:xfrm>
                <a:off x="628652" y="2042240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</a:t>
                </a:r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sensitivity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𝑺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describes the impact of disturbances on the error</a:t>
                </a: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6868015-57F8-C601-C6C1-FB85A8BDDD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2" y="2042240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5D9CCC86-E5DF-B214-7DAE-C561AB49FB0E}"/>
                  </a:ext>
                </a:extLst>
              </p:cNvPr>
              <p:cNvSpPr/>
              <p:nvPr/>
            </p:nvSpPr>
            <p:spPr>
              <a:xfrm>
                <a:off x="628650" y="398274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𝑺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)+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is always equal to 1</a:t>
                </a:r>
                <a:endParaRPr lang="de-CH"/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5D9CCC86-E5DF-B214-7DAE-C561AB49FB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8274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65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43749-1EDC-A4BF-7AA8-8F9EBA95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D3D845-0412-4D8E-81E9-9CC6ACF2A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bandwidth of a system?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ADCECB-08D1-ED56-B87F-3A51788E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FB3C18-8531-0CB4-C6FD-7F14124C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14039C9C-AC79-D891-70F8-7DEC7AF6EB3E}"/>
                  </a:ext>
                </a:extLst>
              </p:cNvPr>
              <p:cNvSpPr/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bandwidth is often approximated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𝝎</m:t>
                        </m:r>
                      </m:e>
                      <m:sub>
                        <m:r>
                          <a:rPr lang="en-US" b="1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b="1" dirty="0">
                  <a:solidFill>
                    <a:schemeClr val="tx1"/>
                  </a:soli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14039C9C-AC79-D891-70F8-7DEC7AF6E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80757F36-BB6E-BC19-51C8-078A941C65A8}"/>
                  </a:ext>
                </a:extLst>
              </p:cNvPr>
              <p:cNvSpPr/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bandwidth is the maximum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𝝎</m:t>
                    </m:r>
                  </m:oMath>
                </a14:m>
                <a:r>
                  <a:rPr lang="el-GR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𝑻</m:t>
                        </m:r>
                        <m:d>
                          <m:d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𝒋</m:t>
                            </m:r>
                            <m:r>
                              <a:rPr lang="el-GR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𝝎</m:t>
                            </m:r>
                          </m:e>
                        </m:d>
                      </m:e>
                    </m:d>
                    <m:r>
                      <a:rPr lang="el-GR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&gt;</m:t>
                    </m:r>
                    <m:r>
                      <a:rPr lang="el-GR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𝟏</m:t>
                    </m:r>
                    <m:r>
                      <m:rPr>
                        <m:lit/>
                      </m:rPr>
                      <a:rPr lang="el-GR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l-G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radPr>
                      <m:deg/>
                      <m:e>
                        <m:r>
                          <a:rPr lang="el-G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l-GR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≈ −</m:t>
                    </m:r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𝟑</m:t>
                    </m:r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𝒅𝑩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80757F36-BB6E-BC19-51C8-078A941C6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AD8BB6E3-EBAF-9535-626F-C95800EB7D95}"/>
              </a:ext>
            </a:extLst>
          </p:cNvPr>
          <p:cNvSpPr/>
          <p:nvPr/>
        </p:nvSpPr>
        <p:spPr>
          <a:xfrm>
            <a:off x="628652" y="2042240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characterizes how fast the system can respond to changes in the reference signal</a:t>
            </a: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23A2143E-BF23-DBD8-E6FB-76F30EFB68EC}"/>
              </a:ext>
            </a:extLst>
          </p:cNvPr>
          <p:cNvSpPr/>
          <p:nvPr/>
        </p:nvSpPr>
        <p:spPr>
          <a:xfrm>
            <a:off x="628650" y="3982747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Describes how fast your Inno Project robot will fail on qualification day</a:t>
            </a:r>
            <a:endParaRPr lang="de-CH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82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10669-E807-54A8-8B80-6C33140E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4</a:t>
            </a:r>
          </a:p>
        </p:txBody>
      </p:sp>
      <p:pic>
        <p:nvPicPr>
          <p:cNvPr id="7" name="Inhaltsplatzhalter 6" descr="Ein Bild, das Text, Quittung, Algebra enthält.&#10;&#10;KI-generierte Inhalte können fehlerhaft sein.">
            <a:extLst>
              <a:ext uri="{FF2B5EF4-FFF2-40B4-BE49-F238E27FC236}">
                <a16:creationId xmlns:a16="http://schemas.microsoft.com/office/drawing/2014/main" id="{7A0CAB56-982E-9033-BEBB-512204547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08335"/>
            <a:ext cx="5246364" cy="1873701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046E59-D24E-CA05-46B7-EDBCA989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8D9DAA-C31C-E7A9-A03E-DD98B893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D598DAA-C961-27BE-315C-AA1292A7A276}"/>
              </a:ext>
            </a:extLst>
          </p:cNvPr>
          <p:cNvGrpSpPr/>
          <p:nvPr/>
        </p:nvGrpSpPr>
        <p:grpSpPr>
          <a:xfrm>
            <a:off x="5106280" y="102877"/>
            <a:ext cx="3937213" cy="1085459"/>
            <a:chOff x="5106280" y="89229"/>
            <a:chExt cx="3937213" cy="1085459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370A3C22-F328-ECC9-D532-4295A7DFA079}"/>
                </a:ext>
              </a:extLst>
            </p:cNvPr>
            <p:cNvSpPr/>
            <p:nvPr/>
          </p:nvSpPr>
          <p:spPr>
            <a:xfrm>
              <a:off x="5106280" y="96255"/>
              <a:ext cx="3937213" cy="107843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B4CE1C05-004D-7572-0A52-420183A2A84D}"/>
                    </a:ext>
                  </a:extLst>
                </p:cNvPr>
                <p:cNvSpPr txBox="1"/>
                <p:nvPr/>
              </p:nvSpPr>
              <p:spPr>
                <a:xfrm>
                  <a:off x="5106281" y="89229"/>
                  <a:ext cx="3937212" cy="5006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maximum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shift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of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lead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compensator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occurs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at </a:t>
                  </a:r>
                  <a14:m>
                    <m:oMath xmlns:m="http://schemas.openxmlformats.org/officeDocument/2006/math">
                      <m:r>
                        <a:rPr lang="el-GR" sz="12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  <m:r>
                        <a:rPr lang="el-GR" sz="12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𝑎𝑏</m:t>
                              </m:r>
                            </m:e>
                          </m:d>
                        </m:e>
                      </m:rad>
                    </m:oMath>
                  </a14:m>
                  <a:endParaRPr lang="el-GR" sz="12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C6A3B9D-AF37-A411-23B0-2765C56A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281" y="89229"/>
                  <a:ext cx="3937212" cy="500650"/>
                </a:xfrm>
                <a:prstGeom prst="rect">
                  <a:avLst/>
                </a:prstGeom>
                <a:blipFill>
                  <a:blip r:embed="rId9"/>
                  <a:stretch>
                    <a:fillRect l="-155" t="-2439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381A311E-C93F-DCB4-7095-CE68DC56FD3F}"/>
                    </a:ext>
                  </a:extLst>
                </p:cNvPr>
                <p:cNvSpPr txBox="1"/>
                <p:nvPr/>
              </p:nvSpPr>
              <p:spPr>
                <a:xfrm>
                  <a:off x="5885586" y="381201"/>
                  <a:ext cx="2378600" cy="793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i="1" err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de-CH" i="1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m:rPr>
                            <m:sty m:val="p"/>
                          </m:rPr>
                          <a:rPr lang="de-CH" i="1" err="1">
                            <a:latin typeface="Cambria Math" panose="02040503050406030204" pitchFamily="18" charset="0"/>
                          </a:rPr>
                          <m:t>arctan</m:t>
                        </m:r>
                        <m:d>
                          <m:dPr>
                            <m:ctrlPr>
                              <a:rPr lang="de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de-CH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  <m:r>
                          <a:rPr lang="de-CH" i="1">
                            <a:latin typeface="Cambria Math" panose="02040503050406030204" pitchFamily="18" charset="0"/>
                          </a:rPr>
                          <m:t>–90°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5CA7A023-FD7E-DCF9-69C6-27C2775D4C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586" y="381201"/>
                  <a:ext cx="2378600" cy="7934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3156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6EFFD-BA49-4C9D-2FBD-31BEC94D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5</a:t>
            </a:r>
          </a:p>
        </p:txBody>
      </p:sp>
      <p:pic>
        <p:nvPicPr>
          <p:cNvPr id="7" name="Inhaltsplatzhalter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25BE4D1D-02E6-66CC-D466-3361E5FF8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98645"/>
            <a:ext cx="4090154" cy="336344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621C92-7C37-6525-F1EF-3C3517E6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25D553-33BD-5C63-10F6-FE7F48A9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225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719745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Polar plots, The Nyquist condition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Compensators, Nonlinearities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/>
              <a:t>Time-delays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/>
              <a:t>Designing Compensators</a:t>
            </a:r>
            <a:endParaRPr lang="en-US" u="sng" noProof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/>
              <a:t>Non-Linearities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/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/>
              <a:t>Kissan Varatharajan - </a:t>
            </a:r>
            <a:r>
              <a:rPr lang="en-US" noProof="0" err="1"/>
              <a:t>kissanv.github.io</a:t>
            </a:r>
            <a:endParaRPr lang="en-US" noProof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/>
              <a:t>1. Time-delays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86673-340B-37D4-245E-A3655AE6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8BDA5D-EA2A-4417-61B5-F01A486BA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4052"/>
            <a:ext cx="7886700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Delays are common in control systems:</a:t>
            </a:r>
          </a:p>
          <a:p>
            <a:pPr marL="0" indent="0">
              <a:buNone/>
            </a:pPr>
            <a:r>
              <a:rPr lang="en-US" sz="1600" dirty="0"/>
              <a:t>• If your controller is implemented on a computer, then reading sensor data and calculating the input for your actuator will take a finite computation time</a:t>
            </a:r>
          </a:p>
          <a:p>
            <a:pPr marL="0" indent="0">
              <a:buNone/>
            </a:pPr>
            <a:r>
              <a:rPr lang="en-US" sz="1600" dirty="0"/>
              <a:t>• They can also be part of your physical plant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	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62648D-60C6-A5F5-419E-4D9D3B19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C85DA0-2B36-F85C-A71D-3D9E3BAB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6B68822-4B60-2C81-901C-E3E28538B0F7}"/>
              </a:ext>
            </a:extLst>
          </p:cNvPr>
          <p:cNvGrpSpPr/>
          <p:nvPr/>
        </p:nvGrpSpPr>
        <p:grpSpPr>
          <a:xfrm>
            <a:off x="625080" y="3854213"/>
            <a:ext cx="3162532" cy="549035"/>
            <a:chOff x="625080" y="3854213"/>
            <a:chExt cx="3162532" cy="549035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6C3E687A-6C86-E2D0-D89C-9C40DCA988D6}"/>
                </a:ext>
              </a:extLst>
            </p:cNvPr>
            <p:cNvSpPr/>
            <p:nvPr/>
          </p:nvSpPr>
          <p:spPr>
            <a:xfrm>
              <a:off x="2492200" y="3854213"/>
              <a:ext cx="1273736" cy="549035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1A87916A-5991-3AE4-E0EB-9AD45848A2AD}"/>
                    </a:ext>
                  </a:extLst>
                </p:cNvPr>
                <p:cNvSpPr txBox="1"/>
                <p:nvPr/>
              </p:nvSpPr>
              <p:spPr>
                <a:xfrm>
                  <a:off x="625080" y="3968688"/>
                  <a:ext cx="316253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⟶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hence		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err="1">
                              <a:latin typeface="Cambria Math" panose="02040503050406030204" pitchFamily="18" charset="0"/>
                            </a:rPr>
                            <m:t>𝑠𝑇</m:t>
                          </m:r>
                        </m:sup>
                      </m:sSup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1A87916A-5991-3AE4-E0EB-9AD45848A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80" y="3968688"/>
                  <a:ext cx="3162532" cy="338554"/>
                </a:xfrm>
                <a:prstGeom prst="rect">
                  <a:avLst/>
                </a:prstGeom>
                <a:blipFill>
                  <a:blip r:embed="rId2"/>
                  <a:stretch>
                    <a:fillRect t="-3571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2F52BA15-6A4F-5C29-D2C3-4BCEFCE85F09}"/>
              </a:ext>
            </a:extLst>
          </p:cNvPr>
          <p:cNvSpPr txBox="1"/>
          <p:nvPr/>
        </p:nvSpPr>
        <p:spPr>
          <a:xfrm>
            <a:off x="625080" y="930235"/>
            <a:ext cx="715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Why?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54B1418D-8BB5-5BF7-689E-8BFBD930E3E2}"/>
              </a:ext>
            </a:extLst>
          </p:cNvPr>
          <p:cNvGrpSpPr/>
          <p:nvPr/>
        </p:nvGrpSpPr>
        <p:grpSpPr>
          <a:xfrm>
            <a:off x="620271" y="2670249"/>
            <a:ext cx="8474693" cy="2418109"/>
            <a:chOff x="620271" y="2670249"/>
            <a:chExt cx="8474693" cy="2418109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F3BACD1A-2CA8-B341-4F09-D66CB9C125F8}"/>
                </a:ext>
              </a:extLst>
            </p:cNvPr>
            <p:cNvGrpSpPr/>
            <p:nvPr/>
          </p:nvGrpSpPr>
          <p:grpSpPr>
            <a:xfrm>
              <a:off x="5672958" y="3426902"/>
              <a:ext cx="3422006" cy="1661456"/>
              <a:chOff x="4831307" y="2254949"/>
              <a:chExt cx="3620752" cy="2016800"/>
            </a:xfrm>
          </p:grpSpPr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F0A5D64E-B6F1-AE64-4610-79BB768B3E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31307" y="2489863"/>
                <a:ext cx="0" cy="17818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D3C617D0-67D3-354E-1AFD-48E873D547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1307" y="3380806"/>
                <a:ext cx="2982036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D877D29D-7767-6485-67E6-9EC5B5A9F25E}"/>
                      </a:ext>
                    </a:extLst>
                  </p:cNvPr>
                  <p:cNvSpPr txBox="1"/>
                  <p:nvPr/>
                </p:nvSpPr>
                <p:spPr>
                  <a:xfrm>
                    <a:off x="7758752" y="3295156"/>
                    <a:ext cx="3092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D877D29D-7767-6485-67E6-9EC5B5A9F2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8752" y="3295156"/>
                    <a:ext cx="309252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3C5E0E36-795F-E179-C03A-86AE1BE77C67}"/>
                  </a:ext>
                </a:extLst>
              </p:cNvPr>
              <p:cNvSpPr/>
              <p:nvPr/>
            </p:nvSpPr>
            <p:spPr>
              <a:xfrm>
                <a:off x="4844955" y="2715723"/>
                <a:ext cx="2695433" cy="1371886"/>
              </a:xfrm>
              <a:custGeom>
                <a:avLst/>
                <a:gdLst>
                  <a:gd name="connsiteX0" fmla="*/ 0 w 2695433"/>
                  <a:gd name="connsiteY0" fmla="*/ 641588 h 1337626"/>
                  <a:gd name="connsiteX1" fmla="*/ 252484 w 2695433"/>
                  <a:gd name="connsiteY1" fmla="*/ 143 h 1337626"/>
                  <a:gd name="connsiteX2" fmla="*/ 552735 w 2695433"/>
                  <a:gd name="connsiteY2" fmla="*/ 689355 h 1337626"/>
                  <a:gd name="connsiteX3" fmla="*/ 757451 w 2695433"/>
                  <a:gd name="connsiteY3" fmla="*/ 1303505 h 1337626"/>
                  <a:gd name="connsiteX4" fmla="*/ 1071349 w 2695433"/>
                  <a:gd name="connsiteY4" fmla="*/ 648412 h 1337626"/>
                  <a:gd name="connsiteX5" fmla="*/ 1289714 w 2695433"/>
                  <a:gd name="connsiteY5" fmla="*/ 102502 h 1337626"/>
                  <a:gd name="connsiteX6" fmla="*/ 1617260 w 2695433"/>
                  <a:gd name="connsiteY6" fmla="*/ 675708 h 1337626"/>
                  <a:gd name="connsiteX7" fmla="*/ 1917511 w 2695433"/>
                  <a:gd name="connsiteY7" fmla="*/ 1337624 h 1337626"/>
                  <a:gd name="connsiteX8" fmla="*/ 2169994 w 2695433"/>
                  <a:gd name="connsiteY8" fmla="*/ 668884 h 1337626"/>
                  <a:gd name="connsiteX9" fmla="*/ 2299648 w 2695433"/>
                  <a:gd name="connsiteY9" fmla="*/ 82030 h 1337626"/>
                  <a:gd name="connsiteX10" fmla="*/ 2695433 w 2695433"/>
                  <a:gd name="connsiteY10" fmla="*/ 668884 h 1337626"/>
                  <a:gd name="connsiteX0" fmla="*/ 0 w 2695433"/>
                  <a:gd name="connsiteY0" fmla="*/ 648408 h 1344446"/>
                  <a:gd name="connsiteX1" fmla="*/ 293427 w 2695433"/>
                  <a:gd name="connsiteY1" fmla="*/ 140 h 1344446"/>
                  <a:gd name="connsiteX2" fmla="*/ 552735 w 2695433"/>
                  <a:gd name="connsiteY2" fmla="*/ 696175 h 1344446"/>
                  <a:gd name="connsiteX3" fmla="*/ 757451 w 2695433"/>
                  <a:gd name="connsiteY3" fmla="*/ 1310325 h 1344446"/>
                  <a:gd name="connsiteX4" fmla="*/ 1071349 w 2695433"/>
                  <a:gd name="connsiteY4" fmla="*/ 655232 h 1344446"/>
                  <a:gd name="connsiteX5" fmla="*/ 1289714 w 2695433"/>
                  <a:gd name="connsiteY5" fmla="*/ 109322 h 1344446"/>
                  <a:gd name="connsiteX6" fmla="*/ 1617260 w 2695433"/>
                  <a:gd name="connsiteY6" fmla="*/ 682528 h 1344446"/>
                  <a:gd name="connsiteX7" fmla="*/ 1917511 w 2695433"/>
                  <a:gd name="connsiteY7" fmla="*/ 1344444 h 1344446"/>
                  <a:gd name="connsiteX8" fmla="*/ 2169994 w 2695433"/>
                  <a:gd name="connsiteY8" fmla="*/ 675704 h 1344446"/>
                  <a:gd name="connsiteX9" fmla="*/ 2299648 w 2695433"/>
                  <a:gd name="connsiteY9" fmla="*/ 88850 h 1344446"/>
                  <a:gd name="connsiteX10" fmla="*/ 2695433 w 2695433"/>
                  <a:gd name="connsiteY10" fmla="*/ 675704 h 1344446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289714 w 2695433"/>
                  <a:gd name="connsiteY5" fmla="*/ 10936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374711 w 2695433"/>
                  <a:gd name="connsiteY9" fmla="*/ 88892 h 1371886"/>
                  <a:gd name="connsiteX10" fmla="*/ 2695433 w 2695433"/>
                  <a:gd name="connsiteY10" fmla="*/ 675746 h 137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95433" h="1371886">
                    <a:moveTo>
                      <a:pt x="0" y="648450"/>
                    </a:moveTo>
                    <a:cubicBezTo>
                      <a:pt x="80180" y="323747"/>
                      <a:pt x="197893" y="-8916"/>
                      <a:pt x="293427" y="182"/>
                    </a:cubicBezTo>
                    <a:cubicBezTo>
                      <a:pt x="388961" y="9280"/>
                      <a:pt x="479947" y="474440"/>
                      <a:pt x="573207" y="703040"/>
                    </a:cubicBezTo>
                    <a:cubicBezTo>
                      <a:pt x="666467" y="931640"/>
                      <a:pt x="769962" y="1379743"/>
                      <a:pt x="852986" y="1371782"/>
                    </a:cubicBezTo>
                    <a:cubicBezTo>
                      <a:pt x="936010" y="1363821"/>
                      <a:pt x="989463" y="880462"/>
                      <a:pt x="1071349" y="655274"/>
                    </a:cubicBezTo>
                    <a:cubicBezTo>
                      <a:pt x="1153235" y="430086"/>
                      <a:pt x="1253319" y="16105"/>
                      <a:pt x="1344304" y="20654"/>
                    </a:cubicBezTo>
                    <a:cubicBezTo>
                      <a:pt x="1435289" y="25203"/>
                      <a:pt x="1521725" y="461931"/>
                      <a:pt x="1617260" y="682570"/>
                    </a:cubicBezTo>
                    <a:cubicBezTo>
                      <a:pt x="1712795" y="903209"/>
                      <a:pt x="1825389" y="1345623"/>
                      <a:pt x="1917511" y="1344486"/>
                    </a:cubicBezTo>
                    <a:cubicBezTo>
                      <a:pt x="2009633" y="1343349"/>
                      <a:pt x="2093794" y="885012"/>
                      <a:pt x="2169994" y="675746"/>
                    </a:cubicBezTo>
                    <a:cubicBezTo>
                      <a:pt x="2246194" y="466480"/>
                      <a:pt x="2287138" y="88892"/>
                      <a:pt x="2374711" y="88892"/>
                    </a:cubicBezTo>
                    <a:cubicBezTo>
                      <a:pt x="2462284" y="88892"/>
                      <a:pt x="2541327" y="382319"/>
                      <a:pt x="2695433" y="675746"/>
                    </a:cubicBezTo>
                  </a:path>
                </a:pathLst>
              </a:cu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EF833599-F7D5-B960-1535-14E322FB0AD0}"/>
                      </a:ext>
                    </a:extLst>
                  </p:cNvPr>
                  <p:cNvSpPr txBox="1"/>
                  <p:nvPr/>
                </p:nvSpPr>
                <p:spPr>
                  <a:xfrm>
                    <a:off x="7057786" y="2435216"/>
                    <a:ext cx="61908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𝒖</m:t>
                          </m:r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𝒕</m:t>
                          </m:r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EF833599-F7D5-B960-1535-14E322FB0A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7786" y="2435216"/>
                    <a:ext cx="61908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4348" r="-10638" b="-434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4FE18FB8-9242-7E81-45A1-104526F7CDA5}"/>
                  </a:ext>
                </a:extLst>
              </p:cNvPr>
              <p:cNvSpPr/>
              <p:nvPr/>
            </p:nvSpPr>
            <p:spPr>
              <a:xfrm>
                <a:off x="5328125" y="2722365"/>
                <a:ext cx="2695433" cy="1371886"/>
              </a:xfrm>
              <a:custGeom>
                <a:avLst/>
                <a:gdLst>
                  <a:gd name="connsiteX0" fmla="*/ 0 w 2695433"/>
                  <a:gd name="connsiteY0" fmla="*/ 641588 h 1337626"/>
                  <a:gd name="connsiteX1" fmla="*/ 252484 w 2695433"/>
                  <a:gd name="connsiteY1" fmla="*/ 143 h 1337626"/>
                  <a:gd name="connsiteX2" fmla="*/ 552735 w 2695433"/>
                  <a:gd name="connsiteY2" fmla="*/ 689355 h 1337626"/>
                  <a:gd name="connsiteX3" fmla="*/ 757451 w 2695433"/>
                  <a:gd name="connsiteY3" fmla="*/ 1303505 h 1337626"/>
                  <a:gd name="connsiteX4" fmla="*/ 1071349 w 2695433"/>
                  <a:gd name="connsiteY4" fmla="*/ 648412 h 1337626"/>
                  <a:gd name="connsiteX5" fmla="*/ 1289714 w 2695433"/>
                  <a:gd name="connsiteY5" fmla="*/ 102502 h 1337626"/>
                  <a:gd name="connsiteX6" fmla="*/ 1617260 w 2695433"/>
                  <a:gd name="connsiteY6" fmla="*/ 675708 h 1337626"/>
                  <a:gd name="connsiteX7" fmla="*/ 1917511 w 2695433"/>
                  <a:gd name="connsiteY7" fmla="*/ 1337624 h 1337626"/>
                  <a:gd name="connsiteX8" fmla="*/ 2169994 w 2695433"/>
                  <a:gd name="connsiteY8" fmla="*/ 668884 h 1337626"/>
                  <a:gd name="connsiteX9" fmla="*/ 2299648 w 2695433"/>
                  <a:gd name="connsiteY9" fmla="*/ 82030 h 1337626"/>
                  <a:gd name="connsiteX10" fmla="*/ 2695433 w 2695433"/>
                  <a:gd name="connsiteY10" fmla="*/ 668884 h 1337626"/>
                  <a:gd name="connsiteX0" fmla="*/ 0 w 2695433"/>
                  <a:gd name="connsiteY0" fmla="*/ 648408 h 1344446"/>
                  <a:gd name="connsiteX1" fmla="*/ 293427 w 2695433"/>
                  <a:gd name="connsiteY1" fmla="*/ 140 h 1344446"/>
                  <a:gd name="connsiteX2" fmla="*/ 552735 w 2695433"/>
                  <a:gd name="connsiteY2" fmla="*/ 696175 h 1344446"/>
                  <a:gd name="connsiteX3" fmla="*/ 757451 w 2695433"/>
                  <a:gd name="connsiteY3" fmla="*/ 1310325 h 1344446"/>
                  <a:gd name="connsiteX4" fmla="*/ 1071349 w 2695433"/>
                  <a:gd name="connsiteY4" fmla="*/ 655232 h 1344446"/>
                  <a:gd name="connsiteX5" fmla="*/ 1289714 w 2695433"/>
                  <a:gd name="connsiteY5" fmla="*/ 109322 h 1344446"/>
                  <a:gd name="connsiteX6" fmla="*/ 1617260 w 2695433"/>
                  <a:gd name="connsiteY6" fmla="*/ 682528 h 1344446"/>
                  <a:gd name="connsiteX7" fmla="*/ 1917511 w 2695433"/>
                  <a:gd name="connsiteY7" fmla="*/ 1344444 h 1344446"/>
                  <a:gd name="connsiteX8" fmla="*/ 2169994 w 2695433"/>
                  <a:gd name="connsiteY8" fmla="*/ 675704 h 1344446"/>
                  <a:gd name="connsiteX9" fmla="*/ 2299648 w 2695433"/>
                  <a:gd name="connsiteY9" fmla="*/ 88850 h 1344446"/>
                  <a:gd name="connsiteX10" fmla="*/ 2695433 w 2695433"/>
                  <a:gd name="connsiteY10" fmla="*/ 675704 h 1344446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289714 w 2695433"/>
                  <a:gd name="connsiteY5" fmla="*/ 10936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374711 w 2695433"/>
                  <a:gd name="connsiteY9" fmla="*/ 88892 h 1371886"/>
                  <a:gd name="connsiteX10" fmla="*/ 2695433 w 2695433"/>
                  <a:gd name="connsiteY10" fmla="*/ 675746 h 137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95433" h="1371886">
                    <a:moveTo>
                      <a:pt x="0" y="648450"/>
                    </a:moveTo>
                    <a:cubicBezTo>
                      <a:pt x="80180" y="323747"/>
                      <a:pt x="197893" y="-8916"/>
                      <a:pt x="293427" y="182"/>
                    </a:cubicBezTo>
                    <a:cubicBezTo>
                      <a:pt x="388961" y="9280"/>
                      <a:pt x="479947" y="474440"/>
                      <a:pt x="573207" y="703040"/>
                    </a:cubicBezTo>
                    <a:cubicBezTo>
                      <a:pt x="666467" y="931640"/>
                      <a:pt x="769962" y="1379743"/>
                      <a:pt x="852986" y="1371782"/>
                    </a:cubicBezTo>
                    <a:cubicBezTo>
                      <a:pt x="936010" y="1363821"/>
                      <a:pt x="989463" y="880462"/>
                      <a:pt x="1071349" y="655274"/>
                    </a:cubicBezTo>
                    <a:cubicBezTo>
                      <a:pt x="1153235" y="430086"/>
                      <a:pt x="1253319" y="16105"/>
                      <a:pt x="1344304" y="20654"/>
                    </a:cubicBezTo>
                    <a:cubicBezTo>
                      <a:pt x="1435289" y="25203"/>
                      <a:pt x="1521725" y="461931"/>
                      <a:pt x="1617260" y="682570"/>
                    </a:cubicBezTo>
                    <a:cubicBezTo>
                      <a:pt x="1712795" y="903209"/>
                      <a:pt x="1825389" y="1345623"/>
                      <a:pt x="1917511" y="1344486"/>
                    </a:cubicBezTo>
                    <a:cubicBezTo>
                      <a:pt x="2009633" y="1343349"/>
                      <a:pt x="2093794" y="885012"/>
                      <a:pt x="2169994" y="675746"/>
                    </a:cubicBezTo>
                    <a:cubicBezTo>
                      <a:pt x="2246194" y="466480"/>
                      <a:pt x="2287138" y="88892"/>
                      <a:pt x="2374711" y="88892"/>
                    </a:cubicBezTo>
                    <a:cubicBezTo>
                      <a:pt x="2462284" y="88892"/>
                      <a:pt x="2541327" y="382319"/>
                      <a:pt x="2695433" y="675746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9DDC2F0F-20D0-5A05-1E51-CDE231338976}"/>
                  </a:ext>
                </a:extLst>
              </p:cNvPr>
              <p:cNvSpPr/>
              <p:nvPr/>
            </p:nvSpPr>
            <p:spPr>
              <a:xfrm>
                <a:off x="4838131" y="3364173"/>
                <a:ext cx="498144" cy="684195"/>
              </a:xfrm>
              <a:custGeom>
                <a:avLst/>
                <a:gdLst>
                  <a:gd name="connsiteX0" fmla="*/ 498144 w 498144"/>
                  <a:gd name="connsiteY0" fmla="*/ 0 h 657009"/>
                  <a:gd name="connsiteX1" fmla="*/ 307075 w 498144"/>
                  <a:gd name="connsiteY1" fmla="*/ 655093 h 657009"/>
                  <a:gd name="connsiteX2" fmla="*/ 0 w 498144"/>
                  <a:gd name="connsiteY2" fmla="*/ 204717 h 657009"/>
                  <a:gd name="connsiteX0" fmla="*/ 498144 w 498144"/>
                  <a:gd name="connsiteY0" fmla="*/ 0 h 684195"/>
                  <a:gd name="connsiteX1" fmla="*/ 225188 w 498144"/>
                  <a:gd name="connsiteY1" fmla="*/ 682388 h 684195"/>
                  <a:gd name="connsiteX2" fmla="*/ 0 w 498144"/>
                  <a:gd name="connsiteY2" fmla="*/ 204717 h 684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8144" h="684195">
                    <a:moveTo>
                      <a:pt x="498144" y="0"/>
                    </a:moveTo>
                    <a:cubicBezTo>
                      <a:pt x="444121" y="310487"/>
                      <a:pt x="308212" y="648269"/>
                      <a:pt x="225188" y="682388"/>
                    </a:cubicBezTo>
                    <a:cubicBezTo>
                      <a:pt x="142164" y="716507"/>
                      <a:pt x="31845" y="257033"/>
                      <a:pt x="0" y="204717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feld 20">
                    <a:extLst>
                      <a:ext uri="{FF2B5EF4-FFF2-40B4-BE49-F238E27FC236}">
                        <a16:creationId xmlns:a16="http://schemas.microsoft.com/office/drawing/2014/main" id="{838D5A7F-0309-1160-4EE2-DE9DBA640584}"/>
                      </a:ext>
                    </a:extLst>
                  </p:cNvPr>
                  <p:cNvSpPr txBox="1"/>
                  <p:nvPr/>
                </p:nvSpPr>
                <p:spPr>
                  <a:xfrm>
                    <a:off x="7842597" y="2837405"/>
                    <a:ext cx="60946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𝒚</m:t>
                          </m:r>
                          <m:d>
                            <m:dPr>
                              <m:ctrlP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𝒕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1" name="Textfeld 20">
                    <a:extLst>
                      <a:ext uri="{FF2B5EF4-FFF2-40B4-BE49-F238E27FC236}">
                        <a16:creationId xmlns:a16="http://schemas.microsoft.com/office/drawing/2014/main" id="{838D5A7F-0309-1160-4EE2-DE9DBA6405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2597" y="2837405"/>
                    <a:ext cx="609462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4348" r="-13043" b="-434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Gerade Verbindung 21">
                <a:extLst>
                  <a:ext uri="{FF2B5EF4-FFF2-40B4-BE49-F238E27FC236}">
                    <a16:creationId xmlns:a16="http://schemas.microsoft.com/office/drawing/2014/main" id="{81BF6D9C-FDB7-626B-3710-531E610AE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8382" y="2489863"/>
                <a:ext cx="0" cy="91844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 Verbindung 22">
                <a:extLst>
                  <a:ext uri="{FF2B5EF4-FFF2-40B4-BE49-F238E27FC236}">
                    <a16:creationId xmlns:a16="http://schemas.microsoft.com/office/drawing/2014/main" id="{B658E45B-D21D-4416-B248-ED5759302A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1976" y="2489863"/>
                <a:ext cx="0" cy="91844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FF895C0B-3010-56A1-88F6-8208406A280C}"/>
                  </a:ext>
                </a:extLst>
              </p:cNvPr>
              <p:cNvCxnSpPr/>
              <p:nvPr/>
            </p:nvCxnSpPr>
            <p:spPr>
              <a:xfrm>
                <a:off x="5138382" y="2604493"/>
                <a:ext cx="493594" cy="0"/>
              </a:xfrm>
              <a:prstGeom prst="straightConnector1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6056517E-02B8-2F62-FFC9-3300E3E5DA1D}"/>
                      </a:ext>
                    </a:extLst>
                  </p:cNvPr>
                  <p:cNvSpPr txBox="1"/>
                  <p:nvPr/>
                </p:nvSpPr>
                <p:spPr>
                  <a:xfrm>
                    <a:off x="5206284" y="2254949"/>
                    <a:ext cx="357790" cy="338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𝑻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6056517E-02B8-2F62-FFC9-3300E3E5DA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6284" y="2254949"/>
                    <a:ext cx="357790" cy="33855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348" r="-18519" b="-478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13F97AF7-F069-6C7B-0B90-D539C1BBD4B7}"/>
                </a:ext>
              </a:extLst>
            </p:cNvPr>
            <p:cNvGrpSpPr/>
            <p:nvPr/>
          </p:nvGrpSpPr>
          <p:grpSpPr>
            <a:xfrm>
              <a:off x="620271" y="2670249"/>
              <a:ext cx="7871037" cy="1134291"/>
              <a:chOff x="620271" y="2670249"/>
              <a:chExt cx="7871037" cy="1134291"/>
            </a:xfrm>
          </p:grpSpPr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9F0923C0-1B1E-CA5A-030E-A60F6C01412D}"/>
                  </a:ext>
                </a:extLst>
              </p:cNvPr>
              <p:cNvGrpSpPr/>
              <p:nvPr/>
            </p:nvGrpSpPr>
            <p:grpSpPr>
              <a:xfrm>
                <a:off x="633901" y="2956872"/>
                <a:ext cx="7857407" cy="847668"/>
                <a:chOff x="625080" y="2575860"/>
                <a:chExt cx="7857407" cy="847668"/>
              </a:xfrm>
            </p:grpSpPr>
            <p:grpSp>
              <p:nvGrpSpPr>
                <p:cNvPr id="12" name="Gruppieren 11">
                  <a:extLst>
                    <a:ext uri="{FF2B5EF4-FFF2-40B4-BE49-F238E27FC236}">
                      <a16:creationId xmlns:a16="http://schemas.microsoft.com/office/drawing/2014/main" id="{A49E0657-6915-5F09-043E-A129DD16DF10}"/>
                    </a:ext>
                  </a:extLst>
                </p:cNvPr>
                <p:cNvGrpSpPr/>
                <p:nvPr/>
              </p:nvGrpSpPr>
              <p:grpSpPr>
                <a:xfrm>
                  <a:off x="6038288" y="2821828"/>
                  <a:ext cx="2048302" cy="461665"/>
                  <a:chOff x="5867400" y="2830857"/>
                  <a:chExt cx="2048302" cy="461665"/>
                </a:xfrm>
              </p:grpSpPr>
              <p:cxnSp>
                <p:nvCxnSpPr>
                  <p:cNvPr id="7" name="Gerade Verbindung mit Pfeil 6">
                    <a:extLst>
                      <a:ext uri="{FF2B5EF4-FFF2-40B4-BE49-F238E27FC236}">
                        <a16:creationId xmlns:a16="http://schemas.microsoft.com/office/drawing/2014/main" id="{6E9378D1-6D3D-46CB-6748-48DE664DBE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67400" y="3061689"/>
                    <a:ext cx="642097" cy="0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E573B86F-4FCF-24D6-9F9B-4854D358C41D}"/>
                      </a:ext>
                    </a:extLst>
                  </p:cNvPr>
                  <p:cNvSpPr txBox="1"/>
                  <p:nvPr/>
                </p:nvSpPr>
                <p:spPr>
                  <a:xfrm>
                    <a:off x="6509497" y="2830857"/>
                    <a:ext cx="140620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like we always do to compute TF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feld 5">
                      <a:extLst>
                        <a:ext uri="{FF2B5EF4-FFF2-40B4-BE49-F238E27FC236}">
                          <a16:creationId xmlns:a16="http://schemas.microsoft.com/office/drawing/2014/main" id="{A72841EB-866C-7929-A900-E1FBB776FB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5080" y="2575860"/>
                      <a:ext cx="7857407" cy="8476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 operator transforms input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into delay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with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≥	 0</m:t>
                          </m:r>
                        </m:oMath>
                      </a14:m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 can compute TF by considering an input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 err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⟶</m:t>
                          </m:r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the output will be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err="1">
                                  <a:latin typeface="Cambria Math" panose="02040503050406030204" pitchFamily="18" charset="0"/>
                                </a:rPr>
                                <m:t>𝑠𝑇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a14:m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feld 5">
                      <a:extLst>
                        <a:ext uri="{FF2B5EF4-FFF2-40B4-BE49-F238E27FC236}">
                          <a16:creationId xmlns:a16="http://schemas.microsoft.com/office/drawing/2014/main" id="{A72841EB-866C-7929-A900-E1FBB776FB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5080" y="2575860"/>
                      <a:ext cx="7857407" cy="84766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61" t="-1471" b="-88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D6A2C0A3-F48D-8FFA-55A0-B5428F52006D}"/>
                  </a:ext>
                </a:extLst>
              </p:cNvPr>
              <p:cNvSpPr txBox="1"/>
              <p:nvPr/>
            </p:nvSpPr>
            <p:spPr>
              <a:xfrm>
                <a:off x="620271" y="2670249"/>
                <a:ext cx="72006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How?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448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4C0D83-6D09-E80A-4F66-DF00AA30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Response of Time Delays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140E53-D3C7-FD7D-C2B5-AB7A0345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38476"/>
            <a:ext cx="8105917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… this is </a:t>
            </a:r>
            <a:r>
              <a:rPr lang="en-US" sz="1600" u="sng" dirty="0"/>
              <a:t>NOT a rational transfer function</a:t>
            </a:r>
            <a:r>
              <a:rPr lang="en-US" sz="1600" dirty="0"/>
              <a:t>, with which we have been dealing all this time</a:t>
            </a:r>
          </a:p>
          <a:p>
            <a:r>
              <a:rPr lang="en-US" sz="1600" dirty="0"/>
              <a:t>No poles or zeros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55DD9A-195D-2239-476A-E3EFFB00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8A9306-0093-8467-EF63-0AFC88EA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3A3ED90-4E1F-0869-5E61-AE49EE8B20DD}"/>
              </a:ext>
            </a:extLst>
          </p:cNvPr>
          <p:cNvGrpSpPr/>
          <p:nvPr/>
        </p:nvGrpSpPr>
        <p:grpSpPr>
          <a:xfrm>
            <a:off x="2962082" y="2132648"/>
            <a:ext cx="6014757" cy="2723949"/>
            <a:chOff x="2962082" y="2132648"/>
            <a:chExt cx="6014757" cy="2723949"/>
          </a:xfrm>
        </p:grpSpPr>
        <p:pic>
          <p:nvPicPr>
            <p:cNvPr id="39" name="Inhaltsplatzhalter 6" descr="Ein Bild, das Text, Reihe, Diagramm, Zahl enthält.&#10;&#10;KI-generierte Inhalte können fehlerhaft sein.">
              <a:extLst>
                <a:ext uri="{FF2B5EF4-FFF2-40B4-BE49-F238E27FC236}">
                  <a16:creationId xmlns:a16="http://schemas.microsoft.com/office/drawing/2014/main" id="{6D314C2C-4987-911E-A5E6-CB67B9729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739"/>
            <a:stretch>
              <a:fillRect/>
            </a:stretch>
          </p:blipFill>
          <p:spPr>
            <a:xfrm>
              <a:off x="2962082" y="2558691"/>
              <a:ext cx="6014757" cy="2297906"/>
            </a:xfrm>
            <a:prstGeom prst="rect">
              <a:avLst/>
            </a:prstGeom>
          </p:spPr>
        </p:pic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FABC9E5E-5DC6-852D-DC91-39BC84C36CF7}"/>
                </a:ext>
              </a:extLst>
            </p:cNvPr>
            <p:cNvSpPr txBox="1"/>
            <p:nvPr/>
          </p:nvSpPr>
          <p:spPr>
            <a:xfrm>
              <a:off x="5130645" y="2132648"/>
              <a:ext cx="19688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178F5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Bode &amp; Polar Plot: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8EA02D9-A4B4-813A-FBDC-AD9F04D540EB}"/>
              </a:ext>
            </a:extLst>
          </p:cNvPr>
          <p:cNvGrpSpPr/>
          <p:nvPr/>
        </p:nvGrpSpPr>
        <p:grpSpPr>
          <a:xfrm>
            <a:off x="6797951" y="132282"/>
            <a:ext cx="2239203" cy="549035"/>
            <a:chOff x="625080" y="3863447"/>
            <a:chExt cx="2239203" cy="549035"/>
          </a:xfrm>
        </p:grpSpPr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24C7C07C-5AFC-3219-DF45-0BCFA286D9D1}"/>
                </a:ext>
              </a:extLst>
            </p:cNvPr>
            <p:cNvSpPr/>
            <p:nvPr/>
          </p:nvSpPr>
          <p:spPr>
            <a:xfrm>
              <a:off x="1590547" y="3863447"/>
              <a:ext cx="1273736" cy="549035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AFE22E09-ED20-9848-1134-1F4F16FC1F3B}"/>
                    </a:ext>
                  </a:extLst>
                </p:cNvPr>
                <p:cNvSpPr txBox="1"/>
                <p:nvPr/>
              </p:nvSpPr>
              <p:spPr>
                <a:xfrm>
                  <a:off x="625080" y="3968688"/>
                  <a:ext cx="223920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	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err="1">
                              <a:latin typeface="Cambria Math" panose="02040503050406030204" pitchFamily="18" charset="0"/>
                            </a:rPr>
                            <m:t>𝑠𝑇</m:t>
                          </m:r>
                        </m:sup>
                      </m:sSup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AFE22E09-ED20-9848-1134-1F4F16FC1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80" y="3968688"/>
                  <a:ext cx="223920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C9B303-A0D6-4006-5FEC-79C1854B884B}"/>
                  </a:ext>
                </a:extLst>
              </p:cNvPr>
              <p:cNvSpPr txBox="1"/>
              <p:nvPr/>
            </p:nvSpPr>
            <p:spPr>
              <a:xfrm>
                <a:off x="628650" y="1822464"/>
                <a:ext cx="4866782" cy="1124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Frequency response of a time delay 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 err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Magnitude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m:rPr>
                                <m:sty m:val="p"/>
                              </m:rPr>
                              <a:rPr lang="en-US" sz="1600" i="1" err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Phase: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sz="16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l-GR" sz="1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C9B303-A0D6-4006-5FEC-79C1854B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822464"/>
                <a:ext cx="4866782" cy="1124988"/>
              </a:xfrm>
              <a:prstGeom prst="rect">
                <a:avLst/>
              </a:prstGeom>
              <a:blipFill>
                <a:blip r:embed="rId4"/>
                <a:stretch>
                  <a:fillRect l="-521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81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Ein Bild, das Diagramm, Kreis, Text, Reihe enthält.&#10;&#10;KI-generierte Inhalte können fehlerhaft sein.">
            <a:extLst>
              <a:ext uri="{FF2B5EF4-FFF2-40B4-BE49-F238E27FC236}">
                <a16:creationId xmlns:a16="http://schemas.microsoft.com/office/drawing/2014/main" id="{462F93DE-0CD9-8754-5E28-AEF8DD75A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041" y="2983958"/>
            <a:ext cx="2206491" cy="2168666"/>
          </a:xfrm>
          <a:prstGeom prst="rect">
            <a:avLst/>
          </a:prstGeom>
        </p:spPr>
      </p:pic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2F117630-3F47-CA19-60AB-4D5217385CDD}"/>
              </a:ext>
            </a:extLst>
          </p:cNvPr>
          <p:cNvCxnSpPr>
            <a:cxnSpLocks/>
          </p:cNvCxnSpPr>
          <p:nvPr/>
        </p:nvCxnSpPr>
        <p:spPr>
          <a:xfrm>
            <a:off x="6230983" y="273844"/>
            <a:ext cx="160903" cy="30777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BE2C5A3D-D971-B194-7EFA-67F29588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Time Delays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3901BE-F9C1-BFA4-F0D4-403B3998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76215-8FA0-595E-65BF-D33A8464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93F8352F-48B3-1157-1B26-18B790D93948}"/>
              </a:ext>
            </a:extLst>
          </p:cNvPr>
          <p:cNvGrpSpPr/>
          <p:nvPr/>
        </p:nvGrpSpPr>
        <p:grpSpPr>
          <a:xfrm>
            <a:off x="5591511" y="161797"/>
            <a:ext cx="3145247" cy="1072882"/>
            <a:chOff x="5812491" y="195134"/>
            <a:chExt cx="3145247" cy="1072882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2AE557A8-B719-1B20-79C5-C9CBBA291ABB}"/>
                </a:ext>
              </a:extLst>
            </p:cNvPr>
            <p:cNvGrpSpPr/>
            <p:nvPr/>
          </p:nvGrpSpPr>
          <p:grpSpPr>
            <a:xfrm>
              <a:off x="5812491" y="533688"/>
              <a:ext cx="3145247" cy="574104"/>
              <a:chOff x="5157258" y="93806"/>
              <a:chExt cx="3475677" cy="743981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03A769A1-4250-8109-7C6A-C7FFFD84A566}"/>
                  </a:ext>
                </a:extLst>
              </p:cNvPr>
              <p:cNvGrpSpPr/>
              <p:nvPr/>
            </p:nvGrpSpPr>
            <p:grpSpPr>
              <a:xfrm>
                <a:off x="5157258" y="93806"/>
                <a:ext cx="3475677" cy="743981"/>
                <a:chOff x="5476519" y="-26530"/>
                <a:chExt cx="3475677" cy="743981"/>
              </a:xfrm>
            </p:grpSpPr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0D348893-87A3-F557-1838-DCF19E6E53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41382" y="424960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uppieren 16">
                  <a:extLst>
                    <a:ext uri="{FF2B5EF4-FFF2-40B4-BE49-F238E27FC236}">
                      <a16:creationId xmlns:a16="http://schemas.microsoft.com/office/drawing/2014/main" id="{CD914C6F-A044-4E4F-AC31-E9C78805E702}"/>
                    </a:ext>
                  </a:extLst>
                </p:cNvPr>
                <p:cNvGrpSpPr/>
                <p:nvPr/>
              </p:nvGrpSpPr>
              <p:grpSpPr>
                <a:xfrm>
                  <a:off x="7354668" y="164444"/>
                  <a:ext cx="886714" cy="553007"/>
                  <a:chOff x="2403054" y="3026666"/>
                  <a:chExt cx="545710" cy="553007"/>
                </a:xfrm>
              </p:grpSpPr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5EB0A59E-F389-AAB3-B5AC-80E272F5A067}"/>
                      </a:ext>
                    </a:extLst>
                  </p:cNvPr>
                  <p:cNvSpPr/>
                  <p:nvPr/>
                </p:nvSpPr>
                <p:spPr>
                  <a:xfrm>
                    <a:off x="2403054" y="3026666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8E1827C5-5C58-7064-F618-1E2C0E510A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5108" y="3034557"/>
                        <a:ext cx="421972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de-CH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𝐿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/>
                      </a:p>
                    </p:txBody>
                  </p:sp>
                </mc:Choice>
                <mc:Fallback xmlns="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8E1827C5-5C58-7064-F618-1E2C0E510A9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5108" y="3034557"/>
                        <a:ext cx="421972" cy="478617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2041" b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8" name="Gruppieren 17">
                  <a:extLst>
                    <a:ext uri="{FF2B5EF4-FFF2-40B4-BE49-F238E27FC236}">
                      <a16:creationId xmlns:a16="http://schemas.microsoft.com/office/drawing/2014/main" id="{7B2D8DFE-13F6-51E8-80E7-30F41E4F6EDE}"/>
                    </a:ext>
                  </a:extLst>
                </p:cNvPr>
                <p:cNvGrpSpPr/>
                <p:nvPr/>
              </p:nvGrpSpPr>
              <p:grpSpPr>
                <a:xfrm>
                  <a:off x="6014913" y="164444"/>
                  <a:ext cx="943472" cy="553007"/>
                  <a:chOff x="2676164" y="3940223"/>
                  <a:chExt cx="587951" cy="553007"/>
                </a:xfrm>
              </p:grpSpPr>
              <p:sp>
                <p:nvSpPr>
                  <p:cNvPr id="27" name="Rechteck 26">
                    <a:extLst>
                      <a:ext uri="{FF2B5EF4-FFF2-40B4-BE49-F238E27FC236}">
                        <a16:creationId xmlns:a16="http://schemas.microsoft.com/office/drawing/2014/main" id="{096F6183-E34E-B55C-02AE-59897FBD3DAF}"/>
                      </a:ext>
                    </a:extLst>
                  </p:cNvPr>
                  <p:cNvSpPr/>
                  <p:nvPr/>
                </p:nvSpPr>
                <p:spPr>
                  <a:xfrm>
                    <a:off x="2676164" y="3940223"/>
                    <a:ext cx="587951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D23A00D3-894B-62A0-CE47-55130AFBD0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31477" y="3968615"/>
                        <a:ext cx="471411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CH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CH" sz="1800" b="0" i="1" smtClean="0">
                                      <a:latin typeface="Cambria Math" panose="02040503050406030204" pitchFamily="18" charset="0"/>
                                    </a:rPr>
                                    <m:t>𝑠𝑇</m:t>
                                  </m:r>
                                </m:sup>
                              </m:sSup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D23A00D3-894B-62A0-CE47-55130AFBD0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1477" y="3968615"/>
                        <a:ext cx="471411" cy="478617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t="-6667" r="-8929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A2CD215D-A93B-3E4B-C1AF-30736CA1FB41}"/>
                    </a:ext>
                  </a:extLst>
                </p:cNvPr>
                <p:cNvCxnSpPr>
                  <a:cxnSpLocks/>
                  <a:endCxn id="27" idx="1"/>
                </p:cNvCxnSpPr>
                <p:nvPr/>
              </p:nvCxnSpPr>
              <p:spPr>
                <a:xfrm flipV="1">
                  <a:off x="5476519" y="440947"/>
                  <a:ext cx="538394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C288E078-779D-8EC2-7480-E40EC54FEC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6406" y="-26530"/>
                      <a:ext cx="416303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CH" sz="16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C288E078-779D-8EC2-7480-E40EC54FEC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6406" y="-26530"/>
                      <a:ext cx="416303" cy="4387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7610DF9D-1C87-D2CE-1A69-A761536A4B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68970" y="415816"/>
                  <a:ext cx="35954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3F72D6D0-E014-2B5D-C2E2-E51CCD9081EA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52507B8B-0B73-184B-F8D4-4EE138787794}"/>
                </a:ext>
              </a:extLst>
            </p:cNvPr>
            <p:cNvSpPr/>
            <p:nvPr/>
          </p:nvSpPr>
          <p:spPr>
            <a:xfrm>
              <a:off x="6207212" y="533688"/>
              <a:ext cx="2265946" cy="734328"/>
            </a:xfrm>
            <a:prstGeom prst="rect">
              <a:avLst/>
            </a:prstGeom>
            <a:noFill/>
            <a:ln w="222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9ED4782C-7B3D-F524-BFA7-CD8EDC807375}"/>
                    </a:ext>
                  </a:extLst>
                </p:cNvPr>
                <p:cNvSpPr txBox="1"/>
                <p:nvPr/>
              </p:nvSpPr>
              <p:spPr>
                <a:xfrm>
                  <a:off x="7288299" y="195134"/>
                  <a:ext cx="668516" cy="3477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9ED4782C-7B3D-F524-BFA7-CD8EDC807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8299" y="195134"/>
                  <a:ext cx="668516" cy="347788"/>
                </a:xfrm>
                <a:prstGeom prst="rect">
                  <a:avLst/>
                </a:prstGeom>
                <a:blipFill>
                  <a:blip r:embed="rId10"/>
                  <a:stretch>
                    <a:fillRect r="-5556" b="-206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1D8D04A8-5E4C-BD3F-2BB1-145A8BAA9397}"/>
              </a:ext>
            </a:extLst>
          </p:cNvPr>
          <p:cNvSpPr txBox="1"/>
          <p:nvPr/>
        </p:nvSpPr>
        <p:spPr>
          <a:xfrm>
            <a:off x="5334817" y="13272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 delay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CEFF2F7-F406-1EB8-A174-CD091206E4B7}"/>
              </a:ext>
            </a:extLst>
          </p:cNvPr>
          <p:cNvGrpSpPr/>
          <p:nvPr/>
        </p:nvGrpSpPr>
        <p:grpSpPr>
          <a:xfrm>
            <a:off x="635180" y="2519244"/>
            <a:ext cx="8101577" cy="1118542"/>
            <a:chOff x="635181" y="2519244"/>
            <a:chExt cx="7886700" cy="11185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nhaltsplatzhalter 2">
                  <a:extLst>
                    <a:ext uri="{FF2B5EF4-FFF2-40B4-BE49-F238E27FC236}">
                      <a16:creationId xmlns:a16="http://schemas.microsoft.com/office/drawing/2014/main" id="{34951E82-A4B8-B4FC-0943-168A248C391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35181" y="2564251"/>
                  <a:ext cx="7886700" cy="107353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 dirty="0"/>
                    <a:t>time delays cause the phase to drop by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⟶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𝑤𝑖𝑡h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𝑑𝑒𝑙𝑎𝑦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𝑤𝑖𝑡h𝑜𝑢𝑡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𝑑𝑒𝑙𝑎𝑦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US" sz="1600" dirty="0"/>
                </a:p>
                <a:p>
                  <a:pPr marL="0" indent="0">
                    <a:buClrTx/>
                    <a:buNone/>
                  </a:pPr>
                  <a:endParaRPr lang="en-US" sz="200" dirty="0"/>
                </a:p>
                <a:p>
                  <a:pPr>
                    <a:buClrTx/>
                  </a:pPr>
                  <a:r>
                    <a:rPr lang="en-US" sz="1600" dirty="0"/>
                    <a:t>Nyquist plots of delayed systems have these encirclements</a:t>
                  </a:r>
                </a:p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:endParaRPr lang="en-US" sz="1600" dirty="0"/>
                </a:p>
              </p:txBody>
            </p:sp>
          </mc:Choice>
          <mc:Fallback xmlns="">
            <p:sp>
              <p:nvSpPr>
                <p:cNvPr id="39" name="Inhaltsplatzhalter 2">
                  <a:extLst>
                    <a:ext uri="{FF2B5EF4-FFF2-40B4-BE49-F238E27FC236}">
                      <a16:creationId xmlns:a16="http://schemas.microsoft.com/office/drawing/2014/main" id="{34951E82-A4B8-B4FC-0943-168A248C3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181" y="2564251"/>
                  <a:ext cx="7886700" cy="1073535"/>
                </a:xfrm>
                <a:prstGeom prst="rect">
                  <a:avLst/>
                </a:prstGeom>
                <a:blipFill>
                  <a:blip r:embed="rId11"/>
                  <a:stretch>
                    <a:fillRect l="-156" t="-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: Rounded Corners 17">
              <a:extLst>
                <a:ext uri="{FF2B5EF4-FFF2-40B4-BE49-F238E27FC236}">
                  <a16:creationId xmlns:a16="http://schemas.microsoft.com/office/drawing/2014/main" id="{69CDB923-4D86-8BA2-FA4E-8B6FE564DD7E}"/>
                </a:ext>
              </a:extLst>
            </p:cNvPr>
            <p:cNvSpPr/>
            <p:nvPr/>
          </p:nvSpPr>
          <p:spPr>
            <a:xfrm>
              <a:off x="4999016" y="2519244"/>
              <a:ext cx="3416123" cy="4197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E3EA797E-EF2D-892A-D88B-2717D4D20636}"/>
              </a:ext>
            </a:extLst>
          </p:cNvPr>
          <p:cNvGrpSpPr/>
          <p:nvPr/>
        </p:nvGrpSpPr>
        <p:grpSpPr>
          <a:xfrm>
            <a:off x="665199" y="1349850"/>
            <a:ext cx="7893231" cy="1005505"/>
            <a:chOff x="665199" y="1349850"/>
            <a:chExt cx="7893231" cy="1005505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959F341E-1637-11FE-78E8-97B9EBA67A4E}"/>
                </a:ext>
              </a:extLst>
            </p:cNvPr>
            <p:cNvGrpSpPr/>
            <p:nvPr/>
          </p:nvGrpSpPr>
          <p:grpSpPr>
            <a:xfrm>
              <a:off x="665199" y="1349850"/>
              <a:ext cx="7893231" cy="924518"/>
              <a:chOff x="628650" y="1349848"/>
              <a:chExt cx="7893231" cy="962270"/>
            </a:xfrm>
          </p:grpSpPr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6D8758C3-C79E-A655-6316-89A622B5D0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181" y="1349848"/>
                <a:ext cx="7886700" cy="332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 dirty="0"/>
                  <a:t>Now that we know the behavior of a pure delay, let's combine it with a system!</a:t>
                </a:r>
              </a:p>
              <a:p>
                <a:pPr>
                  <a:buClrTx/>
                </a:pPr>
                <a:endParaRPr lang="en-US" sz="1600" dirty="0"/>
              </a:p>
              <a:p>
                <a:pPr marL="0" indent="0">
                  <a:buClrTx/>
                  <a:buNone/>
                </a:pPr>
                <a:endParaRPr lang="en-US" sz="1600" dirty="0"/>
              </a:p>
              <a:p>
                <a:pPr>
                  <a:buClrTx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5B54926A-7F37-D343-2B30-D543A4F324C8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1727343"/>
                    <a:ext cx="2360198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endParaRPr/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endParaRPr/>
                  </a:p>
                </p:txBody>
              </p:sp>
            </mc:Choice>
            <mc:Fallback xmlns="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5B54926A-7F37-D343-2B30-D543A4F324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1727343"/>
                    <a:ext cx="2360198" cy="58477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070" t="-2174" r="-2139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Grafik 8" descr="Ein Bild, das Schrift, weiß, Text, Typografie enthält.&#10;&#10;KI-generierte Inhalte können fehlerhaft sein.">
              <a:extLst>
                <a:ext uri="{FF2B5EF4-FFF2-40B4-BE49-F238E27FC236}">
                  <a16:creationId xmlns:a16="http://schemas.microsoft.com/office/drawing/2014/main" id="{FB831DBF-3604-BBE9-6B4B-7388279D9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1730" y="1695515"/>
              <a:ext cx="2360198" cy="659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75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9CABB8A-ED2E-77AC-590E-4B2B1068F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44" y="1056806"/>
            <a:ext cx="8724712" cy="227456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148AF33-E996-75AE-8AD2-86B1A184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Time Delays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C7E92A4-04D3-57E8-C6BF-2653CF4F33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605212"/>
                <a:ext cx="8208373" cy="116205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Design Procedure: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Design a feedback control system ignoring the time delay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Check the effective phase margin (phase margin of the system with delay)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Redesign the controller until a satisfactory controller is found (increase phase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/>
                  <a:t>, decrease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/>
                  <a:t>, etc.)</a:t>
                </a: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C7E92A4-04D3-57E8-C6BF-2653CF4F33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605212"/>
                <a:ext cx="8208373" cy="1162051"/>
              </a:xfrm>
              <a:blipFill>
                <a:blip r:embed="rId4"/>
                <a:stretch>
                  <a:fillRect l="-309" t="-6452" b="-4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2C1272-BBE3-A6E9-62CC-F4DBDAF2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818E9A-2191-F5EA-5CBA-699F08D6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76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B9434-B2C3-4026-89C8-1E73094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Rationalizing Time Delay TF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187C7-9673-864D-D108-E7736AB6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68263"/>
            <a:ext cx="8234499" cy="511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This is a very "duct-tape-engineering" approach… Is there another way to solve this? Yes!</a:t>
            </a:r>
          </a:p>
          <a:p>
            <a:pPr marL="0" indent="0">
              <a:buNone/>
            </a:pP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47DDD0-CF6F-8150-F081-E39CE7F5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B7C81A-484D-2794-1107-FFABBBD0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E0A9B40-A9CD-DF22-8139-0331EC534BC7}"/>
              </a:ext>
            </a:extLst>
          </p:cNvPr>
          <p:cNvGrpSpPr/>
          <p:nvPr/>
        </p:nvGrpSpPr>
        <p:grpSpPr>
          <a:xfrm>
            <a:off x="628648" y="2329056"/>
            <a:ext cx="8515352" cy="2280467"/>
            <a:chOff x="628648" y="2329056"/>
            <a:chExt cx="8515352" cy="22804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C47244B-9089-81C6-2C38-30AEFC25FE8A}"/>
                    </a:ext>
                  </a:extLst>
                </p:cNvPr>
                <p:cNvSpPr txBox="1"/>
                <p:nvPr/>
              </p:nvSpPr>
              <p:spPr>
                <a:xfrm>
                  <a:off x="628648" y="2481107"/>
                  <a:ext cx="3943352" cy="20621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CH" sz="1600" i="1" err="1">
                                <a:latin typeface="Cambria Math" panose="02040503050406030204" pitchFamily="18" charset="0"/>
                              </a:rPr>
                              <m:t>𝑠𝑇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de-CH" sz="1600" i="1" err="1">
                            <a:latin typeface="Cambria Math" panose="02040503050406030204" pitchFamily="18" charset="0"/>
                          </a:rPr>
                          <m:t>𝑠𝑇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m:rPr>
                            <m:lit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err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m:rPr>
                            <m:lit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err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An infinite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series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hard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to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implement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therefore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u="sng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approximate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CH" sz="16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de-CH" sz="16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</m:t>
                            </m:r>
                            <m:r>
                              <a:rPr lang="de-CH" sz="1600" i="1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𝑠𝑇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≈1−</m:t>
                        </m:r>
                        <m:r>
                          <a:rPr lang="de-CH" sz="1600" i="1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𝑠𝑇</m:t>
                        </m:r>
                        <m: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+1</m:t>
                        </m:r>
                        <m:r>
                          <m:rPr>
                            <m:lit/>
                          </m:rP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/</m:t>
                        </m:r>
                        <m: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err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C47244B-9089-81C6-2C38-30AEFC25F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8" y="2481107"/>
                  <a:ext cx="3943352" cy="2062103"/>
                </a:xfrm>
                <a:prstGeom prst="rect">
                  <a:avLst/>
                </a:prstGeom>
                <a:blipFill>
                  <a:blip r:embed="rId2"/>
                  <a:stretch>
                    <a:fillRect l="-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60D37829-E9FC-CF11-5076-DE24488A1035}"/>
                </a:ext>
              </a:extLst>
            </p:cNvPr>
            <p:cNvGrpSpPr/>
            <p:nvPr/>
          </p:nvGrpSpPr>
          <p:grpSpPr>
            <a:xfrm>
              <a:off x="4906622" y="2329056"/>
              <a:ext cx="4237378" cy="2280467"/>
              <a:chOff x="4916113" y="2227882"/>
              <a:chExt cx="4237378" cy="2280467"/>
            </a:xfrm>
          </p:grpSpPr>
          <p:pic>
            <p:nvPicPr>
              <p:cNvPr id="11" name="Grafik 10">
                <a:extLst>
                  <a:ext uri="{FF2B5EF4-FFF2-40B4-BE49-F238E27FC236}">
                    <a16:creationId xmlns:a16="http://schemas.microsoft.com/office/drawing/2014/main" id="{745F3E96-AFC3-61B7-7D77-DA5E3656E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06456" y="2227882"/>
                <a:ext cx="3656692" cy="197269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04F9FFA1-5735-CDFD-B146-942ACD156C3C}"/>
                      </a:ext>
                    </a:extLst>
                  </p:cNvPr>
                  <p:cNvSpPr txBox="1"/>
                  <p:nvPr/>
                </p:nvSpPr>
                <p:spPr>
                  <a:xfrm>
                    <a:off x="4916113" y="4200572"/>
                    <a:ext cx="423737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4"/>
                        </a:solidFill>
                      </a:rPr>
                      <a:t>solid for small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a14:m>
                    <a:r>
                      <a:rPr lang="en-US" dirty="0">
                        <a:solidFill>
                          <a:schemeClr val="accent4"/>
                        </a:solidFill>
                      </a:rPr>
                      <a:t>, but bad approximation for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⟶∞</m:t>
                        </m:r>
                      </m:oMath>
                    </a14:m>
                    <a:endParaRPr lang="en-US" dirty="0">
                      <a:solidFill>
                        <a:schemeClr val="accent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04F9FFA1-5735-CDFD-B146-942ACD156C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6113" y="4200572"/>
                    <a:ext cx="4237378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99" t="-8000" r="-599" b="-2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7246ED7-3230-88A0-A5E4-E71304C9237B}"/>
                  </a:ext>
                </a:extLst>
              </p:cNvPr>
              <p:cNvSpPr txBox="1"/>
              <p:nvPr/>
            </p:nvSpPr>
            <p:spPr>
              <a:xfrm>
                <a:off x="628648" y="4301408"/>
                <a:ext cx="4152358" cy="550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 note that the magnitude of the approximation diverges for </a:t>
                </a:r>
                <a14:m>
                  <m:oMath xmlns:m="http://schemas.openxmlformats.org/officeDocument/2006/math">
                    <m:r>
                      <a:rPr lang="el-G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  <m:r>
                      <a:rPr lang="el-G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→ ∞</m:t>
                    </m:r>
                  </m:oMath>
                </a14:m>
                <a:r>
                  <a:rPr lang="el-GR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even though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  <m: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𝜔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</m:t>
                    </m:r>
                  </m:oMath>
                </a14:m>
                <a:endParaRPr lang="en-US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7246ED7-3230-88A0-A5E4-E71304C92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8" y="4301408"/>
                <a:ext cx="4152358" cy="550920"/>
              </a:xfrm>
              <a:prstGeom prst="rect">
                <a:avLst/>
              </a:prstGeom>
              <a:blipFill>
                <a:blip r:embed="rId6"/>
                <a:stretch>
                  <a:fillRect l="-305" t="-2222" r="-91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EF3F717-8C16-1081-F61F-A2AF9D120350}"/>
              </a:ext>
            </a:extLst>
          </p:cNvPr>
          <p:cNvGrpSpPr/>
          <p:nvPr/>
        </p:nvGrpSpPr>
        <p:grpSpPr>
          <a:xfrm>
            <a:off x="628647" y="1424815"/>
            <a:ext cx="8234501" cy="1089330"/>
            <a:chOff x="628647" y="1424815"/>
            <a:chExt cx="8234501" cy="1089330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5093F935-A667-1EEC-98DC-1D935BB0B5E1}"/>
                </a:ext>
              </a:extLst>
            </p:cNvPr>
            <p:cNvGrpSpPr/>
            <p:nvPr/>
          </p:nvGrpSpPr>
          <p:grpSpPr>
            <a:xfrm>
              <a:off x="628648" y="1424815"/>
              <a:ext cx="8234500" cy="977184"/>
              <a:chOff x="628648" y="1424815"/>
              <a:chExt cx="8234500" cy="977184"/>
            </a:xfrm>
          </p:grpSpPr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777F2312-5220-DBFD-1B2C-FB7F78AC78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49" y="1424815"/>
                <a:ext cx="8234499" cy="5118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 err="1"/>
                  <a:t>We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can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use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some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mathematical</a:t>
                </a:r>
                <a:r>
                  <a:rPr lang="de-CH" sz="1600" dirty="0"/>
                  <a:t> tricks </a:t>
                </a:r>
                <a:r>
                  <a:rPr lang="de-CH" sz="1600" dirty="0" err="1"/>
                  <a:t>to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change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representation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a </a:t>
                </a:r>
                <a:r>
                  <a:rPr lang="de-CH" sz="1600" dirty="0" err="1"/>
                  <a:t>delay</a:t>
                </a:r>
                <a:endParaRPr lang="de-CH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2EB242DE-8F98-8E66-2B1A-4025F366FC60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48" y="1817224"/>
                    <a:ext cx="713855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⇒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Technically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we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can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write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CH" sz="1600" i="1" err="1">
                                <a:latin typeface="Cambria Math" panose="02040503050406030204" pitchFamily="18" charset="0"/>
                              </a:rPr>
                              <m:t>𝑠𝑇</m:t>
                            </m:r>
                          </m:sup>
                        </m:sSup>
                      </m:oMath>
                    </a14:m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as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 polynomial!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Using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Taylor-approximation:</a:t>
                    </a:r>
                  </a:p>
                  <a:p>
                    <a:endPara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2EB242DE-8F98-8E66-2B1A-4025F366FC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48" y="1817224"/>
                    <a:ext cx="7138557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55" t="-6383" r="-1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D7944AE6-20DD-B0A7-2AF5-2012C46E2C30}"/>
                </a:ext>
              </a:extLst>
            </p:cNvPr>
            <p:cNvSpPr txBox="1"/>
            <p:nvPr/>
          </p:nvSpPr>
          <p:spPr>
            <a:xfrm>
              <a:off x="628647" y="2175591"/>
              <a:ext cx="29819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⇒ Can </a:t>
              </a:r>
              <a:r>
                <a:rPr lang="de-CH" sz="16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use</a:t>
              </a:r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for</a:t>
              </a:r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 e.g. Root </a:t>
              </a:r>
              <a:r>
                <a:rPr lang="de-CH" sz="16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Locus</a:t>
              </a:r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!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1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FEE98-3393-B04F-2EBD-8760F62D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Padé</a:t>
            </a:r>
            <a:r>
              <a:rPr lang="en-US"/>
              <a:t> Approximation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353B4A-426E-7BB5-7AE8-C1AAE15A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CAAA0F-9201-554F-E5DE-46CA291C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F1450873-FE3C-8E4F-BAD8-4E330474A7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051645"/>
                <a:ext cx="7535636" cy="6172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:r>
                  <a:rPr lang="en-US" sz="1600" dirty="0"/>
                  <a:t>For simplicity we use a ratio of first order polynomials: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err="1">
                            <a:latin typeface="Cambria Math" panose="02040503050406030204" pitchFamily="18" charset="0"/>
                          </a:rPr>
                          <m:t>𝑠𝑇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F1450873-FE3C-8E4F-BAD8-4E330474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051645"/>
                <a:ext cx="7535636" cy="617254"/>
              </a:xfrm>
              <a:prstGeom prst="rect">
                <a:avLst/>
              </a:prstGeom>
              <a:blipFill>
                <a:blip r:embed="rId2"/>
                <a:stretch>
                  <a:fillRect l="-337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EF31DFE-A13F-D104-71E3-F88856F5123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73234" y="461665"/>
            <a:ext cx="163888" cy="1169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4DDA36FB-308C-24EA-E09A-3F963288894E}"/>
              </a:ext>
            </a:extLst>
          </p:cNvPr>
          <p:cNvSpPr txBox="1"/>
          <p:nvPr/>
        </p:nvSpPr>
        <p:spPr>
          <a:xfrm>
            <a:off x="0" y="0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better</a:t>
            </a:r>
          </a:p>
          <a:p>
            <a:pPr algn="ctr"/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approximation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4DDB702-D0E9-C0A8-5500-F27D43E69B59}"/>
              </a:ext>
            </a:extLst>
          </p:cNvPr>
          <p:cNvGrpSpPr/>
          <p:nvPr/>
        </p:nvGrpSpPr>
        <p:grpSpPr>
          <a:xfrm>
            <a:off x="628650" y="1450827"/>
            <a:ext cx="7885422" cy="1258332"/>
            <a:chOff x="628650" y="1450827"/>
            <a:chExt cx="7885422" cy="1258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2BCB15B-6E63-022C-BC44-DD2A0C775691}"/>
                    </a:ext>
                  </a:extLst>
                </p:cNvPr>
                <p:cNvSpPr txBox="1"/>
                <p:nvPr/>
              </p:nvSpPr>
              <p:spPr>
                <a:xfrm>
                  <a:off x="628650" y="1518320"/>
                  <a:ext cx="5846472" cy="11908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Setting the </a:t>
                  </a:r>
                  <a:r>
                    <a:rPr lang="en-US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Padé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Approximation equal to the Taylor expansion: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CH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𝑠𝑇</m:t>
                        </m:r>
                        <m:r>
                          <a:rPr lang="de-CH" sz="160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de-CH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Solving for the coefficients we get: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=−1,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a14:m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2BCB15B-6E63-022C-BC44-DD2A0C7756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1518320"/>
                  <a:ext cx="5846472" cy="1190839"/>
                </a:xfrm>
                <a:prstGeom prst="rect">
                  <a:avLst/>
                </a:prstGeom>
                <a:blipFill>
                  <a:blip r:embed="rId3"/>
                  <a:stretch>
                    <a:fillRect l="-434" t="-1053" b="-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0535260-DBD4-3F2F-BF02-B5848A47474E}"/>
                </a:ext>
              </a:extLst>
            </p:cNvPr>
            <p:cNvGrpSpPr/>
            <p:nvPr/>
          </p:nvGrpSpPr>
          <p:grpSpPr>
            <a:xfrm>
              <a:off x="6425086" y="1450827"/>
              <a:ext cx="2088986" cy="1185935"/>
              <a:chOff x="5688281" y="1432574"/>
              <a:chExt cx="2088986" cy="1185935"/>
            </a:xfrm>
          </p:grpSpPr>
          <p:sp>
            <p:nvSpPr>
              <p:cNvPr id="18" name="Geschweifte Klammer rechts 17">
                <a:extLst>
                  <a:ext uri="{FF2B5EF4-FFF2-40B4-BE49-F238E27FC236}">
                    <a16:creationId xmlns:a16="http://schemas.microsoft.com/office/drawing/2014/main" id="{4FB56AB7-CB8D-130E-E160-B2F9FAD51F0B}"/>
                  </a:ext>
                </a:extLst>
              </p:cNvPr>
              <p:cNvSpPr/>
              <p:nvPr/>
            </p:nvSpPr>
            <p:spPr>
              <a:xfrm>
                <a:off x="5688281" y="1591294"/>
                <a:ext cx="231568" cy="1027215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EDD6EC83-BE1B-31CC-7FC7-6CC26AA1A6C2}"/>
                      </a:ext>
                    </a:extLst>
                  </p:cNvPr>
                  <p:cNvSpPr txBox="1"/>
                  <p:nvPr/>
                </p:nvSpPr>
                <p:spPr>
                  <a:xfrm>
                    <a:off x="6202861" y="1715855"/>
                    <a:ext cx="1218474" cy="80893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err="1">
                                  <a:latin typeface="Cambria Math" panose="02040503050406030204" pitchFamily="18" charset="0"/>
                                </a:rPr>
                                <m:t>𝑠𝑇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EDD6EC83-BE1B-31CC-7FC7-6CC26AA1A6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2861" y="1715855"/>
                    <a:ext cx="1218474" cy="8089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30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61543ABD-A2D3-42A9-5748-7ABC7A201F59}"/>
                  </a:ext>
                </a:extLst>
              </p:cNvPr>
              <p:cNvSpPr txBox="1"/>
              <p:nvPr/>
            </p:nvSpPr>
            <p:spPr>
              <a:xfrm>
                <a:off x="5846930" y="1432574"/>
                <a:ext cx="19303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err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Padé</a:t>
                </a:r>
                <a:r>
                  <a:rPr lang="en-US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Approximation</a:t>
                </a:r>
              </a:p>
            </p:txBody>
          </p:sp>
          <p:sp>
            <p:nvSpPr>
              <p:cNvPr id="23" name="Rectangle: Rounded Corners 17">
                <a:extLst>
                  <a:ext uri="{FF2B5EF4-FFF2-40B4-BE49-F238E27FC236}">
                    <a16:creationId xmlns:a16="http://schemas.microsoft.com/office/drawing/2014/main" id="{03AA66F0-B445-7003-59ED-0E8E97B8DE53}"/>
                  </a:ext>
                </a:extLst>
              </p:cNvPr>
              <p:cNvSpPr/>
              <p:nvPr/>
            </p:nvSpPr>
            <p:spPr>
              <a:xfrm>
                <a:off x="6202861" y="1740351"/>
                <a:ext cx="1266718" cy="831399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25" name="Grafik 24" descr="Ein Bild, das Reihe, Text, Diagramm, Zahl enthält.&#10;&#10;KI-generierte Inhalte können fehlerhaft sein.">
            <a:extLst>
              <a:ext uri="{FF2B5EF4-FFF2-40B4-BE49-F238E27FC236}">
                <a16:creationId xmlns:a16="http://schemas.microsoft.com/office/drawing/2014/main" id="{B32B5390-58AC-0A0F-D1F5-5CCAC2BAFA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94"/>
          <a:stretch>
            <a:fillRect/>
          </a:stretch>
        </p:blipFill>
        <p:spPr>
          <a:xfrm>
            <a:off x="6225868" y="2731844"/>
            <a:ext cx="2601882" cy="21303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4515AE56-48BB-98D6-E0B8-4F468D4FEAC4}"/>
                  </a:ext>
                </a:extLst>
              </p:cNvPr>
              <p:cNvSpPr txBox="1"/>
              <p:nvPr/>
            </p:nvSpPr>
            <p:spPr>
              <a:xfrm>
                <a:off x="655178" y="3397255"/>
                <a:ext cx="54864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Note: The presence of the NMP zero indicates a limit for the gain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with it a limit for the crossover frequency!</a:t>
                </a:r>
              </a:p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Keep in mind: This is an approximation, always use Nyquist to verify CL stability!</a:t>
                </a:r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4515AE56-48BB-98D6-E0B8-4F468D4FE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8" y="3397255"/>
                <a:ext cx="5486400" cy="1077218"/>
              </a:xfrm>
              <a:prstGeom prst="rect">
                <a:avLst/>
              </a:prstGeom>
              <a:blipFill>
                <a:blip r:embed="rId6"/>
                <a:stretch>
                  <a:fillRect l="-693" t="-2326" r="-693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3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CFF80-FBC8-D79E-4713-2F2120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Problem</a:t>
            </a:r>
          </a:p>
        </p:txBody>
      </p:sp>
      <p:pic>
        <p:nvPicPr>
          <p:cNvPr id="7" name="Inhaltsplatzhalter 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E5EA5182-4010-CCAC-D17C-B4C724726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240" y="1053977"/>
            <a:ext cx="4127030" cy="3647270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5C8816-BD3A-E439-ACE7-4E1F01F4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674828-0709-4AF5-343A-FAA817A6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 descr="Ein Bild, das Text, Schrift, Quittung, weiß enthält.&#10;&#10;KI-generierte Inhalte können fehlerhaft sein.">
            <a:extLst>
              <a:ext uri="{FF2B5EF4-FFF2-40B4-BE49-F238E27FC236}">
                <a16:creationId xmlns:a16="http://schemas.microsoft.com/office/drawing/2014/main" id="{2F416911-91C6-E4DA-4A7C-13F74DFA4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269" y="1053977"/>
            <a:ext cx="2240507" cy="1707053"/>
          </a:xfrm>
          <a:prstGeom prst="rect">
            <a:avLst/>
          </a:prstGeom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E4037D3-F471-CACB-AD31-A9351D0CF35A}"/>
              </a:ext>
            </a:extLst>
          </p:cNvPr>
          <p:cNvGrpSpPr/>
          <p:nvPr/>
        </p:nvGrpSpPr>
        <p:grpSpPr>
          <a:xfrm>
            <a:off x="5488609" y="109904"/>
            <a:ext cx="3559498" cy="429184"/>
            <a:chOff x="5488609" y="109904"/>
            <a:chExt cx="3559498" cy="4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feld 2">
                  <a:extLst>
                    <a:ext uri="{FF2B5EF4-FFF2-40B4-BE49-F238E27FC236}">
                      <a16:creationId xmlns:a16="http://schemas.microsoft.com/office/drawing/2014/main" id="{9E7FD0C4-842E-6E7B-86FB-0578984ECE26}"/>
                    </a:ext>
                  </a:extLst>
                </p:cNvPr>
                <p:cNvSpPr txBox="1"/>
                <p:nvPr/>
              </p:nvSpPr>
              <p:spPr>
                <a:xfrm>
                  <a:off x="5493223" y="126936"/>
                  <a:ext cx="3554884" cy="3579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𝑤𝑖𝑡h</m:t>
                            </m:r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𝑑𝑒𝑙𝑎𝑦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𝑤𝑖𝑡h𝑜𝑢𝑡</m:t>
                            </m:r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𝑑𝑒𝑙𝑎𝑦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" name="Textfeld 2">
                  <a:extLst>
                    <a:ext uri="{FF2B5EF4-FFF2-40B4-BE49-F238E27FC236}">
                      <a16:creationId xmlns:a16="http://schemas.microsoft.com/office/drawing/2014/main" id="{9E7FD0C4-842E-6E7B-86FB-0578984EC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3223" y="126936"/>
                  <a:ext cx="3554884" cy="357983"/>
                </a:xfrm>
                <a:prstGeom prst="rect">
                  <a:avLst/>
                </a:prstGeom>
                <a:blipFill>
                  <a:blip r:embed="rId4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: Rounded Corners 17">
              <a:extLst>
                <a:ext uri="{FF2B5EF4-FFF2-40B4-BE49-F238E27FC236}">
                  <a16:creationId xmlns:a16="http://schemas.microsoft.com/office/drawing/2014/main" id="{726CE4B5-DB96-DCBB-DE37-398B49524B5A}"/>
                </a:ext>
              </a:extLst>
            </p:cNvPr>
            <p:cNvSpPr/>
            <p:nvPr/>
          </p:nvSpPr>
          <p:spPr>
            <a:xfrm>
              <a:off x="5488609" y="109904"/>
              <a:ext cx="3554884" cy="429184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605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85B63-7EF4-BA82-D763-BD5DFA465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2. Designing Compensators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F80FCC-0994-0CF8-479C-575BE43F7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CF0B9B-9C91-B742-3ED9-54E08A3B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D84DE9-BEF8-7F8B-442F-3B70786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940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30395BA-C127-1304-E2E7-4A2326951C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Implementing a Controller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30395BA-C127-1304-E2E7-4A2326951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F5EE33-4B2A-52A8-9AD2-768B39874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715" y="1214097"/>
                <a:ext cx="2979984" cy="707608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Controller </a:t>
                </a:r>
                <a:r>
                  <a:rPr lang="en-US" sz="1600" dirty="0" err="1"/>
                  <a:t>a.k.a</a:t>
                </a:r>
                <a:r>
                  <a:rPr lang="en-US" sz="1600" dirty="0"/>
                  <a:t> compensator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/>
                  <a:t> implemented on a computer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F5EE33-4B2A-52A8-9AD2-768B39874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715" y="1214097"/>
                <a:ext cx="2979984" cy="707608"/>
              </a:xfrm>
              <a:blipFill>
                <a:blip r:embed="rId3"/>
                <a:stretch>
                  <a:fillRect l="-851" t="-5263" r="-426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DD9055-8A1C-7E46-7065-E2468C90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6DB339-924F-97DA-9169-94E4336DF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408D78B-D7FB-9ADA-0FF2-A8140BBEE8F4}"/>
              </a:ext>
            </a:extLst>
          </p:cNvPr>
          <p:cNvGrpSpPr/>
          <p:nvPr/>
        </p:nvGrpSpPr>
        <p:grpSpPr>
          <a:xfrm>
            <a:off x="5104511" y="870117"/>
            <a:ext cx="3811891" cy="1140799"/>
            <a:chOff x="2898655" y="2021863"/>
            <a:chExt cx="3811891" cy="11407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50418025-A411-45BC-2150-8C0BCC20D53B}"/>
                </a:ext>
              </a:extLst>
            </p:cNvPr>
            <p:cNvGrpSpPr/>
            <p:nvPr/>
          </p:nvGrpSpPr>
          <p:grpSpPr>
            <a:xfrm>
              <a:off x="2898655" y="2301484"/>
              <a:ext cx="3674865" cy="861178"/>
              <a:chOff x="4572000" y="136095"/>
              <a:chExt cx="4060935" cy="1116001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476C27D3-66F3-306A-F9DD-4FD044E7E2A6}"/>
                  </a:ext>
                </a:extLst>
              </p:cNvPr>
              <p:cNvGrpSpPr/>
              <p:nvPr/>
            </p:nvGrpSpPr>
            <p:grpSpPr>
              <a:xfrm>
                <a:off x="4572000" y="136095"/>
                <a:ext cx="4060935" cy="1116001"/>
                <a:chOff x="4891261" y="15759"/>
                <a:chExt cx="4060935" cy="1116001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8CE9B17-84DE-B827-5A4A-A7E14C92CAD0}"/>
                    </a:ext>
                  </a:extLst>
                </p:cNvPr>
                <p:cNvSpPr/>
                <p:nvPr/>
              </p:nvSpPr>
              <p:spPr>
                <a:xfrm>
                  <a:off x="5362418" y="321780"/>
                  <a:ext cx="216000" cy="216000"/>
                </a:xfrm>
                <a:prstGeom prst="ellipse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noProof="0"/>
                </a:p>
              </p:txBody>
            </p:sp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3E9D981F-9F1F-95CC-93F9-4536F5838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41382" y="424960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uppieren 16">
                  <a:extLst>
                    <a:ext uri="{FF2B5EF4-FFF2-40B4-BE49-F238E27FC236}">
                      <a16:creationId xmlns:a16="http://schemas.microsoft.com/office/drawing/2014/main" id="{055F20CE-2E45-5438-FEA1-A1BBD7612E97}"/>
                    </a:ext>
                  </a:extLst>
                </p:cNvPr>
                <p:cNvGrpSpPr/>
                <p:nvPr/>
              </p:nvGrpSpPr>
              <p:grpSpPr>
                <a:xfrm>
                  <a:off x="7354668" y="164444"/>
                  <a:ext cx="886714" cy="553007"/>
                  <a:chOff x="2403054" y="3026666"/>
                  <a:chExt cx="545710" cy="553007"/>
                </a:xfrm>
              </p:grpSpPr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988174AF-3F2F-F0D9-F794-ED113488E8F2}"/>
                      </a:ext>
                    </a:extLst>
                  </p:cNvPr>
                  <p:cNvSpPr/>
                  <p:nvPr/>
                </p:nvSpPr>
                <p:spPr>
                  <a:xfrm>
                    <a:off x="2403054" y="3026666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A5082C27-BDA1-703E-1298-DE985791588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𝑃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/>
                      </a:p>
                    </p:txBody>
                  </p:sp>
                </mc:Choice>
                <mc:Fallback xmlns="">
                  <p:sp>
                    <p:nvSpPr>
                      <p:cNvPr id="27" name="Textfeld 26">
                        <a:extLst>
                          <a:ext uri="{FF2B5EF4-FFF2-40B4-BE49-F238E27FC236}">
                            <a16:creationId xmlns:a16="http://schemas.microsoft.com/office/drawing/2014/main" id="{13A5449F-3C25-48E9-67BA-9AC49D78518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2000" b="-5217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8" name="Gruppieren 17">
                  <a:extLst>
                    <a:ext uri="{FF2B5EF4-FFF2-40B4-BE49-F238E27FC236}">
                      <a16:creationId xmlns:a16="http://schemas.microsoft.com/office/drawing/2014/main" id="{4FC729E3-EBA6-0BA1-A778-CC80E6B14DC6}"/>
                    </a:ext>
                  </a:extLst>
                </p:cNvPr>
                <p:cNvGrpSpPr/>
                <p:nvPr/>
              </p:nvGrpSpPr>
              <p:grpSpPr>
                <a:xfrm>
                  <a:off x="6014914" y="164444"/>
                  <a:ext cx="943472" cy="553007"/>
                  <a:chOff x="2676164" y="3940223"/>
                  <a:chExt cx="587951" cy="553007"/>
                </a:xfrm>
              </p:grpSpPr>
              <p:sp>
                <p:nvSpPr>
                  <p:cNvPr id="27" name="Rechteck 26">
                    <a:extLst>
                      <a:ext uri="{FF2B5EF4-FFF2-40B4-BE49-F238E27FC236}">
                        <a16:creationId xmlns:a16="http://schemas.microsoft.com/office/drawing/2014/main" id="{0FE82373-AA7C-1C68-F236-B67B0AAB99C3}"/>
                      </a:ext>
                    </a:extLst>
                  </p:cNvPr>
                  <p:cNvSpPr/>
                  <p:nvPr/>
                </p:nvSpPr>
                <p:spPr>
                  <a:xfrm>
                    <a:off x="2676164" y="3940223"/>
                    <a:ext cx="587951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DE407C93-D492-D366-4C50-A87FCCC99C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de-CH" sz="1800" b="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25" name="Textfeld 24">
                        <a:extLst>
                          <a:ext uri="{FF2B5EF4-FFF2-40B4-BE49-F238E27FC236}">
                            <a16:creationId xmlns:a16="http://schemas.microsoft.com/office/drawing/2014/main" id="{F62D2242-2E96-D0B1-46DD-DA92C10CE2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42B3ED40-7822-0B1D-25EF-0A7D9C7CBD1C}"/>
                    </a:ext>
                  </a:extLst>
                </p:cNvPr>
                <p:cNvCxnSpPr>
                  <a:cxnSpLocks/>
                  <a:endCxn id="27" idx="1"/>
                </p:cNvCxnSpPr>
                <p:nvPr/>
              </p:nvCxnSpPr>
              <p:spPr>
                <a:xfrm>
                  <a:off x="5573194" y="440947"/>
                  <a:ext cx="441721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CBFCE0D6-E960-A716-A052-C2276A3EE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91261" y="427669"/>
                  <a:ext cx="471157" cy="21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68AEE433-CB3F-667F-E50A-6F2411D122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9590DD7-1C6B-FBA6-3C54-C0EB1F9A95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0D09CB4B-0464-8DED-956E-17E6464EEA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707B7C53-42F0-5AFF-4A45-61C014ACDA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A831FB91-7131-D2CC-C0F8-3F6EB6BE8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68970" y="415816"/>
                  <a:ext cx="35954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Gerade Verbindung 23">
                  <a:extLst>
                    <a:ext uri="{FF2B5EF4-FFF2-40B4-BE49-F238E27FC236}">
                      <a16:creationId xmlns:a16="http://schemas.microsoft.com/office/drawing/2014/main" id="{835F9599-C17B-8C88-7D96-E1665767C8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15349" y="424960"/>
                  <a:ext cx="0" cy="7068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5E33BA5-6637-6F91-88C9-05A9327724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US" sz="1800" noProof="0"/>
                    </a:p>
                  </p:txBody>
                </p:sp>
              </mc:Choice>
              <mc:Fallback xmlns="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7E601BB7-EFCD-CCDA-E8A6-60715411AB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5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6" name="Gewinkelte Verbindung 25">
                  <a:extLst>
                    <a:ext uri="{FF2B5EF4-FFF2-40B4-BE49-F238E27FC236}">
                      <a16:creationId xmlns:a16="http://schemas.microsoft.com/office/drawing/2014/main" id="{C4928934-6FF4-1FB6-E06B-D5030D2F8BA8}"/>
                    </a:ext>
                  </a:extLst>
                </p:cNvPr>
                <p:cNvCxnSpPr/>
                <p:nvPr/>
              </p:nvCxnSpPr>
              <p:spPr>
                <a:xfrm rot="10800000">
                  <a:off x="5470419" y="537780"/>
                  <a:ext cx="3044931" cy="593980"/>
                </a:xfrm>
                <a:prstGeom prst="bentConnector3">
                  <a:avLst>
                    <a:gd name="adj1" fmla="val 100050"/>
                  </a:avLst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8683331F-297C-BDB5-E016-05474509492F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noProof="0">
                      <a:solidFill>
                        <a:srgbClr val="178F5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81FAB38F-0F8C-1C21-9A28-069FBA7DD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424D5C28-8F06-BA87-03F3-A8180381F5E2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42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DE8BD879-7AFA-70D6-B0D1-60B539969F48}"/>
                </a:ext>
              </a:extLst>
            </p:cNvPr>
            <p:cNvCxnSpPr>
              <a:cxnSpLocks/>
            </p:cNvCxnSpPr>
            <p:nvPr/>
          </p:nvCxnSpPr>
          <p:spPr>
            <a:xfrm>
              <a:off x="6060005" y="2301484"/>
              <a:ext cx="0" cy="3157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667326F-420A-7B1B-27DA-0B32E94581EB}"/>
                    </a:ext>
                  </a:extLst>
                </p:cNvPr>
                <p:cNvSpPr txBox="1"/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341BE6B6-C1C5-6728-FF3E-B13ADF5C2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F95C264-5D0F-4495-A797-F8D0E0D97E9C}"/>
                    </a:ext>
                  </a:extLst>
                </p:cNvPr>
                <p:cNvSpPr txBox="1"/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58668B0D-E56C-19D8-909D-416A80BCB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26A0A5E3-F0C0-5C0B-79A8-265E87CBF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8204" y="2933486"/>
              <a:ext cx="25612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3107CD3A-A8EA-3D7B-3538-7983AC7A1B91}"/>
              </a:ext>
            </a:extLst>
          </p:cNvPr>
          <p:cNvGrpSpPr/>
          <p:nvPr/>
        </p:nvGrpSpPr>
        <p:grpSpPr>
          <a:xfrm>
            <a:off x="227598" y="2073388"/>
            <a:ext cx="4760628" cy="1063023"/>
            <a:chOff x="379998" y="2065188"/>
            <a:chExt cx="4760628" cy="1063023"/>
          </a:xfrm>
        </p:grpSpPr>
        <p:sp>
          <p:nvSpPr>
            <p:cNvPr id="31" name="Inhaltsplatzhalter 2">
              <a:extLst>
                <a:ext uri="{FF2B5EF4-FFF2-40B4-BE49-F238E27FC236}">
                  <a16:creationId xmlns:a16="http://schemas.microsoft.com/office/drawing/2014/main" id="{3E93CEB5-C64E-721F-FB14-7E059B7EC449}"/>
                </a:ext>
              </a:extLst>
            </p:cNvPr>
            <p:cNvSpPr txBox="1">
              <a:spLocks/>
            </p:cNvSpPr>
            <p:nvPr/>
          </p:nvSpPr>
          <p:spPr>
            <a:xfrm>
              <a:off x="379998" y="2104212"/>
              <a:ext cx="767013" cy="3422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None/>
              </a:pPr>
              <a:r>
                <a:rPr lang="en-US" sz="1600"/>
                <a:t>Recall: </a:t>
              </a:r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D02395B7-933C-ED04-4413-6EF2F9B69180}"/>
                </a:ext>
              </a:extLst>
            </p:cNvPr>
            <p:cNvGrpSpPr/>
            <p:nvPr/>
          </p:nvGrpSpPr>
          <p:grpSpPr>
            <a:xfrm>
              <a:off x="1391957" y="2403744"/>
              <a:ext cx="3748669" cy="724467"/>
              <a:chOff x="1391957" y="2403744"/>
              <a:chExt cx="3748669" cy="7244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feld 31">
                    <a:extLst>
                      <a:ext uri="{FF2B5EF4-FFF2-40B4-BE49-F238E27FC236}">
                        <a16:creationId xmlns:a16="http://schemas.microsoft.com/office/drawing/2014/main" id="{25D5A949-FA4C-C2F0-174C-9CE8ABBAA72B}"/>
                      </a:ext>
                    </a:extLst>
                  </p:cNvPr>
                  <p:cNvSpPr txBox="1"/>
                  <p:nvPr/>
                </p:nvSpPr>
                <p:spPr>
                  <a:xfrm>
                    <a:off x="1450666" y="2451852"/>
                    <a:ext cx="3631250" cy="628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1600" i="1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err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 err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2" name="Textfeld 31">
                    <a:extLst>
                      <a:ext uri="{FF2B5EF4-FFF2-40B4-BE49-F238E27FC236}">
                        <a16:creationId xmlns:a16="http://schemas.microsoft.com/office/drawing/2014/main" id="{25D5A949-FA4C-C2F0-174C-9CE8ABBAA7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666" y="2451852"/>
                    <a:ext cx="3631250" cy="62824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0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Rectangle: Rounded Corners 17">
                <a:extLst>
                  <a:ext uri="{FF2B5EF4-FFF2-40B4-BE49-F238E27FC236}">
                    <a16:creationId xmlns:a16="http://schemas.microsoft.com/office/drawing/2014/main" id="{14CE7F1F-8C32-BBB5-D44A-2AB34179E3F8}"/>
                  </a:ext>
                </a:extLst>
              </p:cNvPr>
              <p:cNvSpPr/>
              <p:nvPr/>
            </p:nvSpPr>
            <p:spPr>
              <a:xfrm>
                <a:off x="1391957" y="2403744"/>
                <a:ext cx="3748669" cy="724467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F5F30BAE-712A-7C27-04A7-82A0454A0899}"/>
                </a:ext>
              </a:extLst>
            </p:cNvPr>
            <p:cNvSpPr txBox="1"/>
            <p:nvPr/>
          </p:nvSpPr>
          <p:spPr>
            <a:xfrm>
              <a:off x="1391957" y="2065188"/>
              <a:ext cx="17251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>
                  <a:latin typeface="Segoe UI" panose="020B0502040204020203" pitchFamily="34" charset="0"/>
                  <a:cs typeface="Segoe UI" panose="020B0502040204020203" pitchFamily="34" charset="0"/>
                </a:rPr>
                <a:t>Transfer Function</a:t>
              </a:r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F46397A-FA42-C185-CB02-E9383111F0D0}"/>
              </a:ext>
            </a:extLst>
          </p:cNvPr>
          <p:cNvGrpSpPr/>
          <p:nvPr/>
        </p:nvGrpSpPr>
        <p:grpSpPr>
          <a:xfrm>
            <a:off x="478380" y="3454859"/>
            <a:ext cx="2262414" cy="968746"/>
            <a:chOff x="227598" y="3386593"/>
            <a:chExt cx="2262414" cy="968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F83DB50-EDCD-D340-2987-DC1CD7D63412}"/>
                    </a:ext>
                  </a:extLst>
                </p:cNvPr>
                <p:cNvSpPr txBox="1"/>
                <p:nvPr/>
              </p:nvSpPr>
              <p:spPr>
                <a:xfrm>
                  <a:off x="227598" y="3386593"/>
                  <a:ext cx="22624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Input: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F83DB50-EDCD-D340-2987-DC1CD7D63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98" y="3386593"/>
                  <a:ext cx="2262414" cy="338554"/>
                </a:xfrm>
                <a:prstGeom prst="rect">
                  <a:avLst/>
                </a:prstGeom>
                <a:blipFill>
                  <a:blip r:embed="rId14"/>
                  <a:stretch>
                    <a:fillRect l="-1111" t="-7407" b="-259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A9C8073-993B-A949-739E-F53BE5A6E1D1}"/>
                    </a:ext>
                  </a:extLst>
                </p:cNvPr>
                <p:cNvSpPr txBox="1"/>
                <p:nvPr/>
              </p:nvSpPr>
              <p:spPr>
                <a:xfrm>
                  <a:off x="233519" y="3770564"/>
                  <a:ext cx="212949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ẋ</m:t>
                        </m:r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𝐴𝑥</m:t>
                        </m:r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𝐵𝑒</m:t>
                        </m:r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de-CH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𝐶𝑥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𝐷𝑒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A9C8073-993B-A949-739E-F53BE5A6E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519" y="3770564"/>
                  <a:ext cx="2129494" cy="584775"/>
                </a:xfrm>
                <a:prstGeom prst="rect">
                  <a:avLst/>
                </a:prstGeom>
                <a:blipFill>
                  <a:blip r:embed="rId15"/>
                  <a:stretch>
                    <a:fillRect b="-85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5F41262-A8CD-C3D2-A724-1B9BCC0C83E8}"/>
              </a:ext>
            </a:extLst>
          </p:cNvPr>
          <p:cNvGrpSpPr/>
          <p:nvPr/>
        </p:nvGrpSpPr>
        <p:grpSpPr>
          <a:xfrm>
            <a:off x="3838573" y="3327118"/>
            <a:ext cx="4165805" cy="1394489"/>
            <a:chOff x="4921370" y="3108521"/>
            <a:chExt cx="4165805" cy="1394489"/>
          </a:xfrm>
        </p:grpSpPr>
        <p:pic>
          <p:nvPicPr>
            <p:cNvPr id="39" name="Grafik 38" descr="Ein Bild, das Text, Reihe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AFE8BA90-7028-857C-B7F4-1850D88D4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14847"/>
            <a:stretch>
              <a:fillRect/>
            </a:stretch>
          </p:blipFill>
          <p:spPr>
            <a:xfrm>
              <a:off x="4921370" y="3140237"/>
              <a:ext cx="4130710" cy="1317559"/>
            </a:xfrm>
            <a:prstGeom prst="rect">
              <a:avLst/>
            </a:prstGeom>
          </p:spPr>
        </p:pic>
        <p:sp>
          <p:nvSpPr>
            <p:cNvPr id="41" name="Rectangle: Rounded Corners 17">
              <a:extLst>
                <a:ext uri="{FF2B5EF4-FFF2-40B4-BE49-F238E27FC236}">
                  <a16:creationId xmlns:a16="http://schemas.microsoft.com/office/drawing/2014/main" id="{4A2D3E13-2802-A33E-9F65-7BD5E976C5E4}"/>
                </a:ext>
              </a:extLst>
            </p:cNvPr>
            <p:cNvSpPr/>
            <p:nvPr/>
          </p:nvSpPr>
          <p:spPr>
            <a:xfrm>
              <a:off x="4988226" y="3108521"/>
              <a:ext cx="4098949" cy="1394489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670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36AF34E-0BCB-BB06-D18D-3CD163A9E0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Implementing a Controller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36AF34E-0BCB-BB06-D18D-3CD163A9E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nhaltsplatzhalter 6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99620FF9-3935-ED0D-63E1-104BFCF75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23487" y="2401463"/>
            <a:ext cx="3487786" cy="211279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5D45C0-99E9-45AB-8D82-E8AB24AC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C23B60-D08D-6042-F14A-EC028B6B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FDBB3C7-23A5-805F-37F7-E03D16D5EA22}"/>
              </a:ext>
            </a:extLst>
          </p:cNvPr>
          <p:cNvGrpSpPr/>
          <p:nvPr/>
        </p:nvGrpSpPr>
        <p:grpSpPr>
          <a:xfrm>
            <a:off x="5136595" y="921915"/>
            <a:ext cx="3811891" cy="1140799"/>
            <a:chOff x="2898655" y="2021863"/>
            <a:chExt cx="3811891" cy="114079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2209D5C8-FBA5-4219-594A-54C09BEB7FF8}"/>
                </a:ext>
              </a:extLst>
            </p:cNvPr>
            <p:cNvGrpSpPr/>
            <p:nvPr/>
          </p:nvGrpSpPr>
          <p:grpSpPr>
            <a:xfrm>
              <a:off x="2898655" y="2301484"/>
              <a:ext cx="3674865" cy="861178"/>
              <a:chOff x="4572000" y="136095"/>
              <a:chExt cx="4060935" cy="1116001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72C867E7-67A4-289A-ED51-4030B7740FDA}"/>
                  </a:ext>
                </a:extLst>
              </p:cNvPr>
              <p:cNvGrpSpPr/>
              <p:nvPr/>
            </p:nvGrpSpPr>
            <p:grpSpPr>
              <a:xfrm>
                <a:off x="4572000" y="136095"/>
                <a:ext cx="4060935" cy="1116001"/>
                <a:chOff x="4891261" y="15759"/>
                <a:chExt cx="4060935" cy="1116001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9D253B21-CCB0-45AD-23F9-694C9F111F48}"/>
                    </a:ext>
                  </a:extLst>
                </p:cNvPr>
                <p:cNvSpPr/>
                <p:nvPr/>
              </p:nvSpPr>
              <p:spPr>
                <a:xfrm>
                  <a:off x="5362418" y="321780"/>
                  <a:ext cx="216000" cy="216000"/>
                </a:xfrm>
                <a:prstGeom prst="ellipse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noProof="0"/>
                </a:p>
              </p:txBody>
            </p: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EDAB1836-F223-2D8F-63E0-7D6BA2E53F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41382" y="424960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Gruppieren 18">
                  <a:extLst>
                    <a:ext uri="{FF2B5EF4-FFF2-40B4-BE49-F238E27FC236}">
                      <a16:creationId xmlns:a16="http://schemas.microsoft.com/office/drawing/2014/main" id="{560D93B9-972E-4508-0BEF-1AFB1197D378}"/>
                    </a:ext>
                  </a:extLst>
                </p:cNvPr>
                <p:cNvGrpSpPr/>
                <p:nvPr/>
              </p:nvGrpSpPr>
              <p:grpSpPr>
                <a:xfrm>
                  <a:off x="7354668" y="164444"/>
                  <a:ext cx="886714" cy="553007"/>
                  <a:chOff x="2403054" y="3026666"/>
                  <a:chExt cx="545710" cy="553007"/>
                </a:xfrm>
              </p:grpSpPr>
              <p:sp>
                <p:nvSpPr>
                  <p:cNvPr id="31" name="Rechteck 30">
                    <a:extLst>
                      <a:ext uri="{FF2B5EF4-FFF2-40B4-BE49-F238E27FC236}">
                        <a16:creationId xmlns:a16="http://schemas.microsoft.com/office/drawing/2014/main" id="{75E9E36B-661B-07B2-58A8-2AFF6CF9F43D}"/>
                      </a:ext>
                    </a:extLst>
                  </p:cNvPr>
                  <p:cNvSpPr/>
                  <p:nvPr/>
                </p:nvSpPr>
                <p:spPr>
                  <a:xfrm>
                    <a:off x="2403054" y="3026666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feld 31">
                        <a:extLst>
                          <a:ext uri="{FF2B5EF4-FFF2-40B4-BE49-F238E27FC236}">
                            <a16:creationId xmlns:a16="http://schemas.microsoft.com/office/drawing/2014/main" id="{FC05AF69-EA4E-6B88-3994-607731E8DB0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𝑃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/>
                      </a:p>
                    </p:txBody>
                  </p:sp>
                </mc:Choice>
                <mc:Fallback xmlns="">
                  <p:sp>
                    <p:nvSpPr>
                      <p:cNvPr id="27" name="Textfeld 26">
                        <a:extLst>
                          <a:ext uri="{FF2B5EF4-FFF2-40B4-BE49-F238E27FC236}">
                            <a16:creationId xmlns:a16="http://schemas.microsoft.com/office/drawing/2014/main" id="{13A5449F-3C25-48E9-67BA-9AC49D78518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2000" b="-5217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0" name="Gruppieren 19">
                  <a:extLst>
                    <a:ext uri="{FF2B5EF4-FFF2-40B4-BE49-F238E27FC236}">
                      <a16:creationId xmlns:a16="http://schemas.microsoft.com/office/drawing/2014/main" id="{A61866A9-C9B3-FC33-5DA3-3AFD51047BAE}"/>
                    </a:ext>
                  </a:extLst>
                </p:cNvPr>
                <p:cNvGrpSpPr/>
                <p:nvPr/>
              </p:nvGrpSpPr>
              <p:grpSpPr>
                <a:xfrm>
                  <a:off x="6014914" y="164444"/>
                  <a:ext cx="943472" cy="553007"/>
                  <a:chOff x="2676164" y="3940223"/>
                  <a:chExt cx="587951" cy="553007"/>
                </a:xfrm>
              </p:grpSpPr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D8C78680-8DA5-17B9-BD42-FE65F4A72DCB}"/>
                      </a:ext>
                    </a:extLst>
                  </p:cNvPr>
                  <p:cNvSpPr/>
                  <p:nvPr/>
                </p:nvSpPr>
                <p:spPr>
                  <a:xfrm>
                    <a:off x="2676164" y="3940223"/>
                    <a:ext cx="587951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7207BEBA-AA93-2B70-FD4E-3BFE57E3BB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de-CH" sz="1800" b="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25" name="Textfeld 24">
                        <a:extLst>
                          <a:ext uri="{FF2B5EF4-FFF2-40B4-BE49-F238E27FC236}">
                            <a16:creationId xmlns:a16="http://schemas.microsoft.com/office/drawing/2014/main" id="{F62D2242-2E96-D0B1-46DD-DA92C10CE2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A106FBC4-C995-935E-7C03-7E2E6661C04D}"/>
                    </a:ext>
                  </a:extLst>
                </p:cNvPr>
                <p:cNvCxnSpPr>
                  <a:cxnSpLocks/>
                  <a:endCxn id="29" idx="1"/>
                </p:cNvCxnSpPr>
                <p:nvPr/>
              </p:nvCxnSpPr>
              <p:spPr>
                <a:xfrm>
                  <a:off x="5573194" y="440947"/>
                  <a:ext cx="441721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3096251A-0746-FB0B-BCE9-191C1F99C7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91261" y="427669"/>
                  <a:ext cx="471157" cy="21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feld 22">
                      <a:extLst>
                        <a:ext uri="{FF2B5EF4-FFF2-40B4-BE49-F238E27FC236}">
                          <a16:creationId xmlns:a16="http://schemas.microsoft.com/office/drawing/2014/main" id="{A92AC60B-25AA-DC47-FBE6-85AB653B52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9590DD7-1C6B-FBA6-3C54-C0EB1F9A95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BC696E3D-EC3B-7002-BD2C-066A21B472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707B7C53-42F0-5AFF-4A45-61C014ACDA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5" name="Gerade Verbindung mit Pfeil 24">
                  <a:extLst>
                    <a:ext uri="{FF2B5EF4-FFF2-40B4-BE49-F238E27FC236}">
                      <a16:creationId xmlns:a16="http://schemas.microsoft.com/office/drawing/2014/main" id="{A4B21003-F10D-9535-5273-AA70CEAA48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68970" y="415816"/>
                  <a:ext cx="35954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Gerade Verbindung 25">
                  <a:extLst>
                    <a:ext uri="{FF2B5EF4-FFF2-40B4-BE49-F238E27FC236}">
                      <a16:creationId xmlns:a16="http://schemas.microsoft.com/office/drawing/2014/main" id="{B9CDB255-DE11-2072-7B00-A0A9DA6092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15349" y="424960"/>
                  <a:ext cx="0" cy="7068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feld 26">
                      <a:extLst>
                        <a:ext uri="{FF2B5EF4-FFF2-40B4-BE49-F238E27FC236}">
                          <a16:creationId xmlns:a16="http://schemas.microsoft.com/office/drawing/2014/main" id="{000F4F36-6239-A516-7778-3204655054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US" sz="1800" noProof="0"/>
                    </a:p>
                  </p:txBody>
                </p:sp>
              </mc:Choice>
              <mc:Fallback xmlns="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7E601BB7-EFCD-CCDA-E8A6-60715411AB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5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Gewinkelte Verbindung 27">
                  <a:extLst>
                    <a:ext uri="{FF2B5EF4-FFF2-40B4-BE49-F238E27FC236}">
                      <a16:creationId xmlns:a16="http://schemas.microsoft.com/office/drawing/2014/main" id="{FE492ED2-BFD3-78EA-A951-303BD3218AC4}"/>
                    </a:ext>
                  </a:extLst>
                </p:cNvPr>
                <p:cNvCxnSpPr/>
                <p:nvPr/>
              </p:nvCxnSpPr>
              <p:spPr>
                <a:xfrm rot="10800000">
                  <a:off x="5470419" y="537780"/>
                  <a:ext cx="3044931" cy="593980"/>
                </a:xfrm>
                <a:prstGeom prst="bentConnector3">
                  <a:avLst>
                    <a:gd name="adj1" fmla="val 100050"/>
                  </a:avLst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574D83D8-42EC-0263-8DD4-9B985DA7681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noProof="0">
                      <a:solidFill>
                        <a:srgbClr val="178F5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81FAB38F-0F8C-1C21-9A28-069FBA7DD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A1562829-0DBB-9A6B-AAF8-9AFA49B69B47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42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7D20EF50-E4ED-9FA3-14FA-A12C7036B6AD}"/>
                </a:ext>
              </a:extLst>
            </p:cNvPr>
            <p:cNvCxnSpPr>
              <a:cxnSpLocks/>
            </p:cNvCxnSpPr>
            <p:nvPr/>
          </p:nvCxnSpPr>
          <p:spPr>
            <a:xfrm>
              <a:off x="6060005" y="2301484"/>
              <a:ext cx="0" cy="3157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5D7C582-B4B4-A376-7386-04DF407865C3}"/>
                    </a:ext>
                  </a:extLst>
                </p:cNvPr>
                <p:cNvSpPr txBox="1"/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341BE6B6-C1C5-6728-FF3E-B13ADF5C2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724A0338-5A58-3AD3-C424-CB7494D86BE3}"/>
                    </a:ext>
                  </a:extLst>
                </p:cNvPr>
                <p:cNvSpPr txBox="1"/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58668B0D-E56C-19D8-909D-416A80BCB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0DEBBB0C-BAAD-5FB3-1675-54911EB860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8204" y="2933486"/>
              <a:ext cx="25612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Grafik 33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CABF8C49-B933-E05B-F814-A4ECCD1C9D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606" y="1354066"/>
            <a:ext cx="3875142" cy="31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5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8C870-CD6F-5DBF-E060-E5B8574843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3. Non-Linearities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E78DB90-9937-BF50-1F6B-DC5EB0CE0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367EE7-BD0B-6DE3-8806-B4FD623F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A16CD2-56DE-B024-0E4E-862C4B46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127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0F55A38B-F68C-3851-7015-F7AD29D45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800" y="3181895"/>
            <a:ext cx="6671127" cy="165360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4EABC8A-EDDF-993E-F1A2-35D6D0B5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69C89B-E7B1-1E9C-B2BF-83AEBE5FDD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88962"/>
                <a:ext cx="7886700" cy="3442065"/>
              </a:xfrm>
            </p:spPr>
            <p:txBody>
              <a:bodyPr>
                <a:noAutofit/>
              </a:bodyPr>
              <a:lstStyle/>
              <a:p>
                <a:r>
                  <a:rPr lang="en-US" sz="1600" noProof="0" dirty="0"/>
                  <a:t>Tools we have learnt in CS1 only valid for linear systems</a:t>
                </a:r>
              </a:p>
              <a:p>
                <a:r>
                  <a:rPr lang="en-US" sz="1600" dirty="0"/>
                  <a:t>Most systems in real world are non-linear</a:t>
                </a:r>
              </a:p>
              <a:p>
                <a:r>
                  <a:rPr lang="en-US" sz="1600" noProof="0" dirty="0"/>
                  <a:t>to bridge this gap </a:t>
                </a:r>
                <a14:m>
                  <m:oMath xmlns:m="http://schemas.openxmlformats.org/officeDocument/2006/math">
                    <m:r>
                      <a:rPr lang="en-US" sz="1600" i="1" noProof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noProof="0" dirty="0"/>
                  <a:t> linearize systems around equilibrium points</a:t>
                </a:r>
              </a:p>
              <a:p>
                <a:r>
                  <a:rPr lang="en-US" sz="1600" dirty="0"/>
                  <a:t>we did this with Jacobian linearization procedure that takes some non-linear system:</a:t>
                </a:r>
              </a:p>
              <a:p>
                <a:endParaRPr lang="en-US" sz="1600" dirty="0"/>
              </a:p>
              <a:p>
                <a:pPr marL="0" indent="0">
                  <a:buNone/>
                </a:pPr>
                <a:endParaRPr lang="en-US" sz="1600" noProof="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69C89B-E7B1-1E9C-B2BF-83AEBE5FD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88962"/>
                <a:ext cx="7886700" cy="3442065"/>
              </a:xfrm>
              <a:blipFill>
                <a:blip r:embed="rId4"/>
                <a:stretch>
                  <a:fillRect l="-322" t="-1103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EB5DF7-C29B-EF72-77B3-74EFFCE7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74BA1E-0169-182B-DF1A-79AB1D46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6B8E7B5-7BF7-4749-5B21-0E7F51278353}"/>
                  </a:ext>
                </a:extLst>
              </p:cNvPr>
              <p:cNvSpPr txBox="1"/>
              <p:nvPr/>
            </p:nvSpPr>
            <p:spPr>
              <a:xfrm>
                <a:off x="3507553" y="2313536"/>
                <a:ext cx="2006062" cy="648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ẋ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6B8E7B5-7BF7-4749-5B21-0E7F51278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53" y="2313536"/>
                <a:ext cx="2006062" cy="6482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AB544605-F1D9-D7D9-0534-CB5ED1D44CEF}"/>
              </a:ext>
            </a:extLst>
          </p:cNvPr>
          <p:cNvSpPr txBox="1"/>
          <p:nvPr/>
        </p:nvSpPr>
        <p:spPr>
          <a:xfrm>
            <a:off x="261664" y="2931328"/>
            <a:ext cx="8497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and produces a linearized system valid around the equilibrium point. The system is given by:</a:t>
            </a:r>
          </a:p>
        </p:txBody>
      </p:sp>
    </p:spTree>
    <p:extLst>
      <p:ext uri="{BB962C8B-B14F-4D97-AF65-F5344CB8AC3E}">
        <p14:creationId xmlns:p14="http://schemas.microsoft.com/office/powerpoint/2010/main" val="19833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CA440-33E5-89FF-C09E-EA6A00544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3600" dirty="0"/>
              <a:t>Hartman–</a:t>
            </a:r>
            <a:r>
              <a:rPr lang="de-CH" sz="3600" dirty="0" err="1"/>
              <a:t>Grobman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592442-6784-EE88-F9AF-41A261E20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3268"/>
            <a:ext cx="7886700" cy="1072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Given </a:t>
            </a:r>
            <a:r>
              <a:rPr lang="de-CH" sz="1600" dirty="0" err="1"/>
              <a:t>this</a:t>
            </a:r>
            <a:r>
              <a:rPr lang="de-CH" sz="1600" dirty="0"/>
              <a:t> </a:t>
            </a:r>
            <a:r>
              <a:rPr lang="de-CH" sz="1600" dirty="0" err="1"/>
              <a:t>linearization</a:t>
            </a:r>
            <a:r>
              <a:rPr lang="de-CH" sz="1600" dirty="0"/>
              <a:t>, </a:t>
            </a:r>
            <a:r>
              <a:rPr lang="de-CH" sz="1600" dirty="0" err="1"/>
              <a:t>the</a:t>
            </a:r>
            <a:r>
              <a:rPr lang="de-CH" sz="1600" dirty="0"/>
              <a:t> Hartman–</a:t>
            </a:r>
            <a:r>
              <a:rPr lang="de-CH" sz="1600" dirty="0" err="1"/>
              <a:t>Grobman</a:t>
            </a:r>
            <a:r>
              <a:rPr lang="de-CH" sz="1600" dirty="0"/>
              <a:t> </a:t>
            </a:r>
            <a:r>
              <a:rPr lang="de-CH" sz="1600" dirty="0" err="1"/>
              <a:t>theorem</a:t>
            </a:r>
            <a:r>
              <a:rPr lang="de-CH" sz="1600" dirty="0"/>
              <a:t> </a:t>
            </a:r>
            <a:r>
              <a:rPr lang="de-CH" sz="1600" dirty="0" err="1"/>
              <a:t>tells</a:t>
            </a:r>
            <a:r>
              <a:rPr lang="de-CH" sz="1600" dirty="0"/>
              <a:t> </a:t>
            </a:r>
            <a:r>
              <a:rPr lang="de-CH" sz="1600" dirty="0" err="1"/>
              <a:t>us</a:t>
            </a:r>
            <a:r>
              <a:rPr lang="de-CH" sz="1600" dirty="0"/>
              <a:t> </a:t>
            </a:r>
            <a:r>
              <a:rPr lang="de-CH" sz="1600" dirty="0" err="1"/>
              <a:t>that</a:t>
            </a:r>
            <a:r>
              <a:rPr lang="de-CH" sz="1600" dirty="0"/>
              <a:t> </a:t>
            </a:r>
            <a:r>
              <a:rPr lang="de-CH" sz="1600" dirty="0" err="1"/>
              <a:t>if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linearized</a:t>
            </a:r>
            <a:r>
              <a:rPr lang="de-CH" sz="1600" dirty="0"/>
              <a:t> </a:t>
            </a:r>
            <a:r>
              <a:rPr lang="de-CH" sz="1600" dirty="0" err="1"/>
              <a:t>system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 </a:t>
            </a:r>
            <a:r>
              <a:rPr lang="de-CH" sz="1600" dirty="0" err="1"/>
              <a:t>closed</a:t>
            </a:r>
            <a:r>
              <a:rPr lang="de-CH" sz="1600" dirty="0"/>
              <a:t>-loop BIBO </a:t>
            </a:r>
            <a:r>
              <a:rPr lang="de-CH" sz="1600" dirty="0" err="1"/>
              <a:t>stable</a:t>
            </a:r>
            <a:r>
              <a:rPr lang="de-CH" sz="1600" dirty="0"/>
              <a:t>, </a:t>
            </a:r>
            <a:r>
              <a:rPr lang="de-CH" sz="1600" dirty="0" err="1"/>
              <a:t>then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nonlinear</a:t>
            </a:r>
            <a:r>
              <a:rPr lang="de-CH" sz="1600" dirty="0"/>
              <a:t> </a:t>
            </a:r>
            <a:r>
              <a:rPr lang="de-CH" sz="1600" dirty="0" err="1"/>
              <a:t>system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 also </a:t>
            </a:r>
            <a:r>
              <a:rPr lang="de-CH" sz="1600" dirty="0" err="1"/>
              <a:t>stable</a:t>
            </a:r>
            <a:r>
              <a:rPr lang="de-CH" sz="1600" dirty="0"/>
              <a:t> in a </a:t>
            </a:r>
            <a:r>
              <a:rPr lang="de-CH" sz="1600" dirty="0" err="1"/>
              <a:t>range</a:t>
            </a:r>
            <a:r>
              <a:rPr lang="de-CH" sz="1600" dirty="0"/>
              <a:t> </a:t>
            </a:r>
            <a:r>
              <a:rPr lang="de-CH" sz="1600" dirty="0" err="1"/>
              <a:t>around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equilibrium</a:t>
            </a:r>
            <a:r>
              <a:rPr lang="de-CH" sz="1600" dirty="0"/>
              <a:t> </a:t>
            </a:r>
            <a:r>
              <a:rPr lang="de-CH" sz="1600" dirty="0" err="1"/>
              <a:t>point</a:t>
            </a:r>
            <a:r>
              <a:rPr lang="de-CH" sz="1600" dirty="0"/>
              <a:t>. </a:t>
            </a:r>
            <a:r>
              <a:rPr lang="de-CH" sz="1600" dirty="0" err="1"/>
              <a:t>We</a:t>
            </a:r>
            <a:r>
              <a:rPr lang="de-CH" sz="1600" dirty="0"/>
              <a:t> just </a:t>
            </a:r>
            <a:r>
              <a:rPr lang="de-CH" sz="1600" dirty="0" err="1"/>
              <a:t>don’t</a:t>
            </a:r>
            <a:r>
              <a:rPr lang="de-CH" sz="1600" dirty="0"/>
              <a:t> </a:t>
            </a:r>
            <a:r>
              <a:rPr lang="de-CH" sz="1600" dirty="0" err="1"/>
              <a:t>know</a:t>
            </a:r>
            <a:r>
              <a:rPr lang="de-CH" sz="1600" dirty="0"/>
              <a:t> </a:t>
            </a:r>
            <a:r>
              <a:rPr lang="de-CH" sz="1600" dirty="0" err="1"/>
              <a:t>how</a:t>
            </a:r>
            <a:r>
              <a:rPr lang="de-CH" sz="1600" dirty="0"/>
              <a:t> large </a:t>
            </a:r>
            <a:r>
              <a:rPr lang="de-CH" sz="1600" dirty="0" err="1"/>
              <a:t>that</a:t>
            </a:r>
            <a:r>
              <a:rPr lang="de-CH" sz="1600" dirty="0"/>
              <a:t> </a:t>
            </a:r>
            <a:r>
              <a:rPr lang="de-CH" sz="1600" dirty="0" err="1"/>
              <a:t>region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.</a:t>
            </a:r>
          </a:p>
          <a:p>
            <a:pPr marL="0" indent="0">
              <a:buNone/>
            </a:pPr>
            <a:endParaRPr lang="de-CH" sz="1600" dirty="0"/>
          </a:p>
          <a:p>
            <a:pPr marL="0" indent="0">
              <a:buNone/>
            </a:pPr>
            <a:endParaRPr lang="de-CH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EBF842-3F18-A081-5315-AD798F94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63BC9C-57AE-FA0D-3C9E-5861EFDF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C2BF917-40A0-8A97-0B73-DBAA9A9FD774}"/>
              </a:ext>
            </a:extLst>
          </p:cNvPr>
          <p:cNvSpPr txBox="1"/>
          <p:nvPr/>
        </p:nvSpPr>
        <p:spPr>
          <a:xfrm>
            <a:off x="628650" y="2712406"/>
            <a:ext cx="79975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Design a linear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compensator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linear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model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CL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stable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will also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stable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in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region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equilibrium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Check in a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simulation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your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robust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respect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typical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deviations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189A10-2712-3396-8BCA-7DBB69C38621}"/>
              </a:ext>
            </a:extLst>
          </p:cNvPr>
          <p:cNvSpPr txBox="1"/>
          <p:nvPr/>
        </p:nvSpPr>
        <p:spPr>
          <a:xfrm>
            <a:off x="628650" y="2571750"/>
            <a:ext cx="769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now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want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design a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controller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proceed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follows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8897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A84E7-4CF4-05D3-DBE6-A6E5E52B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pic>
        <p:nvPicPr>
          <p:cNvPr id="7" name="Inhaltsplatzhalter 6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9B06656A-230A-F051-DA68-7FC357D77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176" y="1268016"/>
            <a:ext cx="5019547" cy="326231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3191A5-E414-3EB5-6000-BDE22B6C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DC6C71-8915-9A13-FED7-16D0FD53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181EAAC7-1B2C-29D5-3B00-37C86453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383" b="47874"/>
          <a:stretch>
            <a:fillRect/>
          </a:stretch>
        </p:blipFill>
        <p:spPr>
          <a:xfrm>
            <a:off x="5264319" y="0"/>
            <a:ext cx="3879681" cy="103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35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9315"/>
            <a:ext cx="7886700" cy="994172"/>
          </a:xfrm>
        </p:spPr>
        <p:txBody>
          <a:bodyPr/>
          <a:lstStyle/>
          <a:p>
            <a:r>
              <a:rPr lang="en-US" noProof="0"/>
              <a:t>Tips for Problem Set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3465335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H" sz="20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3465335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2500" r="-100481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US" kern="1200" noProof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/>
              <p:nvPr/>
            </p:nvSpPr>
            <p:spPr>
              <a:xfrm>
                <a:off x="217250" y="2215072"/>
                <a:ext cx="4221579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1.1) recall gain &amp; phase margins from last week &amp; how to close the Nyquist plot if there are poles on the imaginary axis</a:t>
                </a:r>
              </a:p>
              <a:p>
                <a:endParaRPr lang="en-US" sz="12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1.2) recall formula for </a:t>
                </a:r>
                <a:r>
                  <a:rPr lang="en-US" sz="1200" noProof="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Padé</a:t>
                </a:r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1200" noProof="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Approximatio</a:t>
                </a:r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 &amp; plot Root Locus, Bode Plot &amp; Nyquist with the tools (or look up in solutions) . For Bode Plot we need positive margins for stability and for Nyquist Plot recall Nyquist Criterion</a:t>
                </a:r>
              </a:p>
              <a:p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50" y="2215072"/>
                <a:ext cx="4221579" cy="2123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360CB55-1417-F5E6-5EDE-A73BB7EAA460}"/>
                  </a:ext>
                </a:extLst>
              </p:cNvPr>
              <p:cNvSpPr txBox="1"/>
              <p:nvPr/>
            </p:nvSpPr>
            <p:spPr>
              <a:xfrm>
                <a:off x="4705173" y="2194582"/>
                <a:ext cx="4221580" cy="2796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1.3a) look up lead/lag-elements from last week, lag elements introduce phase lag.</a:t>
                </a:r>
              </a:p>
              <a:p>
                <a:endParaRPr lang="en-US" sz="12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For the condition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num>
                      <m:den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𝑏</m:t>
                        </m:r>
                      </m:den>
                    </m:f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=10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: Influence of disturbance on error is given by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CH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de-CH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200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de-CH" sz="1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CH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2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den>
                    </m:f>
                    <m:r>
                      <a:rPr lang="de-CH" sz="1200" i="1" dirty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de-CH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CH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2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sz="1200" dirty="0"/>
                  <a:t>, </a:t>
                </a:r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 for an error smaller than 1% we need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&gt;100</m:t>
                    </m:r>
                  </m:oMath>
                </a14:m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The current magnitude at crossover is: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200" i="1" dirty="0" err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𝑔𝑐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≈10</m:t>
                    </m:r>
                  </m:oMath>
                </a14:m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so we need an increase in magnitude of 10.</a:t>
                </a:r>
              </a:p>
              <a:p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1.3b) which element increases phase? what is the current phase margin and how much do we need to increase it? use the following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2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200" i="1" err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de-CH" sz="1200" i="1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de-CH" sz="1200" i="1" err="1">
                        <a:latin typeface="Cambria Math" panose="02040503050406030204" pitchFamily="18" charset="0"/>
                      </a:rPr>
                      <m:t>arctan</m:t>
                    </m:r>
                    <m:d>
                      <m:dPr>
                        <m:ctrlPr>
                          <a:rPr lang="de-CH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de-CH" sz="1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de-CH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12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de-CH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de-CH" sz="1200" i="1">
                        <a:latin typeface="Cambria Math" panose="02040503050406030204" pitchFamily="18" charset="0"/>
                      </a:rPr>
                      <m:t>–90°</m:t>
                    </m:r>
                  </m:oMath>
                </a14:m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360CB55-1417-F5E6-5EDE-A73BB7EAA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173" y="2194582"/>
                <a:ext cx="4221580" cy="2796343"/>
              </a:xfrm>
              <a:prstGeom prst="rect">
                <a:avLst/>
              </a:prstGeom>
              <a:blipFill>
                <a:blip r:embed="rId4"/>
                <a:stretch>
                  <a:fillRect r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/>
              <a:t>Too fast? Too slow? Less theory, more exercises?</a:t>
            </a:r>
          </a:p>
          <a:p>
            <a:r>
              <a:rPr lang="en-US" noProof="0"/>
              <a:t>I would appreciate your feedback. Please let me know.</a:t>
            </a:r>
          </a:p>
          <a:p>
            <a:r>
              <a:rPr lang="en-US" noProof="0">
                <a:hlinkClick r:id="rId2"/>
              </a:rPr>
              <a:t>https://docs.google.com/forms/d/e/1FAIpQLSdHl0kjWo63aNzDkAV0cnmQadCAj5L0D7v7aSh0BK7BBdEgpA/viewform?usp=header</a:t>
            </a:r>
            <a:endParaRPr lang="en-US" noProof="0"/>
          </a:p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1691</Words>
  <Application>Microsoft Macintosh PowerPoint</Application>
  <PresentationFormat>Bildschirmpräsentation (16:9)</PresentationFormat>
  <Paragraphs>265</Paragraphs>
  <Slides>28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7" baseType="lpstr">
      <vt:lpstr>Segoe UI Black</vt:lpstr>
      <vt:lpstr>Calibri</vt:lpstr>
      <vt:lpstr>Cambria Math</vt:lpstr>
      <vt:lpstr>Segoe UI Semibold</vt:lpstr>
      <vt:lpstr>Quattrocento Sans</vt:lpstr>
      <vt:lpstr>Segoe UI</vt:lpstr>
      <vt:lpstr>Segoe UI Light</vt:lpstr>
      <vt:lpstr>Arial</vt:lpstr>
      <vt:lpstr>Office</vt:lpstr>
      <vt:lpstr>CS1 Week 12 Empty</vt:lpstr>
      <vt:lpstr>Attention! 🚨</vt:lpstr>
      <vt:lpstr>Recap Last Week</vt:lpstr>
      <vt:lpstr>Quiz 1 </vt:lpstr>
      <vt:lpstr>Quiz 2 </vt:lpstr>
      <vt:lpstr>Quiz 3</vt:lpstr>
      <vt:lpstr>Quiz 4</vt:lpstr>
      <vt:lpstr>Quiz 5</vt:lpstr>
      <vt:lpstr>Course Schedule</vt:lpstr>
      <vt:lpstr>Today</vt:lpstr>
      <vt:lpstr>1. Time-delays</vt:lpstr>
      <vt:lpstr>Introduction</vt:lpstr>
      <vt:lpstr>Frequency Response of Time Delays</vt:lpstr>
      <vt:lpstr>Effects of Time Delays</vt:lpstr>
      <vt:lpstr>Effects of Time Delays</vt:lpstr>
      <vt:lpstr>Rationalizing Time Delay TF</vt:lpstr>
      <vt:lpstr>Padé Approximation</vt:lpstr>
      <vt:lpstr>Exam Problem</vt:lpstr>
      <vt:lpstr>2. Designing Compensators</vt:lpstr>
      <vt:lpstr>Implementing a Controller C(s)</vt:lpstr>
      <vt:lpstr>Implementing a Controller C(s)</vt:lpstr>
      <vt:lpstr>3. Non-Linearities</vt:lpstr>
      <vt:lpstr>Non-Linearities</vt:lpstr>
      <vt:lpstr>Hartman–Grobman</vt:lpstr>
      <vt:lpstr>Appendix</vt:lpstr>
      <vt:lpstr>Tips for Problem Set 11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5</cp:revision>
  <dcterms:created xsi:type="dcterms:W3CDTF">2025-10-18T14:01:04Z</dcterms:created>
  <dcterms:modified xsi:type="dcterms:W3CDTF">2025-12-04T22:59:00Z</dcterms:modified>
</cp:coreProperties>
</file>