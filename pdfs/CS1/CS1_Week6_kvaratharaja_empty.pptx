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41"/>
  </p:notesMasterIdLst>
  <p:handoutMasterIdLst>
    <p:handoutMasterId r:id="rId42"/>
  </p:handoutMasterIdLst>
  <p:sldIdLst>
    <p:sldId id="256" r:id="rId2"/>
    <p:sldId id="1173" r:id="rId3"/>
    <p:sldId id="1052" r:id="rId4"/>
    <p:sldId id="1139" r:id="rId5"/>
    <p:sldId id="1183" r:id="rId6"/>
    <p:sldId id="1184" r:id="rId7"/>
    <p:sldId id="1187" r:id="rId8"/>
    <p:sldId id="1189" r:id="rId9"/>
    <p:sldId id="1190" r:id="rId10"/>
    <p:sldId id="1185" r:id="rId11"/>
    <p:sldId id="1186" r:id="rId12"/>
    <p:sldId id="1188" r:id="rId13"/>
    <p:sldId id="1070" r:id="rId14"/>
    <p:sldId id="257" r:id="rId15"/>
    <p:sldId id="1097" r:id="rId16"/>
    <p:sldId id="1191" r:id="rId17"/>
    <p:sldId id="1193" r:id="rId18"/>
    <p:sldId id="1192" r:id="rId19"/>
    <p:sldId id="1198" r:id="rId20"/>
    <p:sldId id="1200" r:id="rId21"/>
    <p:sldId id="1199" r:id="rId22"/>
    <p:sldId id="1206" r:id="rId23"/>
    <p:sldId id="1209" r:id="rId24"/>
    <p:sldId id="1210" r:id="rId25"/>
    <p:sldId id="1201" r:id="rId26"/>
    <p:sldId id="1174" r:id="rId27"/>
    <p:sldId id="1197" r:id="rId28"/>
    <p:sldId id="1208" r:id="rId29"/>
    <p:sldId id="1204" r:id="rId30"/>
    <p:sldId id="1213" r:id="rId31"/>
    <p:sldId id="1211" r:id="rId32"/>
    <p:sldId id="1212" r:id="rId33"/>
    <p:sldId id="1194" r:id="rId34"/>
    <p:sldId id="1195" r:id="rId35"/>
    <p:sldId id="1196" r:id="rId36"/>
    <p:sldId id="1181" r:id="rId37"/>
    <p:sldId id="1171" r:id="rId38"/>
    <p:sldId id="1118" r:id="rId39"/>
    <p:sldId id="1067" r:id="rId4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3"/>
    </p:embeddedFont>
    <p:embeddedFont>
      <p:font typeface="Quattrocento Sans" panose="020B0502050000020003" pitchFamily="34" charset="0"/>
      <p:regular r:id="rId44"/>
      <p:bold r:id="rId45"/>
      <p:italic r:id="rId46"/>
      <p:boldItalic r:id="rId47"/>
    </p:embeddedFont>
    <p:embeddedFont>
      <p:font typeface="Segoe UI" panose="020B0502040204020203" pitchFamily="34" charset="0"/>
      <p:regular r:id="rId48"/>
      <p:bold r:id="rId49"/>
      <p:italic r:id="rId50"/>
      <p:boldItalic r:id="rId51"/>
    </p:embeddedFont>
    <p:embeddedFont>
      <p:font typeface="Segoe UI Black" panose="020B0502040204020203" pitchFamily="34" charset="0"/>
      <p:bold r:id="rId52"/>
      <p:italic r:id="rId53"/>
      <p:boldItalic r:id="rId54"/>
    </p:embeddedFont>
    <p:embeddedFont>
      <p:font typeface="Segoe UI Light" panose="020B0502040204020203" pitchFamily="34" charset="0"/>
      <p:regular r:id="rId55"/>
      <p:italic r:id="rId56"/>
    </p:embeddedFont>
    <p:embeddedFont>
      <p:font typeface="Segoe UI Semibold" panose="020B0502040204020203" pitchFamily="3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rdabschnitt" id="{C6295B93-5FFC-9442-A817-245B0E7A1F78}">
          <p14:sldIdLst>
            <p14:sldId id="256"/>
            <p14:sldId id="1173"/>
            <p14:sldId id="1052"/>
            <p14:sldId id="1139"/>
            <p14:sldId id="1183"/>
            <p14:sldId id="1184"/>
            <p14:sldId id="1187"/>
            <p14:sldId id="1189"/>
            <p14:sldId id="1190"/>
            <p14:sldId id="1185"/>
            <p14:sldId id="1186"/>
            <p14:sldId id="1188"/>
            <p14:sldId id="1070"/>
            <p14:sldId id="257"/>
          </p14:sldIdLst>
        </p14:section>
        <p14:section name="Time response" id="{1FBDD870-616A-2043-9AB2-93A2A117B0C5}">
          <p14:sldIdLst>
            <p14:sldId id="1097"/>
            <p14:sldId id="1191"/>
            <p14:sldId id="1193"/>
            <p14:sldId id="1192"/>
          </p14:sldIdLst>
        </p14:section>
        <p14:section name="System Response" id="{99F6F273-773A-6046-92C4-2E3701EFB2E9}">
          <p14:sldIdLst>
            <p14:sldId id="1198"/>
            <p14:sldId id="1200"/>
            <p14:sldId id="1199"/>
            <p14:sldId id="1206"/>
            <p14:sldId id="1209"/>
            <p14:sldId id="1210"/>
            <p14:sldId id="1201"/>
          </p14:sldIdLst>
        </p14:section>
        <p14:section name="Poles &amp; Zeros" id="{AB066B52-7B3D-FD40-BEC1-580AB52DEF13}">
          <p14:sldIdLst>
            <p14:sldId id="1174"/>
            <p14:sldId id="1197"/>
            <p14:sldId id="1208"/>
            <p14:sldId id="1204"/>
            <p14:sldId id="1213"/>
            <p14:sldId id="1211"/>
            <p14:sldId id="1212"/>
          </p14:sldIdLst>
        </p14:section>
        <p14:section name="Summary &amp; Problem Sets" id="{BCE4D2BE-C8A5-E54A-85DF-74588FB6A961}">
          <p14:sldIdLst>
            <p14:sldId id="1194"/>
            <p14:sldId id="1195"/>
            <p14:sldId id="1196"/>
            <p14:sldId id="1181"/>
            <p14:sldId id="1171"/>
          </p14:sldIdLst>
        </p14:section>
        <p14:section name="Ende" id="{FDF356B0-7B14-AF44-83A9-6B143533D1BA}">
          <p14:sldIdLst>
            <p14:sldId id="1118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E7E7E8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81850-AAF6-DF48-900B-E4758AE6F9F1}" v="2544" dt="2025-10-23T23:15:23.099"/>
    <p1510:client id="{7B04D8A5-460B-BC4F-892E-39CCBB76D5A7}" v="107" dt="2025-10-23T21:17:12.2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40" autoAdjust="0"/>
    <p:restoredTop sz="89470"/>
  </p:normalViewPr>
  <p:slideViewPr>
    <p:cSldViewPr snapToGrid="0">
      <p:cViewPr varScale="1">
        <p:scale>
          <a:sx n="152" d="100"/>
          <a:sy n="152" d="100"/>
        </p:scale>
        <p:origin x="1320" y="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920"/>
    </p:cViewPr>
  </p:outlineViewPr>
  <p:notesTextViewPr>
    <p:cViewPr>
      <p:scale>
        <a:sx n="145" d="100"/>
        <a:sy n="14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1:13:53.3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21498 8103 11505,'-6'0'1048,"1"5"-715,5 1-85,0 5 0,0 4-48,0 2 110,0 4-61,0 5-1,0 1-813,0 5 571,0 5 304,0-4-62,0 4-797,0-5 372,0 0 137,0-5-1343,-5-1 822,4 0 303,-4-3-1398,5-2 790,0-5 298,0-6 781,0 1-1404,5-1 1256,-4-4 0,13-25 0,-2-10 0</inkml:trace>
  <inkml:trace contextRef="#ctx0" brushRef="#br0" timeOffset="1">21679 8359 8205,'0'11'472,"-5"-5"-225,4 3 336,-4-3-167,5 5-1,0 0-168,0-1 249,0 1-249,0 4 0,0-3 0,0 4-355,0-1 178,0-3 61,0 3 116,0 1-527,0-5 244,0 5-1,0-10-508,0 3 380,0-8 136,0 9-561,0-9 323,0 4 84,5-5 5,-4-5-179,4-1 162,-5-4-126,0-6 262,0 0-342,5-6-27,-4 1 224,8 0 77,-8-1 238,9 1 0,-9 0-289,9-1 699,-9 1-297,8 0-159,-3-1 640,0 6-365,4-4-141,-5 8 121,6-4 25,-5 1-53,4 3 0,-5 1-206,6 2 576,0 8-129,-5-4-48,3 5-297,-8 0 165,9 0-132,-9 5 76,4 5 102,-5 7-156,5 4 18,-4 5-176,3-3-1,-4 3 156,0-5 46,0 1-521,0-1 205,0 0 0,0-4 182,0-2-742,0-4 365,0-5 157,0 3-79,0-8-152,0 4 115,5-5 1,-4 0-397,9-9 276,-9 2 36,9-9-13,-5 1-75,6 3 238,-5-8-144,4 8 393,-5-8-295,6 8 20,0-8-22,-1 8 421,1-3-202,0 4 28,-1 5-132,1-3 877,0 7-396,-1-2-228,1 4 499,0 0-336,-1 0-74,1 4 877,-5 2-438,-1 10-273,-1 0 31,-2 6 33,2-1 1,-4 0-275,0 1 0,0-6-1209,0 4 666,0-3 241,0 4-1103,5-4-973,-4 3 1007,4-8 583,0 3 541,-4-9 0,8-20 0,-3-10 0</inkml:trace>
  <inkml:trace contextRef="#ctx0" brushRef="#br0" timeOffset="2">23694 10844 8219,'-6'0'1572,"-3"0"-1154,8 0-1,-9 0 462,9 4-315,-4 2-158,5 0 62,0 8-261,0-7 41,0 14 1,0-5-414,0 6 269,0 4-62,0 1 207,5 0-253,-4-1 0,4-5 253,-5 6-705,5-10 296,-4 8 80,4-13 0,-5 8-361,0-13 249,0 3 31,0-5-6,0-4-164,0 3 0,-5-8 220,4-2-190,-4-10-49,0 0 277,4-6-43,-4 1-239,5-5-145,0-1 395,0-5 46,0 5-55,0-4-32,0 4 26,0-5 472,0 4-225,5 2-22,1 0-203,5 4 703,-1-4-322,1 4-109,0 6 482,-1-4-250,6 8-182,-5-4 145,10 6-45,-10-1 459,5 5-645,-1 1 26,-3 1 0,8 2 45,-8-2-31,3 8-140,-4 2 140,-5 5 41,4 0-42,-9-1-186,3 1-1,-4 0 121,0 4 38,0-3-197,0 3-71,-4 1 235,3-4-238,-9 3-1,4-4 216,-5-1-200,1 1-36,-1 0 205,0-1-36,-4-4 29,3 4-60,-3-9 62,4 8-101,1-8-56,-1 9 81,0-9 39,5 9 332,-3-4-150,8-1-3,-9 5-163,9-4 336,-4 5 0,5-6-250,0 5-120,0-4 118,5 5-19,-4-1 54,13 1-917,-7 0 414,9-1 226,-1 1-43,-3-1-1553,8 1 777,-3 0 430,4-1-1024,0 1 614,1 0 921,-1-1 0,24 6 0,6 0 0</inkml:trace>
  <inkml:trace contextRef="#ctx0" brushRef="#br0" timeOffset="3">24131 10982 8197,'-10'6'0,"-1"4"1968,0-9-864,5 8-433,2-8 637,4 4 42,0-5-1107,4 0 3,2 0 0,5 0 1,4 0-648,-3 0 385,4 0 101,-1 0-1,-3-5-978,3 4 520,-4-8 259,4 8-356,-7-9 262,6 9-1,-8-9 23,0 5 381,-2-1-154,-4-4-88,0 4 274,0-4-269,0-1 0,-4 0 0,-2 5 152,-10-3-137,4 3 114,-8 0-89,8 1 524,-8 5-239,8 0-63,-8 0 89,8 0 745,-3 5-460,4 1-184,1 9 990,-1-3-553,5 8-239,-3-3 333,7 4-347,-2 5-173,4-3 0,0 3-333,4-5 63,7 0 96,1 1 0,8-1-461,-3-4 231,4-2 0,5-9-1768,-3-1 957,12-5-371,-6 0 1009,12-10-4464,-3-6 4621,5-7 0,-1-10 0,3 2 0,5-2 0,-23 15 0,1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013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2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0385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97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154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669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0" dirty="0"/>
          </a:p>
        </p:txBody>
      </p:sp>
    </p:spTree>
    <p:extLst>
      <p:ext uri="{BB962C8B-B14F-4D97-AF65-F5344CB8AC3E}">
        <p14:creationId xmlns:p14="http://schemas.microsoft.com/office/powerpoint/2010/main" val="426463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applying the </a:t>
            </a:r>
            <a:r>
              <a:rPr lang="en-US" dirty="0" err="1"/>
              <a:t>dirac</a:t>
            </a:r>
            <a:r>
              <a:rPr lang="en-US" dirty="0"/>
              <a:t> impulse we can directly observe how the poles of the system influence the </a:t>
            </a:r>
            <a:r>
              <a:rPr lang="en-US"/>
              <a:t>time reponse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242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090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26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790DAB1-6132-8E49-950C-7A4598C8BD5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B0CD05D9-D09D-3D4F-ABB6-B8CE6E32BC22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6185C12D-6E52-F241-A7F7-3B7AD5C9557C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EF7524D-3A07-A34A-9723-8DF210E9AD9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0C7E59-597D-B54B-A9E3-7D29B1447A1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AE2E1015-23F4-4B40-A11E-C001C2B9BC0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D306621-6DD1-614E-A652-AE9A8EB2D1A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7C8DF265-596D-3D4F-8B95-AA2651B4D46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EBA4EB2-964C-114D-A560-441B6A37627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2EF2A13-8ED6-3345-A350-8DA17845BB6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3B36267-238A-A141-939E-43BF76AEAD2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23.10.25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C2C286-74A8-CF18-6D5D-5483E3A588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5D8FA1-CEF5-7E41-FFD1-9BC94CF745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kissanv.github.io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customXml" Target="../ink/ink1.xml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5" Type="http://schemas.openxmlformats.org/officeDocument/2006/relationships/image" Target="../media/image710.png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7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Hl0kjWo63aNzDkAV0cnmQadCAj5L0D7v7aSh0BK7BBdEgpA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CS1 Week 6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Transfer functions: Poles and Zeros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DF04DF-8383-902C-FBB4-F0102DCA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C713B6-1FFB-692D-EEB4-2E58DF1B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Attention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9567C-6A4A-6755-BCFD-730DA914E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ETH no longer provides web hosting.</a:t>
            </a:r>
          </a:p>
          <a:p>
            <a:r>
              <a:rPr lang="en-US" noProof="0" dirty="0"/>
              <a:t>All my exercise class materials have been moved to GitHub Pages. </a:t>
            </a:r>
          </a:p>
          <a:p>
            <a:r>
              <a:rPr lang="en-US" noProof="0" dirty="0"/>
              <a:t>You can now find them under the following link:</a:t>
            </a:r>
          </a:p>
          <a:p>
            <a:pPr marL="0" indent="0">
              <a:buNone/>
            </a:pPr>
            <a:r>
              <a:rPr lang="en-US" noProof="0" dirty="0">
                <a:hlinkClick r:id="rId2"/>
              </a:rPr>
              <a:t>https://kissanv.github.io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Or you can scan the QR-Code: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8998C7-873B-FAA5-C92B-88A439A3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5B3064-9047-BCD7-A6EA-9AB20D09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F995995-B336-BD22-F6B4-4091DD5A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69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110B-6CB5-5994-04AE-824730E5F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Recap Last week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AD3CD8-E8F2-3C33-7DB9-8804A5B9A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010242-2D10-B3FC-938D-3ADDCFE1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E08D1C-18D4-1751-941C-81AF9A2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1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bgerundetes Rechteck 25">
            <a:extLst>
              <a:ext uri="{FF2B5EF4-FFF2-40B4-BE49-F238E27FC236}">
                <a16:creationId xmlns:a16="http://schemas.microsoft.com/office/drawing/2014/main" id="{89F5D5A1-2031-5998-FB7A-7E74E6A45B5C}"/>
              </a:ext>
            </a:extLst>
          </p:cNvPr>
          <p:cNvSpPr/>
          <p:nvPr/>
        </p:nvSpPr>
        <p:spPr>
          <a:xfrm>
            <a:off x="3771304" y="3940553"/>
            <a:ext cx="2853645" cy="793966"/>
          </a:xfrm>
          <a:prstGeom prst="round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05C9C965-6F12-BFAF-8D2F-2D3303FB8740}"/>
              </a:ext>
            </a:extLst>
          </p:cNvPr>
          <p:cNvSpPr/>
          <p:nvPr/>
        </p:nvSpPr>
        <p:spPr>
          <a:xfrm>
            <a:off x="100186" y="3930809"/>
            <a:ext cx="3565311" cy="686824"/>
          </a:xfrm>
          <a:prstGeom prst="roundRect">
            <a:avLst/>
          </a:prstGeom>
          <a:solidFill>
            <a:srgbClr val="FFFF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69D342D-FBFF-0DB7-8364-EF7B25D84B88}"/>
              </a:ext>
            </a:extLst>
          </p:cNvPr>
          <p:cNvSpPr/>
          <p:nvPr/>
        </p:nvSpPr>
        <p:spPr>
          <a:xfrm>
            <a:off x="1302633" y="3132130"/>
            <a:ext cx="613160" cy="574132"/>
          </a:xfrm>
          <a:prstGeom prst="rect">
            <a:avLst/>
          </a:prstGeom>
          <a:solidFill>
            <a:srgbClr val="FFFF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980874F-F48E-07B6-D5B2-27C6FAD83293}"/>
              </a:ext>
            </a:extLst>
          </p:cNvPr>
          <p:cNvSpPr/>
          <p:nvPr/>
        </p:nvSpPr>
        <p:spPr>
          <a:xfrm>
            <a:off x="2089207" y="3132130"/>
            <a:ext cx="2349723" cy="574132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39D9CB-F584-0FA2-6B58-1DF2E3AF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62" y="364136"/>
            <a:ext cx="2321412" cy="66385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Motivation</a:t>
            </a:r>
          </a:p>
        </p:txBody>
      </p:sp>
      <p:pic>
        <p:nvPicPr>
          <p:cNvPr id="7" name="Inhaltsplatzhalter 6" descr="Ein Bild, das Fahrzeug, Rad, Transport, Landfahrzeug enthält.&#10;&#10;KI-generierte Inhalte können fehlerhaft sein.">
            <a:extLst>
              <a:ext uri="{FF2B5EF4-FFF2-40B4-BE49-F238E27FC236}">
                <a16:creationId xmlns:a16="http://schemas.microsoft.com/office/drawing/2014/main" id="{62BC4D6A-9358-E535-6A09-BADA2D89A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220" t="33713" r="27727" b="17755"/>
          <a:stretch>
            <a:fillRect/>
          </a:stretch>
        </p:blipFill>
        <p:spPr>
          <a:xfrm>
            <a:off x="290779" y="1253603"/>
            <a:ext cx="2438125" cy="1090219"/>
          </a:xfrm>
          <a:noFill/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8E7F09-DFEC-940D-5C6D-968ACEB4B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 anchor="ctr">
            <a:normAutofit/>
          </a:bodyPr>
          <a:lstStyle/>
          <a:p>
            <a:pPr defTabSz="342900">
              <a:spcAft>
                <a:spcPts val="600"/>
              </a:spcAft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21D565-9331-417E-32F3-2A81A4B5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anchor="ctr">
            <a:normAutofit/>
          </a:bodyPr>
          <a:lstStyle/>
          <a:p>
            <a:pPr defTabSz="342900">
              <a:spcAft>
                <a:spcPts val="600"/>
              </a:spcAft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</a:rPr>
              <a:pPr defTabSz="342900">
                <a:spcAft>
                  <a:spcPts val="600"/>
                </a:spcAft>
                <a:buClrTx/>
              </a:pPr>
              <a:t>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8E92166-FD7E-FAB3-C2D8-F2C724405DAB}"/>
              </a:ext>
            </a:extLst>
          </p:cNvPr>
          <p:cNvCxnSpPr/>
          <p:nvPr/>
        </p:nvCxnSpPr>
        <p:spPr>
          <a:xfrm>
            <a:off x="2772654" y="1946721"/>
            <a:ext cx="901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243083BD-A857-302A-F7DA-FEA26A0D950C}"/>
              </a:ext>
            </a:extLst>
          </p:cNvPr>
          <p:cNvSpPr txBox="1"/>
          <p:nvPr/>
        </p:nvSpPr>
        <p:spPr>
          <a:xfrm>
            <a:off x="2731981" y="1381102"/>
            <a:ext cx="982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system modeling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86496E2-B3D6-C355-6926-955513540F17}"/>
              </a:ext>
            </a:extLst>
          </p:cNvPr>
          <p:cNvSpPr/>
          <p:nvPr/>
        </p:nvSpPr>
        <p:spPr>
          <a:xfrm>
            <a:off x="3758442" y="1598376"/>
            <a:ext cx="1251284" cy="61189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441C7BD-D587-41E8-9130-D430B1CB95B6}"/>
              </a:ext>
            </a:extLst>
          </p:cNvPr>
          <p:cNvSpPr txBox="1"/>
          <p:nvPr/>
        </p:nvSpPr>
        <p:spPr>
          <a:xfrm>
            <a:off x="3979165" y="1727481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Plant P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7ACCB85-EE33-6373-7570-975B51BD7755}"/>
              </a:ext>
            </a:extLst>
          </p:cNvPr>
          <p:cNvCxnSpPr/>
          <p:nvPr/>
        </p:nvCxnSpPr>
        <p:spPr>
          <a:xfrm>
            <a:off x="5160996" y="1946721"/>
            <a:ext cx="901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5A583337-728F-A4AE-96EF-AA161C2555B8}"/>
              </a:ext>
            </a:extLst>
          </p:cNvPr>
          <p:cNvSpPr txBox="1"/>
          <p:nvPr/>
        </p:nvSpPr>
        <p:spPr>
          <a:xfrm>
            <a:off x="4957115" y="1600568"/>
            <a:ext cx="1343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Linearization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94DEB70-20AB-8871-1AA2-5AD96D1E4161}"/>
                  </a:ext>
                </a:extLst>
              </p:cNvPr>
              <p:cNvSpPr txBox="1"/>
              <p:nvPr/>
            </p:nvSpPr>
            <p:spPr>
              <a:xfrm>
                <a:off x="5456934" y="1432331"/>
                <a:ext cx="394335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noProof="0" dirty="0">
                    <a:latin typeface="Cambria Math" panose="02040503050406030204" pitchFamily="18" charset="0"/>
                  </a:rPr>
                  <a:t>state-space representation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i="1" noProof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𝐷𝑢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noProof="0" dirty="0"/>
              </a:p>
              <a:p>
                <a:endParaRPr lang="en-US" sz="1600" noProof="0" dirty="0"/>
              </a:p>
              <a:p>
                <a:endParaRPr lang="en-US" sz="1600" noProof="0" dirty="0"/>
              </a:p>
              <a:p>
                <a:endParaRPr lang="en-US" sz="1600" noProof="0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94DEB70-20AB-8871-1AA2-5AD96D1E4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934" y="1432331"/>
                <a:ext cx="3943350" cy="1569660"/>
              </a:xfrm>
              <a:prstGeom prst="rect">
                <a:avLst/>
              </a:prstGeom>
              <a:blipFill>
                <a:blip r:embed="rId4"/>
                <a:stretch>
                  <a:fillRect t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7">
            <a:extLst>
              <a:ext uri="{FF2B5EF4-FFF2-40B4-BE49-F238E27FC236}">
                <a16:creationId xmlns:a16="http://schemas.microsoft.com/office/drawing/2014/main" id="{1AD42CEA-244A-34D5-E6FF-FCF1F81A1447}"/>
              </a:ext>
            </a:extLst>
          </p:cNvPr>
          <p:cNvSpPr/>
          <p:nvPr/>
        </p:nvSpPr>
        <p:spPr>
          <a:xfrm>
            <a:off x="6198526" y="1404294"/>
            <a:ext cx="2621023" cy="982996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0DC4CB75-55B2-8CBC-9598-14A463626B25}"/>
              </a:ext>
            </a:extLst>
          </p:cNvPr>
          <p:cNvCxnSpPr>
            <a:cxnSpLocks/>
          </p:cNvCxnSpPr>
          <p:nvPr/>
        </p:nvCxnSpPr>
        <p:spPr>
          <a:xfrm>
            <a:off x="7486650" y="2343827"/>
            <a:ext cx="6188" cy="709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D499087B-10D4-1CD0-FD79-512187370EE1}"/>
              </a:ext>
            </a:extLst>
          </p:cNvPr>
          <p:cNvSpPr txBox="1"/>
          <p:nvPr/>
        </p:nvSpPr>
        <p:spPr>
          <a:xfrm>
            <a:off x="7712728" y="2555150"/>
            <a:ext cx="1274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B069B898-0BA4-CE70-FC42-BAA6CDE9770A}"/>
              </a:ext>
            </a:extLst>
          </p:cNvPr>
          <p:cNvCxnSpPr>
            <a:cxnSpLocks/>
          </p:cNvCxnSpPr>
          <p:nvPr/>
        </p:nvCxnSpPr>
        <p:spPr>
          <a:xfrm flipH="1">
            <a:off x="6080968" y="3190112"/>
            <a:ext cx="9857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523676BC-25BB-52F6-EC94-EBF529C02439}"/>
              </a:ext>
            </a:extLst>
          </p:cNvPr>
          <p:cNvSpPr txBox="1"/>
          <p:nvPr/>
        </p:nvSpPr>
        <p:spPr>
          <a:xfrm>
            <a:off x="6133370" y="2861929"/>
            <a:ext cx="1101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9B732449-0343-999F-B966-29F2BD97C547}"/>
              </a:ext>
            </a:extLst>
          </p:cNvPr>
          <p:cNvSpPr/>
          <p:nvPr/>
        </p:nvSpPr>
        <p:spPr>
          <a:xfrm>
            <a:off x="4614959" y="2847344"/>
            <a:ext cx="1468295" cy="63916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CDE0EFD-F3C6-6216-0257-6B4988283BD2}"/>
              </a:ext>
            </a:extLst>
          </p:cNvPr>
          <p:cNvSpPr txBox="1"/>
          <p:nvPr/>
        </p:nvSpPr>
        <p:spPr>
          <a:xfrm>
            <a:off x="4653643" y="3013040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Controller C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18EECB1-F307-092E-35E6-E0AF69BFDA3C}"/>
              </a:ext>
            </a:extLst>
          </p:cNvPr>
          <p:cNvSpPr/>
          <p:nvPr/>
        </p:nvSpPr>
        <p:spPr>
          <a:xfrm>
            <a:off x="3516895" y="377950"/>
            <a:ext cx="216000" cy="216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/>
          </a:p>
        </p:txBody>
      </p: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827BF5C3-9AA6-A1F9-D436-198AC22472BF}"/>
              </a:ext>
            </a:extLst>
          </p:cNvPr>
          <p:cNvCxnSpPr>
            <a:cxnSpLocks/>
          </p:cNvCxnSpPr>
          <p:nvPr/>
        </p:nvCxnSpPr>
        <p:spPr>
          <a:xfrm>
            <a:off x="7074560" y="481130"/>
            <a:ext cx="71081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F4F1281B-1781-79B5-3E29-80A613FFE908}"/>
                  </a:ext>
                </a:extLst>
              </p:cNvPr>
              <p:cNvSpPr txBox="1"/>
              <p:nvPr/>
            </p:nvSpPr>
            <p:spPr>
              <a:xfrm>
                <a:off x="6891021" y="185965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F4F1281B-1781-79B5-3E29-80A613FFE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021" y="185965"/>
                <a:ext cx="1041569" cy="27699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D2C349FF-19D9-F109-FF5B-3BC492A3928F}"/>
              </a:ext>
            </a:extLst>
          </p:cNvPr>
          <p:cNvGrpSpPr/>
          <p:nvPr/>
        </p:nvGrpSpPr>
        <p:grpSpPr>
          <a:xfrm>
            <a:off x="5863474" y="220614"/>
            <a:ext cx="1214720" cy="553007"/>
            <a:chOff x="2403054" y="3026666"/>
            <a:chExt cx="545710" cy="553007"/>
          </a:xfrm>
        </p:grpSpPr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5EEDDCED-A0EF-E6FF-F46C-25C6F12CFF27}"/>
                </a:ext>
              </a:extLst>
            </p:cNvPr>
            <p:cNvSpPr/>
            <p:nvPr/>
          </p:nvSpPr>
          <p:spPr>
            <a:xfrm>
              <a:off x="2403054" y="3026666"/>
              <a:ext cx="545710" cy="55300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FB110D57-3477-8579-4262-340AB63B7408}"/>
                    </a:ext>
                  </a:extLst>
                </p:cNvPr>
                <p:cNvSpPr txBox="1"/>
                <p:nvPr/>
              </p:nvSpPr>
              <p:spPr>
                <a:xfrm>
                  <a:off x="2459135" y="3107336"/>
                  <a:ext cx="421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𝑃𝑙𝑎𝑛𝑡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FB110D57-3477-8579-4262-340AB63B7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9135" y="3107336"/>
                  <a:ext cx="42197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075B7882-CCB2-FBBA-371C-103023C14B5E}"/>
              </a:ext>
            </a:extLst>
          </p:cNvPr>
          <p:cNvGrpSpPr/>
          <p:nvPr/>
        </p:nvGrpSpPr>
        <p:grpSpPr>
          <a:xfrm>
            <a:off x="4111411" y="220614"/>
            <a:ext cx="1487073" cy="553007"/>
            <a:chOff x="2644416" y="3940223"/>
            <a:chExt cx="733159" cy="553007"/>
          </a:xfrm>
        </p:grpSpPr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173F6101-61D3-A5B8-8F3A-1D979CD6A712}"/>
                </a:ext>
              </a:extLst>
            </p:cNvPr>
            <p:cNvSpPr/>
            <p:nvPr/>
          </p:nvSpPr>
          <p:spPr>
            <a:xfrm>
              <a:off x="2676164" y="3940223"/>
              <a:ext cx="656588" cy="55300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E1E18E42-7025-6E86-A32E-180D67E06686}"/>
                    </a:ext>
                  </a:extLst>
                </p:cNvPr>
                <p:cNvSpPr txBox="1"/>
                <p:nvPr/>
              </p:nvSpPr>
              <p:spPr>
                <a:xfrm>
                  <a:off x="2644416" y="4016386"/>
                  <a:ext cx="7331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𝐶𝑜𝑛𝑡𝑟𝑜𝑙𝑙𝑒𝑟</m:t>
                      </m:r>
                    </m:oMath>
                  </a14:m>
                  <a:r>
                    <a:rPr lang="en-US" sz="1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𝐶</m:t>
                      </m:r>
                    </m:oMath>
                  </a14:m>
                  <a:endPara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E1E18E42-7025-6E86-A32E-180D67E066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4416" y="4016386"/>
                  <a:ext cx="73315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FC185D37-8E1C-B63E-406A-7D0CD4ECFFF0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3727671" y="497117"/>
            <a:ext cx="44813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403416A9-CDFD-A8D8-D430-D1806D147912}"/>
                  </a:ext>
                </a:extLst>
              </p:cNvPr>
              <p:cNvSpPr txBox="1"/>
              <p:nvPr/>
            </p:nvSpPr>
            <p:spPr>
              <a:xfrm>
                <a:off x="2739099" y="227256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403416A9-CDFD-A8D8-D430-D1806D147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099" y="227256"/>
                <a:ext cx="1041569" cy="276999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42AB0795-4518-BF6A-0125-BBBA1FB91761}"/>
              </a:ext>
            </a:extLst>
          </p:cNvPr>
          <p:cNvCxnSpPr>
            <a:cxnSpLocks/>
          </p:cNvCxnSpPr>
          <p:nvPr/>
        </p:nvCxnSpPr>
        <p:spPr>
          <a:xfrm>
            <a:off x="3045738" y="483839"/>
            <a:ext cx="471157" cy="2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5006961A-3029-FBCC-406E-14B10448BECE}"/>
                  </a:ext>
                </a:extLst>
              </p:cNvPr>
              <p:cNvSpPr txBox="1"/>
              <p:nvPr/>
            </p:nvSpPr>
            <p:spPr>
              <a:xfrm>
                <a:off x="3397362" y="228833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5006961A-3029-FBCC-406E-14B10448B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362" y="228833"/>
                <a:ext cx="1041569" cy="276999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E51720A9-0AA0-9A52-602E-71695973F69B}"/>
                  </a:ext>
                </a:extLst>
              </p:cNvPr>
              <p:cNvSpPr txBox="1"/>
              <p:nvPr/>
            </p:nvSpPr>
            <p:spPr>
              <a:xfrm>
                <a:off x="5164122" y="167864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E51720A9-0AA0-9A52-602E-71695973F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122" y="167864"/>
                <a:ext cx="1041569" cy="276999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B3DFDE81-CEF1-77B4-42C3-668073E60F33}"/>
              </a:ext>
            </a:extLst>
          </p:cNvPr>
          <p:cNvCxnSpPr>
            <a:cxnSpLocks/>
          </p:cNvCxnSpPr>
          <p:nvPr/>
        </p:nvCxnSpPr>
        <p:spPr>
          <a:xfrm>
            <a:off x="5507567" y="481130"/>
            <a:ext cx="3595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winkelte Verbindung 95">
            <a:extLst>
              <a:ext uri="{FF2B5EF4-FFF2-40B4-BE49-F238E27FC236}">
                <a16:creationId xmlns:a16="http://schemas.microsoft.com/office/drawing/2014/main" id="{53F47BEB-4597-DB6B-D164-68F25641DE68}"/>
              </a:ext>
            </a:extLst>
          </p:cNvPr>
          <p:cNvCxnSpPr>
            <a:cxnSpLocks/>
            <a:endCxn id="71" idx="4"/>
          </p:cNvCxnSpPr>
          <p:nvPr/>
        </p:nvCxnSpPr>
        <p:spPr>
          <a:xfrm rot="10800000">
            <a:off x="3624896" y="593951"/>
            <a:ext cx="3675049" cy="5939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109">
            <a:extLst>
              <a:ext uri="{FF2B5EF4-FFF2-40B4-BE49-F238E27FC236}">
                <a16:creationId xmlns:a16="http://schemas.microsoft.com/office/drawing/2014/main" id="{67270D7A-E435-2300-8D85-9A42177D2F1C}"/>
              </a:ext>
            </a:extLst>
          </p:cNvPr>
          <p:cNvCxnSpPr>
            <a:cxnSpLocks/>
          </p:cNvCxnSpPr>
          <p:nvPr/>
        </p:nvCxnSpPr>
        <p:spPr>
          <a:xfrm>
            <a:off x="7299942" y="481130"/>
            <a:ext cx="0" cy="7067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86AD7326-64FC-93B9-5C5C-8ABAF66030C7}"/>
                  </a:ext>
                </a:extLst>
              </p:cNvPr>
              <p:cNvSpPr txBox="1"/>
              <p:nvPr/>
            </p:nvSpPr>
            <p:spPr>
              <a:xfrm>
                <a:off x="3259883" y="462964"/>
                <a:ext cx="1041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86AD7326-64FC-93B9-5C5C-8ABAF6603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883" y="462964"/>
                <a:ext cx="10415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E3408FF6-0C87-854F-2C24-BE88E3F8EE33}"/>
              </a:ext>
            </a:extLst>
          </p:cNvPr>
          <p:cNvSpPr txBox="1"/>
          <p:nvPr/>
        </p:nvSpPr>
        <p:spPr>
          <a:xfrm>
            <a:off x="7078722" y="3028211"/>
            <a:ext cx="1908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Transfer Functions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0C8C2AA-73F2-A89C-BBE0-D98D512444AF}"/>
              </a:ext>
            </a:extLst>
          </p:cNvPr>
          <p:cNvSpPr txBox="1"/>
          <p:nvPr/>
        </p:nvSpPr>
        <p:spPr>
          <a:xfrm>
            <a:off x="3917147" y="2177225"/>
            <a:ext cx="1229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Ferrari 812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A415CAD0-BBE3-9CB1-E82E-3B5218072218}"/>
              </a:ext>
            </a:extLst>
          </p:cNvPr>
          <p:cNvGrpSpPr/>
          <p:nvPr/>
        </p:nvGrpSpPr>
        <p:grpSpPr>
          <a:xfrm>
            <a:off x="0" y="3127658"/>
            <a:ext cx="4481003" cy="583076"/>
            <a:chOff x="525682" y="4133172"/>
            <a:chExt cx="4481003" cy="583076"/>
          </a:xfrm>
        </p:grpSpPr>
        <p:sp>
          <p:nvSpPr>
            <p:cNvPr id="31" name="Rectangle: Rounded Corners 17">
              <a:extLst>
                <a:ext uri="{FF2B5EF4-FFF2-40B4-BE49-F238E27FC236}">
                  <a16:creationId xmlns:a16="http://schemas.microsoft.com/office/drawing/2014/main" id="{FC8E00E5-DFAF-477E-E1E0-41567A069ECD}"/>
                </a:ext>
              </a:extLst>
            </p:cNvPr>
            <p:cNvSpPr/>
            <p:nvPr/>
          </p:nvSpPr>
          <p:spPr>
            <a:xfrm>
              <a:off x="525682" y="4142116"/>
              <a:ext cx="4452717" cy="57413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0D2A61F-6E61-F5A8-6CF2-A3A345744A1D}"/>
                    </a:ext>
                  </a:extLst>
                </p:cNvPr>
                <p:cNvSpPr txBox="1"/>
                <p:nvPr/>
              </p:nvSpPr>
              <p:spPr>
                <a:xfrm>
                  <a:off x="525682" y="4133172"/>
                  <a:ext cx="4481003" cy="5741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𝐼𝐶</m:t>
                            </m:r>
                          </m:sub>
                        </m:s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𝐴𝑡</m:t>
                            </m:r>
                          </m:sup>
                        </m:sSup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nary>
                          <m:nary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nary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𝐷𝑢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0D2A61F-6E61-F5A8-6CF2-A3A345744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682" y="4133172"/>
                  <a:ext cx="4481003" cy="574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CACF1025-6B6E-539F-978B-588C918113FD}"/>
              </a:ext>
            </a:extLst>
          </p:cNvPr>
          <p:cNvSpPr txBox="1"/>
          <p:nvPr/>
        </p:nvSpPr>
        <p:spPr>
          <a:xfrm>
            <a:off x="981956" y="3704621"/>
            <a:ext cx="1099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noProof="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I.C. response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6C732EF-B04C-587C-AA0C-56F7483EA703}"/>
              </a:ext>
            </a:extLst>
          </p:cNvPr>
          <p:cNvSpPr txBox="1"/>
          <p:nvPr/>
        </p:nvSpPr>
        <p:spPr>
          <a:xfrm>
            <a:off x="2418834" y="3698650"/>
            <a:ext cx="1359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noProof="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Forced response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BFFC391C-80A6-C610-6595-DBBF3A86AFE6}"/>
              </a:ext>
            </a:extLst>
          </p:cNvPr>
          <p:cNvSpPr txBox="1"/>
          <p:nvPr/>
        </p:nvSpPr>
        <p:spPr>
          <a:xfrm>
            <a:off x="0" y="2803004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Time response: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126EFB5-A6D8-4657-1B68-149BE5DE4F06}"/>
                  </a:ext>
                </a:extLst>
              </p:cNvPr>
              <p:cNvSpPr txBox="1"/>
              <p:nvPr/>
            </p:nvSpPr>
            <p:spPr>
              <a:xfrm>
                <a:off x="-76030" y="3933238"/>
                <a:ext cx="3856697" cy="14201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de-CH" sz="1600" i="1" baseline="-25000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600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sz="1600" i="1" dirty="0" err="1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de-CH" sz="16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(0)=</m:t>
                      </m:r>
                      <m:r>
                        <a:rPr lang="de-CH" sz="1600" i="1" dirty="0" err="1"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de-CH" sz="1600" b="0" i="1" baseline="-2500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,…,</m:t>
                          </m:r>
                          <m:sSup>
                            <m:sSup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ₙ</m:t>
                              </m:r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CH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de-CH" sz="1600" i="1" baseline="-25000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sSup>
                        <m:sSup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(0)=</m:t>
                      </m:r>
                      <m:sSubSup>
                        <m:sSubSupPr>
                          <m:ctrlPr>
                            <a:rPr lang="el-GR" sz="16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1600" i="0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ᵢ</m:t>
                      </m:r>
                      <m:sSup>
                        <m:sSup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l-GR" sz="1600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ᵢ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sz="16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CH" sz="1600" i="1" dirty="0">
                  <a:latin typeface="Cambria Math" panose="02040503050406030204" pitchFamily="18" charset="0"/>
                </a:endParaRPr>
              </a:p>
              <a:p>
                <a:endParaRPr lang="de-CH" sz="1600" i="1" dirty="0">
                  <a:latin typeface="Cambria Math" panose="02040503050406030204" pitchFamily="18" charset="0"/>
                </a:endParaRPr>
              </a:p>
              <a:p>
                <a:endParaRPr lang="de-CH" sz="1600" i="1" dirty="0">
                  <a:latin typeface="Cambria Math" panose="02040503050406030204" pitchFamily="18" charset="0"/>
                </a:endParaRPr>
              </a:p>
              <a:p>
                <a:endParaRPr lang="de-CH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126EFB5-A6D8-4657-1B68-149BE5DE4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030" y="3933238"/>
                <a:ext cx="3856697" cy="14201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715834AA-FCD4-9ACB-E4FC-E4157F6410E5}"/>
              </a:ext>
            </a:extLst>
          </p:cNvPr>
          <p:cNvGrpSpPr/>
          <p:nvPr/>
        </p:nvGrpSpPr>
        <p:grpSpPr>
          <a:xfrm>
            <a:off x="3979165" y="4015511"/>
            <a:ext cx="2657095" cy="584775"/>
            <a:chOff x="3863334" y="4024200"/>
            <a:chExt cx="2657095" cy="5847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768E56BD-3028-221D-77E4-D5E81CBA4B94}"/>
                    </a:ext>
                  </a:extLst>
                </p:cNvPr>
                <p:cNvSpPr txBox="1"/>
                <p:nvPr/>
              </p:nvSpPr>
              <p:spPr>
                <a:xfrm>
                  <a:off x="3863334" y="4024200"/>
                  <a:ext cx="167784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i="1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lang="el-GR" sz="1600" dirty="0" err="1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l-GR" sz="1600" i="1" dirty="0" err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l-GR" sz="16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i="1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CH" sz="16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768E56BD-3028-221D-77E4-D5E81CBA4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334" y="4024200"/>
                  <a:ext cx="1677843" cy="584775"/>
                </a:xfrm>
                <a:prstGeom prst="rect">
                  <a:avLst/>
                </a:prstGeom>
                <a:blipFill>
                  <a:blip r:embed="rId14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Gekrümmte Verbindung 12">
              <a:extLst>
                <a:ext uri="{FF2B5EF4-FFF2-40B4-BE49-F238E27FC236}">
                  <a16:creationId xmlns:a16="http://schemas.microsoft.com/office/drawing/2014/main" id="{45FA4DC4-00F8-4369-89A1-26264BD68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2438" y="4220940"/>
              <a:ext cx="253274" cy="263140"/>
            </a:xfrm>
            <a:prstGeom prst="curvedConnector3">
              <a:avLst>
                <a:gd name="adj1" fmla="val -90258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AD2AF2C6-541B-D49C-E9C1-8560BA737CB9}"/>
                    </a:ext>
                  </a:extLst>
                </p:cNvPr>
                <p:cNvSpPr txBox="1"/>
                <p:nvPr/>
              </p:nvSpPr>
              <p:spPr>
                <a:xfrm>
                  <a:off x="5849924" y="4100972"/>
                  <a:ext cx="67050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  <m:r>
                          <m:rPr>
                            <m:lit/>
                          </m:rPr>
                          <a:rPr lang="en-US" sz="20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0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lit/>
                          </m:rPr>
                          <a:rPr lang="en-US" sz="20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AD2AF2C6-541B-D49C-E9C1-8560BA737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924" y="4100972"/>
                  <a:ext cx="670505" cy="400110"/>
                </a:xfrm>
                <a:prstGeom prst="rect">
                  <a:avLst/>
                </a:prstGeom>
                <a:blipFill>
                  <a:blip r:embed="rId15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2419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EEBEDC-A3CF-3104-9462-B5B3BDFC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 Response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05E3ED-190F-9E23-1F4C-433EB2FA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8"/>
            <a:ext cx="7886700" cy="3500438"/>
          </a:xfrm>
        </p:spPr>
        <p:txBody>
          <a:bodyPr>
            <a:normAutofit/>
          </a:bodyPr>
          <a:lstStyle/>
          <a:p>
            <a:r>
              <a:rPr lang="en-US" noProof="0" dirty="0"/>
              <a:t>We're still dealing with LTI systems:</a:t>
            </a:r>
          </a:p>
          <a:p>
            <a:r>
              <a:rPr lang="en-US" noProof="0" dirty="0"/>
              <a:t>We solved the ODE by splitting into initial and forced response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We want an easier way of describing the I/O relation</a:t>
            </a:r>
          </a:p>
          <a:p>
            <a:pPr marL="0" indent="0">
              <a:buNone/>
            </a:pPr>
            <a:r>
              <a:rPr lang="en-US" noProof="0" dirty="0">
                <a:sym typeface="Wingdings" pitchFamily="2" charset="2"/>
              </a:rPr>
              <a:t> Transfer function</a:t>
            </a:r>
            <a:r>
              <a:rPr lang="en-US" noProof="0" dirty="0"/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5D1F1E-449F-851D-9B56-CA94379E1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C84814-2012-EFCF-B6AB-6EA942D7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B8C344D-9563-2149-1195-693EA7B52D27}"/>
              </a:ext>
            </a:extLst>
          </p:cNvPr>
          <p:cNvGrpSpPr/>
          <p:nvPr/>
        </p:nvGrpSpPr>
        <p:grpSpPr>
          <a:xfrm>
            <a:off x="4465333" y="1168120"/>
            <a:ext cx="2313830" cy="584775"/>
            <a:chOff x="4977518" y="1220569"/>
            <a:chExt cx="2313830" cy="5847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4BC50E31-AFC9-8145-0B1C-70A653D05B77}"/>
                    </a:ext>
                  </a:extLst>
                </p:cNvPr>
                <p:cNvSpPr txBox="1"/>
                <p:nvPr/>
              </p:nvSpPr>
              <p:spPr>
                <a:xfrm>
                  <a:off x="4977518" y="1220569"/>
                  <a:ext cx="2313830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sz="1600" i="1" noProof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sz="1600" i="1" noProof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𝐷𝑢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4BC50E31-AFC9-8145-0B1C-70A653D05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518" y="1220569"/>
                  <a:ext cx="2313830" cy="584775"/>
                </a:xfrm>
                <a:prstGeom prst="rect">
                  <a:avLst/>
                </a:prstGeom>
                <a:blipFill>
                  <a:blip r:embed="rId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Geschweifte Klammer links 7">
              <a:extLst>
                <a:ext uri="{FF2B5EF4-FFF2-40B4-BE49-F238E27FC236}">
                  <a16:creationId xmlns:a16="http://schemas.microsoft.com/office/drawing/2014/main" id="{39E88C02-C971-7218-84FC-EF416C6D604F}"/>
                </a:ext>
              </a:extLst>
            </p:cNvPr>
            <p:cNvSpPr/>
            <p:nvPr/>
          </p:nvSpPr>
          <p:spPr>
            <a:xfrm>
              <a:off x="4977518" y="1295175"/>
              <a:ext cx="182880" cy="489883"/>
            </a:xfrm>
            <a:prstGeom prst="lef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1" name="Grafik 10" descr="Ein Bild, das Text, Schrift, Handschrift, Reihe enthält.&#10;&#10;KI-generierte Inhalte können fehlerhaft sein.">
            <a:extLst>
              <a:ext uri="{FF2B5EF4-FFF2-40B4-BE49-F238E27FC236}">
                <a16:creationId xmlns:a16="http://schemas.microsoft.com/office/drawing/2014/main" id="{244EF67C-7AA6-5337-6B2E-BD6DA23B3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1" y="2046666"/>
            <a:ext cx="5164378" cy="2073884"/>
          </a:xfrm>
          <a:prstGeom prst="rect">
            <a:avLst/>
          </a:prstGeom>
        </p:spPr>
      </p:pic>
      <p:sp>
        <p:nvSpPr>
          <p:cNvPr id="12" name="Geschweifte Klammer rechts 11">
            <a:extLst>
              <a:ext uri="{FF2B5EF4-FFF2-40B4-BE49-F238E27FC236}">
                <a16:creationId xmlns:a16="http://schemas.microsoft.com/office/drawing/2014/main" id="{A05DFDBE-E098-D5C3-A444-61E5F136D64B}"/>
              </a:ext>
            </a:extLst>
          </p:cNvPr>
          <p:cNvSpPr/>
          <p:nvPr/>
        </p:nvSpPr>
        <p:spPr>
          <a:xfrm>
            <a:off x="7028953" y="2046666"/>
            <a:ext cx="246490" cy="2073884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AB856C0-FD25-9EFD-7A5C-2708D2BCCCD7}"/>
              </a:ext>
            </a:extLst>
          </p:cNvPr>
          <p:cNvSpPr txBox="1"/>
          <p:nvPr/>
        </p:nvSpPr>
        <p:spPr>
          <a:xfrm>
            <a:off x="7399908" y="2739361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 dirty="0">
                <a:solidFill>
                  <a:srgbClr val="FF0000"/>
                </a:solidFill>
              </a:rPr>
              <a:t>difficult to </a:t>
            </a:r>
          </a:p>
          <a:p>
            <a:r>
              <a:rPr lang="en-US" sz="1800" noProof="0" dirty="0">
                <a:solidFill>
                  <a:srgbClr val="FF0000"/>
                </a:solidFill>
              </a:rPr>
              <a:t>compute</a:t>
            </a:r>
          </a:p>
        </p:txBody>
      </p:sp>
    </p:spTree>
    <p:extLst>
      <p:ext uri="{BB962C8B-B14F-4D97-AF65-F5344CB8AC3E}">
        <p14:creationId xmlns:p14="http://schemas.microsoft.com/office/powerpoint/2010/main" val="3900533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1F85C-9F1E-DCF1-A52D-5DED8BB2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Transfer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C667759-1205-4D07-D890-ED79DE34E0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92559"/>
                <a:ext cx="8406708" cy="3649938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Transfer function gives the relation between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noProof="0" dirty="0"/>
                  <a:t>:</a:t>
                </a:r>
              </a:p>
              <a:p>
                <a:r>
                  <a:rPr lang="en-US" noProof="0" dirty="0"/>
                  <a:t>We derived the general TF for LTI state-space:</a:t>
                </a:r>
              </a:p>
              <a:p>
                <a:endParaRPr lang="en-US" noProof="0" dirty="0"/>
              </a:p>
              <a:p>
                <a:pPr marL="0" indent="0">
                  <a:buNone/>
                </a:pPr>
                <a:endParaRPr lang="en-US" sz="2500" noProof="0" dirty="0"/>
              </a:p>
              <a:p>
                <a:r>
                  <a:rPr lang="en-US" noProof="0" dirty="0"/>
                  <a:t>To find the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noProof="0" dirty="0"/>
                  <a:t> we use Cramer's rule:</a:t>
                </a:r>
              </a:p>
              <a:p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  <a:p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 is defined in the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noProof="0" dirty="0"/>
                  <a:t>-domain but describes behavior in the time domain</a:t>
                </a:r>
              </a:p>
              <a:p>
                <a:r>
                  <a:rPr lang="en-US" noProof="0" dirty="0"/>
                  <a:t>Remember the steady-state output to the input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en-US" noProof="0" dirty="0"/>
                  <a:t> is: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baseline="-25000" noProof="0">
                        <a:latin typeface="Cambria Math" panose="02040503050406030204" pitchFamily="18" charset="0"/>
                      </a:rPr>
                      <m:t>𝑠𝑠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) </m:t>
                    </m:r>
                    <m:sSup>
                      <m:sSup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endParaRPr lang="en-US" noProof="0" dirty="0"/>
              </a:p>
              <a:p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C667759-1205-4D07-D890-ED79DE34E0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92559"/>
                <a:ext cx="8406708" cy="3649938"/>
              </a:xfrm>
              <a:blipFill>
                <a:blip r:embed="rId3"/>
                <a:stretch>
                  <a:fillRect l="-435" t="-1672" b="-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5FAD5F-D777-940B-8A06-AA6DAC0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7A03C6-C7B0-697B-CA85-916F8392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750100-A5E9-EFF6-BB31-46C8CFD6DFA6}"/>
              </a:ext>
            </a:extLst>
          </p:cNvPr>
          <p:cNvGrpSpPr/>
          <p:nvPr/>
        </p:nvGrpSpPr>
        <p:grpSpPr>
          <a:xfrm>
            <a:off x="6217755" y="1026460"/>
            <a:ext cx="2559715" cy="611001"/>
            <a:chOff x="6217755" y="1234679"/>
            <a:chExt cx="2559715" cy="6110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F41FBEC3-D357-F29D-0C06-4624BD23210E}"/>
                    </a:ext>
                  </a:extLst>
                </p:cNvPr>
                <p:cNvSpPr txBox="1"/>
                <p:nvPr/>
              </p:nvSpPr>
              <p:spPr>
                <a:xfrm>
                  <a:off x="6217755" y="1234679"/>
                  <a:ext cx="1160254" cy="6110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F41FBEC3-D357-F29D-0C06-4624BD232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755" y="1234679"/>
                  <a:ext cx="1160254" cy="61100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D2A5506-E5CD-7463-1AAB-7377EE35C32A}"/>
                    </a:ext>
                  </a:extLst>
                </p:cNvPr>
                <p:cNvSpPr txBox="1"/>
                <p:nvPr/>
              </p:nvSpPr>
              <p:spPr>
                <a:xfrm>
                  <a:off x="7785980" y="1355513"/>
                  <a:ext cx="9914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𝐺𝑈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D2A5506-E5CD-7463-1AAB-7377EE35C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980" y="1355513"/>
                  <a:ext cx="99149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77EF01F4-B773-33E9-E9C5-1D2175C9B12C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 flipV="1">
              <a:off x="7378009" y="1540179"/>
              <a:ext cx="407971" cy="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1E322B8-78EA-AD5B-C95E-DA6253B6000D}"/>
              </a:ext>
            </a:extLst>
          </p:cNvPr>
          <p:cNvGrpSpPr/>
          <p:nvPr/>
        </p:nvGrpSpPr>
        <p:grpSpPr>
          <a:xfrm>
            <a:off x="3002110" y="1951252"/>
            <a:ext cx="3139779" cy="700906"/>
            <a:chOff x="3200400" y="4094956"/>
            <a:chExt cx="3139779" cy="700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7E21C9CA-A098-6459-AF85-09EA8777F571}"/>
                    </a:ext>
                  </a:extLst>
                </p:cNvPr>
                <p:cNvSpPr txBox="1"/>
                <p:nvPr/>
              </p:nvSpPr>
              <p:spPr>
                <a:xfrm>
                  <a:off x="3435376" y="4233623"/>
                  <a:ext cx="28066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800" noProof="0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7E21C9CA-A098-6459-AF85-09EA8777F5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5376" y="4233623"/>
                  <a:ext cx="280660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ctangle: Rounded Corners 17">
              <a:extLst>
                <a:ext uri="{FF2B5EF4-FFF2-40B4-BE49-F238E27FC236}">
                  <a16:creationId xmlns:a16="http://schemas.microsoft.com/office/drawing/2014/main" id="{7643743D-3A14-48FB-2D3B-21EEF4B42152}"/>
                </a:ext>
              </a:extLst>
            </p:cNvPr>
            <p:cNvSpPr/>
            <p:nvPr/>
          </p:nvSpPr>
          <p:spPr>
            <a:xfrm>
              <a:off x="3200400" y="4094956"/>
              <a:ext cx="3139779" cy="70090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A10FF414-D12F-F0D4-0427-64CFAF7AD0EB}"/>
              </a:ext>
            </a:extLst>
          </p:cNvPr>
          <p:cNvGrpSpPr/>
          <p:nvPr/>
        </p:nvGrpSpPr>
        <p:grpSpPr>
          <a:xfrm>
            <a:off x="2693348" y="3078271"/>
            <a:ext cx="3894079" cy="820283"/>
            <a:chOff x="3028950" y="3438124"/>
            <a:chExt cx="3894079" cy="8202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FF16AE86-372F-BF64-E9E7-C027D1360FFC}"/>
                    </a:ext>
                  </a:extLst>
                </p:cNvPr>
                <p:cNvSpPr txBox="1"/>
                <p:nvPr/>
              </p:nvSpPr>
              <p:spPr>
                <a:xfrm>
                  <a:off x="3028950" y="3503821"/>
                  <a:ext cx="3894079" cy="6690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1800" noProof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noProof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𝑎𝑑</m:t>
                            </m:r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i="1" noProof="0">
                                <a:latin typeface="Cambria Math" panose="02040503050406030204" pitchFamily="18" charset="0"/>
                              </a:rPr>
                              <m:t>𝑏𝑐</m:t>
                            </m:r>
                          </m:den>
                        </m:f>
                        <m:d>
                          <m:dPr>
                            <m:ctrlPr>
                              <a:rPr lang="en-US" sz="18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800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e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sz="1800" i="1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800" noProof="0" dirty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FF16AE86-372F-BF64-E9E7-C027D1360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3503821"/>
                  <a:ext cx="3894079" cy="66909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: Rounded Corners 17">
              <a:extLst>
                <a:ext uri="{FF2B5EF4-FFF2-40B4-BE49-F238E27FC236}">
                  <a16:creationId xmlns:a16="http://schemas.microsoft.com/office/drawing/2014/main" id="{1956475A-7328-1E67-5B50-2E8C801C542D}"/>
                </a:ext>
              </a:extLst>
            </p:cNvPr>
            <p:cNvSpPr/>
            <p:nvPr/>
          </p:nvSpPr>
          <p:spPr>
            <a:xfrm>
              <a:off x="3087587" y="3438124"/>
              <a:ext cx="3835442" cy="82028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AFE7419-7DDE-05B4-924A-F01ECE6126C3}"/>
              </a:ext>
            </a:extLst>
          </p:cNvPr>
          <p:cNvGrpSpPr/>
          <p:nvPr/>
        </p:nvGrpSpPr>
        <p:grpSpPr>
          <a:xfrm>
            <a:off x="6345491" y="1498520"/>
            <a:ext cx="2291516" cy="712655"/>
            <a:chOff x="6345491" y="1706739"/>
            <a:chExt cx="2291516" cy="712655"/>
          </a:xfrm>
        </p:grpSpPr>
        <p:sp>
          <p:nvSpPr>
            <p:cNvPr id="19" name="Geschweifte Klammer rechts 18">
              <a:extLst>
                <a:ext uri="{FF2B5EF4-FFF2-40B4-BE49-F238E27FC236}">
                  <a16:creationId xmlns:a16="http://schemas.microsoft.com/office/drawing/2014/main" id="{D7661112-B20C-4927-A449-8B4E69C280E1}"/>
                </a:ext>
              </a:extLst>
            </p:cNvPr>
            <p:cNvSpPr/>
            <p:nvPr/>
          </p:nvSpPr>
          <p:spPr>
            <a:xfrm rot="5400000">
              <a:off x="7281203" y="771027"/>
              <a:ext cx="420091" cy="2291516"/>
            </a:xfrm>
            <a:prstGeom prst="rightBrace">
              <a:avLst>
                <a:gd name="adj1" fmla="val 0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90A608AE-C73C-2C3D-EFCE-9530D1306672}"/>
                    </a:ext>
                  </a:extLst>
                </p:cNvPr>
                <p:cNvSpPr txBox="1"/>
                <p:nvPr/>
              </p:nvSpPr>
              <p:spPr>
                <a:xfrm>
                  <a:off x="6928137" y="2050062"/>
                  <a:ext cx="11624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𝑠</m:t>
                      </m:r>
                    </m:oMath>
                  </a14:m>
                  <a:r>
                    <a:rPr lang="en-US" sz="1800" noProof="0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-domain</a:t>
                  </a:r>
                </a:p>
              </p:txBody>
            </p:sp>
          </mc:Choice>
          <mc:Fallback xmlns="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90A608AE-C73C-2C3D-EFCE-9530D1306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8137" y="2050062"/>
                  <a:ext cx="1162434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6557" r="-4211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0152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1DE6F48-0AFE-CDCE-A0FE-1041A0309C4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noProof="0" dirty="0"/>
                  <a:t>-Domain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1DE6F48-0AFE-CDCE-A0FE-1041A0309C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1091C1-B86F-F879-5225-91E53D38A3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99177"/>
                <a:ext cx="7886700" cy="41220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With the TFs we start to represent systems in a new domain. So instead of characterizing how systems behave in the time domain, i.e.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)=…</m:t>
                    </m:r>
                  </m:oMath>
                </a14:m>
                <a:r>
                  <a:rPr lang="en-US" noProof="0" dirty="0"/>
                  <a:t>, we start to look at how it behaves in the s-domain, i.e.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noProof="0" dirty="0"/>
                  <a:t>. But what exactly is the s-domain?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For now you can think that in the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noProof="0" dirty="0"/>
                  <a:t>-domain functions or systems are represented by their poles (and zeros) plotted in the </a:t>
                </a:r>
                <a:r>
                  <a:rPr lang="en-US" i="1" noProof="0" dirty="0"/>
                  <a:t>complex</a:t>
                </a:r>
                <a:r>
                  <a:rPr lang="en-US" noProof="0" dirty="0"/>
                  <a:t> plane.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1091C1-B86F-F879-5225-91E53D38A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99177"/>
                <a:ext cx="7886700" cy="4122021"/>
              </a:xfrm>
              <a:blipFill>
                <a:blip r:embed="rId3"/>
                <a:stretch>
                  <a:fillRect l="-618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CD1717-32FA-FFC7-38C3-F3FA7645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D0F2B2-97C4-44E1-7FE3-392DE412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205A795-9D11-8433-E652-1BD91B094475}"/>
              </a:ext>
            </a:extLst>
          </p:cNvPr>
          <p:cNvCxnSpPr/>
          <p:nvPr/>
        </p:nvCxnSpPr>
        <p:spPr>
          <a:xfrm flipV="1">
            <a:off x="1192522" y="2254487"/>
            <a:ext cx="0" cy="14382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F0D5561-967E-FE70-355E-3DAC3B98034B}"/>
              </a:ext>
            </a:extLst>
          </p:cNvPr>
          <p:cNvCxnSpPr>
            <a:cxnSpLocks/>
          </p:cNvCxnSpPr>
          <p:nvPr/>
        </p:nvCxnSpPr>
        <p:spPr>
          <a:xfrm>
            <a:off x="1192522" y="2982926"/>
            <a:ext cx="21776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0427C3C-C3E8-E54A-B99A-AACF2A958A76}"/>
                  </a:ext>
                </a:extLst>
              </p:cNvPr>
              <p:cNvSpPr txBox="1"/>
              <p:nvPr/>
            </p:nvSpPr>
            <p:spPr>
              <a:xfrm>
                <a:off x="3324846" y="2829037"/>
                <a:ext cx="3092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0427C3C-C3E8-E54A-B99A-AACF2A958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846" y="2829037"/>
                <a:ext cx="30925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D217741-4F7E-1389-D584-0021974CEB48}"/>
              </a:ext>
            </a:extLst>
          </p:cNvPr>
          <p:cNvCxnSpPr>
            <a:cxnSpLocks/>
          </p:cNvCxnSpPr>
          <p:nvPr/>
        </p:nvCxnSpPr>
        <p:spPr>
          <a:xfrm>
            <a:off x="4056358" y="2975878"/>
            <a:ext cx="848086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ihandform 28">
            <a:extLst>
              <a:ext uri="{FF2B5EF4-FFF2-40B4-BE49-F238E27FC236}">
                <a16:creationId xmlns:a16="http://schemas.microsoft.com/office/drawing/2014/main" id="{46807EB4-35C4-38A5-6D87-3F7CF78C9FD2}"/>
              </a:ext>
            </a:extLst>
          </p:cNvPr>
          <p:cNvSpPr/>
          <p:nvPr/>
        </p:nvSpPr>
        <p:spPr>
          <a:xfrm>
            <a:off x="1204332" y="2549891"/>
            <a:ext cx="2051824" cy="661699"/>
          </a:xfrm>
          <a:custGeom>
            <a:avLst/>
            <a:gdLst>
              <a:gd name="connsiteX0" fmla="*/ 0 w 2051824"/>
              <a:gd name="connsiteY0" fmla="*/ 423768 h 661699"/>
              <a:gd name="connsiteX1" fmla="*/ 156117 w 2051824"/>
              <a:gd name="connsiteY1" fmla="*/ 21 h 661699"/>
              <a:gd name="connsiteX2" fmla="*/ 446048 w 2051824"/>
              <a:gd name="connsiteY2" fmla="*/ 438636 h 661699"/>
              <a:gd name="connsiteX3" fmla="*/ 676507 w 2051824"/>
              <a:gd name="connsiteY3" fmla="*/ 661660 h 661699"/>
              <a:gd name="connsiteX4" fmla="*/ 1152292 w 2051824"/>
              <a:gd name="connsiteY4" fmla="*/ 423768 h 661699"/>
              <a:gd name="connsiteX5" fmla="*/ 1553736 w 2051824"/>
              <a:gd name="connsiteY5" fmla="*/ 282519 h 661699"/>
              <a:gd name="connsiteX6" fmla="*/ 2051824 w 2051824"/>
              <a:gd name="connsiteY6" fmla="*/ 408899 h 66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1824" h="661699">
                <a:moveTo>
                  <a:pt x="0" y="423768"/>
                </a:moveTo>
                <a:cubicBezTo>
                  <a:pt x="40888" y="210655"/>
                  <a:pt x="81776" y="-2457"/>
                  <a:pt x="156117" y="21"/>
                </a:cubicBezTo>
                <a:cubicBezTo>
                  <a:pt x="230458" y="2499"/>
                  <a:pt x="359316" y="328363"/>
                  <a:pt x="446048" y="438636"/>
                </a:cubicBezTo>
                <a:cubicBezTo>
                  <a:pt x="532780" y="548909"/>
                  <a:pt x="558800" y="664138"/>
                  <a:pt x="676507" y="661660"/>
                </a:cubicBezTo>
                <a:cubicBezTo>
                  <a:pt x="794214" y="659182"/>
                  <a:pt x="1006087" y="486958"/>
                  <a:pt x="1152292" y="423768"/>
                </a:cubicBezTo>
                <a:cubicBezTo>
                  <a:pt x="1298497" y="360578"/>
                  <a:pt x="1403814" y="284997"/>
                  <a:pt x="1553736" y="282519"/>
                </a:cubicBezTo>
                <a:cubicBezTo>
                  <a:pt x="1703658" y="280041"/>
                  <a:pt x="1877741" y="344470"/>
                  <a:pt x="2051824" y="408899"/>
                </a:cubicBezTo>
              </a:path>
            </a:pathLst>
          </a:cu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80B9B14A-7CDC-4C77-DFE6-1EF229F8E552}"/>
                  </a:ext>
                </a:extLst>
              </p:cNvPr>
              <p:cNvSpPr txBox="1"/>
              <p:nvPr/>
            </p:nvSpPr>
            <p:spPr>
              <a:xfrm>
                <a:off x="1571710" y="3728552"/>
                <a:ext cx="1549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−0.8</m:t>
                          </m:r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 noProof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80B9B14A-7CDC-4C77-DFE6-1EF229F8E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710" y="3728552"/>
                <a:ext cx="154965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57CD816-7D62-B25A-6063-8E0E144D758C}"/>
              </a:ext>
            </a:extLst>
          </p:cNvPr>
          <p:cNvCxnSpPr>
            <a:cxnSpLocks/>
          </p:cNvCxnSpPr>
          <p:nvPr/>
        </p:nvCxnSpPr>
        <p:spPr>
          <a:xfrm flipV="1">
            <a:off x="6599861" y="1905489"/>
            <a:ext cx="0" cy="18230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B51D230-B74B-FC67-3C93-A0E05DE6631C}"/>
              </a:ext>
            </a:extLst>
          </p:cNvPr>
          <p:cNvCxnSpPr>
            <a:cxnSpLocks/>
          </p:cNvCxnSpPr>
          <p:nvPr/>
        </p:nvCxnSpPr>
        <p:spPr>
          <a:xfrm>
            <a:off x="5493834" y="2809666"/>
            <a:ext cx="231248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6E44505C-2659-776E-7056-FB28A3AED486}"/>
                  </a:ext>
                </a:extLst>
              </p:cNvPr>
              <p:cNvSpPr txBox="1"/>
              <p:nvPr/>
            </p:nvSpPr>
            <p:spPr>
              <a:xfrm>
                <a:off x="4252916" y="3539704"/>
                <a:ext cx="3389851" cy="617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m:rPr>
                          <m:lit/>
                        </m:rPr>
                        <a:rPr lang="en-US" sz="1800" i="1" noProof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−0.8</m:t>
                          </m:r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func>
                        <m:funcPr>
                          <m:ctrlP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m:rPr>
                          <m:lit/>
                        </m:rPr>
                        <a:rPr lang="en-US" sz="1800" i="1" noProof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180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+9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6E44505C-2659-776E-7056-FB28A3AED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916" y="3539704"/>
                <a:ext cx="3389851" cy="6173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942173F-CEF1-48D3-8103-F96D1E8B6764}"/>
                  </a:ext>
                </a:extLst>
              </p:cNvPr>
              <p:cNvSpPr txBox="1"/>
              <p:nvPr/>
            </p:nvSpPr>
            <p:spPr>
              <a:xfrm>
                <a:off x="7254813" y="3620830"/>
                <a:ext cx="13933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with poles 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 = ±3</m:t>
                      </m:r>
                      <m:r>
                        <a:rPr lang="en-US" sz="16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600" noProof="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4942173F-CEF1-48D3-8103-F96D1E8B6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813" y="3620830"/>
                <a:ext cx="1393330" cy="584775"/>
              </a:xfrm>
              <a:prstGeom prst="rect">
                <a:avLst/>
              </a:prstGeom>
              <a:blipFill>
                <a:blip r:embed="rId7"/>
                <a:stretch>
                  <a:fillRect l="-2183" t="-4167" r="-1310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Gerade Verbindung 44">
            <a:extLst>
              <a:ext uri="{FF2B5EF4-FFF2-40B4-BE49-F238E27FC236}">
                <a16:creationId xmlns:a16="http://schemas.microsoft.com/office/drawing/2014/main" id="{81387410-464F-3448-6E62-CE82F52FA178}"/>
              </a:ext>
            </a:extLst>
          </p:cNvPr>
          <p:cNvCxnSpPr>
            <a:cxnSpLocks/>
          </p:cNvCxnSpPr>
          <p:nvPr/>
        </p:nvCxnSpPr>
        <p:spPr>
          <a:xfrm>
            <a:off x="6805451" y="2681423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50">
            <a:extLst>
              <a:ext uri="{FF2B5EF4-FFF2-40B4-BE49-F238E27FC236}">
                <a16:creationId xmlns:a16="http://schemas.microsoft.com/office/drawing/2014/main" id="{4AD5EEF4-3018-591B-01DD-7B54DD9EF9FB}"/>
              </a:ext>
            </a:extLst>
          </p:cNvPr>
          <p:cNvCxnSpPr>
            <a:cxnSpLocks/>
          </p:cNvCxnSpPr>
          <p:nvPr/>
        </p:nvCxnSpPr>
        <p:spPr>
          <a:xfrm>
            <a:off x="7006770" y="2681422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51">
            <a:extLst>
              <a:ext uri="{FF2B5EF4-FFF2-40B4-BE49-F238E27FC236}">
                <a16:creationId xmlns:a16="http://schemas.microsoft.com/office/drawing/2014/main" id="{F052EFFB-B21F-E2E7-DF4D-04462F5A6ABD}"/>
              </a:ext>
            </a:extLst>
          </p:cNvPr>
          <p:cNvCxnSpPr>
            <a:cxnSpLocks/>
          </p:cNvCxnSpPr>
          <p:nvPr/>
        </p:nvCxnSpPr>
        <p:spPr>
          <a:xfrm>
            <a:off x="7202264" y="2681421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57">
            <a:extLst>
              <a:ext uri="{FF2B5EF4-FFF2-40B4-BE49-F238E27FC236}">
                <a16:creationId xmlns:a16="http://schemas.microsoft.com/office/drawing/2014/main" id="{54F856D3-D230-057C-0511-23B8A9943B95}"/>
              </a:ext>
            </a:extLst>
          </p:cNvPr>
          <p:cNvCxnSpPr>
            <a:cxnSpLocks/>
          </p:cNvCxnSpPr>
          <p:nvPr/>
        </p:nvCxnSpPr>
        <p:spPr>
          <a:xfrm>
            <a:off x="6005821" y="2681421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58">
            <a:extLst>
              <a:ext uri="{FF2B5EF4-FFF2-40B4-BE49-F238E27FC236}">
                <a16:creationId xmlns:a16="http://schemas.microsoft.com/office/drawing/2014/main" id="{47B666B9-F0C0-6CBD-EAFC-84AFAA7C0304}"/>
              </a:ext>
            </a:extLst>
          </p:cNvPr>
          <p:cNvCxnSpPr>
            <a:cxnSpLocks/>
          </p:cNvCxnSpPr>
          <p:nvPr/>
        </p:nvCxnSpPr>
        <p:spPr>
          <a:xfrm>
            <a:off x="6207140" y="2681420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59">
            <a:extLst>
              <a:ext uri="{FF2B5EF4-FFF2-40B4-BE49-F238E27FC236}">
                <a16:creationId xmlns:a16="http://schemas.microsoft.com/office/drawing/2014/main" id="{C83052A6-2BEE-6555-690A-7A5C06E85A58}"/>
              </a:ext>
            </a:extLst>
          </p:cNvPr>
          <p:cNvCxnSpPr>
            <a:cxnSpLocks/>
          </p:cNvCxnSpPr>
          <p:nvPr/>
        </p:nvCxnSpPr>
        <p:spPr>
          <a:xfrm>
            <a:off x="6402634" y="2681419"/>
            <a:ext cx="0" cy="1282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B6D0131E-0810-02B2-C1EE-ECE71D3798F7}"/>
              </a:ext>
            </a:extLst>
          </p:cNvPr>
          <p:cNvGrpSpPr/>
          <p:nvPr/>
        </p:nvGrpSpPr>
        <p:grpSpPr>
          <a:xfrm rot="5400000">
            <a:off x="6345695" y="3110162"/>
            <a:ext cx="396813" cy="128245"/>
            <a:chOff x="6338843" y="2982925"/>
            <a:chExt cx="396813" cy="128245"/>
          </a:xfrm>
        </p:grpSpPr>
        <p:cxnSp>
          <p:nvCxnSpPr>
            <p:cNvPr id="61" name="Gerade Verbindung 60">
              <a:extLst>
                <a:ext uri="{FF2B5EF4-FFF2-40B4-BE49-F238E27FC236}">
                  <a16:creationId xmlns:a16="http://schemas.microsoft.com/office/drawing/2014/main" id="{3CCFD8EC-4DC9-E720-7332-0967BED85B76}"/>
                </a:ext>
              </a:extLst>
            </p:cNvPr>
            <p:cNvCxnSpPr>
              <a:cxnSpLocks/>
            </p:cNvCxnSpPr>
            <p:nvPr/>
          </p:nvCxnSpPr>
          <p:spPr>
            <a:xfrm>
              <a:off x="6338843" y="2982927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61">
              <a:extLst>
                <a:ext uri="{FF2B5EF4-FFF2-40B4-BE49-F238E27FC236}">
                  <a16:creationId xmlns:a16="http://schemas.microsoft.com/office/drawing/2014/main" id="{E0571B51-4B20-E80F-E839-310D36753FAC}"/>
                </a:ext>
              </a:extLst>
            </p:cNvPr>
            <p:cNvCxnSpPr>
              <a:cxnSpLocks/>
            </p:cNvCxnSpPr>
            <p:nvPr/>
          </p:nvCxnSpPr>
          <p:spPr>
            <a:xfrm>
              <a:off x="6540162" y="2982926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62">
              <a:extLst>
                <a:ext uri="{FF2B5EF4-FFF2-40B4-BE49-F238E27FC236}">
                  <a16:creationId xmlns:a16="http://schemas.microsoft.com/office/drawing/2014/main" id="{D7E14DB3-E07D-9BE8-5A3E-C471EC766B4A}"/>
                </a:ext>
              </a:extLst>
            </p:cNvPr>
            <p:cNvCxnSpPr>
              <a:cxnSpLocks/>
            </p:cNvCxnSpPr>
            <p:nvPr/>
          </p:nvCxnSpPr>
          <p:spPr>
            <a:xfrm>
              <a:off x="6735656" y="2982925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4C91A1D8-81C0-FE01-68DD-7AE16C831CCA}"/>
              </a:ext>
            </a:extLst>
          </p:cNvPr>
          <p:cNvGrpSpPr/>
          <p:nvPr/>
        </p:nvGrpSpPr>
        <p:grpSpPr>
          <a:xfrm rot="5400000">
            <a:off x="6345695" y="2366753"/>
            <a:ext cx="396813" cy="128245"/>
            <a:chOff x="6338843" y="2982925"/>
            <a:chExt cx="396813" cy="128245"/>
          </a:xfrm>
        </p:grpSpPr>
        <p:cxnSp>
          <p:nvCxnSpPr>
            <p:cNvPr id="66" name="Gerade Verbindung 65">
              <a:extLst>
                <a:ext uri="{FF2B5EF4-FFF2-40B4-BE49-F238E27FC236}">
                  <a16:creationId xmlns:a16="http://schemas.microsoft.com/office/drawing/2014/main" id="{CCC60C75-14B5-E0FF-7109-9894250EF3D8}"/>
                </a:ext>
              </a:extLst>
            </p:cNvPr>
            <p:cNvCxnSpPr>
              <a:cxnSpLocks/>
            </p:cNvCxnSpPr>
            <p:nvPr/>
          </p:nvCxnSpPr>
          <p:spPr>
            <a:xfrm>
              <a:off x="6338843" y="2982927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 Verbindung 66">
              <a:extLst>
                <a:ext uri="{FF2B5EF4-FFF2-40B4-BE49-F238E27FC236}">
                  <a16:creationId xmlns:a16="http://schemas.microsoft.com/office/drawing/2014/main" id="{795B324E-7127-578B-2182-E6CB46960439}"/>
                </a:ext>
              </a:extLst>
            </p:cNvPr>
            <p:cNvCxnSpPr>
              <a:cxnSpLocks/>
            </p:cNvCxnSpPr>
            <p:nvPr/>
          </p:nvCxnSpPr>
          <p:spPr>
            <a:xfrm>
              <a:off x="6540162" y="2982926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 Verbindung 67">
              <a:extLst>
                <a:ext uri="{FF2B5EF4-FFF2-40B4-BE49-F238E27FC236}">
                  <a16:creationId xmlns:a16="http://schemas.microsoft.com/office/drawing/2014/main" id="{186B510C-594E-2A78-ED4A-D0D67774D3D0}"/>
                </a:ext>
              </a:extLst>
            </p:cNvPr>
            <p:cNvCxnSpPr>
              <a:cxnSpLocks/>
            </p:cNvCxnSpPr>
            <p:nvPr/>
          </p:nvCxnSpPr>
          <p:spPr>
            <a:xfrm>
              <a:off x="6735656" y="2982925"/>
              <a:ext cx="0" cy="12824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feld 68">
            <a:extLst>
              <a:ext uri="{FF2B5EF4-FFF2-40B4-BE49-F238E27FC236}">
                <a16:creationId xmlns:a16="http://schemas.microsoft.com/office/drawing/2014/main" id="{B9A5FC9C-B6A1-7F6B-0140-12460D965887}"/>
              </a:ext>
            </a:extLst>
          </p:cNvPr>
          <p:cNvSpPr txBox="1"/>
          <p:nvPr/>
        </p:nvSpPr>
        <p:spPr>
          <a:xfrm>
            <a:off x="6689182" y="2802078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1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66F282F2-AE75-30FE-A580-D9A01F9C3EA9}"/>
              </a:ext>
            </a:extLst>
          </p:cNvPr>
          <p:cNvSpPr txBox="1"/>
          <p:nvPr/>
        </p:nvSpPr>
        <p:spPr>
          <a:xfrm>
            <a:off x="6891328" y="2802078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2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0909C1FE-CB30-D159-6CB7-AB3679D749C8}"/>
              </a:ext>
            </a:extLst>
          </p:cNvPr>
          <p:cNvSpPr txBox="1"/>
          <p:nvPr/>
        </p:nvSpPr>
        <p:spPr>
          <a:xfrm>
            <a:off x="7081075" y="2807997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3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8E6D66EC-E614-DA0E-01BE-64CFCD6BA808}"/>
              </a:ext>
            </a:extLst>
          </p:cNvPr>
          <p:cNvSpPr txBox="1"/>
          <p:nvPr/>
        </p:nvSpPr>
        <p:spPr>
          <a:xfrm>
            <a:off x="5858622" y="2793317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-3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C260D2DC-1CEE-FEAF-EB72-2BE59C53F004}"/>
              </a:ext>
            </a:extLst>
          </p:cNvPr>
          <p:cNvSpPr txBox="1"/>
          <p:nvPr/>
        </p:nvSpPr>
        <p:spPr>
          <a:xfrm>
            <a:off x="6060768" y="2793317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-2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9153F5F4-EA2E-341A-316E-FDE78A6DAB8F}"/>
              </a:ext>
            </a:extLst>
          </p:cNvPr>
          <p:cNvSpPr txBox="1"/>
          <p:nvPr/>
        </p:nvSpPr>
        <p:spPr>
          <a:xfrm>
            <a:off x="6250515" y="2799236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-1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A083B27E-BC3B-F3DC-6C15-6771BC81EC78}"/>
              </a:ext>
            </a:extLst>
          </p:cNvPr>
          <p:cNvSpPr txBox="1"/>
          <p:nvPr/>
        </p:nvSpPr>
        <p:spPr>
          <a:xfrm>
            <a:off x="6606907" y="2537594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1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385682AF-2F9D-4183-9BE5-F6B6D0D5965A}"/>
              </a:ext>
            </a:extLst>
          </p:cNvPr>
          <p:cNvSpPr txBox="1"/>
          <p:nvPr/>
        </p:nvSpPr>
        <p:spPr>
          <a:xfrm>
            <a:off x="6597605" y="2327785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2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5D385A1A-F654-11E8-C3C8-3AFD783981AD}"/>
              </a:ext>
            </a:extLst>
          </p:cNvPr>
          <p:cNvSpPr txBox="1"/>
          <p:nvPr/>
        </p:nvSpPr>
        <p:spPr>
          <a:xfrm>
            <a:off x="6592345" y="2146765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3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AEF50BAC-5D62-F831-5EE5-EF808127D0A4}"/>
              </a:ext>
            </a:extLst>
          </p:cNvPr>
          <p:cNvSpPr txBox="1"/>
          <p:nvPr/>
        </p:nvSpPr>
        <p:spPr>
          <a:xfrm>
            <a:off x="6566608" y="3276548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-3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BF681D0A-7A12-53CC-FE04-5378652F3677}"/>
              </a:ext>
            </a:extLst>
          </p:cNvPr>
          <p:cNvSpPr txBox="1"/>
          <p:nvPr/>
        </p:nvSpPr>
        <p:spPr>
          <a:xfrm>
            <a:off x="6563079" y="3071657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-2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223403B0-4E57-BA88-445F-03065F9A4FDD}"/>
              </a:ext>
            </a:extLst>
          </p:cNvPr>
          <p:cNvSpPr txBox="1"/>
          <p:nvPr/>
        </p:nvSpPr>
        <p:spPr>
          <a:xfrm>
            <a:off x="6563079" y="2875204"/>
            <a:ext cx="2760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0" dirty="0"/>
              <a:t>-1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C822EC73-C207-1CD2-2301-2B7E4AEC39EA}"/>
              </a:ext>
            </a:extLst>
          </p:cNvPr>
          <p:cNvSpPr txBox="1"/>
          <p:nvPr/>
        </p:nvSpPr>
        <p:spPr>
          <a:xfrm>
            <a:off x="6463378" y="205674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accent4"/>
                </a:solidFill>
              </a:rPr>
              <a:t>x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670F7C31-F90C-78BE-138A-2CAE4198AB4A}"/>
              </a:ext>
            </a:extLst>
          </p:cNvPr>
          <p:cNvSpPr txBox="1"/>
          <p:nvPr/>
        </p:nvSpPr>
        <p:spPr>
          <a:xfrm>
            <a:off x="6471006" y="320072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accent4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53104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80CC6-E1DB-3F98-83C4-1DEEB9E7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EA1775-A4F8-EB01-E052-BF7EEAECD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are the transfer functions of an (1) integrator and a (2) differentiator?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165A5-333E-12B4-B27B-9CF0428A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0BEDA5-655A-7FD9-BCF1-35297F5D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8061E8B9-75E1-E064-3504-6E8F7D8F0701}"/>
                  </a:ext>
                </a:extLst>
              </p:cNvPr>
              <p:cNvSpPr/>
              <p:nvPr/>
            </p:nvSpPr>
            <p:spPr>
              <a:xfrm>
                <a:off x="628650" y="2159603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8061E8B9-75E1-E064-3504-6E8F7D8F0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159603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1C86AA1E-C5E9-D2DD-303B-AB5F7179A018}"/>
              </a:ext>
            </a:extLst>
          </p:cNvPr>
          <p:cNvSpPr/>
          <p:nvPr/>
        </p:nvSpPr>
        <p:spPr>
          <a:xfrm>
            <a:off x="628650" y="3425393"/>
            <a:ext cx="297470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They don't have transfer functions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7A63441A-63EB-AAED-3223-F3C55E04AD42}"/>
                  </a:ext>
                </a:extLst>
              </p:cNvPr>
              <p:cNvSpPr/>
              <p:nvPr/>
            </p:nvSpPr>
            <p:spPr>
              <a:xfrm>
                <a:off x="628650" y="2792498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7A63441A-63EB-AAED-3223-F3C55E04A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92498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C91461BF-3956-F130-1362-0E7EA4D30FB4}"/>
                  </a:ext>
                </a:extLst>
              </p:cNvPr>
              <p:cNvSpPr/>
              <p:nvPr/>
            </p:nvSpPr>
            <p:spPr>
              <a:xfrm>
                <a:off x="628650" y="4058288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C91461BF-3956-F130-1362-0E7EA4D30F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058288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939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8FDFA-1677-8040-ABA0-C3B60E53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05124-A236-C69D-1D4E-E77946D9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28A001-0298-8596-2CAF-06DF42F70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are the transfer functions of an (1) integrator and a (2) differentiator?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330AB2-B41E-6681-9252-01FCC6C2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9D09FF-06C4-3FE7-44C9-B622E701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B4FE424F-3113-F0B2-7EAF-BFB2CD0BBA6D}"/>
                  </a:ext>
                </a:extLst>
              </p:cNvPr>
              <p:cNvSpPr/>
              <p:nvPr/>
            </p:nvSpPr>
            <p:spPr>
              <a:xfrm>
                <a:off x="628650" y="2159603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B4FE424F-3113-F0B2-7EAF-BFB2CD0BBA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159603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444496FB-CE83-0F22-64B9-4E4B395B4985}"/>
              </a:ext>
            </a:extLst>
          </p:cNvPr>
          <p:cNvSpPr/>
          <p:nvPr/>
        </p:nvSpPr>
        <p:spPr>
          <a:xfrm>
            <a:off x="628650" y="3425393"/>
            <a:ext cx="297470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They don't have transfer functions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B7317B3F-DA7D-80DD-72C5-59D0B4788F05}"/>
                  </a:ext>
                </a:extLst>
              </p:cNvPr>
              <p:cNvSpPr/>
              <p:nvPr/>
            </p:nvSpPr>
            <p:spPr>
              <a:xfrm>
                <a:off x="628650" y="2792498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B7317B3F-DA7D-80DD-72C5-59D0B4788F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92498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8F9F0287-586E-74EA-EE97-D0BD2126B68B}"/>
                  </a:ext>
                </a:extLst>
              </p:cNvPr>
              <p:cNvSpPr/>
              <p:nvPr/>
            </p:nvSpPr>
            <p:spPr>
              <a:xfrm>
                <a:off x="628650" y="4058288"/>
                <a:ext cx="297470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den>
                    </m:f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, </m:t>
                    </m:r>
                    <m:sSub>
                      <m:sSub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𝑮</m:t>
                        </m:r>
                      </m:e>
                      <m:sub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8F9F0287-586E-74EA-EE97-D0BD2126B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058288"/>
                <a:ext cx="297470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033E71D-561E-9780-C0FA-A701D53DB71D}"/>
                  </a:ext>
                </a:extLst>
              </p:cNvPr>
              <p:cNvSpPr txBox="1"/>
              <p:nvPr/>
            </p:nvSpPr>
            <p:spPr>
              <a:xfrm>
                <a:off x="3657952" y="2146145"/>
                <a:ext cx="5561522" cy="1500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800" b="1" i="1" noProof="0" dirty="0"/>
                  <a:t>Integrator: </a:t>
                </a:r>
              </a:p>
              <a:p>
                <a:pPr marL="0" indent="0">
                  <a:buNone/>
                </a:pPr>
                <a:r>
                  <a:rPr lang="en-US" sz="1800" noProof="0" dirty="0"/>
                  <a:t>For an input </a:t>
                </a:r>
                <a14:m>
                  <m:oMath xmlns:m="http://schemas.openxmlformats.org/officeDocument/2006/math">
                    <m:r>
                      <a:rPr lang="en-US" sz="1800" i="1" noProof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noProof="0">
                        <a:latin typeface="Cambria Math" panose="02040503050406030204" pitchFamily="18" charset="0"/>
                      </a:rPr>
                      <m:t>𝑒𝑠𝑡</m:t>
                    </m:r>
                  </m:oMath>
                </a14:m>
                <a:r>
                  <a:rPr lang="en-US" sz="1800" noProof="0" dirty="0"/>
                  <a:t>, the output will be </a:t>
                </a:r>
                <a14:m>
                  <m:oMath xmlns:m="http://schemas.openxmlformats.org/officeDocument/2006/math">
                    <m:r>
                      <a:rPr lang="en-US" sz="1800" i="1" noProof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noProof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800" i="1" noProof="0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  <m:r>
                      <a:rPr lang="en-US" sz="1800" i="1" noProof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 baseline="30000" noProof="0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endParaRPr lang="en-US" sz="1800" baseline="30000" noProof="0" dirty="0"/>
              </a:p>
              <a:p>
                <a:pPr marL="0" indent="0">
                  <a:buNone/>
                </a:pPr>
                <a:r>
                  <a:rPr lang="en-US" sz="1800" baseline="30000" noProof="0" dirty="0"/>
                  <a:t>	</a:t>
                </a:r>
              </a:p>
              <a:p>
                <a:pPr marL="0" indent="0">
                  <a:buNone/>
                </a:pPr>
                <a:r>
                  <a:rPr lang="en-US" sz="1800" b="1" i="1" noProof="0" dirty="0"/>
                  <a:t>Differentiator:</a:t>
                </a:r>
              </a:p>
              <a:p>
                <a:endParaRPr lang="en-US" sz="1800" noProof="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033E71D-561E-9780-C0FA-A701D53DB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952" y="2146145"/>
                <a:ext cx="5561522" cy="1500604"/>
              </a:xfrm>
              <a:prstGeom prst="rect">
                <a:avLst/>
              </a:prstGeom>
              <a:blipFill>
                <a:blip r:embed="rId5"/>
                <a:stretch>
                  <a:fillRect l="-913" t="-8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 descr="Ein Bild, das Schrift, Reihe, weiß, Diagramm enthält.&#10;&#10;KI-generierte Inhalte können fehlerhaft sein.">
            <a:extLst>
              <a:ext uri="{FF2B5EF4-FFF2-40B4-BE49-F238E27FC236}">
                <a16:creationId xmlns:a16="http://schemas.microsoft.com/office/drawing/2014/main" id="{3901BB99-2178-A21B-EF34-D4D0CB017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8440" y="2887713"/>
            <a:ext cx="3536839" cy="451786"/>
          </a:xfrm>
          <a:prstGeom prst="rect">
            <a:avLst/>
          </a:prstGeom>
        </p:spPr>
      </p:pic>
      <p:pic>
        <p:nvPicPr>
          <p:cNvPr id="12" name="Grafik 11" descr="Ein Bild, das Schrift,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63B705BD-6404-A109-2406-5B60F51648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3605" y="2110787"/>
            <a:ext cx="2426029" cy="4517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B2F6A63-45AD-CBEB-D3C2-A95C68DFA042}"/>
                  </a:ext>
                </a:extLst>
              </p:cNvPr>
              <p:cNvSpPr txBox="1"/>
              <p:nvPr/>
            </p:nvSpPr>
            <p:spPr>
              <a:xfrm>
                <a:off x="3657952" y="3289373"/>
                <a:ext cx="54661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For an input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 baseline="30000" dirty="0" err="1" smtClean="0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r>
                  <a:rPr lang="en-US" sz="1800" dirty="0"/>
                  <a:t>, the output will be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n-US" sz="1800" i="1" baseline="30000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 baseline="30000" dirty="0" err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B2F6A63-45AD-CBEB-D3C2-A95C68DFA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952" y="3289373"/>
                <a:ext cx="5466112" cy="369332"/>
              </a:xfrm>
              <a:prstGeom prst="rect">
                <a:avLst/>
              </a:prstGeom>
              <a:blipFill>
                <a:blip r:embed="rId8"/>
                <a:stretch>
                  <a:fillRect l="-928" t="-10345" b="-275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662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46941-4D3F-716E-10F4-B7AAD492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Controllable Canonical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F3EEA68-7BE1-D5E4-71F1-517CD3366B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noProof="0" dirty="0"/>
                  <a:t>We know how to go from state-space to Transfer function, for the other way we use the canonical form</a:t>
                </a:r>
              </a:p>
              <a:p>
                <a:r>
                  <a:rPr lang="en-US" noProof="0" dirty="0"/>
                  <a:t>For a general TF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F3EEA68-7BE1-D5E4-71F1-517CD3366B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BD641F-8E4B-27BC-5654-066E7CF6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72FC28-72A1-0793-FDEA-D31ADCD23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fik 7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C4D2A4CD-2203-6ED3-F655-03E44ABAE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89" y="2571750"/>
            <a:ext cx="5881822" cy="220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2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70CB4-8BCD-6A12-3F1D-B01C75995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2</a:t>
            </a:r>
          </a:p>
        </p:txBody>
      </p:sp>
      <p:pic>
        <p:nvPicPr>
          <p:cNvPr id="7" name="Inhaltsplatzhalter 6" descr="Ein Bild, das Text, Screenshot, Schrift, weiß enthält.&#10;&#10;KI-generierte Inhalte können fehlerhaft sein.">
            <a:extLst>
              <a:ext uri="{FF2B5EF4-FFF2-40B4-BE49-F238E27FC236}">
                <a16:creationId xmlns:a16="http://schemas.microsoft.com/office/drawing/2014/main" id="{37FBF759-3EFD-7BB2-D997-1D408C4DA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487" y="1108495"/>
            <a:ext cx="4760445" cy="2085101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091DC1-0E8D-0706-2718-BA34CA791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C04863-4AA0-3FCB-5F8D-37FA390D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829EB5CF-2663-871E-69F2-F16B4A0DA0B0}"/>
                  </a:ext>
                </a:extLst>
              </p:cNvPr>
              <p:cNvSpPr/>
              <p:nvPr/>
            </p:nvSpPr>
            <p:spPr>
              <a:xfrm>
                <a:off x="628650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829EB5CF-2663-871E-69F2-F16B4A0DA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332F51D8-52CD-EA99-E05B-804816F71B08}"/>
                  </a:ext>
                </a:extLst>
              </p:cNvPr>
              <p:cNvSpPr/>
              <p:nvPr/>
            </p:nvSpPr>
            <p:spPr>
              <a:xfrm>
                <a:off x="628650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332F51D8-52CD-EA99-E05B-804816F71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 b="-14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C1D223FC-FCC2-B027-0562-AB3596D16FCB}"/>
                  </a:ext>
                </a:extLst>
              </p:cNvPr>
              <p:cNvSpPr/>
              <p:nvPr/>
            </p:nvSpPr>
            <p:spPr>
              <a:xfrm>
                <a:off x="2858204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C1D223FC-FCC2-B027-0562-AB3596D16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204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2E43FDE8-60BC-447B-5D2F-6821971C18E9}"/>
                  </a:ext>
                </a:extLst>
              </p:cNvPr>
              <p:cNvSpPr/>
              <p:nvPr/>
            </p:nvSpPr>
            <p:spPr>
              <a:xfrm>
                <a:off x="2858204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2E43FDE8-60BC-447B-5D2F-6821971C18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204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fik 13" descr="Ein Bild, das Text, Schrif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5D337AB3-3ADF-FE4E-B077-E7D7B99393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895" y="102393"/>
            <a:ext cx="3558105" cy="73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097B7-DB8E-B100-EFED-11CDF77DE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194DD-F2E8-3366-8EFB-7BF7DC74B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2</a:t>
            </a:r>
          </a:p>
        </p:txBody>
      </p:sp>
      <p:pic>
        <p:nvPicPr>
          <p:cNvPr id="7" name="Inhaltsplatzhalter 6" descr="Ein Bild, das Text, Screenshot, Schrift, weiß enthält.&#10;&#10;KI-generierte Inhalte können fehlerhaft sein.">
            <a:extLst>
              <a:ext uri="{FF2B5EF4-FFF2-40B4-BE49-F238E27FC236}">
                <a16:creationId xmlns:a16="http://schemas.microsoft.com/office/drawing/2014/main" id="{69666495-FDA7-293C-89D9-A1A53CD1D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487" y="1108495"/>
            <a:ext cx="4760445" cy="2085101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EF6C6D-8C1A-E9F3-D9AA-96E106FE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09CB23-4336-30FB-048F-E6F46A0C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FD254E54-CBB7-8707-F277-5461F4DF9827}"/>
                  </a:ext>
                </a:extLst>
              </p:cNvPr>
              <p:cNvSpPr/>
              <p:nvPr/>
            </p:nvSpPr>
            <p:spPr>
              <a:xfrm>
                <a:off x="628650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FD254E54-CBB7-8707-F277-5461F4DF98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67DB3EE0-4EBE-5CEB-6E37-DD7B8238676D}"/>
                  </a:ext>
                </a:extLst>
              </p:cNvPr>
              <p:cNvSpPr/>
              <p:nvPr/>
            </p:nvSpPr>
            <p:spPr>
              <a:xfrm>
                <a:off x="628650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67DB3EE0-4EBE-5CEB-6E37-DD7B823867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 b="-14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2451E390-1DFB-F418-E12D-881A3955CB68}"/>
                  </a:ext>
                </a:extLst>
              </p:cNvPr>
              <p:cNvSpPr/>
              <p:nvPr/>
            </p:nvSpPr>
            <p:spPr>
              <a:xfrm>
                <a:off x="2858204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2451E390-1DFB-F418-E12D-881A3955C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204" y="3324386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55BB52E1-E6C0-5D45-E616-7CDFE8E41D28}"/>
                  </a:ext>
                </a:extLst>
              </p:cNvPr>
              <p:cNvSpPr/>
              <p:nvPr/>
            </p:nvSpPr>
            <p:spPr>
              <a:xfrm>
                <a:off x="2858204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55BB52E1-E6C0-5D45-E616-7CDFE8E41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204" y="3949484"/>
                <a:ext cx="1843330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 descr="Ein Bild, das Text, Schrif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64825E01-6B42-1066-F5BE-9035C8F2D4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5895" y="102393"/>
            <a:ext cx="3558105" cy="73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75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 dirty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536669"/>
              </p:ext>
            </p:extLst>
          </p:nvPr>
        </p:nvGraphicFramePr>
        <p:xfrm>
          <a:off x="1515762" y="601877"/>
          <a:ext cx="6977657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Introduction, Control Architectures,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Modeling, Model examples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System properties, Linearization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Analysis: Time response, Stability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1: Definition and properties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2: Poles and Zeros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Proportional feedback control, Root Locus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Time-Domain specifications, PID control, Computer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 response, Bode plots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The Nyquist condition, Time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Frequency-domain Specifications, Dynamic Compensation, Loop Shaping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delays, Successive loop closure, Nonlinearities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Describing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to Uncertainty and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F4099E1C-F5C1-8EB0-C32A-9FABF9E13B5C}"/>
              </a:ext>
            </a:extLst>
          </p:cNvPr>
          <p:cNvSpPr txBox="1"/>
          <p:nvPr/>
        </p:nvSpPr>
        <p:spPr>
          <a:xfrm>
            <a:off x="387695" y="1188631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4D5136-D84F-27EE-492C-52DB88CD3DA3}"/>
              </a:ext>
            </a:extLst>
          </p:cNvPr>
          <p:cNvSpPr txBox="1"/>
          <p:nvPr/>
        </p:nvSpPr>
        <p:spPr>
          <a:xfrm>
            <a:off x="483876" y="252847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CF889FA-8E46-8663-A0F5-184385FA3DD1}"/>
              </a:ext>
            </a:extLst>
          </p:cNvPr>
          <p:cNvSpPr txBox="1"/>
          <p:nvPr/>
        </p:nvSpPr>
        <p:spPr>
          <a:xfrm>
            <a:off x="403725" y="4071829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0B0A67E7-7C57-C73E-4879-C13FFF882B68}"/>
              </a:ext>
            </a:extLst>
          </p:cNvPr>
          <p:cNvSpPr/>
          <p:nvPr/>
        </p:nvSpPr>
        <p:spPr>
          <a:xfrm>
            <a:off x="1208754" y="1820468"/>
            <a:ext cx="257337" cy="171052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Geschweifte Klammer links 37">
            <a:extLst>
              <a:ext uri="{FF2B5EF4-FFF2-40B4-BE49-F238E27FC236}">
                <a16:creationId xmlns:a16="http://schemas.microsoft.com/office/drawing/2014/main" id="{2D72810E-ED2B-7956-66CA-4602D2A82388}"/>
              </a:ext>
            </a:extLst>
          </p:cNvPr>
          <p:cNvSpPr/>
          <p:nvPr/>
        </p:nvSpPr>
        <p:spPr>
          <a:xfrm>
            <a:off x="1208754" y="994180"/>
            <a:ext cx="196599" cy="6505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CBA056D0-42DA-D2CE-1EC0-9CCE338DF6B3}"/>
              </a:ext>
            </a:extLst>
          </p:cNvPr>
          <p:cNvSpPr/>
          <p:nvPr/>
        </p:nvSpPr>
        <p:spPr>
          <a:xfrm>
            <a:off x="1170298" y="3735078"/>
            <a:ext cx="257337" cy="9351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-US" noProof="0" dirty="0"/>
              <a:t>Today</a:t>
            </a:r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 dirty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Different TF Notations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dirty="0"/>
              <a:t>System Response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Poles &amp; Zeros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Kissan Varatharajan - </a:t>
            </a:r>
            <a:r>
              <a:rPr lang="en-US" noProof="0" dirty="0" err="1"/>
              <a:t>kissanv.github.io</a:t>
            </a:r>
            <a:endParaRPr lang="en-US" noProof="0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152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4AE5C-3E2F-B68C-A037-64DF367C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959851" cy="1790700"/>
          </a:xfrm>
        </p:spPr>
        <p:txBody>
          <a:bodyPr/>
          <a:lstStyle/>
          <a:p>
            <a:r>
              <a:rPr lang="en-US" noProof="0" dirty="0"/>
              <a:t>1. Different TF Notations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EC819A-74B0-7EC8-4337-41DC3E86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3F9BA-5972-1172-A390-8A7AA1A2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D4EBF-656E-D2D2-0159-2EA0943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33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D67A8-A115-8CC5-2718-F4C78017B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572" y="273843"/>
            <a:ext cx="7886700" cy="994172"/>
          </a:xfrm>
        </p:spPr>
        <p:txBody>
          <a:bodyPr/>
          <a:lstStyle/>
          <a:p>
            <a:r>
              <a:rPr lang="en-US" noProof="0" dirty="0"/>
              <a:t>Partial Fraction Expansion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F67FFA1-7B44-1676-9B5D-F12362CE6C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4572" y="1336816"/>
                <a:ext cx="7886700" cy="3662346"/>
              </a:xfrm>
            </p:spPr>
            <p:txBody>
              <a:bodyPr>
                <a:normAutofit/>
              </a:bodyPr>
              <a:lstStyle/>
              <a:p>
                <a:r>
                  <a:rPr lang="en-US" sz="1600" noProof="0" dirty="0"/>
                  <a:t>Recall the </a:t>
                </a:r>
                <a:r>
                  <a:rPr lang="en-US" sz="1600" b="1" i="1" noProof="0" dirty="0"/>
                  <a:t>General Form</a:t>
                </a:r>
                <a:r>
                  <a:rPr lang="en-US" sz="1600" noProof="0" dirty="0"/>
                  <a:t> of transfer function:</a:t>
                </a:r>
              </a:p>
              <a:p>
                <a:pPr marL="0" indent="0">
                  <a:buNone/>
                </a:pPr>
                <a:endParaRPr lang="en-US" sz="1600" noProof="0" dirty="0"/>
              </a:p>
              <a:p>
                <a:pPr marL="0" indent="0">
                  <a:buNone/>
                </a:pPr>
                <a:endParaRPr lang="en-US" sz="800" noProof="0" dirty="0"/>
              </a:p>
              <a:p>
                <a:r>
                  <a:rPr lang="en-US" sz="1600" noProof="0" dirty="0"/>
                  <a:t>In some cases, it's helpful to represent TF in different forms, like</a:t>
                </a:r>
              </a:p>
              <a:p>
                <a:pPr marL="0" indent="0">
                  <a:buNone/>
                </a:pPr>
                <a:r>
                  <a:rPr lang="en-US" sz="1600" noProof="0" dirty="0"/>
                  <a:t>the </a:t>
                </a:r>
                <a:r>
                  <a:rPr lang="en-US" sz="1600" b="1" i="1" noProof="0" dirty="0"/>
                  <a:t>Partial Fraction Expansion:</a:t>
                </a:r>
              </a:p>
              <a:p>
                <a:pPr marL="0" indent="0">
                  <a:buNone/>
                </a:pPr>
                <a:endParaRPr lang="en-US" sz="1600" b="1" i="1" noProof="0" dirty="0"/>
              </a:p>
              <a:p>
                <a:pPr marL="0" indent="0">
                  <a:buNone/>
                </a:pPr>
                <a:endParaRPr lang="en-US" sz="800" b="1" i="1" noProof="0" dirty="0"/>
              </a:p>
              <a:p>
                <a:pPr marL="0" indent="0">
                  <a:buNone/>
                </a:pPr>
                <a:r>
                  <a:rPr lang="en-US" sz="1600" noProof="0" dirty="0"/>
                  <a:t>How to determine residues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noProof="0" dirty="0"/>
                  <a:t>Partial Fraction Decomposition (Analysis I/II)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noProof="0" dirty="0"/>
                  <a:t>Cover-up method: For non-repeating poles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 baseline="-25000" noProof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noProof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i="0" noProof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1600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1600" noProof="0" dirty="0"/>
              </a:p>
              <a:p>
                <a:pPr marL="0" indent="0">
                  <a:buNone/>
                </a:pPr>
                <a:r>
                  <a:rPr lang="en-US" sz="1600" noProof="0" dirty="0"/>
                  <a:t>For repeating pole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 baseline="-25000" noProof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noProof="0" dirty="0"/>
                  <a:t> of order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600" noProof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i="0" noProof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begChr m:val="["/>
                            <m:endChr m:val="]"/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noProof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1600" noProof="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F67FFA1-7B44-1676-9B5D-F12362CE6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572" y="1336816"/>
                <a:ext cx="7886700" cy="3662346"/>
              </a:xfrm>
              <a:blipFill>
                <a:blip r:embed="rId3"/>
                <a:stretch>
                  <a:fillRect l="-643" t="-138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7DA1AE-57B3-8315-DA37-5BB91A8A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FC7A9E-4422-8B20-4A32-295A271A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0D05296-F8C3-8E22-A43A-FED60EE2A980}"/>
              </a:ext>
            </a:extLst>
          </p:cNvPr>
          <p:cNvGrpSpPr/>
          <p:nvPr/>
        </p:nvGrpSpPr>
        <p:grpSpPr>
          <a:xfrm>
            <a:off x="4833205" y="1189953"/>
            <a:ext cx="4310795" cy="874470"/>
            <a:chOff x="5025483" y="1204943"/>
            <a:chExt cx="4310795" cy="8744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6F99C0CE-D02E-5798-DB7C-8FFD0526D744}"/>
                    </a:ext>
                  </a:extLst>
                </p:cNvPr>
                <p:cNvSpPr txBox="1"/>
                <p:nvPr/>
              </p:nvSpPr>
              <p:spPr>
                <a:xfrm>
                  <a:off x="5025483" y="1204943"/>
                  <a:ext cx="4310795" cy="8744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sSub>
                              <m:sSub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1600" noProof="0" dirty="0"/>
                </a:p>
                <a:p>
                  <a:endParaRPr lang="en-US" sz="1600" noProof="0" dirty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6F99C0CE-D02E-5798-DB7C-8FFD0526D7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5483" y="1204943"/>
                  <a:ext cx="4310795" cy="87447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: Rounded Corners 17">
              <a:extLst>
                <a:ext uri="{FF2B5EF4-FFF2-40B4-BE49-F238E27FC236}">
                  <a16:creationId xmlns:a16="http://schemas.microsoft.com/office/drawing/2014/main" id="{7E954F6D-03EE-6B35-5223-3CB35CDA80B4}"/>
                </a:ext>
              </a:extLst>
            </p:cNvPr>
            <p:cNvSpPr/>
            <p:nvPr/>
          </p:nvSpPr>
          <p:spPr>
            <a:xfrm>
              <a:off x="5255941" y="1204943"/>
              <a:ext cx="3836019" cy="67589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0E72EEE-61E0-E91E-C291-3647294B8A0E}"/>
                  </a:ext>
                </a:extLst>
              </p:cNvPr>
              <p:cNvSpPr txBox="1"/>
              <p:nvPr/>
            </p:nvSpPr>
            <p:spPr>
              <a:xfrm>
                <a:off x="5874482" y="633016"/>
                <a:ext cx="3044423" cy="511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Note strictly proper</a:t>
                </a:r>
                <a14:m>
                  <m:oMath xmlns:m="http://schemas.openxmlformats.org/officeDocument/2006/math"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US" sz="1800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80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800" noProof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0E72EEE-61E0-E91E-C291-3647294B8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482" y="633016"/>
                <a:ext cx="3044423" cy="511615"/>
              </a:xfrm>
              <a:prstGeom prst="rect">
                <a:avLst/>
              </a:prstGeom>
              <a:blipFill>
                <a:blip r:embed="rId5"/>
                <a:stretch>
                  <a:fillRect l="-1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371C510F-78A9-00E6-CF13-C8D35BA1ABCD}"/>
              </a:ext>
            </a:extLst>
          </p:cNvPr>
          <p:cNvSpPr txBox="1"/>
          <p:nvPr/>
        </p:nvSpPr>
        <p:spPr>
          <a:xfrm>
            <a:off x="4191849" y="1847123"/>
            <a:ext cx="5129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Note: useful to switch between state-space and TF with canonical form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92EACAB8-A253-53DC-153E-98835E37ECB2}"/>
              </a:ext>
            </a:extLst>
          </p:cNvPr>
          <p:cNvGrpSpPr/>
          <p:nvPr/>
        </p:nvGrpSpPr>
        <p:grpSpPr>
          <a:xfrm>
            <a:off x="3681409" y="2648319"/>
            <a:ext cx="5328777" cy="1068115"/>
            <a:chOff x="3659106" y="2636175"/>
            <a:chExt cx="5328777" cy="1068115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64E7043-9FC6-FA49-E65C-8400483C2A90}"/>
                </a:ext>
              </a:extLst>
            </p:cNvPr>
            <p:cNvGrpSpPr/>
            <p:nvPr/>
          </p:nvGrpSpPr>
          <p:grpSpPr>
            <a:xfrm>
              <a:off x="3683148" y="2636175"/>
              <a:ext cx="3867213" cy="595821"/>
              <a:chOff x="3683148" y="2636175"/>
              <a:chExt cx="3867213" cy="5958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D191B54E-5D42-AC0C-2D82-D02F273A6F40}"/>
                      </a:ext>
                    </a:extLst>
                  </p:cNvPr>
                  <p:cNvSpPr txBox="1"/>
                  <p:nvPr/>
                </p:nvSpPr>
                <p:spPr>
                  <a:xfrm>
                    <a:off x="3683148" y="2636175"/>
                    <a:ext cx="3867213" cy="5556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f>
                            <m:f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D191B54E-5D42-AC0C-2D82-D02F273A6F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3148" y="2636175"/>
                    <a:ext cx="3867213" cy="55560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326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: Rounded Corners 17">
                <a:extLst>
                  <a:ext uri="{FF2B5EF4-FFF2-40B4-BE49-F238E27FC236}">
                    <a16:creationId xmlns:a16="http://schemas.microsoft.com/office/drawing/2014/main" id="{CCC3D7C0-31FC-447A-6615-17777A0272C1}"/>
                  </a:ext>
                </a:extLst>
              </p:cNvPr>
              <p:cNvSpPr/>
              <p:nvPr/>
            </p:nvSpPr>
            <p:spPr>
              <a:xfrm>
                <a:off x="3723283" y="2636175"/>
                <a:ext cx="3762901" cy="595821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 dirty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9D965B55-B865-65B7-3F7B-7DA785A6DC78}"/>
                </a:ext>
              </a:extLst>
            </p:cNvPr>
            <p:cNvGrpSpPr/>
            <p:nvPr/>
          </p:nvGrpSpPr>
          <p:grpSpPr>
            <a:xfrm>
              <a:off x="3659106" y="2703523"/>
              <a:ext cx="5328777" cy="1000767"/>
              <a:chOff x="3659106" y="2703523"/>
              <a:chExt cx="5328777" cy="100076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BF616EB0-76F8-3999-8C58-0A11C05CBF8B}"/>
                      </a:ext>
                    </a:extLst>
                  </p:cNvPr>
                  <p:cNvSpPr txBox="1"/>
                  <p:nvPr/>
                </p:nvSpPr>
                <p:spPr>
                  <a:xfrm>
                    <a:off x="7550361" y="2703523"/>
                    <a:ext cx="1221938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600" i="1" baseline="-25000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  <a:r>
                      <a:rPr lang="en-US" sz="1600" noProof="0" dirty="0"/>
                      <a:t>: residues</a:t>
                    </a:r>
                  </a:p>
                </p:txBody>
              </p:sp>
            </mc:Choice>
            <mc:Fallback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BF616EB0-76F8-3999-8C58-0A11C05CBF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0361" y="2703523"/>
                    <a:ext cx="1221938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3571" r="-2062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7ECD6B55-EB1E-3E44-AB59-2D4880B679C7}"/>
                      </a:ext>
                    </a:extLst>
                  </p:cNvPr>
                  <p:cNvSpPr txBox="1"/>
                  <p:nvPr/>
                </p:nvSpPr>
                <p:spPr>
                  <a:xfrm>
                    <a:off x="3659106" y="3211847"/>
                    <a:ext cx="5328777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noProof="0" dirty="0">
                        <a:solidFill>
                          <a:srgbClr val="FF0000"/>
                        </a:solidFill>
                      </a:rPr>
                      <a:t>Note: useful to use inverse Laplace to get the time response of each pole</a:t>
                    </a:r>
                  </a:p>
                  <a:p>
                    <a:r>
                      <a:rPr lang="en-US" sz="1200" noProof="0" dirty="0">
                        <a:solidFill>
                          <a:srgbClr val="FF0000"/>
                        </a:solidFill>
                      </a:rPr>
                      <a:t>	</a:t>
                    </a:r>
                    <a14:m>
                      <m:oMath xmlns:m="http://schemas.openxmlformats.org/officeDocument/2006/math">
                        <m:r>
                          <a:rPr lang="en-US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+…</m:t>
                        </m:r>
                        <m:r>
                          <a:rPr lang="en-US" i="1" noProof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 noProof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a14:m>
                    <a:endParaRPr lang="en-US" sz="1200" noProof="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7ECD6B55-EB1E-3E44-AB59-2D4880B679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59106" y="3211847"/>
                    <a:ext cx="5328777" cy="4924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14" t="-2469" b="-12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020380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04FB9-ECAE-0A47-2648-499ABD25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Root-Locus- &amp; Bode-Form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E67A4EE-AC84-94BA-E418-88FB5DE28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These are also other forms to represent the TF, recall from last week:</a:t>
                </a:r>
              </a:p>
              <a:p>
                <a:r>
                  <a:rPr lang="en-US" b="1" noProof="0" dirty="0"/>
                  <a:t>Poles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baseline="-25000" noProof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noProof="0" dirty="0"/>
                  <a:t> are the roots of the </a:t>
                </a:r>
                <a:r>
                  <a:rPr lang="en-US" i="1" noProof="0" dirty="0"/>
                  <a:t>Denominator</a:t>
                </a:r>
                <a:r>
                  <a:rPr lang="en-US" noProof="0" dirty="0"/>
                  <a:t> of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  <a:p>
                <a:r>
                  <a:rPr lang="en-US" b="1" noProof="0" dirty="0"/>
                  <a:t>Zeros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baseline="-25000" noProof="0" smtClean="0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noProof="0" dirty="0"/>
                  <a:t> are the roots of the </a:t>
                </a:r>
                <a:r>
                  <a:rPr lang="en-US" i="1" noProof="0" dirty="0"/>
                  <a:t>Nominator</a:t>
                </a:r>
                <a:r>
                  <a:rPr lang="en-US" noProof="0" dirty="0"/>
                  <a:t> of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  <a:p>
                <a:endParaRPr lang="en-US" noProof="0" dirty="0"/>
              </a:p>
              <a:p>
                <a:r>
                  <a:rPr lang="en-US" b="1" i="1" noProof="0" dirty="0"/>
                  <a:t>Root Locus Form:</a:t>
                </a:r>
              </a:p>
              <a:p>
                <a:endParaRPr lang="en-US" b="1" i="1" noProof="0" dirty="0"/>
              </a:p>
              <a:p>
                <a:endParaRPr lang="en-US" b="1" i="1" noProof="0" dirty="0"/>
              </a:p>
              <a:p>
                <a:endParaRPr lang="en-US" b="1" i="1" noProof="0" dirty="0"/>
              </a:p>
              <a:p>
                <a:r>
                  <a:rPr lang="en-US" b="1" i="1" noProof="0" dirty="0"/>
                  <a:t>Bode Form:</a:t>
                </a:r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E67A4EE-AC84-94BA-E418-88FB5DE28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331CEC-9D71-443B-FE54-48C05842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3B71F2-7812-F1FE-F716-450BA7A6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4A0FB237-DEAB-F116-145E-1B72113CF5CA}"/>
              </a:ext>
            </a:extLst>
          </p:cNvPr>
          <p:cNvSpPr/>
          <p:nvPr/>
        </p:nvSpPr>
        <p:spPr>
          <a:xfrm>
            <a:off x="2984810" y="3755801"/>
            <a:ext cx="4501375" cy="1011462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92B6803-2B45-D18C-0CBC-08958A98CC59}"/>
              </a:ext>
            </a:extLst>
          </p:cNvPr>
          <p:cNvGrpSpPr/>
          <p:nvPr/>
        </p:nvGrpSpPr>
        <p:grpSpPr>
          <a:xfrm>
            <a:off x="3375102" y="2567562"/>
            <a:ext cx="3709237" cy="792671"/>
            <a:chOff x="3375102" y="2567562"/>
            <a:chExt cx="3709237" cy="7926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AC3FB64-22C8-1361-8CC2-6F17D2232BAD}"/>
                    </a:ext>
                  </a:extLst>
                </p:cNvPr>
                <p:cNvSpPr txBox="1"/>
                <p:nvPr/>
              </p:nvSpPr>
              <p:spPr>
                <a:xfrm>
                  <a:off x="3375102" y="2631688"/>
                  <a:ext cx="3582456" cy="6117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𝑟𝑙</m:t>
                            </m:r>
                          </m:sub>
                        </m:sSub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AC3FB64-22C8-1361-8CC2-6F17D2232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102" y="2631688"/>
                  <a:ext cx="3582456" cy="61177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CB501C1D-8911-5DB5-36DB-3F846ECD8BA9}"/>
                </a:ext>
              </a:extLst>
            </p:cNvPr>
            <p:cNvSpPr/>
            <p:nvPr/>
          </p:nvSpPr>
          <p:spPr>
            <a:xfrm>
              <a:off x="3375102" y="2567562"/>
              <a:ext cx="3709237" cy="792671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82ED777-A279-8B45-4060-CF2B8EF99B4D}"/>
                  </a:ext>
                </a:extLst>
              </p:cNvPr>
              <p:cNvSpPr txBox="1"/>
              <p:nvPr/>
            </p:nvSpPr>
            <p:spPr>
              <a:xfrm>
                <a:off x="1832315" y="3770644"/>
                <a:ext cx="6794810" cy="99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𝑏𝑜𝑑𝑒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600" i="1" noProof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82ED777-A279-8B45-4060-CF2B8EF99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315" y="3770644"/>
                <a:ext cx="6794810" cy="9966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9A00E93B-0F9C-1890-EB8B-D447C7AD9009}"/>
              </a:ext>
            </a:extLst>
          </p:cNvPr>
          <p:cNvSpPr txBox="1"/>
          <p:nvPr/>
        </p:nvSpPr>
        <p:spPr>
          <a:xfrm>
            <a:off x="7307562" y="2680855"/>
            <a:ext cx="1221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Used for </a:t>
            </a:r>
            <a:br>
              <a:rPr lang="en-US" sz="1600" noProof="0" dirty="0"/>
            </a:br>
            <a:r>
              <a:rPr lang="en-US" sz="1600" noProof="0" dirty="0"/>
              <a:t>Root Locus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C3238BF-DD1B-22AE-C6B6-425024199501}"/>
              </a:ext>
            </a:extLst>
          </p:cNvPr>
          <p:cNvSpPr txBox="1"/>
          <p:nvPr/>
        </p:nvSpPr>
        <p:spPr>
          <a:xfrm>
            <a:off x="7652208" y="3921152"/>
            <a:ext cx="1175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/>
              <a:t>Used for </a:t>
            </a:r>
            <a:br>
              <a:rPr lang="en-US" sz="1600" noProof="0" dirty="0"/>
            </a:br>
            <a:r>
              <a:rPr lang="en-US" sz="1600" noProof="0" dirty="0"/>
              <a:t>Bode Plots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EAD71D8-B990-5776-58B0-98743B72D1C6}"/>
              </a:ext>
            </a:extLst>
          </p:cNvPr>
          <p:cNvSpPr txBox="1"/>
          <p:nvPr/>
        </p:nvSpPr>
        <p:spPr>
          <a:xfrm>
            <a:off x="3432763" y="3343457"/>
            <a:ext cx="30684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FF0000"/>
                </a:solidFill>
              </a:rPr>
              <a:t>Note: we can directly see all poles &amp; zeros</a:t>
            </a:r>
          </a:p>
        </p:txBody>
      </p:sp>
    </p:spTree>
    <p:extLst>
      <p:ext uri="{BB962C8B-B14F-4D97-AF65-F5344CB8AC3E}">
        <p14:creationId xmlns:p14="http://schemas.microsoft.com/office/powerpoint/2010/main" val="437438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AB8F7-A645-FB6B-8916-5648BE42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381BD3-82B4-45FE-D16B-32D1B84F9D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87187" y="482566"/>
                <a:ext cx="1955181" cy="5767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381BD3-82B4-45FE-D16B-32D1B84F9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7187" y="482566"/>
                <a:ext cx="1955181" cy="57672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262306-E477-8BBD-B428-25B73F9A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EF21C8-40D9-E7B6-AF33-BB6A78E9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9984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6323D-A67B-972A-0E14-4CA5EAC78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2. System Response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1A2F78-6FDE-7425-D5B0-C4652E3B13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FA28EE-B066-FA52-BC89-D26A7353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364BA5-66E2-3837-1A74-6983482F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677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Reihe, Kreis, Diagramm, Symbol enthält.&#10;&#10;KI-generierte Inhalte können fehlerhaft sein.">
            <a:extLst>
              <a:ext uri="{FF2B5EF4-FFF2-40B4-BE49-F238E27FC236}">
                <a16:creationId xmlns:a16="http://schemas.microsoft.com/office/drawing/2014/main" id="{007EC4C9-9348-2E13-6889-097889D53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798" y="2956030"/>
            <a:ext cx="2180640" cy="204747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2951644-6123-81FD-BCC4-3EB8B353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Recap Complex Numbers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8CD2F72-5A51-4AB1-D623-14392E4BA9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42404"/>
                <a:ext cx="8314628" cy="3827252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Every complex number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noProof="0" dirty="0"/>
                  <a:t> can be represented by its </a:t>
                </a:r>
                <a:r>
                  <a:rPr lang="en-US" b="1" noProof="0" dirty="0">
                    <a:solidFill>
                      <a:schemeClr val="accent5"/>
                    </a:solidFill>
                  </a:rPr>
                  <a:t>magnitude</a:t>
                </a:r>
                <a:r>
                  <a:rPr lang="en-US" noProof="0" dirty="0"/>
                  <a:t> and </a:t>
                </a:r>
                <a:r>
                  <a:rPr lang="en-US" b="1" noProof="0" dirty="0">
                    <a:solidFill>
                      <a:schemeClr val="accent3"/>
                    </a:solidFill>
                  </a:rPr>
                  <a:t>phase</a:t>
                </a:r>
              </a:p>
              <a:p>
                <a:r>
                  <a:rPr lang="en-US" noProof="0" dirty="0"/>
                  <a:t>Geometrically,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𝑗𝑏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corresponds to a vector in the complex plane</a:t>
                </a:r>
                <a:endParaRPr lang="en-US" i="1" noProof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i="1" noProof="0" dirty="0"/>
                  <a:t>Co</a:t>
                </a:r>
                <a:r>
                  <a:rPr lang="en-US" i="1" dirty="0" err="1"/>
                  <a:t>mputing</a:t>
                </a:r>
                <a:r>
                  <a:rPr lang="en-US" i="1" dirty="0"/>
                  <a:t> magnitude: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CH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CH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de-CH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i="1" noProof="0" dirty="0"/>
                  <a:t>Computing phase: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de-CH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CH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e-CH" i="0" dirty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de-CH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de-CH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de-CH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de-CH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de-CH" i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CH" i="1" dirty="0"/>
                  <a:t>Vector </a:t>
                </a:r>
                <a:r>
                  <a:rPr lang="de-CH" i="1" dirty="0" err="1"/>
                  <a:t>interpretation</a:t>
                </a:r>
                <a:r>
                  <a:rPr lang="de-CH" i="1" dirty="0"/>
                  <a:t>: </a:t>
                </a:r>
                <a:r>
                  <a:rPr lang="de-CH" dirty="0"/>
                  <a:t>The </a:t>
                </a:r>
                <a:r>
                  <a:rPr lang="de-CH" dirty="0" err="1"/>
                  <a:t>difference</a:t>
                </a:r>
                <a14:m>
                  <m:oMath xmlns:m="http://schemas.openxmlformats.org/officeDocument/2006/math">
                    <m:r>
                      <a:rPr lang="de-CH" b="0" i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CH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CH" dirty="0" err="1"/>
                  <a:t>represents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vector</a:t>
                </a:r>
                <a:r>
                  <a:rPr lang="de-CH" dirty="0"/>
                  <a:t> </a:t>
                </a:r>
                <a:r>
                  <a:rPr lang="de-CH" dirty="0" err="1"/>
                  <a:t>from</a:t>
                </a:r>
                <a:r>
                  <a:rPr lang="de-CH" dirty="0"/>
                  <a:t> </a:t>
                </a:r>
                <a:r>
                  <a:rPr lang="de-CH" dirty="0" err="1"/>
                  <a:t>point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CH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dirty="0" err="1"/>
                  <a:t>to</a:t>
                </a:r>
                <a:r>
                  <a:rPr lang="de-CH" dirty="0"/>
                  <a:t> </a:t>
                </a:r>
                <a:r>
                  <a:rPr lang="de-CH" dirty="0" err="1"/>
                  <a:t>point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dirty="0"/>
                  <a:t>in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complex</a:t>
                </a:r>
                <a:r>
                  <a:rPr lang="de-CH" dirty="0"/>
                  <a:t> plane</a:t>
                </a:r>
              </a:p>
              <a:p>
                <a:r>
                  <a:rPr lang="de-CH" dirty="0" err="1"/>
                  <a:t>For</a:t>
                </a:r>
                <a:r>
                  <a:rPr lang="de-CH" dirty="0"/>
                  <a:t> </a:t>
                </a:r>
                <a:r>
                  <a:rPr lang="de-CH" dirty="0" err="1"/>
                  <a:t>two</a:t>
                </a:r>
                <a:r>
                  <a:rPr lang="de-CH" dirty="0"/>
                  <a:t> </a:t>
                </a:r>
                <a:r>
                  <a:rPr lang="de-CH" dirty="0" err="1"/>
                  <a:t>complex</a:t>
                </a:r>
                <a:r>
                  <a:rPr lang="de-CH" dirty="0"/>
                  <a:t> </a:t>
                </a:r>
                <a:r>
                  <a:rPr lang="de-CH" dirty="0" err="1"/>
                  <a:t>numbers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CH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&amp;</m:t>
                    </m:r>
                  </m:oMath>
                </a14:m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CH" i="1" baseline="-25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CH" dirty="0"/>
                  <a:t> </a:t>
                </a:r>
                <a:r>
                  <a:rPr lang="de-CH" dirty="0" err="1"/>
                  <a:t>following</a:t>
                </a:r>
                <a:r>
                  <a:rPr lang="de-CH" dirty="0"/>
                  <a:t> </a:t>
                </a:r>
                <a:r>
                  <a:rPr lang="de-CH" dirty="0" err="1"/>
                  <a:t>rules</a:t>
                </a:r>
                <a:r>
                  <a:rPr lang="de-CH" dirty="0"/>
                  <a:t> hold: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de-CH" sz="160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8CD2F72-5A51-4AB1-D623-14392E4BA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42404"/>
                <a:ext cx="8314628" cy="3827252"/>
              </a:xfrm>
              <a:blipFill>
                <a:blip r:embed="rId3"/>
                <a:stretch>
                  <a:fillRect l="-762" t="-19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D29482-0ECC-6974-900A-85954DC3C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0BC3DE-E14F-9DC1-406C-DF88BB65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FF74A4-9808-FB0A-93A2-1FAD46B7C98A}"/>
                  </a:ext>
                </a:extLst>
              </p:cNvPr>
              <p:cNvSpPr txBox="1"/>
              <p:nvPr/>
            </p:nvSpPr>
            <p:spPr>
              <a:xfrm>
                <a:off x="1486186" y="3503185"/>
                <a:ext cx="5039008" cy="15379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lit/>
                        </m:rPr>
                        <a:rPr lang="ar-AE" sz="1800" i="1" dirty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,  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ar-AE" sz="18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ar-AE" sz="1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de-CH" sz="18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∠</m:t>
                      </m:r>
                      <m:d>
                        <m:d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=∠</m:t>
                      </m:r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+∠</m:t>
                      </m:r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,  ∠</m:t>
                      </m:r>
                      <m:d>
                        <m:d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ar-AE" sz="1800" i="1" dirty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=∠</m:t>
                      </m:r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800" i="1" dirty="0">
                          <a:latin typeface="Cambria Math" panose="02040503050406030204" pitchFamily="18" charset="0"/>
                        </a:rPr>
                        <m:t>−∠</m:t>
                      </m:r>
                      <m:sSub>
                        <m:sSubPr>
                          <m:ctrlPr>
                            <a:rPr lang="ar-AE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CH" sz="18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ar-AE" sz="1800"/>
              </a:p>
              <a:p>
                <a:endParaRPr lang="en-US" sz="180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FF74A4-9808-FB0A-93A2-1FAD46B7C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186" y="3503185"/>
                <a:ext cx="5039008" cy="15379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032C2424-A34A-7141-0A2D-87D80D61EA05}"/>
                  </a:ext>
                </a:extLst>
              </p14:cNvPr>
              <p14:cNvContentPartPr/>
              <p14:nvPr/>
            </p14:nvContentPartPr>
            <p14:xfrm>
              <a:off x="7731360" y="2917080"/>
              <a:ext cx="1113840" cy="111348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032C2424-A34A-7141-0A2D-87D80D61EA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22000" y="2907720"/>
                <a:ext cx="1132560" cy="113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0714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2EC6CB-D48D-03EF-E08D-C29A5759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Sinusoidal Response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E7D9D44-8B2C-F63B-1FD6-A1E1CCD8F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85887"/>
                <a:ext cx="7886700" cy="3263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u="sng" noProof="0" dirty="0"/>
                  <a:t>Example: </a:t>
                </a:r>
                <a:r>
                  <a:rPr lang="en-US" sz="1600" noProof="0" dirty="0"/>
                  <a:t>	Given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sz="1600" noProof="0" dirty="0"/>
              </a:p>
              <a:p>
                <a:pPr marL="0" indent="0">
                  <a:buNone/>
                </a:pPr>
                <a:r>
                  <a:rPr lang="en-US" sz="1600" noProof="0" dirty="0"/>
                  <a:t>Goal: Compute the time response of the system:</a:t>
                </a:r>
              </a:p>
              <a:p>
                <a:pPr marL="0" indent="0">
                  <a:buNone/>
                </a:pPr>
                <a:endParaRPr lang="en-US" sz="1600" noProof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noProof="0" dirty="0"/>
                  <a:t>Compute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</m:oMath>
                </a14:m>
                <a:endParaRPr lang="en-US" sz="1600" noProof="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noProof="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noProof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noProof="0" dirty="0"/>
                  <a:t>Compute 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=∠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US" sz="1600" noProof="0" dirty="0"/>
              </a:p>
              <a:p>
                <a:pPr marL="0" indent="0">
                  <a:buNone/>
                </a:pPr>
                <a:endParaRPr lang="en-US" sz="1600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E7D9D44-8B2C-F63B-1FD6-A1E1CCD8F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85887"/>
                <a:ext cx="7886700" cy="3263504"/>
              </a:xfrm>
              <a:blipFill>
                <a:blip r:embed="rId3"/>
                <a:stretch>
                  <a:fillRect l="-541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DF6009-577D-8D11-6AB4-C8AD297E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04C7C1-6A66-A964-394E-D57DDDA2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04FA680-FC19-6FEF-050A-B258058600A2}"/>
                  </a:ext>
                </a:extLst>
              </p:cNvPr>
              <p:cNvSpPr txBox="1"/>
              <p:nvPr/>
            </p:nvSpPr>
            <p:spPr>
              <a:xfrm>
                <a:off x="4899103" y="102393"/>
                <a:ext cx="485449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 dirty="0"/>
                  <a:t>If Input is:		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sz="1600" noProof="0" dirty="0"/>
              </a:p>
              <a:p>
                <a:r>
                  <a:rPr lang="en-US" sz="16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Output given by: 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r>
                      <a:rPr lang="en-US" sz="1600" i="1" noProof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𝑀</m:t>
                    </m:r>
                    <m:func>
                      <m:func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</m:oMath>
                </a14:m>
                <a:endParaRPr lang="en-US" sz="1600" noProof="0" dirty="0"/>
              </a:p>
              <a:p>
                <a:r>
                  <a:rPr lang="en-US" sz="16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with</a:t>
                </a:r>
                <a:r>
                  <a:rPr lang="en-US" sz="1600" noProof="0" dirty="0"/>
                  <a:t> 		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sz="1600" i="1" noProof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=∠</m:t>
                    </m:r>
                    <m:r>
                      <a:rPr lang="en-US" sz="1600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sz="1600" noProof="0" dirty="0"/>
              </a:p>
              <a:p>
                <a:endParaRPr lang="en-US" sz="1600" noProof="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04FA680-FC19-6FEF-050A-B25805860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03" y="102393"/>
                <a:ext cx="4854497" cy="1077218"/>
              </a:xfrm>
              <a:prstGeom prst="rect">
                <a:avLst/>
              </a:prstGeom>
              <a:blipFill>
                <a:blip r:embed="rId4"/>
                <a:stretch>
                  <a:fillRect l="-754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17">
            <a:extLst>
              <a:ext uri="{FF2B5EF4-FFF2-40B4-BE49-F238E27FC236}">
                <a16:creationId xmlns:a16="http://schemas.microsoft.com/office/drawing/2014/main" id="{F3D12A6C-F3BB-932A-F6D1-036429F06808}"/>
              </a:ext>
            </a:extLst>
          </p:cNvPr>
          <p:cNvSpPr/>
          <p:nvPr/>
        </p:nvSpPr>
        <p:spPr>
          <a:xfrm>
            <a:off x="4899103" y="116797"/>
            <a:ext cx="4192858" cy="857076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FE055E9-3FB6-08DE-18AF-F28DAD70F7B2}"/>
                  </a:ext>
                </a:extLst>
              </p:cNvPr>
              <p:cNvSpPr txBox="1"/>
              <p:nvPr/>
            </p:nvSpPr>
            <p:spPr>
              <a:xfrm>
                <a:off x="4762966" y="1308322"/>
                <a:ext cx="4192857" cy="715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 dirty="0"/>
                  <a:t>let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+1+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+1−</m:t>
                            </m:r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den>
                    </m:f>
                  </m:oMath>
                </a14:m>
                <a:endParaRPr lang="en-US" sz="1600" noProof="0" dirty="0"/>
              </a:p>
              <a:p>
                <a:endParaRPr lang="en-US" sz="1600" noProof="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FE055E9-3FB6-08DE-18AF-F28DAD70F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966" y="1308322"/>
                <a:ext cx="4192857" cy="715389"/>
              </a:xfrm>
              <a:prstGeom prst="rect">
                <a:avLst/>
              </a:prstGeom>
              <a:blipFill>
                <a:blip r:embed="rId5"/>
                <a:stretch>
                  <a:fillRect l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8E91CD7-402F-28CB-68E6-1F89C1664804}"/>
                  </a:ext>
                </a:extLst>
              </p:cNvPr>
              <p:cNvSpPr txBox="1"/>
              <p:nvPr/>
            </p:nvSpPr>
            <p:spPr>
              <a:xfrm>
                <a:off x="628650" y="4280059"/>
                <a:ext cx="748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noProof="0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8E91CD7-402F-28CB-68E6-1F89C1664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280059"/>
                <a:ext cx="748859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12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Reihe, Diagramm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6DAAEBB9-0775-F179-FD47-149C1E4FB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51"/>
          <a:stretch>
            <a:fillRect/>
          </a:stretch>
        </p:blipFill>
        <p:spPr>
          <a:xfrm>
            <a:off x="6155172" y="2571750"/>
            <a:ext cx="3230438" cy="262327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5D9C172-051E-885E-4EC4-D156B4AA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Graphical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16E004-31C4-2070-4E27-7D31B7208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CH" sz="1600" dirty="0" err="1"/>
                  <a:t>Each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term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de-CH" sz="16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de-CH" sz="1600" dirty="0"/>
                  <a:t> </a:t>
                </a:r>
                <a:r>
                  <a:rPr lang="de-CH" sz="1600" dirty="0" err="1"/>
                  <a:t>is</a:t>
                </a:r>
                <a:r>
                  <a:rPr lang="de-CH" sz="1600" dirty="0"/>
                  <a:t> a </a:t>
                </a:r>
                <a:r>
                  <a:rPr lang="de-CH" sz="1600" dirty="0" err="1"/>
                  <a:t>complex</a:t>
                </a:r>
                <a:r>
                  <a:rPr lang="de-CH" sz="1600" dirty="0"/>
                  <a:t> </a:t>
                </a:r>
                <a:r>
                  <a:rPr lang="de-CH" sz="1600" dirty="0" err="1"/>
                  <a:t>vector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from</a:t>
                </a:r>
                <a:r>
                  <a:rPr lang="de-CH" sz="1600" dirty="0"/>
                  <a:t> </a:t>
                </a:r>
                <a:r>
                  <a:rPr lang="de-CH" sz="1600" dirty="0" err="1"/>
                  <a:t>zeros</a:t>
                </a:r>
                <a:r>
                  <a:rPr lang="de-CH" sz="1600" dirty="0"/>
                  <a:t> and </a:t>
                </a:r>
                <a:r>
                  <a:rPr lang="de-CH" sz="1600" dirty="0" err="1"/>
                  <a:t>poles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to</a:t>
                </a:r>
                <a:r>
                  <a:rPr lang="de-CH" sz="1600" dirty="0"/>
                  <a:t> s; </a:t>
                </a:r>
                <a:r>
                  <a:rPr lang="de-CH" sz="1600" dirty="0" err="1"/>
                  <a:t>using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b="1" dirty="0" err="1"/>
                  <a:t>magnitude</a:t>
                </a:r>
                <a:r>
                  <a:rPr lang="de-CH" sz="1600" b="1" dirty="0"/>
                  <a:t> and </a:t>
                </a:r>
                <a:r>
                  <a:rPr lang="de-CH" sz="1600" b="1" dirty="0" err="1"/>
                  <a:t>phase</a:t>
                </a:r>
                <a:r>
                  <a:rPr lang="de-CH" sz="1600" b="1" dirty="0"/>
                  <a:t> </a:t>
                </a:r>
                <a:r>
                  <a:rPr lang="de-CH" sz="1600" b="1" dirty="0" err="1"/>
                  <a:t>rules</a:t>
                </a:r>
                <a:r>
                  <a:rPr lang="de-CH" sz="1600" dirty="0"/>
                  <a:t>,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total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r>
                  <a:rPr lang="de-CH" sz="1600" dirty="0"/>
                  <a:t> and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CH" sz="1600" dirty="0"/>
                  <a:t> </a:t>
                </a:r>
                <a:r>
                  <a:rPr lang="de-CH" sz="1600" dirty="0" err="1"/>
                  <a:t>result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from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product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of</a:t>
                </a:r>
                <a:r>
                  <a:rPr lang="de-CH" sz="1600" dirty="0"/>
                  <a:t> </a:t>
                </a:r>
                <a:r>
                  <a:rPr lang="de-CH" sz="1600" dirty="0" err="1"/>
                  <a:t>lengths</a:t>
                </a:r>
                <a:r>
                  <a:rPr lang="de-CH" sz="1600" dirty="0"/>
                  <a:t> and </a:t>
                </a:r>
                <a:r>
                  <a:rPr lang="de-CH" sz="1600" dirty="0" err="1"/>
                  <a:t>sum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of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angles</a:t>
                </a:r>
                <a:r>
                  <a:rPr lang="de-CH" sz="1600" dirty="0"/>
                  <a:t>.</a:t>
                </a: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Magnitude: 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Argument: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16E004-31C4-2070-4E27-7D31B7208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18" t="-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5818AF-247B-A055-563D-881B2B94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6360E7-6314-5076-8DB2-2E23625F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00EC41E-CE51-19DE-06F1-EDEF6A79C008}"/>
                  </a:ext>
                </a:extLst>
              </p:cNvPr>
              <p:cNvSpPr txBox="1"/>
              <p:nvPr/>
            </p:nvSpPr>
            <p:spPr>
              <a:xfrm>
                <a:off x="628650" y="3932663"/>
                <a:ext cx="748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noProof="0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00EC41E-CE51-19DE-06F1-EDEF6A79C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32663"/>
                <a:ext cx="748859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0FDA690-7009-0561-90A7-6A484BD9A671}"/>
              </a:ext>
            </a:extLst>
          </p:cNvPr>
          <p:cNvGrpSpPr/>
          <p:nvPr/>
        </p:nvGrpSpPr>
        <p:grpSpPr>
          <a:xfrm>
            <a:off x="5314260" y="172641"/>
            <a:ext cx="3709237" cy="792671"/>
            <a:chOff x="3375102" y="2567562"/>
            <a:chExt cx="3709237" cy="7926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F5D53E22-4DD6-E7B9-6F29-B5E6CC4BD1BF}"/>
                    </a:ext>
                  </a:extLst>
                </p:cNvPr>
                <p:cNvSpPr txBox="1"/>
                <p:nvPr/>
              </p:nvSpPr>
              <p:spPr>
                <a:xfrm>
                  <a:off x="3375102" y="2631688"/>
                  <a:ext cx="3582456" cy="6117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𝑟𝑙</m:t>
                            </m:r>
                          </m:sub>
                        </m:sSub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noProof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F5D53E22-4DD6-E7B9-6F29-B5E6CC4BD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102" y="2631688"/>
                  <a:ext cx="3582456" cy="61177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: Rounded Corners 17">
              <a:extLst>
                <a:ext uri="{FF2B5EF4-FFF2-40B4-BE49-F238E27FC236}">
                  <a16:creationId xmlns:a16="http://schemas.microsoft.com/office/drawing/2014/main" id="{5AAA27CC-44DF-F08D-D38D-1E75E50EEC69}"/>
                </a:ext>
              </a:extLst>
            </p:cNvPr>
            <p:cNvSpPr/>
            <p:nvPr/>
          </p:nvSpPr>
          <p:spPr>
            <a:xfrm>
              <a:off x="3375102" y="2567562"/>
              <a:ext cx="3709237" cy="792671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406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1304AB-2247-B2E5-43BE-17C6A08E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DBDCEC-5443-3DDE-35C4-76A44F39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4B29A-DDE5-AC16-344C-643BAD15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39612BA-0D7B-CF16-FD34-C2CC8FCB7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10" y="1077218"/>
            <a:ext cx="3649807" cy="36066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D6B4B38-871F-BFAA-ECF2-31CD0F838B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53796" b="63196"/>
          <a:stretch>
            <a:fillRect/>
          </a:stretch>
        </p:blipFill>
        <p:spPr>
          <a:xfrm>
            <a:off x="4366403" y="962572"/>
            <a:ext cx="4578543" cy="4494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EE34E819-F778-9742-85B5-FB168B15ED47}"/>
                  </a:ext>
                </a:extLst>
              </p:cNvPr>
              <p:cNvSpPr/>
              <p:nvPr/>
            </p:nvSpPr>
            <p:spPr>
              <a:xfrm>
                <a:off x="4366404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EE34E819-F778-9742-85B5-FB168B15E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404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88A375D1-8078-7259-D3F4-763725B20D13}"/>
                  </a:ext>
                </a:extLst>
              </p:cNvPr>
              <p:cNvSpPr/>
              <p:nvPr/>
            </p:nvSpPr>
            <p:spPr>
              <a:xfrm>
                <a:off x="5423418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88A375D1-8078-7259-D3F4-763725B20D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418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60039A27-26FD-7BC0-DF5D-1610D8C62429}"/>
                  </a:ext>
                </a:extLst>
              </p:cNvPr>
              <p:cNvSpPr/>
              <p:nvPr/>
            </p:nvSpPr>
            <p:spPr>
              <a:xfrm>
                <a:off x="6480432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de-CH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60039A27-26FD-7BC0-DF5D-1610D8C62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432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E29E8C4A-48B6-319D-307D-C0FCE806F610}"/>
                  </a:ext>
                </a:extLst>
              </p:cNvPr>
              <p:cNvSpPr/>
              <p:nvPr/>
            </p:nvSpPr>
            <p:spPr>
              <a:xfrm>
                <a:off x="7537446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E29E8C4A-48B6-319D-307D-C0FCE806F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446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036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530FB-376C-2DF9-7C0A-2F804E47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239529-B7D2-BCED-71CF-92B89D13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089E2D-2B35-F068-9F56-CDA9A58A2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AD1714-3074-408E-AEDD-23CAC65B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7A17269-BE51-469E-4B17-61FBA69A7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10" y="1077218"/>
            <a:ext cx="3649807" cy="36066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8E54AE9-E9E4-8474-769B-FFEC0384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53796" b="63196"/>
          <a:stretch>
            <a:fillRect/>
          </a:stretch>
        </p:blipFill>
        <p:spPr>
          <a:xfrm>
            <a:off x="4366403" y="962572"/>
            <a:ext cx="4578543" cy="4494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57B6521C-F21B-3834-8FE7-7B16C9E58F32}"/>
                  </a:ext>
                </a:extLst>
              </p:cNvPr>
              <p:cNvSpPr/>
              <p:nvPr/>
            </p:nvSpPr>
            <p:spPr>
              <a:xfrm>
                <a:off x="4366404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57B6521C-F21B-3834-8FE7-7B16C9E58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404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B80C3A5B-3C93-7BF6-174F-5BF033C74140}"/>
                  </a:ext>
                </a:extLst>
              </p:cNvPr>
              <p:cNvSpPr/>
              <p:nvPr/>
            </p:nvSpPr>
            <p:spPr>
              <a:xfrm>
                <a:off x="5423418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B80C3A5B-3C93-7BF6-174F-5BF033C741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418" y="1495361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A7FC0631-EFFD-4062-767D-FB6919BABB44}"/>
                  </a:ext>
                </a:extLst>
              </p:cNvPr>
              <p:cNvSpPr/>
              <p:nvPr/>
            </p:nvSpPr>
            <p:spPr>
              <a:xfrm>
                <a:off x="6480432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>
                          <a:rPr lang="de-CH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2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A7FC0631-EFFD-4062-767D-FB6919BABB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432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9405C1AE-35ED-8048-F1AB-8E8AF21A8F20}"/>
                  </a:ext>
                </a:extLst>
              </p:cNvPr>
              <p:cNvSpPr/>
              <p:nvPr/>
            </p:nvSpPr>
            <p:spPr>
              <a:xfrm>
                <a:off x="7537446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9405C1AE-35ED-8048-F1AB-8E8AF21A8F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446" y="1495359"/>
                <a:ext cx="876716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945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52C6F9-2376-91EA-F59C-2DDC8B03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6547"/>
            <a:ext cx="7886700" cy="994172"/>
          </a:xfrm>
        </p:spPr>
        <p:txBody>
          <a:bodyPr/>
          <a:lstStyle/>
          <a:p>
            <a:r>
              <a:rPr lang="en-US" noProof="0" dirty="0"/>
              <a:t>Impulse Response</a:t>
            </a:r>
          </a:p>
        </p:txBody>
      </p:sp>
      <p:pic>
        <p:nvPicPr>
          <p:cNvPr id="7" name="Inhaltsplatzhalter 6" descr="Ein Bild, das Reihe, Diagramm, Screenshot, Rechteck enthält.&#10;&#10;KI-generierte Inhalte können fehlerhaft sein.">
            <a:extLst>
              <a:ext uri="{FF2B5EF4-FFF2-40B4-BE49-F238E27FC236}">
                <a16:creationId xmlns:a16="http://schemas.microsoft.com/office/drawing/2014/main" id="{517C0E6C-F639-B869-A7C5-15D204F09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07521" y="87224"/>
            <a:ext cx="2336479" cy="168300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B7F97E-7DE9-0C01-6B56-A6861BF7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7DF8ED-6547-921A-76BF-AB4C530C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E8495F7-DE52-1EF2-689A-906375C0CD25}"/>
              </a:ext>
            </a:extLst>
          </p:cNvPr>
          <p:cNvGrpSpPr/>
          <p:nvPr/>
        </p:nvGrpSpPr>
        <p:grpSpPr>
          <a:xfrm>
            <a:off x="272082" y="1311782"/>
            <a:ext cx="8812924" cy="4603543"/>
            <a:chOff x="207423" y="1265393"/>
            <a:chExt cx="8812924" cy="46035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4A70AAF6-5D50-A542-470B-A7A22039D771}"/>
                    </a:ext>
                  </a:extLst>
                </p:cNvPr>
                <p:cNvSpPr txBox="1"/>
                <p:nvPr/>
              </p:nvSpPr>
              <p:spPr>
                <a:xfrm>
                  <a:off x="207423" y="1314099"/>
                  <a:ext cx="8812924" cy="45548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dirty="0"/>
                    <a:t>E.g. input: </a:t>
                  </a:r>
                  <a14:m>
                    <m:oMath xmlns:m="http://schemas.openxmlformats.org/officeDocument/2006/math"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CH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800" b="0" i="1" dirty="0" smtClean="0">
                          <a:latin typeface="Cambria Math" panose="02040503050406030204" pitchFamily="18" charset="0"/>
                        </a:rPr>
                        <m:t> {</m:t>
                      </m:r>
                    </m:oMath>
                  </a14:m>
                  <a:r>
                    <a:rPr lang="de-CH" sz="1800" dirty="0"/>
                    <a:t>		 </a:t>
                  </a:r>
                  <a14:m>
                    <m:oMath xmlns:m="http://schemas.openxmlformats.org/officeDocument/2006/math">
                      <m:r>
                        <a:rPr lang="de-CH" sz="1800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 = 0  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800" i="1" dirty="0" smtClean="0">
                          <a:latin typeface="Cambria Math" panose="02040503050406030204" pitchFamily="18" charset="0"/>
                        </a:rPr>
                        <m:t>(0) = 0</m:t>
                      </m:r>
                    </m:oMath>
                  </a14:m>
                  <a:endParaRPr lang="de-CH" sz="1800" dirty="0"/>
                </a:p>
                <a:p>
                  <a:r>
                    <a:rPr lang="de-CH" sz="1800" dirty="0" err="1"/>
                    <a:t>Forced</a:t>
                  </a:r>
                  <a:r>
                    <a:rPr lang="de-CH" sz="1800" dirty="0"/>
                    <a:t> </a:t>
                  </a:r>
                  <a:r>
                    <a:rPr lang="de-CH" sz="1800" dirty="0" err="1"/>
                    <a:t>response</a:t>
                  </a:r>
                  <a:r>
                    <a:rPr lang="de-CH" sz="1800" dirty="0"/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CH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8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CH" sz="180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de-CH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8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CH" sz="1800" i="0" dirty="0" err="1">
                              <a:latin typeface="Cambria Math" panose="02040503050406030204" pitchFamily="18" charset="0"/>
                            </a:rPr>
                            <m:t>imp</m:t>
                          </m:r>
                        </m:sub>
                      </m:sSub>
                      <m:d>
                        <m:d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de-CH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800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CH" sz="1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de-CH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8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CH" sz="18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CH" sz="1800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nary>
                      <m:r>
                        <a:rPr lang="de-CH" sz="1800" i="1" dirty="0" err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de-CH" sz="1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sz="1800" i="1" dirty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r>
                        <a:rPr lang="de-CH" sz="1800" i="1" dirty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endParaRPr lang="en-US" sz="1800" dirty="0"/>
                </a:p>
                <a:p>
                  <a:r>
                    <a:rPr lang="en-US" sz="1800" dirty="0"/>
                    <a:t>This is equivalent to the initial condition response if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endParaRPr lang="en-US" sz="1800" dirty="0"/>
                </a:p>
                <a:p>
                  <a:endParaRPr lang="en-US" sz="1800" dirty="0"/>
                </a:p>
                <a:p>
                  <a:r>
                    <a:rPr lang="en-US" sz="1600" dirty="0"/>
                    <a:t>Another way to compute the forced response is with the Laplace transform:</a:t>
                  </a:r>
                </a:p>
                <a:p>
                  <a14:m>
                    <m:oMath xmlns:m="http://schemas.openxmlformats.org/officeDocument/2006/math">
                      <m:r>
                        <a:rPr lang="el-GR" sz="1600" i="1" dirty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l-GR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⟶</m:t>
                      </m:r>
                    </m:oMath>
                  </a14:m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l-G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b="0" i="0" smtClean="0">
                          <a:latin typeface="Cambria Math" panose="02040503050406030204" pitchFamily="18" charset="0"/>
                        </a:rPr>
                        <m:t>⋅1</m:t>
                      </m:r>
                    </m:oMath>
                  </a14:m>
                  <a:endParaRPr lang="de-CH" sz="1600" b="0" i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⟶</m:t>
                        </m:r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de-CH" sz="1600" b="0" i="1" smtClean="0">
                                <a:latin typeface="Cambria Math" panose="02040503050406030204" pitchFamily="18" charset="0"/>
                              </a:rPr>
                              <m:t>mp</m:t>
                            </m:r>
                          </m:sub>
                        </m:sSub>
                        <m:d>
                          <m:d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CH" sz="160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de-CH" sz="1600" b="0" i="0" dirty="0">
                    <a:latin typeface="Cambria Math" panose="02040503050406030204" pitchFamily="18" charset="0"/>
                  </a:endParaRPr>
                </a:p>
                <a:p>
                  <a:endParaRPr lang="de-CH" sz="600" dirty="0"/>
                </a:p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partial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fraction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expansion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CH" sz="160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m:t>TF</m:t>
                      </m:r>
                      <m:r>
                        <m:rPr>
                          <m:nor/>
                        </m:rPr>
                        <a:rPr lang="de-CH" sz="1600"/>
                        <m:t>: </m:t>
                      </m:r>
                    </m:oMath>
                  </a14:m>
                  <a:r>
                    <a:rPr lang="de-CH" sz="1600" dirty="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de-CH" sz="1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𝑖𝑚𝑝</m:t>
                            </m:r>
                          </m:sub>
                        </m:sSub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p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de-CH" sz="16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de-CH" sz="1600" i="1" dirty="0" err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de-CH" sz="1600" dirty="0"/>
                </a:p>
                <a:p>
                  <a:endParaRPr lang="de-CH" sz="1800" dirty="0"/>
                </a:p>
                <a:p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  <a:sym typeface="Wingdings" pitchFamily="2" charset="2"/>
                    </a:rPr>
                    <a:t>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note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that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each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pole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generates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exponential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in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time </a:t>
                  </a:r>
                  <a:r>
                    <a:rPr lang="de-CH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domain</a:t>
                  </a:r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!</a:t>
                  </a: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 sz="1800" dirty="0"/>
                </a:p>
                <a:p>
                  <a:endParaRPr lang="en-US" sz="180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4A70AAF6-5D50-A542-470B-A7A22039D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423" y="1314099"/>
                  <a:ext cx="8812924" cy="4554837"/>
                </a:xfrm>
                <a:prstGeom prst="rect">
                  <a:avLst/>
                </a:prstGeom>
                <a:blipFill>
                  <a:blip r:embed="rId4"/>
                  <a:stretch>
                    <a:fillRect l="-623" t="-48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C6D1EE7C-FC22-4807-8845-E0E5056846C2}"/>
                </a:ext>
              </a:extLst>
            </p:cNvPr>
            <p:cNvGrpSpPr/>
            <p:nvPr/>
          </p:nvGrpSpPr>
          <p:grpSpPr>
            <a:xfrm>
              <a:off x="2939474" y="1265393"/>
              <a:ext cx="1251433" cy="724227"/>
              <a:chOff x="2894048" y="1243597"/>
              <a:chExt cx="1251433" cy="72422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03F938B4-FC08-AF3C-0E08-575D4E1641CE}"/>
                      </a:ext>
                    </a:extLst>
                  </p:cNvPr>
                  <p:cNvSpPr txBox="1"/>
                  <p:nvPr/>
                </p:nvSpPr>
                <p:spPr>
                  <a:xfrm>
                    <a:off x="2911804" y="1243597"/>
                    <a:ext cx="986104" cy="5495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∞  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 = 0 </m:t>
                          </m:r>
                        </m:oMath>
                      </m:oMathPara>
                    </a14:m>
                    <a:endParaRPr dirty="0"/>
                  </a:p>
                  <a:p>
                    <a:endParaRPr dirty="0"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03F938B4-FC08-AF3C-0E08-575D4E1641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1804" y="1243597"/>
                    <a:ext cx="986104" cy="54950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4352177E-DDC5-8D2D-7B11-DD81C2614E68}"/>
                      </a:ext>
                    </a:extLst>
                  </p:cNvPr>
                  <p:cNvSpPr txBox="1"/>
                  <p:nvPr/>
                </p:nvSpPr>
                <p:spPr>
                  <a:xfrm>
                    <a:off x="2894048" y="1418315"/>
                    <a:ext cx="1251433" cy="5495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CH" i="1" dirty="0" smtClean="0">
                              <a:latin typeface="Cambria Math" panose="02040503050406030204" pitchFamily="18" charset="0"/>
                            </a:rPr>
                            <m:t> 0  </m:t>
                          </m:r>
                          <m:r>
                            <a:rPr lang="de-CH" i="1" dirty="0" err="1">
                              <a:latin typeface="Cambria Math" panose="02040503050406030204" pitchFamily="18" charset="0"/>
                            </a:rPr>
                            <m:t>𝑜𝑡h𝑒𝑟𝑤𝑖𝑠𝑒</m:t>
                          </m:r>
                        </m:oMath>
                      </m:oMathPara>
                    </a14:m>
                    <a:endParaRPr dirty="0"/>
                  </a:p>
                  <a:p>
                    <a:endParaRPr dirty="0"/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4352177E-DDC5-8D2D-7B11-DD81C2614E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4048" y="1418315"/>
                    <a:ext cx="1251433" cy="54950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7" name="Geschweifte Klammer rechts 16">
            <a:extLst>
              <a:ext uri="{FF2B5EF4-FFF2-40B4-BE49-F238E27FC236}">
                <a16:creationId xmlns:a16="http://schemas.microsoft.com/office/drawing/2014/main" id="{75824C3E-2B4D-922C-A325-C0E65B7C5117}"/>
              </a:ext>
            </a:extLst>
          </p:cNvPr>
          <p:cNvSpPr/>
          <p:nvPr/>
        </p:nvSpPr>
        <p:spPr>
          <a:xfrm>
            <a:off x="7219978" y="3637906"/>
            <a:ext cx="164670" cy="542581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1DF4BDC-7C47-4E5B-DE06-AC3C08A36CBD}"/>
                  </a:ext>
                </a:extLst>
              </p:cNvPr>
              <p:cNvSpPr txBox="1"/>
              <p:nvPr/>
            </p:nvSpPr>
            <p:spPr>
              <a:xfrm>
                <a:off x="7384648" y="3613554"/>
                <a:ext cx="1363578" cy="4971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m:rPr>
                          <m:lit/>
                        </m:rPr>
                        <a:rPr lang="de-CH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 err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r>
                        <m:rPr>
                          <m:lit/>
                        </m:rPr>
                        <a:rPr lang="de-CH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de-CH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1DF4BDC-7C47-4E5B-DE06-AC3C08A36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648" y="3613554"/>
                <a:ext cx="1363578" cy="4971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359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04357-395B-9793-804C-9B51D003A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3. Poles &amp; Zeros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AA4A5D-2AFA-1585-555A-E69DCE95F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587AE6-057E-871E-D3F2-62CAB94F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E5B7B9-E099-ECFB-E496-11FB4C4E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541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1344E1BD-5B0E-3284-6695-A9AE37DBD8A9}"/>
              </a:ext>
            </a:extLst>
          </p:cNvPr>
          <p:cNvSpPr/>
          <p:nvPr/>
        </p:nvSpPr>
        <p:spPr>
          <a:xfrm>
            <a:off x="4389120" y="3535680"/>
            <a:ext cx="182880" cy="1625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77DB3FB-066A-DF6A-02AB-ABA6E03F42BA}"/>
              </a:ext>
            </a:extLst>
          </p:cNvPr>
          <p:cNvSpPr/>
          <p:nvPr/>
        </p:nvSpPr>
        <p:spPr>
          <a:xfrm>
            <a:off x="5511630" y="3535680"/>
            <a:ext cx="182880" cy="1625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AFC925-0B6E-AC9A-0E01-BA9F21E5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Effects of Poles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38BD5D8-5A63-D703-EE88-BC1AF370BB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55427"/>
                <a:ext cx="8586470" cy="326350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The </a:t>
                </a:r>
                <a:r>
                  <a:rPr lang="en-US" dirty="0"/>
                  <a:t>poles of a TF are calculated by setting the </a:t>
                </a:r>
                <a:r>
                  <a:rPr lang="en-US" b="1" dirty="0"/>
                  <a:t>denominator</a:t>
                </a:r>
                <a:r>
                  <a:rPr lang="en-US" dirty="0"/>
                  <a:t> to zero</a:t>
                </a:r>
              </a:p>
              <a:p>
                <a:r>
                  <a:rPr lang="en-US" noProof="0" dirty="0" err="1"/>
                  <a:t>Wh</a:t>
                </a:r>
                <a:r>
                  <a:rPr lang="en-US" dirty="0"/>
                  <a:t>y are we interested in poles of a TF?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lang="de-CH" dirty="0">
                    <a:sym typeface="Wingdings" pitchFamily="2" charset="2"/>
                  </a:rPr>
                  <a:t> </a:t>
                </a:r>
                <a:r>
                  <a:rPr lang="de-CH" dirty="0" err="1">
                    <a:sym typeface="Wingdings" pitchFamily="2" charset="2"/>
                  </a:rPr>
                  <a:t>the</a:t>
                </a:r>
                <a:r>
                  <a:rPr lang="de-CH" dirty="0">
                    <a:sym typeface="Wingdings" pitchFamily="2" charset="2"/>
                  </a:rPr>
                  <a:t> </a:t>
                </a:r>
                <a:r>
                  <a:rPr lang="de-CH" dirty="0" err="1">
                    <a:sym typeface="Wingdings" pitchFamily="2" charset="2"/>
                  </a:rPr>
                  <a:t>denominator</a:t>
                </a:r>
                <a:r>
                  <a:rPr lang="de-CH" dirty="0">
                    <a:sym typeface="Wingdings" pitchFamily="2" charset="2"/>
                  </a:rPr>
                  <a:t> </a:t>
                </a:r>
                <a:r>
                  <a:rPr lang="de-CH" dirty="0" err="1">
                    <a:sym typeface="Wingdings" pitchFamily="2" charset="2"/>
                  </a:rPr>
                  <a:t>of</a:t>
                </a:r>
                <a:r>
                  <a:rPr lang="de-CH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𝐺</m:t>
                    </m:r>
                    <m:r>
                      <a:rPr lang="de-CH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de-CH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𝑠</m:t>
                    </m:r>
                    <m:r>
                      <a:rPr lang="de-CH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de-CH" dirty="0">
                    <a:sym typeface="Wingdings" pitchFamily="2" charset="2"/>
                  </a:rPr>
                  <a:t> </a:t>
                </a:r>
                <a:r>
                  <a:rPr lang="de-CH" dirty="0" err="1">
                    <a:sym typeface="Wingdings" pitchFamily="2" charset="2"/>
                  </a:rPr>
                  <a:t>is</a:t>
                </a:r>
                <a:r>
                  <a:rPr lang="de-CH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>
                            <a:latin typeface="Cambria Math" panose="02040503050406030204" pitchFamily="18" charset="0"/>
                          </a:rPr>
                          <m:t>𝑑𝑒𝑡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lang="de-CH" dirty="0"/>
              </a:p>
              <a:p>
                <a:pPr>
                  <a:buFont typeface="Wingdings" pitchFamily="2" charset="2"/>
                  <a:buChar char="à"/>
                </a:pPr>
                <a:r>
                  <a:rPr lang="de-CH" dirty="0"/>
                  <a:t> </a:t>
                </a:r>
                <a:r>
                  <a:rPr lang="de-CH" dirty="0" err="1"/>
                  <a:t>to</a:t>
                </a:r>
                <a:r>
                  <a:rPr lang="de-CH" dirty="0"/>
                  <a:t> </a:t>
                </a:r>
                <a:r>
                  <a:rPr lang="de-CH" dirty="0" err="1"/>
                  <a:t>get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poles</a:t>
                </a:r>
                <a:r>
                  <a:rPr lang="de-CH" dirty="0"/>
                  <a:t> </a:t>
                </a:r>
                <a:r>
                  <a:rPr lang="de-CH" dirty="0" err="1"/>
                  <a:t>we</a:t>
                </a:r>
                <a:r>
                  <a:rPr lang="de-CH" dirty="0"/>
                  <a:t> </a:t>
                </a:r>
                <a:r>
                  <a:rPr lang="de-CH" dirty="0" err="1"/>
                  <a:t>solve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>
                            <a:latin typeface="Cambria Math" panose="02040503050406030204" pitchFamily="18" charset="0"/>
                          </a:rPr>
                          <m:t>𝑑𝑒𝑡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r>
                  <a:rPr lang="de-CH" dirty="0"/>
                  <a:t> = 0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lang="de-CH" dirty="0"/>
                  <a:t> </a:t>
                </a:r>
                <a:r>
                  <a:rPr lang="de-CH" dirty="0" err="1"/>
                  <a:t>this</a:t>
                </a:r>
                <a:r>
                  <a:rPr lang="de-CH" dirty="0"/>
                  <a:t> </a:t>
                </a:r>
                <a:r>
                  <a:rPr lang="de-CH" dirty="0" err="1"/>
                  <a:t>look</a:t>
                </a:r>
                <a:r>
                  <a:rPr lang="de-CH" dirty="0"/>
                  <a:t> like an EV </a:t>
                </a:r>
                <a:r>
                  <a:rPr lang="de-CH" dirty="0" err="1"/>
                  <a:t>problem</a:t>
                </a:r>
                <a:r>
                  <a:rPr lang="de-CH" dirty="0"/>
                  <a:t>? </a:t>
                </a:r>
                <a:r>
                  <a:rPr lang="de-CH" i="1" dirty="0"/>
                  <a:t>Poles = Eigenvalues </a:t>
                </a:r>
                <a:r>
                  <a:rPr lang="de-CH" i="1" dirty="0" err="1"/>
                  <a:t>of</a:t>
                </a:r>
                <a:r>
                  <a:rPr lang="de-CH" i="1" dirty="0"/>
                  <a:t> A!</a:t>
                </a:r>
              </a:p>
              <a:p>
                <a:pPr marL="0" indent="0">
                  <a:buNone/>
                </a:pPr>
                <a:endParaRPr lang="de-CH" i="1" dirty="0"/>
              </a:p>
              <a:p>
                <a:r>
                  <a:rPr lang="de-CH" i="1" dirty="0"/>
                  <a:t>Time </a:t>
                </a:r>
                <a:r>
                  <a:rPr lang="de-CH" i="1" dirty="0" err="1"/>
                  <a:t>response</a:t>
                </a:r>
                <a:r>
                  <a:rPr lang="de-CH" dirty="0"/>
                  <a:t>: </a:t>
                </a:r>
                <a:r>
                  <a:rPr lang="de-CH" dirty="0" err="1"/>
                  <a:t>solution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de-CH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CH" dirty="0"/>
                  <a:t> </a:t>
                </a:r>
                <a:r>
                  <a:rPr lang="de-CH" dirty="0" err="1"/>
                  <a:t>describing</a:t>
                </a:r>
                <a:r>
                  <a:rPr lang="de-CH" dirty="0"/>
                  <a:t> </a:t>
                </a:r>
                <a:r>
                  <a:rPr lang="de-CH" dirty="0" err="1"/>
                  <a:t>how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state</a:t>
                </a:r>
                <a:r>
                  <a:rPr lang="de-CH" dirty="0"/>
                  <a:t> </a:t>
                </a:r>
                <a:r>
                  <a:rPr lang="de-CH" dirty="0" err="1"/>
                  <a:t>evolves</a:t>
                </a:r>
                <a:r>
                  <a:rPr lang="de-CH" dirty="0"/>
                  <a:t> </a:t>
                </a:r>
                <a:r>
                  <a:rPr lang="de-CH" dirty="0" err="1"/>
                  <a:t>over</a:t>
                </a:r>
                <a:r>
                  <a:rPr lang="de-CH" dirty="0"/>
                  <a:t>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b="0" i="1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de-CH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de-CH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i="1" dirty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de-CH" dirty="0"/>
              </a:p>
              <a:p>
                <a:r>
                  <a:rPr lang="de-CH" dirty="0"/>
                  <a:t>Poles </a:t>
                </a:r>
                <a:r>
                  <a:rPr lang="de-CH" dirty="0" err="1"/>
                  <a:t>are</a:t>
                </a:r>
                <a:r>
                  <a:rPr lang="de-CH" dirty="0"/>
                  <a:t> </a:t>
                </a:r>
                <a:r>
                  <a:rPr lang="de-CH" dirty="0" err="1"/>
                  <a:t>directly</a:t>
                </a:r>
                <a:r>
                  <a:rPr lang="de-CH" dirty="0"/>
                  <a:t> </a:t>
                </a:r>
                <a:r>
                  <a:rPr lang="de-CH" dirty="0" err="1"/>
                  <a:t>connected</a:t>
                </a:r>
                <a:r>
                  <a:rPr lang="de-CH" dirty="0"/>
                  <a:t> </a:t>
                </a:r>
                <a:r>
                  <a:rPr lang="de-CH" dirty="0" err="1"/>
                  <a:t>how</a:t>
                </a:r>
                <a:r>
                  <a:rPr lang="de-CH" dirty="0"/>
                  <a:t> a </a:t>
                </a:r>
                <a:r>
                  <a:rPr lang="de-CH" dirty="0" err="1"/>
                  <a:t>system</a:t>
                </a:r>
                <a:r>
                  <a:rPr lang="de-CH" dirty="0"/>
                  <a:t> </a:t>
                </a:r>
                <a:r>
                  <a:rPr lang="de-CH" dirty="0" err="1"/>
                  <a:t>behaves</a:t>
                </a:r>
                <a:r>
                  <a:rPr lang="de-CH" dirty="0"/>
                  <a:t>!</a:t>
                </a:r>
              </a:p>
              <a:p>
                <a:pPr>
                  <a:buFont typeface="Wingdings" pitchFamily="2" charset="2"/>
                  <a:buChar char="à"/>
                </a:pPr>
                <a:endParaRPr lang="de-CH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38BD5D8-5A63-D703-EE88-BC1AF370BB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55427"/>
                <a:ext cx="8586470" cy="3263504"/>
              </a:xfrm>
              <a:blipFill>
                <a:blip r:embed="rId3"/>
                <a:stretch>
                  <a:fillRect l="-568" t="-1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E93A53-80B8-B083-4970-B31B54C66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39E59A-F9E9-6C9A-6636-930CA9A9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DBE876A-1923-CB63-78A5-2DEEE7C24702}"/>
              </a:ext>
            </a:extLst>
          </p:cNvPr>
          <p:cNvGrpSpPr/>
          <p:nvPr/>
        </p:nvGrpSpPr>
        <p:grpSpPr>
          <a:xfrm>
            <a:off x="5694510" y="250590"/>
            <a:ext cx="3139779" cy="700906"/>
            <a:chOff x="3200400" y="4094956"/>
            <a:chExt cx="3139779" cy="700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22C48BA-80FA-087F-8455-4C6DC8C62587}"/>
                    </a:ext>
                  </a:extLst>
                </p:cNvPr>
                <p:cNvSpPr txBox="1"/>
                <p:nvPr/>
              </p:nvSpPr>
              <p:spPr>
                <a:xfrm>
                  <a:off x="3337177" y="4094956"/>
                  <a:ext cx="3003002" cy="6690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1800" i="0" noProof="0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noProof="0" smtClean="0">
                                        <a:latin typeface="Cambria Math" panose="02040503050406030204" pitchFamily="18" charset="0"/>
                                      </a:rPr>
                                      <m:t>𝑠𝐼</m:t>
                                    </m:r>
                                    <m:r>
                                      <a:rPr lang="en-US" sz="18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1800" noProof="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22C48BA-80FA-087F-8455-4C6DC8C62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177" y="4094956"/>
                  <a:ext cx="3003002" cy="6690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C1C10F7C-88D8-854D-3538-81B218A56A73}"/>
                </a:ext>
              </a:extLst>
            </p:cNvPr>
            <p:cNvSpPr/>
            <p:nvPr/>
          </p:nvSpPr>
          <p:spPr>
            <a:xfrm>
              <a:off x="3200400" y="4094956"/>
              <a:ext cx="3139779" cy="70090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3062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Diagramm, Reihe, Schrift, Zeichnung enthält.&#10;&#10;KI-generierte Inhalte können fehlerhaft sein.">
            <a:extLst>
              <a:ext uri="{FF2B5EF4-FFF2-40B4-BE49-F238E27FC236}">
                <a16:creationId xmlns:a16="http://schemas.microsoft.com/office/drawing/2014/main" id="{E42BF7B4-7BB7-5D9F-AB97-1EB207AF9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888" y="0"/>
            <a:ext cx="4164376" cy="17618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0E3B5F3-27B8-D30D-2833-02678B6C1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Poles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0C2F9C-0EFA-DAC8-6805-7D5E5191D8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61852"/>
                <a:ext cx="7886700" cy="35004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Can be complex </a:t>
                </a:r>
                <a:r>
                  <a:rPr lang="en-US" dirty="0">
                    <a:sym typeface="Wingdings" pitchFamily="2" charset="2"/>
                  </a:rPr>
                  <a:t> appear in conjugate pairs and have an oscillatory effect</a:t>
                </a:r>
              </a:p>
              <a:p>
                <a:r>
                  <a:rPr lang="en-US" dirty="0"/>
                  <a:t>Recall stability discussion from Week 4:</a:t>
                </a:r>
              </a:p>
              <a:p>
                <a:pPr marL="0" indent="0">
                  <a:buNone/>
                </a:pPr>
                <a:r>
                  <a:rPr lang="en-US" dirty="0"/>
                  <a:t>A linearized, diagonalized system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matrices is called</a:t>
                </a:r>
              </a:p>
              <a:p>
                <a:r>
                  <a:rPr lang="en-US" b="1" dirty="0"/>
                  <a:t>Lyapunov stable</a:t>
                </a:r>
                <a:r>
                  <a:rPr lang="en-US" dirty="0"/>
                  <a:t> if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≤0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Asymptotically</a:t>
                </a:r>
                <a:r>
                  <a:rPr lang="en-US" dirty="0"/>
                  <a:t> stable if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&lt;0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Unstable</a:t>
                </a:r>
                <a:r>
                  <a:rPr lang="en-US" dirty="0"/>
                  <a:t> if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&gt;0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linearized system with non-</a:t>
                </a:r>
                <a:r>
                  <a:rPr lang="en-US" dirty="0" err="1"/>
                  <a:t>diagonizable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matrix is called</a:t>
                </a:r>
              </a:p>
              <a:p>
                <a:r>
                  <a:rPr lang="en-US" b="1" dirty="0"/>
                  <a:t>Lyapunov stable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≤0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there are no repeated eigenvalues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0C2F9C-0EFA-DAC8-6805-7D5E5191D8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61852"/>
                <a:ext cx="7886700" cy="3500437"/>
              </a:xfrm>
              <a:blipFill>
                <a:blip r:embed="rId3"/>
                <a:stretch>
                  <a:fillRect l="-618" t="-1568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451420-5D92-8270-E636-4E0B0AD3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BE751B-4553-BB08-1066-A3A42B77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271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8E188-CAB1-5880-AABA-9F898DDF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44" y="190560"/>
            <a:ext cx="7886700" cy="994172"/>
          </a:xfrm>
        </p:spPr>
        <p:txBody>
          <a:bodyPr/>
          <a:lstStyle/>
          <a:p>
            <a:r>
              <a:rPr lang="en-US" noProof="0" dirty="0"/>
              <a:t>Effects of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FAF975-574C-81FA-FD19-2860A69B90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8724" y="973107"/>
                <a:ext cx="7886700" cy="3263504"/>
              </a:xfrm>
            </p:spPr>
            <p:txBody>
              <a:bodyPr>
                <a:normAutofit/>
              </a:bodyPr>
              <a:lstStyle/>
              <a:p>
                <a:r>
                  <a:rPr lang="en-US" sz="1600" noProof="0" dirty="0"/>
                  <a:t>The zeros of a TF are calculated by setting the </a:t>
                </a:r>
                <a:r>
                  <a:rPr lang="en-US" sz="1600" b="1" noProof="0" dirty="0"/>
                  <a:t>nominator</a:t>
                </a:r>
                <a:r>
                  <a:rPr lang="en-US" sz="1600" noProof="0" dirty="0"/>
                  <a:t> to zero</a:t>
                </a:r>
              </a:p>
              <a:p>
                <a:r>
                  <a:rPr lang="en-US" sz="1600" dirty="0"/>
                  <a:t>To look at the effects of zeros consider the Transfer Function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containing a zero:</a:t>
                </a:r>
              </a:p>
              <a:p>
                <a:pPr marL="0" indent="0">
                  <a:buNone/>
                </a:pP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acc>
                      <m:accPr>
                        <m:chr m:val="̂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acc>
                      <m:accPr>
                        <m:chr m:val="̂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FAF975-574C-81FA-FD19-2860A69B90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724" y="973107"/>
                <a:ext cx="7886700" cy="3263504"/>
              </a:xfrm>
              <a:blipFill>
                <a:blip r:embed="rId3"/>
                <a:stretch>
                  <a:fillRect l="-309" t="-1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D9450FC-D108-43EF-7C71-E1186886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39024" y="4767263"/>
            <a:ext cx="3086100" cy="273844"/>
          </a:xfrm>
        </p:spPr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B3D4D8-D4FB-B8FD-67F4-DBD129EA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8024" y="4767263"/>
            <a:ext cx="2057400" cy="273844"/>
          </a:xfrm>
        </p:spPr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6292D3F-F027-BAA1-5F09-0BC1995DEBAF}"/>
                  </a:ext>
                </a:extLst>
              </p:cNvPr>
              <p:cNvSpPr txBox="1"/>
              <p:nvPr/>
            </p:nvSpPr>
            <p:spPr>
              <a:xfrm>
                <a:off x="332344" y="2133707"/>
                <a:ext cx="7675499" cy="2875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Let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response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of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Then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response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of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̂"/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CH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⟶</m:t>
                      </m:r>
                      <m:r>
                        <a:rPr lang="de-CH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𝑌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CH" b="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s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𝐺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𝐺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𝑧</m:t>
                              </m:r>
                            </m:den>
                          </m:f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𝐺</m:t>
                              </m:r>
                            </m:e>
                          </m:acc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𝑈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de-CH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CH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de-CH" i="1" dirty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de-CH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{</m:t>
                      </m:r>
                      <m:acc>
                        <m:accPr>
                          <m:chr m:val="̂"/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de-CH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i="1" dirty="0" err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sSup>
                        <m:sSup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de-CH" i="1" dirty="0">
                          <a:latin typeface="Cambria Math" panose="02040503050406030204" pitchFamily="18" charset="0"/>
                        </a:rPr>
                        <m:t>𝑠</m:t>
                      </m:r>
                      <m:acc>
                        <m:accPr>
                          <m:chr m:val="̂"/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CH" i="1" dirty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e-CH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lit/>
                        </m:rPr>
                        <a:rPr lang="de-CH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CH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CH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de-CH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de-CH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de-CH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de-CH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</a:p>
              <a:p/>
              <a:p>
                <a:endParaRPr lang="de-CH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zeros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add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a derivative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term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to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the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output</a:t>
                </a:r>
                <a:endParaRPr lang="de-CH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closer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zero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to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origin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de-CH" sz="1600" i="1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i="1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u="sng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stronger</a:t>
                </a:r>
                <a:r>
                  <a:rPr lang="de-CH" sz="1600" i="1" u="sng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u="sng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its</a:t>
                </a:r>
                <a:r>
                  <a:rPr lang="de-CH" sz="1600" i="1" u="sng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i="1" u="sng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effect</a:t>
                </a:r>
                <a:endParaRPr lang="de-CH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this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means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we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usually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have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an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anticipatory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effect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but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we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will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discuss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two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cases</a:t>
                </a:r>
                <a:r>
                  <a:rPr lang="de-CH" sz="16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…</a:t>
                </a:r>
              </a:p>
              <a:p>
                <a:endParaRPr lang="de-CH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6292D3F-F027-BAA1-5F09-0BC1995DE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44" y="2133707"/>
                <a:ext cx="7675499" cy="2875787"/>
              </a:xfrm>
              <a:prstGeom prst="rect">
                <a:avLst/>
              </a:prstGeom>
              <a:blipFill>
                <a:blip r:embed="rId4"/>
                <a:stretch>
                  <a:fillRect l="-496" t="-4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9F748C47-EF25-C2BE-04A1-8F61693537B0}"/>
              </a:ext>
            </a:extLst>
          </p:cNvPr>
          <p:cNvGrpSpPr/>
          <p:nvPr/>
        </p:nvGrpSpPr>
        <p:grpSpPr>
          <a:xfrm>
            <a:off x="5316081" y="1819487"/>
            <a:ext cx="1880643" cy="387878"/>
            <a:chOff x="5670127" y="2791890"/>
            <a:chExt cx="1880643" cy="387878"/>
          </a:xfrm>
        </p:grpSpPr>
        <p:sp>
          <p:nvSpPr>
            <p:cNvPr id="13" name="Geschweifte Klammer links 12">
              <a:extLst>
                <a:ext uri="{FF2B5EF4-FFF2-40B4-BE49-F238E27FC236}">
                  <a16:creationId xmlns:a16="http://schemas.microsoft.com/office/drawing/2014/main" id="{DA629824-ED4F-BE44-FD9A-9827AF0CA237}"/>
                </a:ext>
              </a:extLst>
            </p:cNvPr>
            <p:cNvSpPr/>
            <p:nvPr/>
          </p:nvSpPr>
          <p:spPr>
            <a:xfrm rot="5400000">
              <a:off x="6453390" y="2877179"/>
              <a:ext cx="143875" cy="461303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51B84042-8315-68FC-80D0-7848A97B86C3}"/>
                </a:ext>
              </a:extLst>
            </p:cNvPr>
            <p:cNvSpPr txBox="1"/>
            <p:nvPr/>
          </p:nvSpPr>
          <p:spPr>
            <a:xfrm>
              <a:off x="5670127" y="2791890"/>
              <a:ext cx="18806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derivative in Laplace: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6298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46178-4CA8-2370-A8A5-1DCE4876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8206"/>
            <a:ext cx="7886700" cy="994172"/>
          </a:xfrm>
        </p:spPr>
        <p:txBody>
          <a:bodyPr/>
          <a:lstStyle/>
          <a:p>
            <a:r>
              <a:rPr lang="en-US" dirty="0"/>
              <a:t>Zeros as Derivative 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1A15483-1C33-9A87-821D-6F81A8F3D0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376569"/>
                <a:ext cx="7886700" cy="2074736"/>
              </a:xfrm>
            </p:spPr>
            <p:txBody>
              <a:bodyPr>
                <a:normAutofit/>
              </a:bodyPr>
              <a:lstStyle/>
              <a:p>
                <a:endParaRPr lang="de-CH" sz="1600" i="1" dirty="0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b="1" i="1" dirty="0">
                    <a:solidFill>
                      <a:schemeClr val="accent3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Minimum-Phase Zero</a:t>
                </a:r>
                <a:r>
                  <a:rPr lang="de-CH" sz="1600" b="1" dirty="0">
                    <a:solidFill>
                      <a:schemeClr val="accent3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:</a:t>
                </a:r>
                <a:r>
                  <a:rPr lang="de-CH" sz="1600" dirty="0">
                    <a:solidFill>
                      <a:schemeClr val="accent3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𝑅𝑒</m:t>
                    </m:r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  <a:sym typeface="Wingdings" pitchFamily="2" charset="2"/>
                          </a:rPr>
                          <m:t>𝑧</m:t>
                        </m:r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: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adds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an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anticipatory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effect</a:t>
                </a:r>
                <a:endParaRPr lang="de-CH" sz="1600" dirty="0"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à"/>
                </a:pPr>
                <a:r>
                  <a:rPr lang="de-CH" sz="1600" b="1" i="1" dirty="0">
                    <a:solidFill>
                      <a:schemeClr val="accent4"/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Non-Minimum-Phase Zero: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𝑅𝑒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(</m:t>
                    </m:r>
                    <m:r>
                      <a:rPr lang="de-CH" sz="16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𝑧</m:t>
                    </m:r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  <a:sym typeface="Wingdings" pitchFamily="2" charset="2"/>
                      </a:rPr>
                      <m:t>)&gt;0</m:t>
                    </m:r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: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adds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"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negeative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" derivative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action</a:t>
                </a:r>
                <a:endParaRPr lang="de-CH" sz="1600" dirty="0"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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zeros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affect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output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but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they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u="sng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can't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influence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  <a:sym typeface="Wingdings" pitchFamily="2" charset="2"/>
                  </a:rPr>
                  <a:t>stability</a:t>
                </a:r>
                <a:endParaRPr lang="de-CH" sz="1600" dirty="0">
                  <a:latin typeface="Segoe UI" panose="020B0502040204020203" pitchFamily="34" charset="0"/>
                  <a:cs typeface="Segoe UI" panose="020B0502040204020203" pitchFamily="34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1A15483-1C33-9A87-821D-6F81A8F3D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376569"/>
                <a:ext cx="7886700" cy="2074736"/>
              </a:xfrm>
              <a:blipFill>
                <a:blip r:embed="rId2"/>
                <a:stretch>
                  <a:fillRect l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BB979A-60D1-4A5B-E294-AB9EC50C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C66DC3-18A0-21C5-25C8-8FF79367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E0B63DD-42BD-7B1F-5B16-D2AF124033C1}"/>
              </a:ext>
            </a:extLst>
          </p:cNvPr>
          <p:cNvSpPr txBox="1"/>
          <p:nvPr/>
        </p:nvSpPr>
        <p:spPr>
          <a:xfrm>
            <a:off x="1214247" y="1853538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/>
              <a:t>Minimum Phase Zero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2D94312-38B9-31CB-4E00-11EE34016B63}"/>
              </a:ext>
            </a:extLst>
          </p:cNvPr>
          <p:cNvSpPr txBox="1"/>
          <p:nvPr/>
        </p:nvSpPr>
        <p:spPr>
          <a:xfrm>
            <a:off x="5777262" y="1853538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/>
              <a:t>Non Minimum Phase Zero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EE9A4BA-DC9E-AC97-0FD7-794933B3D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76" y="2326908"/>
            <a:ext cx="4027018" cy="122057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F059D69-32C5-6E34-9F9B-CA43492C7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659" y="2292039"/>
            <a:ext cx="4072682" cy="12205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6DE2B15-A726-6F94-1847-3E912C2EC9E6}"/>
                  </a:ext>
                </a:extLst>
              </p:cNvPr>
              <p:cNvSpPr txBox="1"/>
              <p:nvPr/>
            </p:nvSpPr>
            <p:spPr>
              <a:xfrm>
                <a:off x="2286000" y="1088923"/>
                <a:ext cx="4572000" cy="553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CH" sz="160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acc>
                      <m:d>
                        <m:d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CH" sz="16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6DE2B15-A726-6F94-1847-3E912C2EC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088923"/>
                <a:ext cx="4572000" cy="5533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7">
            <a:extLst>
              <a:ext uri="{FF2B5EF4-FFF2-40B4-BE49-F238E27FC236}">
                <a16:creationId xmlns:a16="http://schemas.microsoft.com/office/drawing/2014/main" id="{F2AAC199-F5D7-A135-0B55-C2D872232AFC}"/>
              </a:ext>
            </a:extLst>
          </p:cNvPr>
          <p:cNvSpPr/>
          <p:nvPr/>
        </p:nvSpPr>
        <p:spPr>
          <a:xfrm>
            <a:off x="3481149" y="1088923"/>
            <a:ext cx="2141984" cy="678008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36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87581-3427-0C10-FB80-1EB01EB7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8206"/>
            <a:ext cx="7886700" cy="994172"/>
          </a:xfrm>
        </p:spPr>
        <p:txBody>
          <a:bodyPr/>
          <a:lstStyle/>
          <a:p>
            <a:r>
              <a:rPr lang="en-US" dirty="0"/>
              <a:t>Pole-Zero Cancellation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F6305A-1F7C-AA5D-9C69-98518797F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94" y="939998"/>
            <a:ext cx="7886700" cy="3263504"/>
          </a:xfrm>
        </p:spPr>
        <p:txBody>
          <a:bodyPr/>
          <a:lstStyle/>
          <a:p>
            <a:pPr marL="0" indent="0">
              <a:buNone/>
            </a:pP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would</a:t>
            </a:r>
            <a:r>
              <a:rPr lang="de-CH" sz="1600" dirty="0"/>
              <a:t> like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analyse</a:t>
            </a:r>
            <a:r>
              <a:rPr lang="de-CH" sz="1600" dirty="0"/>
              <a:t> </a:t>
            </a:r>
            <a:r>
              <a:rPr lang="de-CH" sz="1600" dirty="0" err="1"/>
              <a:t>what</a:t>
            </a:r>
            <a:r>
              <a:rPr lang="de-CH" sz="1600" dirty="0"/>
              <a:t> </a:t>
            </a:r>
            <a:r>
              <a:rPr lang="de-CH" sz="1600" dirty="0" err="1"/>
              <a:t>happens</a:t>
            </a:r>
            <a:r>
              <a:rPr lang="de-CH" sz="1600" dirty="0"/>
              <a:t> </a:t>
            </a:r>
            <a:r>
              <a:rPr lang="de-CH" sz="1600" dirty="0" err="1"/>
              <a:t>when</a:t>
            </a:r>
            <a:r>
              <a:rPr lang="de-CH" sz="1600" dirty="0"/>
              <a:t> a pole and a </a:t>
            </a:r>
            <a:r>
              <a:rPr lang="de-CH" sz="1600" dirty="0" err="1"/>
              <a:t>zero</a:t>
            </a:r>
            <a:r>
              <a:rPr lang="de-CH" sz="1600" dirty="0"/>
              <a:t> </a:t>
            </a:r>
            <a:r>
              <a:rPr lang="de-CH" sz="1600" dirty="0" err="1"/>
              <a:t>are</a:t>
            </a:r>
            <a:r>
              <a:rPr lang="de-CH" sz="1600" dirty="0"/>
              <a:t> </a:t>
            </a:r>
            <a:r>
              <a:rPr lang="de-CH" sz="1600" dirty="0" err="1"/>
              <a:t>close</a:t>
            </a:r>
            <a:r>
              <a:rPr lang="de-CH" sz="1600" dirty="0"/>
              <a:t>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each</a:t>
            </a:r>
            <a:r>
              <a:rPr lang="de-CH" sz="1600" dirty="0"/>
              <a:t> </a:t>
            </a:r>
            <a:r>
              <a:rPr lang="de-CH" sz="1600" dirty="0" err="1"/>
              <a:t>other</a:t>
            </a:r>
            <a:r>
              <a:rPr lang="de-CH" sz="1600" dirty="0"/>
              <a:t>, and </a:t>
            </a:r>
            <a:r>
              <a:rPr lang="de-CH" sz="1600" dirty="0" err="1"/>
              <a:t>or</a:t>
            </a:r>
            <a:r>
              <a:rPr lang="de-CH" sz="1600" dirty="0"/>
              <a:t> </a:t>
            </a:r>
            <a:r>
              <a:rPr lang="de-CH" sz="1600" dirty="0" err="1"/>
              <a:t>if</a:t>
            </a:r>
            <a:r>
              <a:rPr lang="de-CH" sz="1600" dirty="0"/>
              <a:t>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would</a:t>
            </a:r>
            <a:r>
              <a:rPr lang="de-CH" sz="1600" dirty="0"/>
              <a:t> </a:t>
            </a:r>
            <a:r>
              <a:rPr lang="de-CH" sz="1600" dirty="0" err="1"/>
              <a:t>cancel</a:t>
            </a:r>
            <a:r>
              <a:rPr lang="de-CH" sz="1600" dirty="0"/>
              <a:t> </a:t>
            </a:r>
            <a:r>
              <a:rPr lang="de-CH" sz="1600" dirty="0" err="1"/>
              <a:t>them</a:t>
            </a:r>
            <a:r>
              <a:rPr lang="de-CH" sz="1600" dirty="0"/>
              <a:t> in </a:t>
            </a:r>
            <a:r>
              <a:rPr lang="de-CH" sz="1600" dirty="0" err="1"/>
              <a:t>the</a:t>
            </a:r>
            <a:r>
              <a:rPr lang="de-CH" sz="1600" dirty="0"/>
              <a:t> TF. </a:t>
            </a:r>
            <a:r>
              <a:rPr lang="de-CH" sz="1600" dirty="0" err="1"/>
              <a:t>Consider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following</a:t>
            </a:r>
            <a:r>
              <a:rPr lang="de-CH" sz="1600" dirty="0"/>
              <a:t> TF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sz="1600" dirty="0" err="1"/>
              <a:t>Remember</a:t>
            </a:r>
            <a:r>
              <a:rPr lang="de-CH" sz="1600" dirty="0"/>
              <a:t> </a:t>
            </a:r>
            <a:r>
              <a:rPr lang="de-CH" sz="1600" dirty="0" err="1"/>
              <a:t>that</a:t>
            </a:r>
            <a:r>
              <a:rPr lang="de-CH" sz="1600" dirty="0"/>
              <a:t> </a:t>
            </a:r>
            <a:r>
              <a:rPr lang="de-CH" sz="1600" dirty="0" err="1"/>
              <a:t>looking</a:t>
            </a:r>
            <a:r>
              <a:rPr lang="de-CH" sz="1600" dirty="0"/>
              <a:t> at </a:t>
            </a:r>
            <a:r>
              <a:rPr lang="de-CH" sz="1600" dirty="0" err="1"/>
              <a:t>the</a:t>
            </a:r>
            <a:r>
              <a:rPr lang="de-CH" sz="1600" dirty="0"/>
              <a:t> partial </a:t>
            </a:r>
            <a:r>
              <a:rPr lang="de-CH" sz="1600" dirty="0" err="1"/>
              <a:t>fraction</a:t>
            </a:r>
            <a:r>
              <a:rPr lang="de-CH" sz="1600" dirty="0"/>
              <a:t> </a:t>
            </a:r>
            <a:r>
              <a:rPr lang="de-CH" sz="1600" dirty="0" err="1"/>
              <a:t>expansion</a:t>
            </a:r>
            <a:r>
              <a:rPr lang="de-CH" sz="1600" dirty="0"/>
              <a:t>,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actually</a:t>
            </a:r>
            <a:r>
              <a:rPr lang="de-CH" sz="1600" dirty="0"/>
              <a:t> </a:t>
            </a:r>
            <a:r>
              <a:rPr lang="de-CH" sz="1600" dirty="0" err="1"/>
              <a:t>see</a:t>
            </a:r>
            <a:r>
              <a:rPr lang="de-CH" sz="1600" dirty="0"/>
              <a:t> </a:t>
            </a:r>
            <a:r>
              <a:rPr lang="de-CH" sz="1600" dirty="0" err="1"/>
              <a:t>how</a:t>
            </a:r>
            <a:r>
              <a:rPr lang="de-CH" sz="1600" dirty="0"/>
              <a:t> </a:t>
            </a:r>
            <a:r>
              <a:rPr lang="de-CH" sz="1600" dirty="0" err="1"/>
              <a:t>much</a:t>
            </a:r>
            <a:r>
              <a:rPr lang="de-CH" sz="1600" dirty="0"/>
              <a:t> a pole </a:t>
            </a:r>
            <a:r>
              <a:rPr lang="de-CH" sz="1600" dirty="0" err="1"/>
              <a:t>is</a:t>
            </a:r>
            <a:r>
              <a:rPr lang="de-CH" sz="1600" dirty="0"/>
              <a:t> </a:t>
            </a:r>
            <a:r>
              <a:rPr lang="de-CH" sz="1600" dirty="0" err="1"/>
              <a:t>present</a:t>
            </a:r>
            <a:r>
              <a:rPr lang="de-CH" sz="1600" dirty="0"/>
              <a:t> in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response</a:t>
            </a:r>
            <a:r>
              <a:rPr lang="de-CH" sz="1600" dirty="0"/>
              <a:t>. So </a:t>
            </a:r>
            <a:r>
              <a:rPr lang="de-CH" sz="1600" dirty="0" err="1"/>
              <a:t>let’s</a:t>
            </a:r>
            <a:r>
              <a:rPr lang="de-CH" sz="1600" dirty="0"/>
              <a:t> </a:t>
            </a:r>
            <a:r>
              <a:rPr lang="de-CH" sz="1600" dirty="0" err="1"/>
              <a:t>compute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residues</a:t>
            </a:r>
            <a:r>
              <a:rPr lang="de-CH" sz="1600" dirty="0"/>
              <a:t>: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B577E5-01AC-D92E-8917-6CE319C4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E6898F-D6B4-5602-060F-48E06CC3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D5096D7-7572-348A-7504-9623DC8A4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191" y="1855790"/>
            <a:ext cx="2870828" cy="55064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4418359-366E-EB79-4CC3-B6EF49094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040" y="1431913"/>
            <a:ext cx="1323844" cy="116552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AD55A72-0E3A-72F6-375A-633250CF6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94" y="3228806"/>
            <a:ext cx="3589634" cy="1438000"/>
          </a:xfrm>
          <a:prstGeom prst="rect">
            <a:avLst/>
          </a:prstGeom>
        </p:spPr>
      </p:pic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A0FB5E4-87C0-0DFF-9F02-3BF9EE1EC332}"/>
              </a:ext>
            </a:extLst>
          </p:cNvPr>
          <p:cNvCxnSpPr>
            <a:stCxn id="16" idx="3"/>
          </p:cNvCxnSpPr>
          <p:nvPr/>
        </p:nvCxnSpPr>
        <p:spPr>
          <a:xfrm>
            <a:off x="4280428" y="3947806"/>
            <a:ext cx="9840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A6F8B05-DF80-1F25-38B4-07172F433B17}"/>
              </a:ext>
            </a:extLst>
          </p:cNvPr>
          <p:cNvGrpSpPr/>
          <p:nvPr/>
        </p:nvGrpSpPr>
        <p:grpSpPr>
          <a:xfrm>
            <a:off x="5430619" y="3586579"/>
            <a:ext cx="3589633" cy="780003"/>
            <a:chOff x="5430619" y="3586579"/>
            <a:chExt cx="3589633" cy="780003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01A9832B-3649-6152-0694-16D76F193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30620" y="3662658"/>
              <a:ext cx="3530271" cy="641301"/>
            </a:xfrm>
            <a:prstGeom prst="rect">
              <a:avLst/>
            </a:prstGeom>
          </p:spPr>
        </p:pic>
        <p:sp>
          <p:nvSpPr>
            <p:cNvPr id="20" name="Rectangle: Rounded Corners 17">
              <a:extLst>
                <a:ext uri="{FF2B5EF4-FFF2-40B4-BE49-F238E27FC236}">
                  <a16:creationId xmlns:a16="http://schemas.microsoft.com/office/drawing/2014/main" id="{B6D353BE-A259-4DDC-01EE-2BC0CB86EBEE}"/>
                </a:ext>
              </a:extLst>
            </p:cNvPr>
            <p:cNvSpPr/>
            <p:nvPr/>
          </p:nvSpPr>
          <p:spPr>
            <a:xfrm>
              <a:off x="5430619" y="3586579"/>
              <a:ext cx="3589633" cy="78000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5982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37715A-8F88-50F6-2383-80E196D4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Pole-Zero Cancellation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5F29B2-0055-43A8-C412-22080C9CC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99029"/>
            <a:ext cx="7886700" cy="3263504"/>
          </a:xfrm>
        </p:spPr>
        <p:txBody>
          <a:bodyPr/>
          <a:lstStyle/>
          <a:p>
            <a:r>
              <a:rPr lang="en-US" dirty="0"/>
              <a:t>Remember that we chose the zero being arbitrarily close to the pole. We can see now that when </a:t>
            </a:r>
            <a:r>
              <a:rPr lang="en-US" b="1" dirty="0"/>
              <a:t>we move the zero closer to the pole</a:t>
            </a:r>
            <a:r>
              <a:rPr lang="en-US" dirty="0"/>
              <a:t>, the residue of this pole, </a:t>
            </a:r>
            <a:r>
              <a:rPr lang="en-US" b="1" dirty="0"/>
              <a:t>it’s effect on the response, gets smaller</a:t>
            </a:r>
            <a:r>
              <a:rPr lang="en-US" dirty="0"/>
              <a:t>, until it gets 0 eventually. </a:t>
            </a:r>
          </a:p>
          <a:p>
            <a:pPr marL="0" indent="0">
              <a:buNone/>
            </a:pPr>
            <a:endParaRPr lang="en-US" dirty="0"/>
          </a:p>
          <a:p>
            <a:r>
              <a:rPr lang="de-CH" dirty="0"/>
              <a:t>This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fine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long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we</a:t>
            </a:r>
            <a:r>
              <a:rPr lang="de-CH" dirty="0"/>
              <a:t> do not </a:t>
            </a:r>
            <a:r>
              <a:rPr lang="de-CH" dirty="0" err="1"/>
              <a:t>cancel</a:t>
            </a:r>
            <a:r>
              <a:rPr lang="de-CH" dirty="0"/>
              <a:t> </a:t>
            </a:r>
            <a:r>
              <a:rPr lang="de-CH" dirty="0" err="1"/>
              <a:t>any</a:t>
            </a:r>
            <a:r>
              <a:rPr lang="de-CH" dirty="0"/>
              <a:t> </a:t>
            </a:r>
            <a:r>
              <a:rPr lang="de-CH" dirty="0" err="1"/>
              <a:t>unstable</a:t>
            </a:r>
            <a:r>
              <a:rPr lang="de-CH" dirty="0"/>
              <a:t> </a:t>
            </a:r>
            <a:r>
              <a:rPr lang="de-CH" dirty="0" err="1"/>
              <a:t>poles</a:t>
            </a:r>
            <a:r>
              <a:rPr lang="de-CH" dirty="0"/>
              <a:t>.</a:t>
            </a:r>
          </a:p>
          <a:p>
            <a:r>
              <a:rPr lang="de-CH" b="1" dirty="0"/>
              <a:t>DO NOT CANCEL UNSTABLE POLES! </a:t>
            </a:r>
            <a:r>
              <a:rPr lang="de-CH" dirty="0"/>
              <a:t>(System </a:t>
            </a:r>
            <a:r>
              <a:rPr lang="de-CH" dirty="0" err="1"/>
              <a:t>blows</a:t>
            </a:r>
            <a:r>
              <a:rPr lang="de-CH" dirty="0"/>
              <a:t> </a:t>
            </a:r>
            <a:r>
              <a:rPr lang="de-CH" dirty="0" err="1"/>
              <a:t>up</a:t>
            </a:r>
            <a:r>
              <a:rPr lang="de-CH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8B6C10-0BD4-D990-FE56-95FB659B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330BBD-08C3-9355-7508-AAE2486D0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7F2C298-8D4D-E75B-A902-48F47D4D59BA}"/>
              </a:ext>
            </a:extLst>
          </p:cNvPr>
          <p:cNvGrpSpPr/>
          <p:nvPr/>
        </p:nvGrpSpPr>
        <p:grpSpPr>
          <a:xfrm>
            <a:off x="2777183" y="1387601"/>
            <a:ext cx="3589633" cy="780003"/>
            <a:chOff x="5430619" y="3586579"/>
            <a:chExt cx="3589633" cy="780003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A7DE2C48-856F-B886-46BF-FA473805A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30620" y="3662658"/>
              <a:ext cx="3530271" cy="641301"/>
            </a:xfrm>
            <a:prstGeom prst="rect">
              <a:avLst/>
            </a:prstGeom>
          </p:spPr>
        </p:pic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DA7FF7B9-5E95-6C5B-D204-EFECA57542B7}"/>
                </a:ext>
              </a:extLst>
            </p:cNvPr>
            <p:cNvSpPr/>
            <p:nvPr/>
          </p:nvSpPr>
          <p:spPr>
            <a:xfrm>
              <a:off x="5430619" y="3586579"/>
              <a:ext cx="3589633" cy="78000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0" name="Grafik 9" descr="Ein Bild, das Berg, Vulkan, Wärme, Feuer enthält.&#10;&#10;KI-generierte Inhalte können fehlerhaft sein.">
            <a:extLst>
              <a:ext uri="{FF2B5EF4-FFF2-40B4-BE49-F238E27FC236}">
                <a16:creationId xmlns:a16="http://schemas.microsoft.com/office/drawing/2014/main" id="{A45D2ADA-A23A-5D94-B601-5256C4DC2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555" y="3625162"/>
            <a:ext cx="2030402" cy="114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582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2C1016-B956-3E3F-5B88-37CC9159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Initial &amp; Final Value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A1B810-20FB-B51F-96CF-94074AF8A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7886700" cy="474449"/>
              </a:xfrm>
            </p:spPr>
            <p:txBody>
              <a:bodyPr/>
              <a:lstStyle/>
              <a:p>
                <a:r>
                  <a:rPr lang="en-US" noProof="0" dirty="0"/>
                  <a:t>We can use the following trick to compute the initial/final value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A1B810-20FB-B51F-96CF-94074AF8A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7886700" cy="474449"/>
              </a:xfrm>
              <a:blipFill>
                <a:blip r:embed="rId2"/>
                <a:stretch>
                  <a:fillRect l="-464" t="-12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948B1A-79F3-6C09-17C5-7690CD7C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D9EA44-DBCA-4D19-EA49-AABE7C9D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0ECB50B-9734-0E39-4EC2-08C867C6F10C}"/>
              </a:ext>
            </a:extLst>
          </p:cNvPr>
          <p:cNvGrpSpPr/>
          <p:nvPr/>
        </p:nvGrpSpPr>
        <p:grpSpPr>
          <a:xfrm>
            <a:off x="471600" y="1895706"/>
            <a:ext cx="8200800" cy="666782"/>
            <a:chOff x="471600" y="1836234"/>
            <a:chExt cx="8200800" cy="6667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0450FD3-54C9-B22B-AC6B-70D8346B6111}"/>
                    </a:ext>
                  </a:extLst>
                </p:cNvPr>
                <p:cNvSpPr txBox="1"/>
                <p:nvPr/>
              </p:nvSpPr>
              <p:spPr>
                <a:xfrm>
                  <a:off x="471600" y="1843668"/>
                  <a:ext cx="4021875" cy="6593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i="1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Initial Value Theorem: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func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1600" b="1" i="1" noProof="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0450FD3-54C9-B22B-AC6B-70D8346B6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600" y="1843668"/>
                  <a:ext cx="4021875" cy="659348"/>
                </a:xfrm>
                <a:prstGeom prst="rect">
                  <a:avLst/>
                </a:prstGeom>
                <a:blipFill>
                  <a:blip r:embed="rId3"/>
                  <a:stretch>
                    <a:fillRect t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E6DD0C7-3BFA-4B83-2A41-4F1DFA6AB907}"/>
                    </a:ext>
                  </a:extLst>
                </p:cNvPr>
                <p:cNvSpPr txBox="1"/>
                <p:nvPr/>
              </p:nvSpPr>
              <p:spPr>
                <a:xfrm>
                  <a:off x="4650525" y="1836234"/>
                  <a:ext cx="4021875" cy="6593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i="1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Final Value Theorem: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func>
                        <m:d>
                          <m:dPr>
                            <m:ctrlPr>
                              <a:rPr lang="en-US" sz="1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i="1" noProof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i="0" noProof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600" b="0" i="0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1600" b="0" i="0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1600" b="0" i="0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US" sz="1600" b="0" i="0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0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b="0" i="0" noProof="0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0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1600" b="1" i="1" noProof="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AE6DD0C7-3BFA-4B83-2A41-4F1DFA6AB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0525" y="1836234"/>
                  <a:ext cx="4021875" cy="659348"/>
                </a:xfrm>
                <a:prstGeom prst="rect">
                  <a:avLst/>
                </a:prstGeom>
                <a:blipFill>
                  <a:blip r:embed="rId4"/>
                  <a:stretch>
                    <a:fillRect t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83B8BD1-6CBB-F4AB-7711-18789AB98124}"/>
                  </a:ext>
                </a:extLst>
              </p:cNvPr>
              <p:cNvSpPr txBox="1"/>
              <p:nvPr/>
            </p:nvSpPr>
            <p:spPr>
              <a:xfrm>
                <a:off x="628650" y="3078668"/>
                <a:ext cx="5532925" cy="676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/>
                  <a:t>We can apply this to derivatives: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̇"/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func>
                      <m:d>
                        <m:d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  <m:d>
                        <m:dPr>
                          <m:begChr m:val="["/>
                          <m:endChr m:val="]"/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̇"/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83B8BD1-6CBB-F4AB-7711-18789AB98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78668"/>
                <a:ext cx="5532925" cy="676980"/>
              </a:xfrm>
              <a:prstGeom prst="rect">
                <a:avLst/>
              </a:prstGeom>
              <a:blipFill>
                <a:blip r:embed="rId5"/>
                <a:stretch>
                  <a:fillRect l="-551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556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D6E1972-A42C-D26F-9208-74B0EEC61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20" y="519771"/>
            <a:ext cx="3745987" cy="2847896"/>
          </a:xfrm>
          <a:prstGeom prst="rect">
            <a:avLst/>
          </a:prstGeom>
        </p:spPr>
      </p:pic>
      <p:pic>
        <p:nvPicPr>
          <p:cNvPr id="11" name="Grafik 10" descr="Ein Bild, das Diagramm, Text, Reihe enthält.&#10;&#10;KI-generierte Inhalte können fehlerhaft sein.">
            <a:extLst>
              <a:ext uri="{FF2B5EF4-FFF2-40B4-BE49-F238E27FC236}">
                <a16:creationId xmlns:a16="http://schemas.microsoft.com/office/drawing/2014/main" id="{3E7E8C25-9DFC-F8C3-D691-B40DB23A3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579" y="644401"/>
            <a:ext cx="3973158" cy="4314495"/>
          </a:xfrm>
          <a:prstGeom prst="rect">
            <a:avLst/>
          </a:prstGeom>
        </p:spPr>
      </p:pic>
      <p:pic>
        <p:nvPicPr>
          <p:cNvPr id="9" name="Grafik 8" descr="Ein Bild, das Text, Quittung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3E7D3915-96EA-D5C9-F993-F35DADCD3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67" y="3293327"/>
            <a:ext cx="4140712" cy="1559668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C15134-EA94-553A-1905-2C306D15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60C5D-E8E1-C5FB-200E-3E26A5B3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991B457-1537-E7C8-291E-4958B8704018}"/>
              </a:ext>
            </a:extLst>
          </p:cNvPr>
          <p:cNvSpPr txBox="1"/>
          <p:nvPr/>
        </p:nvSpPr>
        <p:spPr>
          <a:xfrm>
            <a:off x="7457320" y="15327"/>
            <a:ext cx="1686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x: pole / o: zero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EC99FD-CC82-D841-2E07-534F68F99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66" y="-143271"/>
            <a:ext cx="7886700" cy="994172"/>
          </a:xfrm>
        </p:spPr>
        <p:txBody>
          <a:bodyPr/>
          <a:lstStyle/>
          <a:p>
            <a:r>
              <a:rPr lang="en-US" noProof="0" dirty="0"/>
              <a:t>Old Exam Question</a:t>
            </a:r>
          </a:p>
        </p:txBody>
      </p:sp>
    </p:spTree>
    <p:extLst>
      <p:ext uri="{BB962C8B-B14F-4D97-AF65-F5344CB8AC3E}">
        <p14:creationId xmlns:p14="http://schemas.microsoft.com/office/powerpoint/2010/main" val="1179184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1909D-3941-78E3-BC6C-9A23EAAD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F6C599B4-7E5D-2AF0-5F99-15597DBD5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20" y="519771"/>
            <a:ext cx="3745987" cy="2847896"/>
          </a:xfrm>
          <a:prstGeom prst="rect">
            <a:avLst/>
          </a:prstGeom>
        </p:spPr>
      </p:pic>
      <p:pic>
        <p:nvPicPr>
          <p:cNvPr id="11" name="Grafik 10" descr="Ein Bild, das Diagramm, Text, Reihe enthält.&#10;&#10;KI-generierte Inhalte können fehlerhaft sein.">
            <a:extLst>
              <a:ext uri="{FF2B5EF4-FFF2-40B4-BE49-F238E27FC236}">
                <a16:creationId xmlns:a16="http://schemas.microsoft.com/office/drawing/2014/main" id="{503CD161-4D90-C1B4-90C5-FC3415B0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579" y="644401"/>
            <a:ext cx="3973158" cy="4314495"/>
          </a:xfrm>
          <a:prstGeom prst="rect">
            <a:avLst/>
          </a:prstGeom>
        </p:spPr>
      </p:pic>
      <p:pic>
        <p:nvPicPr>
          <p:cNvPr id="9" name="Grafik 8" descr="Ein Bild, das Text, Quittung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1C3B96EE-6934-51F1-8790-5397B116E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67" y="3293327"/>
            <a:ext cx="4140712" cy="1559668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5B9491-6D6C-509F-132D-5199F7F5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8D9C62-73DC-3A36-1325-D8128070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EEBDD2F-5F2C-0999-5897-CA4E32F5875F}"/>
              </a:ext>
            </a:extLst>
          </p:cNvPr>
          <p:cNvSpPr txBox="1"/>
          <p:nvPr/>
        </p:nvSpPr>
        <p:spPr>
          <a:xfrm>
            <a:off x="7457320" y="15327"/>
            <a:ext cx="1686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x: pole / o: zero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6B9EF6-C6B1-0133-73B9-EB3CBF4A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66" y="-143271"/>
            <a:ext cx="7886700" cy="994172"/>
          </a:xfrm>
        </p:spPr>
        <p:txBody>
          <a:bodyPr/>
          <a:lstStyle/>
          <a:p>
            <a:r>
              <a:rPr lang="en-US" noProof="0" dirty="0"/>
              <a:t>Old Exam Question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16B2A64-5ED1-C3F9-CEAC-B30506946A6E}"/>
              </a:ext>
            </a:extLst>
          </p:cNvPr>
          <p:cNvSpPr txBox="1"/>
          <p:nvPr/>
        </p:nvSpPr>
        <p:spPr>
          <a:xfrm>
            <a:off x="3237438" y="387640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US" noProof="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8ACB4DB-9CB6-FF5B-A3EB-F3FB43843840}"/>
              </a:ext>
            </a:extLst>
          </p:cNvPr>
          <p:cNvSpPr txBox="1"/>
          <p:nvPr/>
        </p:nvSpPr>
        <p:spPr>
          <a:xfrm>
            <a:off x="2133208" y="408901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US" noProof="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EFC1E87-8E65-CCC6-0FC7-89F2C257C551}"/>
              </a:ext>
            </a:extLst>
          </p:cNvPr>
          <p:cNvSpPr txBox="1"/>
          <p:nvPr/>
        </p:nvSpPr>
        <p:spPr>
          <a:xfrm>
            <a:off x="2543297" y="431595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US" noProof="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5DBD52E-ACA7-588C-87AC-BEBD00BB6769}"/>
              </a:ext>
            </a:extLst>
          </p:cNvPr>
          <p:cNvSpPr txBox="1"/>
          <p:nvPr/>
        </p:nvSpPr>
        <p:spPr>
          <a:xfrm>
            <a:off x="2886924" y="453382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34630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686BD-3580-DA3F-5093-541A8AC4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9954"/>
            <a:ext cx="7886700" cy="994172"/>
          </a:xfrm>
        </p:spPr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63D69F-2246-C01F-4340-98A2F81D0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02993"/>
            <a:ext cx="8087179" cy="4138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Today we learnt:</a:t>
            </a:r>
          </a:p>
          <a:p>
            <a:r>
              <a:rPr lang="en-US" noProof="0" dirty="0"/>
              <a:t>Different representation of </a:t>
            </a:r>
            <a:r>
              <a:rPr lang="en-US" dirty="0"/>
              <a:t>transfer functions: partial fraction expansion, Root-Locus Form, Bode Form</a:t>
            </a:r>
          </a:p>
          <a:p>
            <a:r>
              <a:rPr lang="en-US" noProof="0" dirty="0"/>
              <a:t>How to compute the </a:t>
            </a:r>
            <a:r>
              <a:rPr lang="en-US" dirty="0"/>
              <a:t>transfer function graphically</a:t>
            </a:r>
          </a:p>
          <a:p>
            <a:r>
              <a:rPr lang="en-US" dirty="0"/>
              <a:t>How poles correspond to exponentials in the time response and determine the system behavior (stability, oscillation, decay rate)</a:t>
            </a:r>
          </a:p>
          <a:p>
            <a:r>
              <a:rPr lang="de-CH" dirty="0"/>
              <a:t>Zeros </a:t>
            </a:r>
            <a:r>
              <a:rPr lang="de-CH" dirty="0" err="1"/>
              <a:t>act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derivative </a:t>
            </a:r>
            <a:r>
              <a:rPr lang="de-CH" dirty="0" err="1"/>
              <a:t>terms</a:t>
            </a:r>
            <a:r>
              <a:rPr lang="de-CH" dirty="0"/>
              <a:t> in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system</a:t>
            </a:r>
            <a:r>
              <a:rPr lang="de-CH" dirty="0"/>
              <a:t> </a:t>
            </a:r>
            <a:r>
              <a:rPr lang="de-CH" dirty="0" err="1"/>
              <a:t>response</a:t>
            </a:r>
            <a:r>
              <a:rPr lang="de-CH" dirty="0"/>
              <a:t>: </a:t>
            </a:r>
            <a:r>
              <a:rPr lang="de-CH" dirty="0" err="1"/>
              <a:t>they</a:t>
            </a:r>
            <a:r>
              <a:rPr lang="de-CH" dirty="0"/>
              <a:t> </a:t>
            </a:r>
            <a:r>
              <a:rPr lang="de-CH" dirty="0" err="1"/>
              <a:t>modify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output</a:t>
            </a:r>
            <a:r>
              <a:rPr lang="de-CH" dirty="0"/>
              <a:t> </a:t>
            </a:r>
            <a:r>
              <a:rPr lang="de-CH" dirty="0" err="1"/>
              <a:t>dynamics</a:t>
            </a:r>
            <a:r>
              <a:rPr lang="de-CH" dirty="0"/>
              <a:t> </a:t>
            </a:r>
            <a:r>
              <a:rPr lang="de-CH" dirty="0" err="1"/>
              <a:t>without</a:t>
            </a:r>
            <a:r>
              <a:rPr lang="de-CH" dirty="0"/>
              <a:t> </a:t>
            </a:r>
            <a:r>
              <a:rPr lang="de-CH" dirty="0" err="1"/>
              <a:t>changing</a:t>
            </a:r>
            <a:r>
              <a:rPr lang="de-CH" dirty="0"/>
              <a:t> </a:t>
            </a:r>
            <a:r>
              <a:rPr lang="de-CH" dirty="0" err="1"/>
              <a:t>system</a:t>
            </a:r>
            <a:r>
              <a:rPr lang="de-CH" dirty="0"/>
              <a:t> </a:t>
            </a:r>
            <a:r>
              <a:rPr lang="de-CH" dirty="0" err="1"/>
              <a:t>stability</a:t>
            </a:r>
            <a:endParaRPr lang="de-CH" dirty="0"/>
          </a:p>
          <a:p>
            <a:r>
              <a:rPr lang="de-CH" dirty="0"/>
              <a:t>Min-phase → </a:t>
            </a:r>
            <a:r>
              <a:rPr lang="de-CH" dirty="0" err="1"/>
              <a:t>anticipatory</a:t>
            </a:r>
            <a:r>
              <a:rPr lang="de-CH" dirty="0"/>
              <a:t> | Non-min-phase → inverse </a:t>
            </a:r>
            <a:r>
              <a:rPr lang="de-CH" dirty="0" err="1"/>
              <a:t>response</a:t>
            </a:r>
            <a:endParaRPr lang="de-CH" dirty="0"/>
          </a:p>
          <a:p>
            <a:r>
              <a:rPr lang="de-CH" dirty="0"/>
              <a:t>Pole-zero </a:t>
            </a:r>
            <a:r>
              <a:rPr lang="de-CH" dirty="0" err="1"/>
              <a:t>cancellation</a:t>
            </a:r>
            <a:r>
              <a:rPr lang="de-CH" dirty="0"/>
              <a:t> </a:t>
            </a:r>
            <a:r>
              <a:rPr lang="de-CH" dirty="0" err="1"/>
              <a:t>reduces</a:t>
            </a:r>
            <a:r>
              <a:rPr lang="de-CH" dirty="0"/>
              <a:t> a </a:t>
            </a:r>
            <a:r>
              <a:rPr lang="de-CH" dirty="0" err="1"/>
              <a:t>pole’s</a:t>
            </a:r>
            <a:r>
              <a:rPr lang="de-CH" dirty="0"/>
              <a:t> </a:t>
            </a:r>
            <a:r>
              <a:rPr lang="de-CH" dirty="0" err="1"/>
              <a:t>effect</a:t>
            </a:r>
            <a:r>
              <a:rPr lang="de-CH" dirty="0"/>
              <a:t>, but </a:t>
            </a:r>
            <a:r>
              <a:rPr lang="de-CH" dirty="0" err="1"/>
              <a:t>canceling</a:t>
            </a:r>
            <a:r>
              <a:rPr lang="de-CH" dirty="0"/>
              <a:t> </a:t>
            </a:r>
            <a:r>
              <a:rPr lang="de-CH" dirty="0" err="1"/>
              <a:t>unstable</a:t>
            </a:r>
            <a:r>
              <a:rPr lang="de-CH" dirty="0"/>
              <a:t> </a:t>
            </a:r>
            <a:r>
              <a:rPr lang="de-CH" dirty="0" err="1"/>
              <a:t>poles</a:t>
            </a:r>
            <a:r>
              <a:rPr lang="de-CH" dirty="0"/>
              <a:t> </a:t>
            </a:r>
            <a:r>
              <a:rPr lang="de-CH" dirty="0" err="1"/>
              <a:t>makes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system</a:t>
            </a:r>
            <a:r>
              <a:rPr lang="de-CH" dirty="0"/>
              <a:t> </a:t>
            </a:r>
            <a:r>
              <a:rPr lang="de-CH" dirty="0" err="1"/>
              <a:t>blow</a:t>
            </a:r>
            <a:r>
              <a:rPr lang="de-CH" dirty="0"/>
              <a:t> </a:t>
            </a:r>
            <a:r>
              <a:rPr lang="de-CH" dirty="0" err="1"/>
              <a:t>up</a:t>
            </a:r>
            <a:endParaRPr lang="de-CH" dirty="0"/>
          </a:p>
          <a:p>
            <a:r>
              <a:rPr lang="de-CH" dirty="0"/>
              <a:t>Theorems </a:t>
            </a:r>
            <a:r>
              <a:rPr lang="de-CH" dirty="0" err="1"/>
              <a:t>to</a:t>
            </a:r>
            <a:r>
              <a:rPr lang="de-CH" dirty="0"/>
              <a:t> find a </a:t>
            </a:r>
            <a:r>
              <a:rPr lang="de-CH" dirty="0" err="1"/>
              <a:t>signal’s</a:t>
            </a:r>
            <a:r>
              <a:rPr lang="de-CH" dirty="0"/>
              <a:t> </a:t>
            </a:r>
            <a:r>
              <a:rPr lang="de-CH" dirty="0" err="1"/>
              <a:t>start</a:t>
            </a:r>
            <a:r>
              <a:rPr lang="de-CH" dirty="0"/>
              <a:t> and </a:t>
            </a:r>
            <a:r>
              <a:rPr lang="de-CH" dirty="0" err="1"/>
              <a:t>steady-state</a:t>
            </a:r>
            <a:r>
              <a:rPr lang="de-CH" dirty="0"/>
              <a:t> </a:t>
            </a:r>
            <a:r>
              <a:rPr lang="de-CH" dirty="0" err="1"/>
              <a:t>value</a:t>
            </a:r>
            <a:r>
              <a:rPr lang="de-CH" dirty="0"/>
              <a:t> </a:t>
            </a:r>
            <a:r>
              <a:rPr lang="de-CH" dirty="0" err="1"/>
              <a:t>directly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its</a:t>
            </a:r>
            <a:r>
              <a:rPr lang="de-CH" dirty="0"/>
              <a:t> Laplace form.</a:t>
            </a:r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en-US" dirty="0"/>
          </a:p>
          <a:p>
            <a:endParaRPr lang="en-US" dirty="0"/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A2DB56-64DE-70FE-12A6-311AA208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2412C0-E04B-8EFA-1050-5FEF8D2B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4478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AD27D-8A89-0C85-0D2E-09677A32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Tips for Problem Set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9390411"/>
                  </p:ext>
                </p:extLst>
              </p:nvPr>
            </p:nvGraphicFramePr>
            <p:xfrm>
              <a:off x="628650" y="1121099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de-CH" sz="2000" b="1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𝟏</m:t>
                              </m:r>
                              <m:r>
                                <a:rPr lang="de-CH" sz="2000" b="1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,</m:t>
                              </m:r>
                              <m:r>
                                <a:rPr lang="de-CH" sz="2000" b="1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𝟐</m:t>
                              </m:r>
                            </m:oMath>
                          </a14:m>
                          <a:r>
                            <a:rPr lang="en-US" sz="2000" b="1" i="1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noProof="0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𝟒</m:t>
                              </m:r>
                            </m:oMath>
                          </a14:m>
                          <a:endParaRPr lang="en-US" sz="2000" b="1" i="1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noProof="0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1800" b="1" i="1" noProof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1" i="1" noProof="0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de-CH" sz="1800" b="1" i="1" noProof="0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de-CH" sz="1800" b="1" i="1" noProof="0" dirty="0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1800" b="1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9390411"/>
                  </p:ext>
                </p:extLst>
              </p:nvPr>
            </p:nvGraphicFramePr>
            <p:xfrm>
              <a:off x="628650" y="1121099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2" t="-101220" r="-201392" b="-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1220" r="-100926" b="-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noProof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8B719D-70FB-7DAE-35F1-4131F7F4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458931-4B41-5370-0EFE-FCA313A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/>
              <p:nvPr/>
            </p:nvSpPr>
            <p:spPr>
              <a:xfrm>
                <a:off x="628650" y="2284333"/>
                <a:ext cx="7796892" cy="2309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1: Use the definitions of poles &amp; zeros, look at the example we did together, look up the cover-up method in the slides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2: Focus on the zeros, look at the slide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3: think about out pole-zero cancellation in 3b)</a:t>
                </a:r>
                <a:endParaRPr lang="en-US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4: </a:t>
                </a: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look at the discriminant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𝑏</m:t>
                        </m:r>
                      </m:e>
                      <m:sup>
                        <m:r>
                          <a:rPr lang="en-US" sz="18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  <m:r>
                      <a:rPr lang="en-US" sz="1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−4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𝑎𝑐</m:t>
                    </m:r>
                    <m:r>
                      <a:rPr lang="de-CH" sz="1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to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check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if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complex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or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i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m:t>not</m:t>
                    </m:r>
                  </m:oMath>
                </a14:m>
                <a:endParaRPr lang="en-US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 5: look at the example we did it for the sinusoidal input</a:t>
                </a:r>
                <a:endParaRPr lang="en-US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Nr.</a:t>
                </a: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6: similar to Nr.5, apply the formula for sinusoidal inputs from the slides</a:t>
                </a:r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284333"/>
                <a:ext cx="7796892" cy="2309287"/>
              </a:xfrm>
              <a:prstGeom prst="rect">
                <a:avLst/>
              </a:prstGeom>
              <a:blipFill>
                <a:blip r:embed="rId3"/>
                <a:stretch>
                  <a:fillRect l="-488" t="-1648" b="-32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288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65319-C120-C099-FB22-07576EC8C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BF65E-A2BE-C5A3-A238-B2C34F5C3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F77125-0866-A1E0-1A75-FABC1474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04AFB-473A-87EE-195F-BED0DD2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38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721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en-US" noProof="0" dirty="0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Too fast? Too slow? Less theory, more exercises?</a:t>
            </a:r>
          </a:p>
          <a:p>
            <a:r>
              <a:rPr lang="en-US" noProof="0" dirty="0"/>
              <a:t>I would appreciate your feedback. Please let me know.</a:t>
            </a:r>
          </a:p>
          <a:p>
            <a:r>
              <a:rPr lang="en-US" noProof="0" dirty="0">
                <a:hlinkClick r:id="rId2"/>
              </a:rPr>
              <a:t>https://docs.google.com/forms/d/e/1FAIpQLSdHl0kjWo63aNzDkAV0cnmQadCAj5L0D7v7aSh0BK7BBdEgpA/viewform?usp=header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1_Week5_kvaratharaja_annotated" id="{1325B490-456F-614D-BFB2-E826360AF242}" vid="{3DDC5642-7B7C-754C-809D-713C14150B8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2800</Words>
  <Application>Microsoft Macintosh PowerPoint</Application>
  <PresentationFormat>Bildschirmpräsentation (16:9)</PresentationFormat>
  <Paragraphs>443</Paragraphs>
  <Slides>39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9" baseType="lpstr">
      <vt:lpstr>Segoe UI Black</vt:lpstr>
      <vt:lpstr>Calibri</vt:lpstr>
      <vt:lpstr>Segoe UI Semibold</vt:lpstr>
      <vt:lpstr>Cambria Math</vt:lpstr>
      <vt:lpstr>Quattrocento Sans</vt:lpstr>
      <vt:lpstr>Wingdings</vt:lpstr>
      <vt:lpstr>Segoe UI</vt:lpstr>
      <vt:lpstr>Segoe UI Light</vt:lpstr>
      <vt:lpstr>Arial</vt:lpstr>
      <vt:lpstr>Office</vt:lpstr>
      <vt:lpstr>CS1 Week 6</vt:lpstr>
      <vt:lpstr>Attention</vt:lpstr>
      <vt:lpstr>Recap Last week</vt:lpstr>
      <vt:lpstr>Motivation</vt:lpstr>
      <vt:lpstr>Time Response</vt:lpstr>
      <vt:lpstr>Transfer Function</vt:lpstr>
      <vt:lpstr>s-Domain</vt:lpstr>
      <vt:lpstr>Quiz 1</vt:lpstr>
      <vt:lpstr>Quiz 1</vt:lpstr>
      <vt:lpstr>Controllable Canonical Form</vt:lpstr>
      <vt:lpstr>Quiz 2</vt:lpstr>
      <vt:lpstr>Quiz 2</vt:lpstr>
      <vt:lpstr>Course Schedule</vt:lpstr>
      <vt:lpstr>Today</vt:lpstr>
      <vt:lpstr>1. Different TF Notations</vt:lpstr>
      <vt:lpstr>Partial Fraction Expansion</vt:lpstr>
      <vt:lpstr>Root-Locus- &amp; Bode-Form</vt:lpstr>
      <vt:lpstr>Example</vt:lpstr>
      <vt:lpstr>2. System Response</vt:lpstr>
      <vt:lpstr>Recap Complex Numbers</vt:lpstr>
      <vt:lpstr>Sinusoidal Response</vt:lpstr>
      <vt:lpstr>Graphical Approach</vt:lpstr>
      <vt:lpstr>Quiz </vt:lpstr>
      <vt:lpstr>Quiz </vt:lpstr>
      <vt:lpstr>Impulse Response</vt:lpstr>
      <vt:lpstr>3. Poles &amp; Zeros</vt:lpstr>
      <vt:lpstr>Effects of Poles</vt:lpstr>
      <vt:lpstr>Effects of Poles</vt:lpstr>
      <vt:lpstr>Effects of Zeros</vt:lpstr>
      <vt:lpstr>Zeros as Derivative Actions</vt:lpstr>
      <vt:lpstr>Pole-Zero Cancellation</vt:lpstr>
      <vt:lpstr>Pole-Zero Cancellation</vt:lpstr>
      <vt:lpstr>Initial &amp; Final Value Theorem</vt:lpstr>
      <vt:lpstr>Old Exam Question</vt:lpstr>
      <vt:lpstr>Old Exam Question</vt:lpstr>
      <vt:lpstr>Summary</vt:lpstr>
      <vt:lpstr>Tips for Problem Set 5</vt:lpstr>
      <vt:lpstr>Questions?</vt:lpstr>
      <vt:lpstr>Feedback?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 Week 6 Annotated</dc:title>
  <dc:creator>Varatharajan  Kissan</dc:creator>
  <cp:lastModifiedBy>Varatharajan  Kissan</cp:lastModifiedBy>
  <cp:revision>2</cp:revision>
  <dcterms:created xsi:type="dcterms:W3CDTF">2025-10-18T14:01:04Z</dcterms:created>
  <dcterms:modified xsi:type="dcterms:W3CDTF">2025-10-23T23:17:09Z</dcterms:modified>
</cp:coreProperties>
</file>