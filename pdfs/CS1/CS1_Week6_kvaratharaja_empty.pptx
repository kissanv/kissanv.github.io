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ink/ink1.xml" ContentType="application/inkml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notesMasterIdLst>
    <p:notesMasterId r:id="rId37"/>
  </p:notesMasterIdLst>
  <p:handoutMasterIdLst>
    <p:handoutMasterId r:id="rId38"/>
  </p:handoutMasterIdLst>
  <p:sldIdLst>
    <p:sldId id="256" r:id="rId2"/>
    <p:sldId id="1173" r:id="rId3"/>
    <p:sldId id="1052" r:id="rId4"/>
    <p:sldId id="1139" r:id="rId5"/>
    <p:sldId id="1183" r:id="rId6"/>
    <p:sldId id="1184" r:id="rId7"/>
    <p:sldId id="1187" r:id="rId8"/>
    <p:sldId id="1189" r:id="rId9"/>
    <p:sldId id="1185" r:id="rId10"/>
    <p:sldId id="1186" r:id="rId11"/>
    <p:sldId id="1070" r:id="rId12"/>
    <p:sldId id="257" r:id="rId13"/>
    <p:sldId id="1097" r:id="rId14"/>
    <p:sldId id="1191" r:id="rId15"/>
    <p:sldId id="1193" r:id="rId16"/>
    <p:sldId id="1192" r:id="rId17"/>
    <p:sldId id="1198" r:id="rId18"/>
    <p:sldId id="1200" r:id="rId19"/>
    <p:sldId id="1199" r:id="rId20"/>
    <p:sldId id="1206" r:id="rId21"/>
    <p:sldId id="1209" r:id="rId22"/>
    <p:sldId id="1201" r:id="rId23"/>
    <p:sldId id="1174" r:id="rId24"/>
    <p:sldId id="1197" r:id="rId25"/>
    <p:sldId id="1208" r:id="rId26"/>
    <p:sldId id="1204" r:id="rId27"/>
    <p:sldId id="1213" r:id="rId28"/>
    <p:sldId id="1211" r:id="rId29"/>
    <p:sldId id="1212" r:id="rId30"/>
    <p:sldId id="1194" r:id="rId31"/>
    <p:sldId id="1195" r:id="rId32"/>
    <p:sldId id="1181" r:id="rId33"/>
    <p:sldId id="1171" r:id="rId34"/>
    <p:sldId id="1118" r:id="rId35"/>
    <p:sldId id="1067" r:id="rId36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39"/>
    </p:embeddedFont>
    <p:embeddedFont>
      <p:font typeface="Quattrocento Sans" panose="020B0502050000020003" pitchFamily="34" charset="0"/>
      <p:regular r:id="rId40"/>
      <p:bold r:id="rId41"/>
      <p:italic r:id="rId42"/>
      <p:boldItalic r:id="rId43"/>
    </p:embeddedFont>
    <p:embeddedFont>
      <p:font typeface="Segoe UI" panose="020B0502040204020203" pitchFamily="34" charset="0"/>
      <p:regular r:id="rId44"/>
      <p:bold r:id="rId45"/>
      <p:italic r:id="rId46"/>
      <p:boldItalic r:id="rId47"/>
    </p:embeddedFont>
    <p:embeddedFont>
      <p:font typeface="Segoe UI Black" panose="020B0502040204020203" pitchFamily="34" charset="0"/>
      <p:bold r:id="rId48"/>
      <p:italic r:id="rId49"/>
      <p:boldItalic r:id="rId50"/>
    </p:embeddedFont>
    <p:embeddedFont>
      <p:font typeface="Segoe UI Light" panose="020B0502040204020203" pitchFamily="34" charset="0"/>
      <p:regular r:id="rId51"/>
      <p:italic r:id="rId52"/>
    </p:embeddedFont>
    <p:embeddedFont>
      <p:font typeface="Segoe UI Semibold" panose="020B0502040204020203" pitchFamily="34" charset="0"/>
      <p:regular r:id="rId53"/>
      <p:bold r:id="rId54"/>
      <p:italic r:id="rId55"/>
      <p:boldItalic r:id="rId5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Standardabschnitt" id="{C6295B93-5FFC-9442-A817-245B0E7A1F78}">
          <p14:sldIdLst>
            <p14:sldId id="256"/>
            <p14:sldId id="1173"/>
            <p14:sldId id="1052"/>
            <p14:sldId id="1139"/>
            <p14:sldId id="1183"/>
            <p14:sldId id="1184"/>
            <p14:sldId id="1187"/>
            <p14:sldId id="1189"/>
            <p14:sldId id="1185"/>
            <p14:sldId id="1186"/>
            <p14:sldId id="1070"/>
            <p14:sldId id="257"/>
          </p14:sldIdLst>
        </p14:section>
        <p14:section name="Time response" id="{1FBDD870-616A-2043-9AB2-93A2A117B0C5}">
          <p14:sldIdLst>
            <p14:sldId id="1097"/>
            <p14:sldId id="1191"/>
            <p14:sldId id="1193"/>
            <p14:sldId id="1192"/>
          </p14:sldIdLst>
        </p14:section>
        <p14:section name="System Response" id="{99F6F273-773A-6046-92C4-2E3701EFB2E9}">
          <p14:sldIdLst>
            <p14:sldId id="1198"/>
            <p14:sldId id="1200"/>
            <p14:sldId id="1199"/>
            <p14:sldId id="1206"/>
            <p14:sldId id="1209"/>
            <p14:sldId id="1201"/>
          </p14:sldIdLst>
        </p14:section>
        <p14:section name="Poles &amp; Zeros" id="{AB066B52-7B3D-FD40-BEC1-580AB52DEF13}">
          <p14:sldIdLst>
            <p14:sldId id="1174"/>
            <p14:sldId id="1197"/>
            <p14:sldId id="1208"/>
            <p14:sldId id="1204"/>
            <p14:sldId id="1213"/>
            <p14:sldId id="1211"/>
            <p14:sldId id="1212"/>
          </p14:sldIdLst>
        </p14:section>
        <p14:section name="Summary &amp; Problem Sets" id="{BCE4D2BE-C8A5-E54A-85DF-74588FB6A961}">
          <p14:sldIdLst>
            <p14:sldId id="1194"/>
            <p14:sldId id="1195"/>
            <p14:sldId id="1181"/>
            <p14:sldId id="1171"/>
          </p14:sldIdLst>
        </p14:section>
        <p14:section name="Ende" id="{FDF356B0-7B14-AF44-83A9-6B143533D1BA}">
          <p14:sldIdLst>
            <p14:sldId id="1118"/>
            <p14:sldId id="106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CCCC"/>
    <a:srgbClr val="E7E7E8"/>
    <a:srgbClr val="E99460"/>
    <a:srgbClr val="FE7606"/>
    <a:srgbClr val="37C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940" autoAdjust="0"/>
    <p:restoredTop sz="89470"/>
  </p:normalViewPr>
  <p:slideViewPr>
    <p:cSldViewPr snapToGrid="0">
      <p:cViewPr varScale="1">
        <p:scale>
          <a:sx n="152" d="100"/>
          <a:sy n="152" d="100"/>
        </p:scale>
        <p:origin x="1320" y="152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-2920"/>
    </p:cViewPr>
  </p:outlineViewPr>
  <p:notesTextViewPr>
    <p:cViewPr>
      <p:scale>
        <a:sx n="145" d="100"/>
        <a:sy n="145" d="100"/>
      </p:scale>
      <p:origin x="0" y="0"/>
    </p:cViewPr>
  </p:notesTextViewPr>
  <p:notesViewPr>
    <p:cSldViewPr snapToGrid="0">
      <p:cViewPr varScale="1">
        <p:scale>
          <a:sx n="97" d="100"/>
          <a:sy n="97" d="100"/>
        </p:scale>
        <p:origin x="3120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4.fntdata"/><Relationship Id="rId47" Type="http://schemas.openxmlformats.org/officeDocument/2006/relationships/font" Target="fonts/font9.fntdata"/><Relationship Id="rId50" Type="http://schemas.openxmlformats.org/officeDocument/2006/relationships/font" Target="fonts/font12.fntdata"/><Relationship Id="rId55" Type="http://schemas.openxmlformats.org/officeDocument/2006/relationships/font" Target="fonts/font17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font" Target="fonts/font2.fntdata"/><Relationship Id="rId45" Type="http://schemas.openxmlformats.org/officeDocument/2006/relationships/font" Target="fonts/font7.fntdata"/><Relationship Id="rId53" Type="http://schemas.openxmlformats.org/officeDocument/2006/relationships/font" Target="fonts/font15.fntdata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5.fntdata"/><Relationship Id="rId48" Type="http://schemas.openxmlformats.org/officeDocument/2006/relationships/font" Target="fonts/font10.fntdata"/><Relationship Id="rId56" Type="http://schemas.openxmlformats.org/officeDocument/2006/relationships/font" Target="fonts/font18.fntdata"/><Relationship Id="rId8" Type="http://schemas.openxmlformats.org/officeDocument/2006/relationships/slide" Target="slides/slide7.xml"/><Relationship Id="rId51" Type="http://schemas.openxmlformats.org/officeDocument/2006/relationships/font" Target="fonts/font13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handoutMaster" Target="handoutMasters/handoutMaster1.xml"/><Relationship Id="rId46" Type="http://schemas.openxmlformats.org/officeDocument/2006/relationships/font" Target="fonts/font8.fntdata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font" Target="fonts/font3.fntdata"/><Relationship Id="rId54" Type="http://schemas.openxmlformats.org/officeDocument/2006/relationships/font" Target="fonts/font1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1.fntdata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6.fntdata"/><Relationship Id="rId52" Type="http://schemas.openxmlformats.org/officeDocument/2006/relationships/font" Target="fonts/font14.fntdata"/><Relationship Id="rId6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6AB46D-7F9A-1F62-1FF7-AC60624C6E3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D83487-D0BB-A389-B60D-19960FD2D2A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D98D86-3ADD-8640-A1CB-F3A8CF3A4024}" type="datetimeFigureOut">
              <a:rPr lang="en-US" smtClean="0"/>
              <a:t>10/23/25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F38B08-6768-38E3-58F8-47B150F727A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Rabe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27F451-074A-21A5-21F5-9B26F232EA3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8363B5-5A7D-854B-843E-EB2CC41E3B6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553715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23T21:13:53.376"/>
    </inkml:context>
    <inkml:brush xml:id="br0">
      <inkml:brushProperty name="width" value="0.05292" units="cm"/>
      <inkml:brushProperty name="height" value="0.05292" units="cm"/>
    </inkml:brush>
  </inkml:definitions>
  <inkml:trace contextRef="#ctx0" brushRef="#br0">21498 8103 11505,'-6'0'1048,"1"5"-715,5 1-85,0 5 0,0 4-48,0 2 110,0 4-61,0 5-1,0 1-813,0 5 571,0 5 304,0-4-62,0 4-797,0-5 372,0 0 137,0-5-1343,-5-1 822,4 0 303,-4-3-1398,5-2 790,0-5 298,0-6 781,0 1-1404,5-1 1256,-4-4 0,13-25 0,-2-10 0</inkml:trace>
  <inkml:trace contextRef="#ctx0" brushRef="#br0" timeOffset="1">21679 8359 8205,'0'11'472,"-5"-5"-225,4 3 336,-4-3-167,5 5-1,0 0-168,0-1 249,0 1-249,0 4 0,0-3 0,0 4-355,0-1 178,0-3 61,0 3 116,0 1-527,0-5 244,0 5-1,0-10-508,0 3 380,0-8 136,0 9-561,0-9 323,0 4 84,5-5 5,-4-5-179,4-1 162,-5-4-126,0-6 262,0 0-342,5-6-27,-4 1 224,8 0 77,-8-1 238,9 1 0,-9 0-289,9-1 699,-9 1-297,8 0-159,-3-1 640,0 6-365,4-4-141,-5 8 121,6-4 25,-5 1-53,4 3 0,-5 1-206,6 2 576,0 8-129,-5-4-48,3 5-297,-8 0 165,9 0-132,-9 5 76,4 5 102,-5 7-156,5 4 18,-4 5-176,3-3-1,-4 3 156,0-5 46,0 1-521,0-1 205,0 0 0,0-4 182,0-2-742,0-4 365,0-5 157,0 3-79,0-8-152,0 4 115,5-5 1,-4 0-397,9-9 276,-9 2 36,9-9-13,-5 1-75,6 3 238,-5-8-144,4 8 393,-5-8-295,6 8 20,0-8-22,-1 8 421,1-3-202,0 4 28,-1 5-132,1-3 877,0 7-396,-1-2-228,1 4 499,0 0-336,-1 0-74,1 4 877,-5 2-438,-1 10-273,-1 0 31,-2 6 33,2-1 1,-4 0-275,0 1 0,0-6-1209,0 4 666,0-3 241,0 4-1103,5-4-973,-4 3 1007,4-8 583,0 3 541,-4-9 0,8-20 0,-3-10 0</inkml:trace>
  <inkml:trace contextRef="#ctx0" brushRef="#br0" timeOffset="2">23694 10844 8219,'-6'0'1572,"-3"0"-1154,8 0-1,-9 0 462,9 4-315,-4 2-158,5 0 62,0 8-261,0-7 41,0 14 1,0-5-414,0 6 269,0 4-62,0 1 207,5 0-253,-4-1 0,4-5 253,-5 6-705,5-10 296,-4 8 80,4-13 0,-5 8-361,0-13 249,0 3 31,0-5-6,0-4-164,0 3 0,-5-8 220,4-2-190,-4-10-49,0 0 277,4-6-43,-4 1-239,5-5-145,0-1 395,0-5 46,0 5-55,0-4-32,0 4 26,0-5 472,0 4-225,5 2-22,1 0-203,5 4 703,-1-4-322,1 4-109,0 6 482,-1-4-250,6 8-182,-5-4 145,10 6-45,-10-1 459,5 5-645,-1 1 26,-3 1 0,8 2 45,-8-2-31,3 8-140,-4 2 140,-5 5 41,4 0-42,-9-1-186,3 1-1,-4 0 121,0 4 38,0-3-197,0 3-71,-4 1 235,3-4-238,-9 3-1,4-4 216,-5-1-200,1 1-36,-1 0 205,0-1-36,-4-4 29,3 4-60,-3-9 62,4 8-101,1-8-56,-1 9 81,0-9 39,5 9 332,-3-4-150,8-1-3,-9 5-163,9-4 336,-4 5 0,5-6-250,0 5-120,0-4 118,5 5-19,-4-1 54,13 1-917,-7 0 414,9-1 226,-1 1-43,-3-1-1553,8 1 777,-3 0 430,4-1-1024,0 1 614,1 0 921,-1-1 0,24 6 0,6 0 0</inkml:trace>
  <inkml:trace contextRef="#ctx0" brushRef="#br0" timeOffset="3">24131 10982 8197,'-10'6'0,"-1"4"1968,0-9-864,5 8-433,2-8 637,4 4 42,0-5-1107,4 0 3,2 0 0,5 0 1,4 0-648,-3 0 385,4 0 101,-1 0-1,-3-5-978,3 4 520,-4-8 259,4 8-356,-7-9 262,6 9-1,-8-9 23,0 5 381,-2-1-154,-4-4-88,0 4 274,0-4-269,0-1 0,-4 0 0,-2 5 152,-10-3-137,4 3 114,-8 0-89,8 1 524,-8 5-239,8 0-63,-8 0 89,8 0 745,-3 5-460,4 1-184,1 9 990,-1-3-553,5 8-239,-3-3 333,7 4-347,-2 5-173,4-3 0,0 3-333,4-5 63,7 0 96,1 1 0,8-1-461,-3-4 231,4-2 0,5-9-1768,-3-1 957,12-5-371,-6 0 1009,12-10-4464,-3-6 4621,5-7 0,-1-10 0,3 2 0,5-2 0,-23 15 0,1 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2ccbe504443_1_7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2" name="Google Shape;62;g2ccbe504443_1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501352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2629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403854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ccbe504443_1_18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9" name="Google Shape;69;g2ccbe504443_1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762978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015416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66699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sz="12000" dirty="0"/>
          </a:p>
        </p:txBody>
      </p:sp>
    </p:spTree>
    <p:extLst>
      <p:ext uri="{BB962C8B-B14F-4D97-AF65-F5344CB8AC3E}">
        <p14:creationId xmlns:p14="http://schemas.microsoft.com/office/powerpoint/2010/main" val="42646361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applying the </a:t>
            </a:r>
            <a:r>
              <a:rPr lang="en-US" dirty="0" err="1"/>
              <a:t>dirac</a:t>
            </a:r>
            <a:r>
              <a:rPr lang="en-US" dirty="0"/>
              <a:t> impulse we can directly observe how the poles of the system influence the </a:t>
            </a:r>
            <a:r>
              <a:rPr lang="en-US"/>
              <a:t>time reponse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62427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20900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4266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 b="1" i="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 b="0" i="0">
                <a:latin typeface="Segoe UI Light" panose="020B0402040204020203" pitchFamily="34" charset="0"/>
                <a:cs typeface="Segoe UI Light" panose="020B0402040204020203" pitchFamily="34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5790DAB1-6132-8E49-950C-7A4598C8BD5E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23.10.25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21798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 i="0">
                <a:latin typeface="Segoe UI Semibold" panose="020B0502040204020203" pitchFamily="34" charset="0"/>
                <a:cs typeface="Segoe UI Semibold" panose="020B0502040204020203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200"/>
            </a:lvl3pPr>
            <a:lvl4pPr>
              <a:defRPr sz="1050"/>
            </a:lvl4pPr>
            <a:lvl5pPr>
              <a:defRPr sz="9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B0CD05D9-D09D-3D4F-ABB6-B8CE6E32BC22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23.10.25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956539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6185C12D-6E52-F241-A7F7-3B7AD5C9557C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23.10.25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21635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2EF7524D-3A07-A34A-9723-8DF210E9AD9A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23.10.25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834781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980C7E59-597D-B54B-A9E3-7D29B1447A10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23.10.25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64173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AE2E1015-23F4-4B40-A11E-C001C2B9BC01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23.10.25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015781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2D306621-6DD1-614E-A652-AE9A8EB2D1AB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23.10.25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54513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7C8DF265-596D-3D4F-8B95-AA2651B4D46A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23.10.25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31144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4EBA4EB2-964C-114D-A560-441B6A376279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23.10.25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523346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42EF2A13-8ED6-3345-A350-8DA17845BB65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23.10.25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65888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/>
          <a:lstStyle/>
          <a:p>
            <a:pPr defTabSz="342900">
              <a:buClrTx/>
            </a:pPr>
            <a:fld id="{53B36267-238A-A141-939E-43BF76AEAD21}" type="datetime1">
              <a:rPr lang="de-CH" sz="1350" kern="1200" smtClean="0">
                <a:solidFill>
                  <a:srgbClr val="101623"/>
                </a:solidFill>
                <a:latin typeface="Calibri" panose="020F0502020204030204"/>
                <a:ea typeface="+mn-ea"/>
                <a:cs typeface="+mn-cs"/>
              </a:rPr>
              <a:t>23.10.25</a:t>
            </a:fld>
            <a:endParaRPr lang="en-CH" sz="1350" kern="1200">
              <a:solidFill>
                <a:srgbClr val="101623"/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993240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342900">
              <a:buClrTx/>
            </a:pPr>
            <a:r>
              <a:rPr lang="de-CH" kern="120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kissanv.github.io</a:t>
            </a:r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342900">
              <a:buClrTx/>
            </a:pPr>
            <a:fld id="{36EAFFE7-40E2-CA47-82C0-73D0FC591208}" type="slidenum">
              <a:rPr lang="en-CH" kern="120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‹Nr.›</a:t>
            </a:fld>
            <a:endParaRPr lang="en-CH" kern="120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7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07C2C286-74A8-CF18-6D5D-5483E3A588CB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236836" y="4733926"/>
            <a:ext cx="1287391" cy="470106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A25D8FA1-CEF5-7E41-FFD1-9BC94CF74539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509092" y="4828074"/>
            <a:ext cx="275076" cy="275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0892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</p:sldLayoutIdLst>
  <p:hf hd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Segoe UI" panose="020F0502020204030204" pitchFamily="34" charset="0"/>
          <a:ea typeface="+mn-ea"/>
          <a:cs typeface="Segoe UI" panose="020F0502020204030204" pitchFamily="34" charset="0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kissanv.github.io/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jpe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customXml" Target="../ink/ink1.xml"/><Relationship Id="rId4" Type="http://schemas.openxmlformats.org/officeDocument/2006/relationships/image" Target="../media/image5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7" Type="http://schemas.openxmlformats.org/officeDocument/2006/relationships/image" Target="../media/image69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7" Type="http://schemas.openxmlformats.org/officeDocument/2006/relationships/image" Target="../media/image7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71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8.png"/><Relationship Id="rId4" Type="http://schemas.openxmlformats.org/officeDocument/2006/relationships/image" Target="../media/image8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jp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6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google.com/forms/d/e/1FAIpQLSdHl0kjWo63aNzDkAV0cnmQadCAj5L0D7v7aSh0BK7BBdEgpA/viewform?usp=header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Quattrocento Sans"/>
              <a:buNone/>
            </a:pPr>
            <a:r>
              <a:rPr lang="en-US" noProof="0" dirty="0"/>
              <a:t>CS1 Week 6</a:t>
            </a:r>
            <a:br>
              <a:rPr lang="en-US" noProof="0" dirty="0"/>
            </a:br>
            <a:r>
              <a:rPr lang="en-US" noProof="0" dirty="0"/>
              <a:t>Empty</a:t>
            </a:r>
          </a:p>
        </p:txBody>
      </p:sp>
      <p:sp>
        <p:nvSpPr>
          <p:cNvPr id="65" name="Google Shape;65;p15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 noProof="0" dirty="0"/>
              <a:t>Transfer functions: Poles and Zeros</a:t>
            </a:r>
          </a:p>
        </p:txBody>
      </p:sp>
      <p:sp>
        <p:nvSpPr>
          <p:cNvPr id="66" name="Google Shape;66;p15"/>
          <p:cNvSpPr txBox="1"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noProof="0" smtClean="0"/>
              <a:t>1</a:t>
            </a:fld>
            <a:endParaRPr lang="en-US" noProof="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17D308ED-A674-3D91-8DF4-ACE218383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BDF04DF-8383-902C-FBB4-F0102DCAA4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76" b="576"/>
          <a:stretch/>
        </p:blipFill>
        <p:spPr>
          <a:xfrm>
            <a:off x="4016750" y="3669563"/>
            <a:ext cx="1110499" cy="10977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C713B6-1FFB-692D-EEB4-2E58DF1BCA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Attention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189567C-6A4A-6755-BCFD-730DA914E3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ETH no longer provides web hosting.</a:t>
            </a:r>
          </a:p>
          <a:p>
            <a:r>
              <a:rPr lang="en-US" noProof="0" dirty="0"/>
              <a:t>All my exercise class materials have been moved to GitHub Pages. </a:t>
            </a:r>
          </a:p>
          <a:p>
            <a:r>
              <a:rPr lang="en-US" noProof="0" dirty="0"/>
              <a:t>You can now find them under the following link:</a:t>
            </a:r>
          </a:p>
          <a:p>
            <a:pPr marL="0" indent="0">
              <a:buNone/>
            </a:pPr>
            <a:r>
              <a:rPr lang="en-US" noProof="0" dirty="0">
                <a:hlinkClick r:id="rId2"/>
              </a:rPr>
              <a:t>https://kissanv.github.io</a:t>
            </a:r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r>
              <a:rPr lang="en-US" noProof="0" dirty="0"/>
              <a:t>Or you can scan the QR-Code: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98998C7-873B-FAA5-C92B-88A439A38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E5B3064-9047-BCD7-A6EA-9AB20D09E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F995995-B336-BD22-F6B4-4091DD5A063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76" b="576"/>
          <a:stretch/>
        </p:blipFill>
        <p:spPr>
          <a:xfrm>
            <a:off x="4016750" y="3669563"/>
            <a:ext cx="1110499" cy="109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699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31110B-6CB5-5994-04AE-824730E5FB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Recap Last week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3AD3CD8-E8F2-3C33-7DB9-8804A5B9AB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B010242-2D10-B3FC-938D-3ADDCFE10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6E08D1C-18D4-1751-941C-81AF9A2B8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42197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Abgerundetes Rechteck 25">
            <a:extLst>
              <a:ext uri="{FF2B5EF4-FFF2-40B4-BE49-F238E27FC236}">
                <a16:creationId xmlns:a16="http://schemas.microsoft.com/office/drawing/2014/main" id="{89F5D5A1-2031-5998-FB7A-7E74E6A45B5C}"/>
              </a:ext>
            </a:extLst>
          </p:cNvPr>
          <p:cNvSpPr/>
          <p:nvPr/>
        </p:nvSpPr>
        <p:spPr>
          <a:xfrm>
            <a:off x="3771304" y="3940553"/>
            <a:ext cx="2853645" cy="793966"/>
          </a:xfrm>
          <a:prstGeom prst="roundRect">
            <a:avLst/>
          </a:prstGeom>
          <a:solidFill>
            <a:schemeClr val="accent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Abgerundetes Rechteck 10">
            <a:extLst>
              <a:ext uri="{FF2B5EF4-FFF2-40B4-BE49-F238E27FC236}">
                <a16:creationId xmlns:a16="http://schemas.microsoft.com/office/drawing/2014/main" id="{05C9C965-6F12-BFAF-8D2F-2D3303FB8740}"/>
              </a:ext>
            </a:extLst>
          </p:cNvPr>
          <p:cNvSpPr/>
          <p:nvPr/>
        </p:nvSpPr>
        <p:spPr>
          <a:xfrm>
            <a:off x="100186" y="3930809"/>
            <a:ext cx="3565311" cy="686824"/>
          </a:xfrm>
          <a:prstGeom prst="roundRect">
            <a:avLst/>
          </a:prstGeom>
          <a:solidFill>
            <a:srgbClr val="FFFF00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A69D342D-FBFF-0DB7-8364-EF7B25D84B88}"/>
              </a:ext>
            </a:extLst>
          </p:cNvPr>
          <p:cNvSpPr/>
          <p:nvPr/>
        </p:nvSpPr>
        <p:spPr>
          <a:xfrm>
            <a:off x="1302633" y="3132130"/>
            <a:ext cx="613160" cy="574132"/>
          </a:xfrm>
          <a:prstGeom prst="rect">
            <a:avLst/>
          </a:prstGeom>
          <a:solidFill>
            <a:srgbClr val="FFFF00">
              <a:alpha val="8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0980874F-F48E-07B6-D5B2-27C6FAD83293}"/>
              </a:ext>
            </a:extLst>
          </p:cNvPr>
          <p:cNvSpPr/>
          <p:nvPr/>
        </p:nvSpPr>
        <p:spPr>
          <a:xfrm>
            <a:off x="2089207" y="3132130"/>
            <a:ext cx="2349723" cy="574132"/>
          </a:xfrm>
          <a:prstGeom prst="rect">
            <a:avLst/>
          </a:prstGeom>
          <a:solidFill>
            <a:schemeClr val="accent2"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339D9CB-F584-0FA2-6B58-1DF2E3AFC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062" y="364136"/>
            <a:ext cx="2321412" cy="663853"/>
          </a:xfrm>
        </p:spPr>
        <p:txBody>
          <a:bodyPr anchor="ctr">
            <a:normAutofit/>
          </a:bodyPr>
          <a:lstStyle/>
          <a:p>
            <a:r>
              <a:rPr lang="en-US" noProof="0" dirty="0"/>
              <a:t>Motivation</a:t>
            </a:r>
          </a:p>
        </p:txBody>
      </p:sp>
      <p:pic>
        <p:nvPicPr>
          <p:cNvPr id="7" name="Inhaltsplatzhalter 6" descr="Ein Bild, das Fahrzeug, Rad, Transport, Landfahrzeug enthält.&#10;&#10;KI-generierte Inhalte können fehlerhaft sein.">
            <a:extLst>
              <a:ext uri="{FF2B5EF4-FFF2-40B4-BE49-F238E27FC236}">
                <a16:creationId xmlns:a16="http://schemas.microsoft.com/office/drawing/2014/main" id="{62BC4D6A-9358-E535-6A09-BADA2D89A7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1220" t="33713" r="27727" b="17755"/>
          <a:stretch>
            <a:fillRect/>
          </a:stretch>
        </p:blipFill>
        <p:spPr>
          <a:xfrm>
            <a:off x="290779" y="1253603"/>
            <a:ext cx="2438125" cy="1090219"/>
          </a:xfrm>
          <a:noFill/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98E7F09-DFEC-940D-5C6D-968ACEB4BB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</p:spPr>
        <p:txBody>
          <a:bodyPr anchor="ctr">
            <a:normAutofit/>
          </a:bodyPr>
          <a:lstStyle/>
          <a:p>
            <a:pPr defTabSz="342900">
              <a:spcAft>
                <a:spcPts val="600"/>
              </a:spcAft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821D565-9331-417E-32F3-2A81A4B5B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4767263"/>
            <a:ext cx="2057400" cy="273844"/>
          </a:xfrm>
        </p:spPr>
        <p:txBody>
          <a:bodyPr anchor="ctr">
            <a:normAutofit/>
          </a:bodyPr>
          <a:lstStyle/>
          <a:p>
            <a:pPr defTabSz="342900">
              <a:spcAft>
                <a:spcPts val="600"/>
              </a:spcAft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</a:rPr>
              <a:pPr defTabSz="342900">
                <a:spcAft>
                  <a:spcPts val="600"/>
                </a:spcAft>
                <a:buClrTx/>
              </a:pPr>
              <a:t>4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</a:endParaRP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D8E92166-FD7E-FAB3-C2D8-F2C724405DAB}"/>
              </a:ext>
            </a:extLst>
          </p:cNvPr>
          <p:cNvCxnSpPr/>
          <p:nvPr/>
        </p:nvCxnSpPr>
        <p:spPr>
          <a:xfrm>
            <a:off x="2772654" y="1946721"/>
            <a:ext cx="90105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243083BD-A857-302A-F7DA-FEA26A0D950C}"/>
              </a:ext>
            </a:extLst>
          </p:cNvPr>
          <p:cNvSpPr txBox="1"/>
          <p:nvPr/>
        </p:nvSpPr>
        <p:spPr>
          <a:xfrm>
            <a:off x="2731981" y="1381102"/>
            <a:ext cx="9823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latin typeface="Segoe UI" panose="020B0502040204020203" pitchFamily="34" charset="0"/>
                <a:cs typeface="Segoe UI" panose="020B0502040204020203" pitchFamily="34" charset="0"/>
              </a:rPr>
              <a:t>system modeling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986496E2-B3D6-C355-6926-955513540F17}"/>
              </a:ext>
            </a:extLst>
          </p:cNvPr>
          <p:cNvSpPr/>
          <p:nvPr/>
        </p:nvSpPr>
        <p:spPr>
          <a:xfrm>
            <a:off x="3758442" y="1598376"/>
            <a:ext cx="1251284" cy="611892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noProof="0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B441C7BD-D587-41E8-9130-D430B1CB95B6}"/>
              </a:ext>
            </a:extLst>
          </p:cNvPr>
          <p:cNvSpPr txBox="1"/>
          <p:nvPr/>
        </p:nvSpPr>
        <p:spPr>
          <a:xfrm>
            <a:off x="3979165" y="1727481"/>
            <a:ext cx="8659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noProof="0" dirty="0">
                <a:latin typeface="Segoe UI" panose="020B0502040204020203" pitchFamily="34" charset="0"/>
                <a:cs typeface="Segoe UI" panose="020B0502040204020203" pitchFamily="34" charset="0"/>
              </a:rPr>
              <a:t>Plant P</a:t>
            </a: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77ACCB85-EE33-6373-7570-975B51BD7755}"/>
              </a:ext>
            </a:extLst>
          </p:cNvPr>
          <p:cNvCxnSpPr/>
          <p:nvPr/>
        </p:nvCxnSpPr>
        <p:spPr>
          <a:xfrm>
            <a:off x="5160996" y="1946721"/>
            <a:ext cx="90105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feld 17">
            <a:extLst>
              <a:ext uri="{FF2B5EF4-FFF2-40B4-BE49-F238E27FC236}">
                <a16:creationId xmlns:a16="http://schemas.microsoft.com/office/drawing/2014/main" id="{5A583337-728F-A4AE-96EF-AA161C2555B8}"/>
              </a:ext>
            </a:extLst>
          </p:cNvPr>
          <p:cNvSpPr txBox="1"/>
          <p:nvPr/>
        </p:nvSpPr>
        <p:spPr>
          <a:xfrm>
            <a:off x="4957115" y="1600568"/>
            <a:ext cx="13438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noProof="0" dirty="0">
                <a:latin typeface="Segoe UI" panose="020B0502040204020203" pitchFamily="34" charset="0"/>
                <a:cs typeface="Segoe UI" panose="020B0502040204020203" pitchFamily="34" charset="0"/>
              </a:rPr>
              <a:t>Linearization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B94DEB70-20AB-8871-1AA2-5AD96D1E4161}"/>
                  </a:ext>
                </a:extLst>
              </p:cNvPr>
              <p:cNvSpPr txBox="1"/>
              <p:nvPr/>
            </p:nvSpPr>
            <p:spPr>
              <a:xfrm>
                <a:off x="5456934" y="1432331"/>
                <a:ext cx="3943350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noProof="0" dirty="0">
                    <a:latin typeface="Cambria Math" panose="02040503050406030204" pitchFamily="18" charset="0"/>
                  </a:rPr>
                  <a:t>state-space representation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 noProof="0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600" i="1" noProof="0" smtClean="0">
                          <a:solidFill>
                            <a:schemeClr val="accent5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sz="1600" i="1" noProof="0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sz="1600" i="1" noProof="0" smtClean="0">
                          <a:solidFill>
                            <a:schemeClr val="accent3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)+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𝐷𝑢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noProof="0" dirty="0"/>
              </a:p>
              <a:p>
                <a:endParaRPr lang="en-US" sz="1600" noProof="0" dirty="0"/>
              </a:p>
              <a:p>
                <a:endParaRPr lang="en-US" sz="1600" noProof="0" dirty="0"/>
              </a:p>
              <a:p>
                <a:endParaRPr lang="en-US" sz="1600" noProof="0" dirty="0"/>
              </a:p>
            </p:txBody>
          </p:sp>
        </mc:Choice>
        <mc:Fallback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B94DEB70-20AB-8871-1AA2-5AD96D1E41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56934" y="1432331"/>
                <a:ext cx="3943350" cy="1569660"/>
              </a:xfrm>
              <a:prstGeom prst="rect">
                <a:avLst/>
              </a:prstGeom>
              <a:blipFill>
                <a:blip r:embed="rId4"/>
                <a:stretch>
                  <a:fillRect t="-8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ectangle: Rounded Corners 17">
            <a:extLst>
              <a:ext uri="{FF2B5EF4-FFF2-40B4-BE49-F238E27FC236}">
                <a16:creationId xmlns:a16="http://schemas.microsoft.com/office/drawing/2014/main" id="{1AD42CEA-244A-34D5-E6FF-FCF1F81A1447}"/>
              </a:ext>
            </a:extLst>
          </p:cNvPr>
          <p:cNvSpPr/>
          <p:nvPr/>
        </p:nvSpPr>
        <p:spPr>
          <a:xfrm>
            <a:off x="6198526" y="1404294"/>
            <a:ext cx="2621023" cy="982996"/>
          </a:xfrm>
          <a:prstGeom prst="roundRect">
            <a:avLst>
              <a:gd name="adj" fmla="val 12642"/>
            </a:avLst>
          </a:prstGeom>
          <a:noFill/>
          <a:ln w="25400">
            <a:solidFill>
              <a:schemeClr val="tx1">
                <a:lumMod val="90000"/>
                <a:lumOff val="1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360000" rtlCol="0" anchor="ctr"/>
          <a:lstStyle/>
          <a:p>
            <a:pPr>
              <a:spcBef>
                <a:spcPts val="200"/>
              </a:spcBef>
            </a:pPr>
            <a:endParaRPr lang="en-US" noProof="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0DC4CB75-55B2-8CBC-9598-14A463626B25}"/>
              </a:ext>
            </a:extLst>
          </p:cNvPr>
          <p:cNvCxnSpPr>
            <a:cxnSpLocks/>
          </p:cNvCxnSpPr>
          <p:nvPr/>
        </p:nvCxnSpPr>
        <p:spPr>
          <a:xfrm>
            <a:off x="7486650" y="2343827"/>
            <a:ext cx="6188" cy="709275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D499087B-10D4-1CD0-FD79-512187370EE1}"/>
              </a:ext>
            </a:extLst>
          </p:cNvPr>
          <p:cNvSpPr txBox="1"/>
          <p:nvPr/>
        </p:nvSpPr>
        <p:spPr>
          <a:xfrm>
            <a:off x="7712728" y="2555150"/>
            <a:ext cx="12748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Analysis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B069B898-0BA4-CE70-FC42-BAA6CDE9770A}"/>
              </a:ext>
            </a:extLst>
          </p:cNvPr>
          <p:cNvCxnSpPr>
            <a:cxnSpLocks/>
          </p:cNvCxnSpPr>
          <p:nvPr/>
        </p:nvCxnSpPr>
        <p:spPr>
          <a:xfrm flipH="1">
            <a:off x="6080968" y="3190112"/>
            <a:ext cx="985788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523676BC-25BB-52F6-EC94-EBF529C02439}"/>
              </a:ext>
            </a:extLst>
          </p:cNvPr>
          <p:cNvSpPr txBox="1"/>
          <p:nvPr/>
        </p:nvSpPr>
        <p:spPr>
          <a:xfrm>
            <a:off x="6133370" y="2861929"/>
            <a:ext cx="11011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0" dirty="0">
                <a:latin typeface="Segoe UI" panose="020B0502040204020203" pitchFamily="34" charset="0"/>
                <a:cs typeface="Segoe UI" panose="020B0502040204020203" pitchFamily="34" charset="0"/>
              </a:rPr>
              <a:t>Synthesis</a:t>
            </a:r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9B732449-0343-999F-B966-29F2BD97C547}"/>
              </a:ext>
            </a:extLst>
          </p:cNvPr>
          <p:cNvSpPr/>
          <p:nvPr/>
        </p:nvSpPr>
        <p:spPr>
          <a:xfrm>
            <a:off x="4614959" y="2847344"/>
            <a:ext cx="1468295" cy="639169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noProof="0" dirty="0"/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9CDE0EFD-F3C6-6216-0257-6B4988283BD2}"/>
              </a:ext>
            </a:extLst>
          </p:cNvPr>
          <p:cNvSpPr txBox="1"/>
          <p:nvPr/>
        </p:nvSpPr>
        <p:spPr>
          <a:xfrm>
            <a:off x="4653643" y="3013040"/>
            <a:ext cx="13404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noProof="0" dirty="0">
                <a:latin typeface="Segoe UI" panose="020B0502040204020203" pitchFamily="34" charset="0"/>
                <a:cs typeface="Segoe UI" panose="020B0502040204020203" pitchFamily="34" charset="0"/>
              </a:rPr>
              <a:t>Controller C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018EECB1-F307-092E-35E6-E0AF69BFDA3C}"/>
              </a:ext>
            </a:extLst>
          </p:cNvPr>
          <p:cNvSpPr/>
          <p:nvPr/>
        </p:nvSpPr>
        <p:spPr>
          <a:xfrm>
            <a:off x="3516895" y="377950"/>
            <a:ext cx="216000" cy="216000"/>
          </a:xfrm>
          <a:prstGeom prst="ellipse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noProof="0" dirty="0"/>
          </a:p>
        </p:txBody>
      </p: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827BF5C3-9AA6-A1F9-D436-198AC22472BF}"/>
              </a:ext>
            </a:extLst>
          </p:cNvPr>
          <p:cNvCxnSpPr>
            <a:cxnSpLocks/>
          </p:cNvCxnSpPr>
          <p:nvPr/>
        </p:nvCxnSpPr>
        <p:spPr>
          <a:xfrm>
            <a:off x="7074560" y="481130"/>
            <a:ext cx="71081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5" name="Textfeld 74">
                <a:extLst>
                  <a:ext uri="{FF2B5EF4-FFF2-40B4-BE49-F238E27FC236}">
                    <a16:creationId xmlns:a16="http://schemas.microsoft.com/office/drawing/2014/main" id="{F4F1281B-1781-79B5-3E29-80A613FFE908}"/>
                  </a:ext>
                </a:extLst>
              </p:cNvPr>
              <p:cNvSpPr txBox="1"/>
              <p:nvPr/>
            </p:nvSpPr>
            <p:spPr>
              <a:xfrm>
                <a:off x="6891021" y="185965"/>
                <a:ext cx="104156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>
          <p:sp>
            <p:nvSpPr>
              <p:cNvPr id="75" name="Textfeld 74">
                <a:extLst>
                  <a:ext uri="{FF2B5EF4-FFF2-40B4-BE49-F238E27FC236}">
                    <a16:creationId xmlns:a16="http://schemas.microsoft.com/office/drawing/2014/main" id="{F4F1281B-1781-79B5-3E29-80A613FFE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1021" y="185965"/>
                <a:ext cx="1041569" cy="276999"/>
              </a:xfrm>
              <a:prstGeom prst="rect">
                <a:avLst/>
              </a:prstGeom>
              <a:blipFill>
                <a:blip r:embed="rId5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6" name="Gruppieren 75">
            <a:extLst>
              <a:ext uri="{FF2B5EF4-FFF2-40B4-BE49-F238E27FC236}">
                <a16:creationId xmlns:a16="http://schemas.microsoft.com/office/drawing/2014/main" id="{D2C349FF-19D9-F109-FF5B-3BC492A3928F}"/>
              </a:ext>
            </a:extLst>
          </p:cNvPr>
          <p:cNvGrpSpPr/>
          <p:nvPr/>
        </p:nvGrpSpPr>
        <p:grpSpPr>
          <a:xfrm>
            <a:off x="5863474" y="220614"/>
            <a:ext cx="1214720" cy="553007"/>
            <a:chOff x="2403054" y="3026666"/>
            <a:chExt cx="545710" cy="553007"/>
          </a:xfrm>
        </p:grpSpPr>
        <p:sp>
          <p:nvSpPr>
            <p:cNvPr id="77" name="Rechteck 76">
              <a:extLst>
                <a:ext uri="{FF2B5EF4-FFF2-40B4-BE49-F238E27FC236}">
                  <a16:creationId xmlns:a16="http://schemas.microsoft.com/office/drawing/2014/main" id="{5EEDDCED-A0EF-E6FF-F46C-25C6F12CFF27}"/>
                </a:ext>
              </a:extLst>
            </p:cNvPr>
            <p:cNvSpPr/>
            <p:nvPr/>
          </p:nvSpPr>
          <p:spPr>
            <a:xfrm>
              <a:off x="2403054" y="3026666"/>
              <a:ext cx="545710" cy="553007"/>
            </a:xfrm>
            <a:prstGeom prst="rect">
              <a:avLst/>
            </a:pr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noProof="0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8" name="Textfeld 77">
                  <a:extLst>
                    <a:ext uri="{FF2B5EF4-FFF2-40B4-BE49-F238E27FC236}">
                      <a16:creationId xmlns:a16="http://schemas.microsoft.com/office/drawing/2014/main" id="{FB110D57-3477-8579-4262-340AB63B7408}"/>
                    </a:ext>
                  </a:extLst>
                </p:cNvPr>
                <p:cNvSpPr txBox="1"/>
                <p:nvPr/>
              </p:nvSpPr>
              <p:spPr>
                <a:xfrm>
                  <a:off x="2459135" y="3107336"/>
                  <a:ext cx="421972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noProof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𝑃𝑙𝑎𝑛𝑡</m:t>
                        </m:r>
                        <m:r>
                          <a:rPr lang="en-US" sz="1800" i="1" noProof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 </m:t>
                        </m:r>
                        <m:r>
                          <a:rPr lang="en-US" sz="1800" i="1" noProof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𝑃</m:t>
                        </m:r>
                      </m:oMath>
                    </m:oMathPara>
                  </a14:m>
                  <a:endParaRPr lang="en-US" noProof="0" dirty="0"/>
                </a:p>
              </p:txBody>
            </p:sp>
          </mc:Choice>
          <mc:Fallback>
            <p:sp>
              <p:nvSpPr>
                <p:cNvPr id="78" name="Textfeld 77">
                  <a:extLst>
                    <a:ext uri="{FF2B5EF4-FFF2-40B4-BE49-F238E27FC236}">
                      <a16:creationId xmlns:a16="http://schemas.microsoft.com/office/drawing/2014/main" id="{FB110D57-3477-8579-4262-340AB63B74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9135" y="3107336"/>
                  <a:ext cx="421972" cy="369332"/>
                </a:xfrm>
                <a:prstGeom prst="rect">
                  <a:avLst/>
                </a:prstGeom>
                <a:blipFill>
                  <a:blip r:embed="rId6"/>
                  <a:stretch>
                    <a:fillRect b="-20000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79" name="Gruppieren 78">
            <a:extLst>
              <a:ext uri="{FF2B5EF4-FFF2-40B4-BE49-F238E27FC236}">
                <a16:creationId xmlns:a16="http://schemas.microsoft.com/office/drawing/2014/main" id="{075B7882-CCB2-FBBA-371C-103023C14B5E}"/>
              </a:ext>
            </a:extLst>
          </p:cNvPr>
          <p:cNvGrpSpPr/>
          <p:nvPr/>
        </p:nvGrpSpPr>
        <p:grpSpPr>
          <a:xfrm>
            <a:off x="4111411" y="220614"/>
            <a:ext cx="1487073" cy="553007"/>
            <a:chOff x="2644416" y="3940223"/>
            <a:chExt cx="733159" cy="553007"/>
          </a:xfrm>
        </p:grpSpPr>
        <p:sp>
          <p:nvSpPr>
            <p:cNvPr id="80" name="Rechteck 79">
              <a:extLst>
                <a:ext uri="{FF2B5EF4-FFF2-40B4-BE49-F238E27FC236}">
                  <a16:creationId xmlns:a16="http://schemas.microsoft.com/office/drawing/2014/main" id="{173F6101-61D3-A5B8-8F3A-1D979CD6A712}"/>
                </a:ext>
              </a:extLst>
            </p:cNvPr>
            <p:cNvSpPr/>
            <p:nvPr/>
          </p:nvSpPr>
          <p:spPr>
            <a:xfrm>
              <a:off x="2676164" y="3940223"/>
              <a:ext cx="656588" cy="553007"/>
            </a:xfrm>
            <a:prstGeom prst="rect">
              <a:avLst/>
            </a:prstGeom>
            <a:noFill/>
            <a:ln w="254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noProof="0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1" name="Textfeld 80">
                  <a:extLst>
                    <a:ext uri="{FF2B5EF4-FFF2-40B4-BE49-F238E27FC236}">
                      <a16:creationId xmlns:a16="http://schemas.microsoft.com/office/drawing/2014/main" id="{E1E18E42-7025-6E86-A32E-180D67E06686}"/>
                    </a:ext>
                  </a:extLst>
                </p:cNvPr>
                <p:cNvSpPr txBox="1"/>
                <p:nvPr/>
              </p:nvSpPr>
              <p:spPr>
                <a:xfrm>
                  <a:off x="2644416" y="4016386"/>
                  <a:ext cx="73315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800" i="1" noProof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𝐶𝑜𝑛𝑡𝑟𝑜𝑙𝑙𝑒𝑟</m:t>
                      </m:r>
                    </m:oMath>
                  </a14:m>
                  <a:r>
                    <a:rPr lang="en-US" sz="1800" noProof="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sz="1800" i="1" noProof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𝐶</m:t>
                      </m:r>
                    </m:oMath>
                  </a14:m>
                  <a:endParaRPr lang="en-US" sz="1800" noProof="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mc:Choice>
          <mc:Fallback>
            <p:sp>
              <p:nvSpPr>
                <p:cNvPr id="81" name="Textfeld 80">
                  <a:extLst>
                    <a:ext uri="{FF2B5EF4-FFF2-40B4-BE49-F238E27FC236}">
                      <a16:creationId xmlns:a16="http://schemas.microsoft.com/office/drawing/2014/main" id="{E1E18E42-7025-6E86-A32E-180D67E066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44416" y="4016386"/>
                  <a:ext cx="733159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82" name="Gerade Verbindung mit Pfeil 81">
            <a:extLst>
              <a:ext uri="{FF2B5EF4-FFF2-40B4-BE49-F238E27FC236}">
                <a16:creationId xmlns:a16="http://schemas.microsoft.com/office/drawing/2014/main" id="{FC185D37-8E1C-B63E-406A-7D0CD4ECFFF0}"/>
              </a:ext>
            </a:extLst>
          </p:cNvPr>
          <p:cNvCxnSpPr>
            <a:cxnSpLocks/>
            <a:endCxn id="80" idx="1"/>
          </p:cNvCxnSpPr>
          <p:nvPr/>
        </p:nvCxnSpPr>
        <p:spPr>
          <a:xfrm>
            <a:off x="3727671" y="497117"/>
            <a:ext cx="448134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3" name="Textfeld 82">
                <a:extLst>
                  <a:ext uri="{FF2B5EF4-FFF2-40B4-BE49-F238E27FC236}">
                    <a16:creationId xmlns:a16="http://schemas.microsoft.com/office/drawing/2014/main" id="{403416A9-CDFD-A8D8-D430-D1806D147912}"/>
                  </a:ext>
                </a:extLst>
              </p:cNvPr>
              <p:cNvSpPr txBox="1"/>
              <p:nvPr/>
            </p:nvSpPr>
            <p:spPr>
              <a:xfrm>
                <a:off x="2739099" y="227256"/>
                <a:ext cx="104156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>
          <p:sp>
            <p:nvSpPr>
              <p:cNvPr id="83" name="Textfeld 82">
                <a:extLst>
                  <a:ext uri="{FF2B5EF4-FFF2-40B4-BE49-F238E27FC236}">
                    <a16:creationId xmlns:a16="http://schemas.microsoft.com/office/drawing/2014/main" id="{403416A9-CDFD-A8D8-D430-D1806D1479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9099" y="227256"/>
                <a:ext cx="1041569" cy="276999"/>
              </a:xfrm>
              <a:prstGeom prst="rect">
                <a:avLst/>
              </a:prstGeom>
              <a:blipFill>
                <a:blip r:embed="rId8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42AB0795-4518-BF6A-0125-BBBA1FB91761}"/>
              </a:ext>
            </a:extLst>
          </p:cNvPr>
          <p:cNvCxnSpPr>
            <a:cxnSpLocks/>
          </p:cNvCxnSpPr>
          <p:nvPr/>
        </p:nvCxnSpPr>
        <p:spPr>
          <a:xfrm>
            <a:off x="3045738" y="483839"/>
            <a:ext cx="471157" cy="211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5" name="Textfeld 84">
                <a:extLst>
                  <a:ext uri="{FF2B5EF4-FFF2-40B4-BE49-F238E27FC236}">
                    <a16:creationId xmlns:a16="http://schemas.microsoft.com/office/drawing/2014/main" id="{5006961A-3029-FBCC-406E-14B10448BECE}"/>
                  </a:ext>
                </a:extLst>
              </p:cNvPr>
              <p:cNvSpPr txBox="1"/>
              <p:nvPr/>
            </p:nvSpPr>
            <p:spPr>
              <a:xfrm>
                <a:off x="3397362" y="228833"/>
                <a:ext cx="104156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>
          <p:sp>
            <p:nvSpPr>
              <p:cNvPr id="85" name="Textfeld 84">
                <a:extLst>
                  <a:ext uri="{FF2B5EF4-FFF2-40B4-BE49-F238E27FC236}">
                    <a16:creationId xmlns:a16="http://schemas.microsoft.com/office/drawing/2014/main" id="{5006961A-3029-FBCC-406E-14B10448B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7362" y="228833"/>
                <a:ext cx="1041569" cy="276999"/>
              </a:xfrm>
              <a:prstGeom prst="rect">
                <a:avLst/>
              </a:prstGeom>
              <a:blipFill>
                <a:blip r:embed="rId9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9" name="Textfeld 88">
                <a:extLst>
                  <a:ext uri="{FF2B5EF4-FFF2-40B4-BE49-F238E27FC236}">
                    <a16:creationId xmlns:a16="http://schemas.microsoft.com/office/drawing/2014/main" id="{E51720A9-0AA0-9A52-602E-71695973F69B}"/>
                  </a:ext>
                </a:extLst>
              </p:cNvPr>
              <p:cNvSpPr txBox="1"/>
              <p:nvPr/>
            </p:nvSpPr>
            <p:spPr>
              <a:xfrm>
                <a:off x="5164122" y="167864"/>
                <a:ext cx="104156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>
          <p:sp>
            <p:nvSpPr>
              <p:cNvPr id="89" name="Textfeld 88">
                <a:extLst>
                  <a:ext uri="{FF2B5EF4-FFF2-40B4-BE49-F238E27FC236}">
                    <a16:creationId xmlns:a16="http://schemas.microsoft.com/office/drawing/2014/main" id="{E51720A9-0AA0-9A52-602E-71695973F6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4122" y="167864"/>
                <a:ext cx="1041569" cy="276999"/>
              </a:xfrm>
              <a:prstGeom prst="rect">
                <a:avLst/>
              </a:prstGeom>
              <a:blipFill>
                <a:blip r:embed="rId10"/>
                <a:stretch>
                  <a:fillRect b="-869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0" name="Gerade Verbindung mit Pfeil 89">
            <a:extLst>
              <a:ext uri="{FF2B5EF4-FFF2-40B4-BE49-F238E27FC236}">
                <a16:creationId xmlns:a16="http://schemas.microsoft.com/office/drawing/2014/main" id="{B3DFDE81-CEF1-77B4-42C3-668073E60F33}"/>
              </a:ext>
            </a:extLst>
          </p:cNvPr>
          <p:cNvCxnSpPr>
            <a:cxnSpLocks/>
          </p:cNvCxnSpPr>
          <p:nvPr/>
        </p:nvCxnSpPr>
        <p:spPr>
          <a:xfrm>
            <a:off x="5507567" y="481130"/>
            <a:ext cx="35954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winkelte Verbindung 95">
            <a:extLst>
              <a:ext uri="{FF2B5EF4-FFF2-40B4-BE49-F238E27FC236}">
                <a16:creationId xmlns:a16="http://schemas.microsoft.com/office/drawing/2014/main" id="{53F47BEB-4597-DB6B-D164-68F25641DE68}"/>
              </a:ext>
            </a:extLst>
          </p:cNvPr>
          <p:cNvCxnSpPr>
            <a:cxnSpLocks/>
            <a:endCxn id="71" idx="4"/>
          </p:cNvCxnSpPr>
          <p:nvPr/>
        </p:nvCxnSpPr>
        <p:spPr>
          <a:xfrm rot="10800000">
            <a:off x="3624896" y="593951"/>
            <a:ext cx="3675049" cy="593977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Gerade Verbindung 109">
            <a:extLst>
              <a:ext uri="{FF2B5EF4-FFF2-40B4-BE49-F238E27FC236}">
                <a16:creationId xmlns:a16="http://schemas.microsoft.com/office/drawing/2014/main" id="{67270D7A-E435-2300-8D85-9A42177D2F1C}"/>
              </a:ext>
            </a:extLst>
          </p:cNvPr>
          <p:cNvCxnSpPr>
            <a:cxnSpLocks/>
          </p:cNvCxnSpPr>
          <p:nvPr/>
        </p:nvCxnSpPr>
        <p:spPr>
          <a:xfrm>
            <a:off x="7299942" y="481130"/>
            <a:ext cx="0" cy="70679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2" name="Textfeld 111">
                <a:extLst>
                  <a:ext uri="{FF2B5EF4-FFF2-40B4-BE49-F238E27FC236}">
                    <a16:creationId xmlns:a16="http://schemas.microsoft.com/office/drawing/2014/main" id="{86AD7326-64FC-93B9-5C5C-8ABAF66030C7}"/>
                  </a:ext>
                </a:extLst>
              </p:cNvPr>
              <p:cNvSpPr txBox="1"/>
              <p:nvPr/>
            </p:nvSpPr>
            <p:spPr>
              <a:xfrm>
                <a:off x="3259883" y="462964"/>
                <a:ext cx="104156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800" b="0" i="1" noProof="0" smtClean="0"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en-US" sz="1800" noProof="0" dirty="0"/>
              </a:p>
            </p:txBody>
          </p:sp>
        </mc:Choice>
        <mc:Fallback>
          <p:sp>
            <p:nvSpPr>
              <p:cNvPr id="112" name="Textfeld 111">
                <a:extLst>
                  <a:ext uri="{FF2B5EF4-FFF2-40B4-BE49-F238E27FC236}">
                    <a16:creationId xmlns:a16="http://schemas.microsoft.com/office/drawing/2014/main" id="{86AD7326-64FC-93B9-5C5C-8ABAF66030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9883" y="462964"/>
                <a:ext cx="1041569" cy="369332"/>
              </a:xfrm>
              <a:prstGeom prst="rect">
                <a:avLst/>
              </a:prstGeom>
              <a:blipFill>
                <a:blip r:embed="rId11"/>
                <a:stretch>
                  <a:fillRect b="-2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feld 2">
            <a:extLst>
              <a:ext uri="{FF2B5EF4-FFF2-40B4-BE49-F238E27FC236}">
                <a16:creationId xmlns:a16="http://schemas.microsoft.com/office/drawing/2014/main" id="{E3408FF6-0C87-854F-2C24-BE88E3F8EE33}"/>
              </a:ext>
            </a:extLst>
          </p:cNvPr>
          <p:cNvSpPr txBox="1"/>
          <p:nvPr/>
        </p:nvSpPr>
        <p:spPr>
          <a:xfrm>
            <a:off x="7078722" y="3028211"/>
            <a:ext cx="19088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noProof="0" dirty="0">
                <a:solidFill>
                  <a:srgbClr val="FF0000"/>
                </a:solidFill>
              </a:rPr>
              <a:t>Transfer Functions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80C8C2AA-73F2-A89C-BBE0-D98D512444AF}"/>
              </a:ext>
            </a:extLst>
          </p:cNvPr>
          <p:cNvSpPr txBox="1"/>
          <p:nvPr/>
        </p:nvSpPr>
        <p:spPr>
          <a:xfrm>
            <a:off x="3917147" y="2177225"/>
            <a:ext cx="12290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Ferrari 812</a:t>
            </a:r>
          </a:p>
        </p:txBody>
      </p: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A415CAD0-BBE3-9CB1-E82E-3B5218072218}"/>
              </a:ext>
            </a:extLst>
          </p:cNvPr>
          <p:cNvGrpSpPr/>
          <p:nvPr/>
        </p:nvGrpSpPr>
        <p:grpSpPr>
          <a:xfrm>
            <a:off x="0" y="3127658"/>
            <a:ext cx="4481003" cy="583076"/>
            <a:chOff x="525682" y="4133172"/>
            <a:chExt cx="4481003" cy="583076"/>
          </a:xfrm>
        </p:grpSpPr>
        <p:sp>
          <p:nvSpPr>
            <p:cNvPr id="31" name="Rectangle: Rounded Corners 17">
              <a:extLst>
                <a:ext uri="{FF2B5EF4-FFF2-40B4-BE49-F238E27FC236}">
                  <a16:creationId xmlns:a16="http://schemas.microsoft.com/office/drawing/2014/main" id="{FC8E00E5-DFAF-477E-E1E0-41567A069ECD}"/>
                </a:ext>
              </a:extLst>
            </p:cNvPr>
            <p:cNvSpPr/>
            <p:nvPr/>
          </p:nvSpPr>
          <p:spPr>
            <a:xfrm>
              <a:off x="525682" y="4142116"/>
              <a:ext cx="4452717" cy="574132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F0D2A61F-6E61-F5A8-6CF2-A3A345744A1D}"/>
                    </a:ext>
                  </a:extLst>
                </p:cNvPr>
                <p:cNvSpPr txBox="1"/>
                <p:nvPr/>
              </p:nvSpPr>
              <p:spPr>
                <a:xfrm>
                  <a:off x="525682" y="4133172"/>
                  <a:ext cx="4481003" cy="5741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𝐼𝐶</m:t>
                            </m:r>
                          </m:sub>
                        </m:sSub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sub>
                        </m:sSub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𝐴𝑡</m:t>
                            </m:r>
                          </m:sup>
                        </m:sSup>
                        <m:sSub>
                          <m:sSub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𝐶</m:t>
                        </m:r>
                        <m:nary>
                          <m:nary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d>
                                  <m:dPr>
                                    <m:ctrlPr>
                                      <a:rPr lang="en-US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 noProof="0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i="1" noProof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i="1" noProof="0" smtClean="0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</m:d>
                              </m:sup>
                            </m:sSup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nary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𝐷𝑢</m:t>
                        </m:r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noProof="0" dirty="0"/>
                </a:p>
              </p:txBody>
            </p:sp>
          </mc:Choice>
          <mc:Fallback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F0D2A61F-6E61-F5A8-6CF2-A3A345744A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682" y="4133172"/>
                  <a:ext cx="4481003" cy="574132"/>
                </a:xfrm>
                <a:prstGeom prst="rect">
                  <a:avLst/>
                </a:prstGeom>
                <a:blipFill>
                  <a:blip r:embed="rId12"/>
                  <a:stretch>
                    <a:fillRect t="-145652" b="-215217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1" name="Textfeld 40">
            <a:extLst>
              <a:ext uri="{FF2B5EF4-FFF2-40B4-BE49-F238E27FC236}">
                <a16:creationId xmlns:a16="http://schemas.microsoft.com/office/drawing/2014/main" id="{CACF1025-6B6E-539F-978B-588C918113FD}"/>
              </a:ext>
            </a:extLst>
          </p:cNvPr>
          <p:cNvSpPr txBox="1"/>
          <p:nvPr/>
        </p:nvSpPr>
        <p:spPr>
          <a:xfrm>
            <a:off x="981956" y="3704621"/>
            <a:ext cx="10999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i="1" noProof="0" dirty="0">
                <a:solidFill>
                  <a:schemeClr val="accent4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I.C. response</a:t>
            </a: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76C732EF-B04C-587C-AA0C-56F7483EA703}"/>
              </a:ext>
            </a:extLst>
          </p:cNvPr>
          <p:cNvSpPr txBox="1"/>
          <p:nvPr/>
        </p:nvSpPr>
        <p:spPr>
          <a:xfrm>
            <a:off x="2418834" y="3698650"/>
            <a:ext cx="135966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i="1" noProof="0" dirty="0">
                <a:solidFill>
                  <a:schemeClr val="accent2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Forced response</a:t>
            </a: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BFFC391C-80A6-C610-6595-DBBF3A86AFE6}"/>
              </a:ext>
            </a:extLst>
          </p:cNvPr>
          <p:cNvSpPr txBox="1"/>
          <p:nvPr/>
        </p:nvSpPr>
        <p:spPr>
          <a:xfrm>
            <a:off x="0" y="2803004"/>
            <a:ext cx="13324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noProof="0" dirty="0">
                <a:latin typeface="Segoe UI" panose="020B0502040204020203" pitchFamily="34" charset="0"/>
                <a:cs typeface="Segoe UI" panose="020B0502040204020203" pitchFamily="34" charset="0"/>
              </a:rPr>
              <a:t>Time response: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126EFB5-A6D8-4657-1B68-149BE5DE4F06}"/>
                  </a:ext>
                </a:extLst>
              </p:cNvPr>
              <p:cNvSpPr txBox="1"/>
              <p:nvPr/>
            </p:nvSpPr>
            <p:spPr>
              <a:xfrm>
                <a:off x="-76030" y="3933238"/>
                <a:ext cx="3856697" cy="14201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en-US" sz="1600" i="1" baseline="-25000" noProof="0" smtClean="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Ã</m:t>
                          </m:r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(0)=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𝑑𝑖𝑎𝑔</m:t>
                      </m:r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n-US" sz="1600" b="0" i="1" baseline="-25000" noProof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p>
                            <m:sSup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ₙ</m:t>
                              </m:r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sz="1600" i="1" noProof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en-US" sz="1600" i="1" baseline="-25000" noProof="0" smtClean="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̃"/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600" b="0" i="1" noProof="0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acc>
                      <m:sSup>
                        <m:sSup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Ã</m:t>
                          </m:r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(0)=</m:t>
                      </m:r>
                      <m:sSubSup>
                        <m:sSubSup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sz="1600" i="0" noProof="0" smtClean="0">
                              <a:latin typeface="Cambria Math" panose="02040503050406030204" pitchFamily="18" charset="0"/>
                            </a:rPr>
                            <m:t>Σ</m:t>
                          </m:r>
                        </m:e>
                        <m:sub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bSup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ᵢ</m:t>
                      </m:r>
                      <m:sSup>
                        <m:sSup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ᵢ</m:t>
                          </m:r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sSub>
                        <m:sSub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b="0" i="1" noProof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1600" i="1" noProof="0" dirty="0">
                  <a:latin typeface="Cambria Math" panose="02040503050406030204" pitchFamily="18" charset="0"/>
                </a:endParaRPr>
              </a:p>
              <a:p>
                <a:endParaRPr lang="en-US" sz="1600" i="1" noProof="0" dirty="0">
                  <a:latin typeface="Cambria Math" panose="02040503050406030204" pitchFamily="18" charset="0"/>
                </a:endParaRPr>
              </a:p>
              <a:p>
                <a:endParaRPr lang="en-US" sz="1600" i="1" noProof="0" dirty="0">
                  <a:latin typeface="Cambria Math" panose="02040503050406030204" pitchFamily="18" charset="0"/>
                </a:endParaRPr>
              </a:p>
              <a:p>
                <a:endParaRPr lang="en-US" sz="1600" i="1" noProof="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126EFB5-A6D8-4657-1B68-149BE5DE4F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6030" y="3933238"/>
                <a:ext cx="3856697" cy="14201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715834AA-FCD4-9ACB-E4FC-E4157F6410E5}"/>
              </a:ext>
            </a:extLst>
          </p:cNvPr>
          <p:cNvGrpSpPr/>
          <p:nvPr/>
        </p:nvGrpSpPr>
        <p:grpSpPr>
          <a:xfrm>
            <a:off x="3979165" y="4015511"/>
            <a:ext cx="2657095" cy="584775"/>
            <a:chOff x="3863334" y="4024200"/>
            <a:chExt cx="2657095" cy="584775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768E56BD-3028-221D-77E4-D5E81CBA4B94}"/>
                    </a:ext>
                  </a:extLst>
                </p:cNvPr>
                <p:cNvSpPr txBox="1"/>
                <p:nvPr/>
              </p:nvSpPr>
              <p:spPr>
                <a:xfrm>
                  <a:off x="3863334" y="4024200"/>
                  <a:ext cx="1677843" cy="584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i="1" noProof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)=</m:t>
                        </m:r>
                        <m:r>
                          <m:rPr>
                            <m:sty m:val="p"/>
                          </m:rPr>
                          <a:rPr lang="en-US" sz="1600" noProof="0" smtClean="0">
                            <a:latin typeface="Cambria Math" panose="02040503050406030204" pitchFamily="18" charset="0"/>
                          </a:rPr>
                          <m:t>Σ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i="1" noProof="0"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i="1" noProof="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s</m:t>
                        </m:r>
                        <m: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noProof="0" dirty="0"/>
                </a:p>
              </p:txBody>
            </p:sp>
          </mc:Choice>
          <mc:Fallback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768E56BD-3028-221D-77E4-D5E81CBA4B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63334" y="4024200"/>
                  <a:ext cx="1677843" cy="584775"/>
                </a:xfrm>
                <a:prstGeom prst="rect">
                  <a:avLst/>
                </a:prstGeom>
                <a:blipFill>
                  <a:blip r:embed="rId14"/>
                  <a:stretch>
                    <a:fillRect b="-8511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Gekrümmte Verbindung 12">
              <a:extLst>
                <a:ext uri="{FF2B5EF4-FFF2-40B4-BE49-F238E27FC236}">
                  <a16:creationId xmlns:a16="http://schemas.microsoft.com/office/drawing/2014/main" id="{45FA4DC4-00F8-4369-89A1-26264BD6814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42438" y="4220940"/>
              <a:ext cx="253274" cy="263140"/>
            </a:xfrm>
            <a:prstGeom prst="curvedConnector3">
              <a:avLst>
                <a:gd name="adj1" fmla="val -90258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AD2AF2C6-541B-D49C-E9C1-8560BA737CB9}"/>
                    </a:ext>
                  </a:extLst>
                </p:cNvPr>
                <p:cNvSpPr txBox="1"/>
                <p:nvPr/>
              </p:nvSpPr>
              <p:spPr>
                <a:xfrm>
                  <a:off x="5849924" y="4100972"/>
                  <a:ext cx="670505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ℒ</m:t>
                        </m:r>
                        <m:r>
                          <m:rPr>
                            <m:lit/>
                          </m:rPr>
                          <a:rPr lang="en-US" sz="20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{</m:t>
                        </m:r>
                        <m:r>
                          <a:rPr lang="en-US" sz="20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m:rPr>
                            <m:lit/>
                          </m:rPr>
                          <a:rPr lang="en-US" sz="2000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}</m:t>
                        </m:r>
                      </m:oMath>
                    </m:oMathPara>
                  </a14:m>
                  <a:endParaRPr lang="en-US" noProof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AD2AF2C6-541B-D49C-E9C1-8560BA737C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49924" y="4100972"/>
                  <a:ext cx="670505" cy="400110"/>
                </a:xfrm>
                <a:prstGeom prst="rect">
                  <a:avLst/>
                </a:prstGeom>
                <a:blipFill>
                  <a:blip r:embed="rId15"/>
                  <a:stretch>
                    <a:fillRect b="-15625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241904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EEBEDC-A3CF-3104-9462-B5B3BDFC3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Time Response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705E3ED-190F-9E23-1F4C-433EB2FA1A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369218"/>
            <a:ext cx="7886700" cy="3500438"/>
          </a:xfrm>
        </p:spPr>
        <p:txBody>
          <a:bodyPr>
            <a:normAutofit/>
          </a:bodyPr>
          <a:lstStyle/>
          <a:p>
            <a:r>
              <a:rPr lang="en-US" noProof="0" dirty="0"/>
              <a:t>We're still dealing with LTI systems:</a:t>
            </a:r>
          </a:p>
          <a:p>
            <a:r>
              <a:rPr lang="en-US" noProof="0" dirty="0"/>
              <a:t>We solved the ODE by splitting into initial and forced response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We want an easier way of describing the I/O relation</a:t>
            </a:r>
          </a:p>
          <a:p>
            <a:pPr marL="0" indent="0">
              <a:buNone/>
            </a:pPr>
            <a:r>
              <a:rPr lang="en-US" noProof="0" dirty="0">
                <a:sym typeface="Wingdings" pitchFamily="2" charset="2"/>
              </a:rPr>
              <a:t> Transfer function</a:t>
            </a:r>
            <a:r>
              <a:rPr lang="en-US" noProof="0" dirty="0"/>
              <a:t> 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C5D1F1E-449F-851D-9B56-CA94379E1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8C84814-2012-EFCF-B6AB-6EA942D78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5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FB8C344D-9563-2149-1195-693EA7B52D27}"/>
              </a:ext>
            </a:extLst>
          </p:cNvPr>
          <p:cNvGrpSpPr/>
          <p:nvPr/>
        </p:nvGrpSpPr>
        <p:grpSpPr>
          <a:xfrm>
            <a:off x="4465333" y="1168120"/>
            <a:ext cx="2313830" cy="584775"/>
            <a:chOff x="4977518" y="1220569"/>
            <a:chExt cx="2313830" cy="584775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4BC50E31-AFC9-8145-0B1C-70A653D05B77}"/>
                    </a:ext>
                  </a:extLst>
                </p:cNvPr>
                <p:cNvSpPr txBox="1"/>
                <p:nvPr/>
              </p:nvSpPr>
              <p:spPr>
                <a:xfrm>
                  <a:off x="4977518" y="1220569"/>
                  <a:ext cx="2313830" cy="58477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̇"/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d>
                          <m:d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600" i="1" noProof="0" smtClean="0">
                            <a:solidFill>
                              <a:schemeClr val="accent4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𝑥</m:t>
                        </m:r>
                        <m:d>
                          <m:d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 noProof="0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oMath>
                    </m:oMathPara>
                  </a14:m>
                  <a:endParaRPr lang="en-US" sz="1600" i="1" noProof="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)=</m:t>
                        </m:r>
                        <m:r>
                          <a:rPr lang="en-US" sz="1600" i="1" noProof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)+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𝐷𝑢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600" noProof="0" dirty="0"/>
                </a:p>
              </p:txBody>
            </p:sp>
          </mc:Choice>
          <mc:Fallback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4BC50E31-AFC9-8145-0B1C-70A653D05B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77518" y="1220569"/>
                  <a:ext cx="2313830" cy="584775"/>
                </a:xfrm>
                <a:prstGeom prst="rect">
                  <a:avLst/>
                </a:prstGeom>
                <a:blipFill>
                  <a:blip r:embed="rId2"/>
                  <a:stretch>
                    <a:fillRect b="-8511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Geschweifte Klammer links 7">
              <a:extLst>
                <a:ext uri="{FF2B5EF4-FFF2-40B4-BE49-F238E27FC236}">
                  <a16:creationId xmlns:a16="http://schemas.microsoft.com/office/drawing/2014/main" id="{39E88C02-C971-7218-84FC-EF416C6D604F}"/>
                </a:ext>
              </a:extLst>
            </p:cNvPr>
            <p:cNvSpPr/>
            <p:nvPr/>
          </p:nvSpPr>
          <p:spPr>
            <a:xfrm>
              <a:off x="4977518" y="1295175"/>
              <a:ext cx="182880" cy="489883"/>
            </a:xfrm>
            <a:prstGeom prst="leftBrac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noProof="0" dirty="0">
                <a:solidFill>
                  <a:sysClr val="windowText" lastClr="000000"/>
                </a:solidFill>
              </a:endParaRPr>
            </a:p>
          </p:txBody>
        </p:sp>
      </p:grpSp>
      <p:pic>
        <p:nvPicPr>
          <p:cNvPr id="11" name="Grafik 10" descr="Ein Bild, das Text, Schrift, Handschrift, Reihe enthält.&#10;&#10;KI-generierte Inhalte können fehlerhaft sein.">
            <a:extLst>
              <a:ext uri="{FF2B5EF4-FFF2-40B4-BE49-F238E27FC236}">
                <a16:creationId xmlns:a16="http://schemas.microsoft.com/office/drawing/2014/main" id="{244EF67C-7AA6-5337-6B2E-BD6DA23B37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3081" y="2046666"/>
            <a:ext cx="5164378" cy="2073884"/>
          </a:xfrm>
          <a:prstGeom prst="rect">
            <a:avLst/>
          </a:prstGeom>
        </p:spPr>
      </p:pic>
      <p:sp>
        <p:nvSpPr>
          <p:cNvPr id="12" name="Geschweifte Klammer rechts 11">
            <a:extLst>
              <a:ext uri="{FF2B5EF4-FFF2-40B4-BE49-F238E27FC236}">
                <a16:creationId xmlns:a16="http://schemas.microsoft.com/office/drawing/2014/main" id="{A05DFDBE-E098-D5C3-A444-61E5F136D64B}"/>
              </a:ext>
            </a:extLst>
          </p:cNvPr>
          <p:cNvSpPr/>
          <p:nvPr/>
        </p:nvSpPr>
        <p:spPr>
          <a:xfrm>
            <a:off x="7028953" y="2046666"/>
            <a:ext cx="246490" cy="2073884"/>
          </a:xfrm>
          <a:prstGeom prst="rightBrace">
            <a:avLst/>
          </a:prstGeom>
          <a:ln w="254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AB856C0-FD25-9EFD-7A5C-2708D2BCCCD7}"/>
              </a:ext>
            </a:extLst>
          </p:cNvPr>
          <p:cNvSpPr txBox="1"/>
          <p:nvPr/>
        </p:nvSpPr>
        <p:spPr>
          <a:xfrm>
            <a:off x="7399908" y="2739361"/>
            <a:ext cx="12234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noProof="0" dirty="0">
                <a:solidFill>
                  <a:srgbClr val="FF0000"/>
                </a:solidFill>
              </a:rPr>
              <a:t>difficult to </a:t>
            </a:r>
          </a:p>
          <a:p>
            <a:r>
              <a:rPr lang="en-US" sz="1800" noProof="0" dirty="0">
                <a:solidFill>
                  <a:srgbClr val="FF0000"/>
                </a:solidFill>
              </a:rPr>
              <a:t>compute</a:t>
            </a:r>
          </a:p>
        </p:txBody>
      </p:sp>
    </p:spTree>
    <p:extLst>
      <p:ext uri="{BB962C8B-B14F-4D97-AF65-F5344CB8AC3E}">
        <p14:creationId xmlns:p14="http://schemas.microsoft.com/office/powerpoint/2010/main" val="39005339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A1F85C-9F1E-DCF1-A52D-5DED8BB2A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Transfer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C667759-1205-4D07-D890-ED79DE34E0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192559"/>
                <a:ext cx="8406708" cy="3649938"/>
              </a:xfrm>
            </p:spPr>
            <p:txBody>
              <a:bodyPr>
                <a:normAutofit/>
              </a:bodyPr>
              <a:lstStyle/>
              <a:p>
                <a:r>
                  <a:rPr lang="en-US" noProof="0" dirty="0"/>
                  <a:t>Transfer function gives the relation between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noProof="0" dirty="0"/>
                  <a:t> and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𝑈</m:t>
                    </m:r>
                  </m:oMath>
                </a14:m>
                <a:r>
                  <a:rPr lang="en-US" noProof="0" dirty="0"/>
                  <a:t>:</a:t>
                </a:r>
              </a:p>
              <a:p>
                <a:r>
                  <a:rPr lang="en-US" noProof="0" dirty="0"/>
                  <a:t>We derived the general TF for LTI state-space:</a:t>
                </a:r>
              </a:p>
              <a:p>
                <a:endParaRPr lang="en-US" noProof="0" dirty="0"/>
              </a:p>
              <a:p>
                <a:pPr marL="0" indent="0">
                  <a:buNone/>
                </a:pPr>
                <a:endParaRPr lang="en-US" sz="2500" noProof="0" dirty="0"/>
              </a:p>
              <a:p>
                <a:r>
                  <a:rPr lang="en-US" noProof="0" dirty="0"/>
                  <a:t>To find the inverse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𝑠𝐼</m:t>
                            </m:r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d>
                      </m:e>
                      <m:sup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noProof="0" dirty="0"/>
                  <a:t> we use Cramer's rule:</a:t>
                </a:r>
              </a:p>
              <a:p>
                <a:endParaRPr lang="en-US" noProof="0" dirty="0"/>
              </a:p>
              <a:p>
                <a:endParaRPr lang="en-US" noProof="0" dirty="0"/>
              </a:p>
              <a:p>
                <a:endParaRPr lang="en-US" noProof="0" dirty="0"/>
              </a:p>
              <a:p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noProof="0" dirty="0"/>
                  <a:t> is defined in the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noProof="0" dirty="0"/>
                  <a:t>-domain but describes behavior in the time domain</a:t>
                </a:r>
              </a:p>
              <a:p>
                <a:r>
                  <a:rPr lang="en-US" noProof="0" dirty="0"/>
                  <a:t>Remember the steady-state output to the input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i="1" noProof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𝑠𝑡</m:t>
                        </m:r>
                      </m:sup>
                    </m:sSup>
                  </m:oMath>
                </a14:m>
                <a:r>
                  <a:rPr lang="en-US" noProof="0" dirty="0"/>
                  <a:t> is: </a:t>
                </a:r>
                <a14:m>
                  <m:oMath xmlns:m="http://schemas.openxmlformats.org/officeDocument/2006/math">
                    <m:r>
                      <a:rPr lang="en-US" i="1" noProof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baseline="-25000" noProof="0">
                        <a:latin typeface="Cambria Math" panose="02040503050406030204" pitchFamily="18" charset="0"/>
                      </a:rPr>
                      <m:t>𝑠𝑠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) </m:t>
                    </m:r>
                    <m:sSup>
                      <m:sSupPr>
                        <m:ctrlPr>
                          <a:rPr lang="en-US" i="1" noProof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noProof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i="1" noProof="0">
                            <a:latin typeface="Cambria Math" panose="02040503050406030204" pitchFamily="18" charset="0"/>
                          </a:rPr>
                          <m:t>𝑠𝑡</m:t>
                        </m:r>
                      </m:sup>
                    </m:sSup>
                  </m:oMath>
                </a14:m>
                <a:endParaRPr lang="en-US" noProof="0" dirty="0"/>
              </a:p>
              <a:p>
                <a:endParaRPr lang="en-US" noProof="0" dirty="0"/>
              </a:p>
              <a:p>
                <a:endParaRPr lang="en-US" noProof="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C667759-1205-4D07-D890-ED79DE34E0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192559"/>
                <a:ext cx="8406708" cy="3649938"/>
              </a:xfrm>
              <a:blipFill>
                <a:blip r:embed="rId3"/>
                <a:stretch>
                  <a:fillRect l="-452" t="-2083" b="-34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25FAD5F-D777-940B-8A06-AA6DAC023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17A03C6-C7B0-697B-CA85-916F83922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6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04750100-A5E9-EFF6-BB31-46C8CFD6DFA6}"/>
              </a:ext>
            </a:extLst>
          </p:cNvPr>
          <p:cNvGrpSpPr/>
          <p:nvPr/>
        </p:nvGrpSpPr>
        <p:grpSpPr>
          <a:xfrm>
            <a:off x="6217755" y="1026460"/>
            <a:ext cx="2559715" cy="611001"/>
            <a:chOff x="6217755" y="1234679"/>
            <a:chExt cx="2559715" cy="611001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F41FBEC3-D357-F29D-0C06-4624BD23210E}"/>
                    </a:ext>
                  </a:extLst>
                </p:cNvPr>
                <p:cNvSpPr txBox="1"/>
                <p:nvPr/>
              </p:nvSpPr>
              <p:spPr>
                <a:xfrm>
                  <a:off x="6217755" y="1234679"/>
                  <a:ext cx="1160254" cy="61100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8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1800" i="1" noProof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800" i="1" noProof="0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num>
                          <m:den>
                            <m:r>
                              <a:rPr lang="en-US" sz="1800" i="1" noProof="0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den>
                        </m:f>
                      </m:oMath>
                    </m:oMathPara>
                  </a14:m>
                  <a:endParaRPr lang="en-US" noProof="0" dirty="0"/>
                </a:p>
              </p:txBody>
            </p:sp>
          </mc:Choice>
          <mc:Fallback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F41FBEC3-D357-F29D-0C06-4624BD2321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7755" y="1234679"/>
                  <a:ext cx="1160254" cy="611001"/>
                </a:xfrm>
                <a:prstGeom prst="rect">
                  <a:avLst/>
                </a:prstGeom>
                <a:blipFill>
                  <a:blip r:embed="rId4"/>
                  <a:stretch>
                    <a:fillRect b="-2000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ED2A5506-E5CD-7463-1AAB-7377EE35C32A}"/>
                    </a:ext>
                  </a:extLst>
                </p:cNvPr>
                <p:cNvSpPr txBox="1"/>
                <p:nvPr/>
              </p:nvSpPr>
              <p:spPr>
                <a:xfrm>
                  <a:off x="7785980" y="1355513"/>
                  <a:ext cx="99149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𝐺𝑈</m:t>
                        </m:r>
                      </m:oMath>
                    </m:oMathPara>
                  </a14:m>
                  <a:endParaRPr lang="en-US" noProof="0" dirty="0"/>
                </a:p>
              </p:txBody>
            </p:sp>
          </mc:Choice>
          <mc:Fallback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ED2A5506-E5CD-7463-1AAB-7377EE35C3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85980" y="1355513"/>
                  <a:ext cx="99149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Gerade Verbindung mit Pfeil 8">
              <a:extLst>
                <a:ext uri="{FF2B5EF4-FFF2-40B4-BE49-F238E27FC236}">
                  <a16:creationId xmlns:a16="http://schemas.microsoft.com/office/drawing/2014/main" id="{77EF01F4-B773-33E9-E9C5-1D2175C9B12C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 flipV="1">
              <a:off x="7378009" y="1540179"/>
              <a:ext cx="407971" cy="1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E1E322B8-78EA-AD5B-C95E-DA6253B6000D}"/>
              </a:ext>
            </a:extLst>
          </p:cNvPr>
          <p:cNvGrpSpPr/>
          <p:nvPr/>
        </p:nvGrpSpPr>
        <p:grpSpPr>
          <a:xfrm>
            <a:off x="3002110" y="1951252"/>
            <a:ext cx="3139779" cy="700906"/>
            <a:chOff x="3200400" y="4094956"/>
            <a:chExt cx="3139779" cy="70090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7E21C9CA-A098-6459-AF85-09EA8777F571}"/>
                    </a:ext>
                  </a:extLst>
                </p:cNvPr>
                <p:cNvSpPr txBox="1"/>
                <p:nvPr/>
              </p:nvSpPr>
              <p:spPr>
                <a:xfrm>
                  <a:off x="3435376" y="4233623"/>
                  <a:ext cx="280660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8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sz="1800" i="1" noProof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1800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i="1" noProof="0">
                                    <a:latin typeface="Cambria Math" panose="02040503050406030204" pitchFamily="18" charset="0"/>
                                  </a:rPr>
                                  <m:t>𝑠𝐼</m:t>
                                </m:r>
                                <m:r>
                                  <a:rPr lang="en-US" sz="1800" i="1" noProof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1800" i="1" noProof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d>
                          </m:e>
                          <m:sup>
                            <m:r>
                              <a:rPr lang="en-US" sz="1800" i="1" noProof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𝐷</m:t>
                        </m:r>
                      </m:oMath>
                    </m:oMathPara>
                  </a14:m>
                  <a:endParaRPr lang="en-US" sz="1800" noProof="0" dirty="0"/>
                </a:p>
              </p:txBody>
            </p:sp>
          </mc:Choice>
          <mc:Fallback>
            <p:sp>
              <p:nvSpPr>
                <p:cNvPr id="10" name="Textfeld 9">
                  <a:extLst>
                    <a:ext uri="{FF2B5EF4-FFF2-40B4-BE49-F238E27FC236}">
                      <a16:creationId xmlns:a16="http://schemas.microsoft.com/office/drawing/2014/main" id="{7E21C9CA-A098-6459-AF85-09EA8777F5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5376" y="4233623"/>
                  <a:ext cx="2806602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: Rounded Corners 17">
              <a:extLst>
                <a:ext uri="{FF2B5EF4-FFF2-40B4-BE49-F238E27FC236}">
                  <a16:creationId xmlns:a16="http://schemas.microsoft.com/office/drawing/2014/main" id="{7643743D-3A14-48FB-2D3B-21EEF4B42152}"/>
                </a:ext>
              </a:extLst>
            </p:cNvPr>
            <p:cNvSpPr/>
            <p:nvPr/>
          </p:nvSpPr>
          <p:spPr>
            <a:xfrm>
              <a:off x="3200400" y="4094956"/>
              <a:ext cx="3139779" cy="700906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A10FF414-D12F-F0D4-0427-64CFAF7AD0EB}"/>
              </a:ext>
            </a:extLst>
          </p:cNvPr>
          <p:cNvGrpSpPr/>
          <p:nvPr/>
        </p:nvGrpSpPr>
        <p:grpSpPr>
          <a:xfrm>
            <a:off x="2693348" y="3078271"/>
            <a:ext cx="3894079" cy="820283"/>
            <a:chOff x="3028950" y="3438124"/>
            <a:chExt cx="3894079" cy="82028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FF16AE86-372F-BF64-E9E7-C027D1360FFC}"/>
                    </a:ext>
                  </a:extLst>
                </p:cNvPr>
                <p:cNvSpPr txBox="1"/>
                <p:nvPr/>
              </p:nvSpPr>
              <p:spPr>
                <a:xfrm>
                  <a:off x="3028950" y="3503821"/>
                  <a:ext cx="3894079" cy="66909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1800" i="1" noProof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noProof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p>
                            <m:r>
                              <a:rPr lang="en-US" sz="1800" i="1" noProof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r>
                          <a:rPr lang="en-US" sz="1800" i="1" noProof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1800" i="1" noProof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800" i="1" noProof="0">
                                <a:latin typeface="Cambria Math" panose="02040503050406030204" pitchFamily="18" charset="0"/>
                              </a:rPr>
                              <m:t>𝑎𝑑𝑗</m:t>
                            </m:r>
                            <m:d>
                              <m:dPr>
                                <m:ctrlPr>
                                  <a:rPr lang="en-US" sz="1800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i="1" noProof="0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</m:d>
                          </m:num>
                          <m:den>
                            <m:func>
                              <m:funcPr>
                                <m:ctrlPr>
                                  <a:rPr lang="en-US" sz="1800" i="1" noProof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a:rPr lang="en-US" sz="1800" noProof="0">
                                    <a:latin typeface="Cambria Math" panose="02040503050406030204" pitchFamily="18" charset="0"/>
                                  </a:rPr>
                                  <m:t>𝑑𝑒𝑡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sz="18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i="1" noProof="0">
                                        <a:latin typeface="Cambria Math" panose="02040503050406030204" pitchFamily="18" charset="0"/>
                                      </a:rPr>
                                      <m:t>𝑀</m:t>
                                    </m:r>
                                  </m:e>
                                </m:d>
                              </m:e>
                            </m:func>
                          </m:den>
                        </m:f>
                        <m:r>
                          <a:rPr lang="en-US" sz="1800" i="1" noProof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1800" i="1" noProof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800" i="1" noProof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800" i="1" noProof="0">
                                <a:latin typeface="Cambria Math" panose="02040503050406030204" pitchFamily="18" charset="0"/>
                              </a:rPr>
                              <m:t>𝑎𝑑</m:t>
                            </m:r>
                            <m:r>
                              <a:rPr lang="en-US" sz="1800" i="1" noProof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800" i="1" noProof="0">
                                <a:latin typeface="Cambria Math" panose="02040503050406030204" pitchFamily="18" charset="0"/>
                              </a:rPr>
                              <m:t>𝑏𝑐</m:t>
                            </m:r>
                          </m:den>
                        </m:f>
                        <m:d>
                          <m:dPr>
                            <m:ctrlPr>
                              <a:rPr lang="en-US" sz="1800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plcHide m:val="on"/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sz="1800" i="1" noProof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en-US" sz="1800" i="1" noProof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e>
                                  <m:r>
                                    <a:rPr lang="en-US" sz="1800" i="1" noProof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800" i="1" noProof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sz="1800" i="1" noProof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800" i="1" noProof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e>
                                  <m:r>
                                    <a:rPr lang="en-US" sz="1800" i="1" noProof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en-US" sz="1800" noProof="0" dirty="0"/>
                </a:p>
              </p:txBody>
            </p:sp>
          </mc:Choice>
          <mc:Fallback>
            <p:sp>
              <p:nvSpPr>
                <p:cNvPr id="13" name="Textfeld 12">
                  <a:extLst>
                    <a:ext uri="{FF2B5EF4-FFF2-40B4-BE49-F238E27FC236}">
                      <a16:creationId xmlns:a16="http://schemas.microsoft.com/office/drawing/2014/main" id="{FF16AE86-372F-BF64-E9E7-C027D1360F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8950" y="3503821"/>
                  <a:ext cx="3894079" cy="66909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Rectangle: Rounded Corners 17">
              <a:extLst>
                <a:ext uri="{FF2B5EF4-FFF2-40B4-BE49-F238E27FC236}">
                  <a16:creationId xmlns:a16="http://schemas.microsoft.com/office/drawing/2014/main" id="{1956475A-7328-1E67-5B50-2E8C801C542D}"/>
                </a:ext>
              </a:extLst>
            </p:cNvPr>
            <p:cNvSpPr/>
            <p:nvPr/>
          </p:nvSpPr>
          <p:spPr>
            <a:xfrm>
              <a:off x="3087587" y="3438124"/>
              <a:ext cx="3835442" cy="820283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2" name="Gruppieren 21">
            <a:extLst>
              <a:ext uri="{FF2B5EF4-FFF2-40B4-BE49-F238E27FC236}">
                <a16:creationId xmlns:a16="http://schemas.microsoft.com/office/drawing/2014/main" id="{1AFE7419-7DDE-05B4-924A-F01ECE6126C3}"/>
              </a:ext>
            </a:extLst>
          </p:cNvPr>
          <p:cNvGrpSpPr/>
          <p:nvPr/>
        </p:nvGrpSpPr>
        <p:grpSpPr>
          <a:xfrm>
            <a:off x="6345491" y="1498520"/>
            <a:ext cx="2291516" cy="712655"/>
            <a:chOff x="6345491" y="1706739"/>
            <a:chExt cx="2291516" cy="712655"/>
          </a:xfrm>
        </p:grpSpPr>
        <p:sp>
          <p:nvSpPr>
            <p:cNvPr id="19" name="Geschweifte Klammer rechts 18">
              <a:extLst>
                <a:ext uri="{FF2B5EF4-FFF2-40B4-BE49-F238E27FC236}">
                  <a16:creationId xmlns:a16="http://schemas.microsoft.com/office/drawing/2014/main" id="{D7661112-B20C-4927-A449-8B4E69C280E1}"/>
                </a:ext>
              </a:extLst>
            </p:cNvPr>
            <p:cNvSpPr/>
            <p:nvPr/>
          </p:nvSpPr>
          <p:spPr>
            <a:xfrm rot="5400000">
              <a:off x="7281203" y="771027"/>
              <a:ext cx="420091" cy="2291516"/>
            </a:xfrm>
            <a:prstGeom prst="rightBrace">
              <a:avLst>
                <a:gd name="adj1" fmla="val 0"/>
                <a:gd name="adj2" fmla="val 50000"/>
              </a:avLst>
            </a:prstGeom>
            <a:ln w="254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Textfeld 19">
                  <a:extLst>
                    <a:ext uri="{FF2B5EF4-FFF2-40B4-BE49-F238E27FC236}">
                      <a16:creationId xmlns:a16="http://schemas.microsoft.com/office/drawing/2014/main" id="{90A608AE-C73C-2C3D-EFCE-9530D1306672}"/>
                    </a:ext>
                  </a:extLst>
                </p:cNvPr>
                <p:cNvSpPr txBox="1"/>
                <p:nvPr/>
              </p:nvSpPr>
              <p:spPr>
                <a:xfrm>
                  <a:off x="6928137" y="2050062"/>
                  <a:ext cx="116243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1800" i="1" noProof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𝑠</m:t>
                      </m:r>
                    </m:oMath>
                  </a14:m>
                  <a:r>
                    <a:rPr lang="en-US" sz="1800" noProof="0" dirty="0">
                      <a:solidFill>
                        <a:srgbClr val="FF0000"/>
                      </a:solidFill>
                      <a:latin typeface="Segoe UI" panose="020B0502040204020203" pitchFamily="34" charset="0"/>
                      <a:cs typeface="Segoe UI" panose="020B0502040204020203" pitchFamily="34" charset="0"/>
                    </a:rPr>
                    <a:t>-domain</a:t>
                  </a:r>
                </a:p>
              </p:txBody>
            </p:sp>
          </mc:Choice>
          <mc:Fallback>
            <p:sp>
              <p:nvSpPr>
                <p:cNvPr id="20" name="Textfeld 19">
                  <a:extLst>
                    <a:ext uri="{FF2B5EF4-FFF2-40B4-BE49-F238E27FC236}">
                      <a16:creationId xmlns:a16="http://schemas.microsoft.com/office/drawing/2014/main" id="{90A608AE-C73C-2C3D-EFCE-9530D13066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28137" y="2050062"/>
                  <a:ext cx="1162434" cy="369332"/>
                </a:xfrm>
                <a:prstGeom prst="rect">
                  <a:avLst/>
                </a:prstGeom>
                <a:blipFill>
                  <a:blip r:embed="rId8"/>
                  <a:stretch>
                    <a:fillRect t="-3226" r="-4348" b="-22581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6015296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C1DE6F48-0AFE-CDCE-A0FE-1041A0309C4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noProof="0" dirty="0"/>
                  <a:t>-Domain</a:t>
                </a:r>
              </a:p>
            </p:txBody>
          </p:sp>
        </mc:Choice>
        <mc:Fallback>
          <p:sp>
            <p:nvSpPr>
              <p:cNvPr id="2" name="Titel 1">
                <a:extLst>
                  <a:ext uri="{FF2B5EF4-FFF2-40B4-BE49-F238E27FC236}">
                    <a16:creationId xmlns:a16="http://schemas.microsoft.com/office/drawing/2014/main" id="{C1DE6F48-0AFE-CDCE-A0FE-1041A0309C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6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B1091C1-B86F-F879-5225-91E53D38A3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999177"/>
                <a:ext cx="7886700" cy="412202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noProof="0" dirty="0"/>
                  <a:t>With the TFs we start to represent systems in a new domain. So instead of characterizing how systems behave in the time domain, i.e.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)=…</m:t>
                    </m:r>
                  </m:oMath>
                </a14:m>
                <a:r>
                  <a:rPr lang="en-US" noProof="0" dirty="0"/>
                  <a:t>, we start to look at how it behaves in the s-domain, i.e.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noProof="0" dirty="0"/>
                  <a:t>. But what exactly is the s-domain?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endParaRPr lang="en-US" noProof="0" dirty="0"/>
              </a:p>
              <a:p>
                <a:pPr marL="0" indent="0">
                  <a:buNone/>
                </a:pPr>
                <a:endParaRPr lang="en-US" noProof="0" dirty="0"/>
              </a:p>
              <a:p>
                <a:pPr marL="0" indent="0">
                  <a:buNone/>
                </a:pPr>
                <a:endParaRPr lang="en-US" noProof="0" dirty="0"/>
              </a:p>
              <a:p>
                <a:pPr marL="0" indent="0">
                  <a:buNone/>
                </a:pPr>
                <a:endParaRPr lang="en-US" noProof="0" dirty="0"/>
              </a:p>
              <a:p>
                <a:pPr marL="0" indent="0">
                  <a:buNone/>
                </a:pPr>
                <a:endParaRPr lang="en-US" noProof="0" dirty="0"/>
              </a:p>
              <a:p>
                <a:pPr marL="0" indent="0">
                  <a:buNone/>
                </a:pPr>
                <a:endParaRPr lang="en-US" noProof="0" dirty="0"/>
              </a:p>
              <a:p>
                <a:pPr marL="0" indent="0">
                  <a:buNone/>
                </a:pPr>
                <a:endParaRPr lang="en-US" noProof="0" dirty="0"/>
              </a:p>
              <a:p>
                <a:pPr marL="0" indent="0">
                  <a:buNone/>
                </a:pPr>
                <a:r>
                  <a:rPr lang="en-US" noProof="0" dirty="0"/>
                  <a:t>For now you can think that in the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noProof="0" dirty="0"/>
                  <a:t>-domain functions or systems are represented by their poles (and zeros) plotted in the </a:t>
                </a:r>
                <a:r>
                  <a:rPr lang="en-US" i="1" noProof="0" dirty="0"/>
                  <a:t>complex</a:t>
                </a:r>
                <a:r>
                  <a:rPr lang="en-US" noProof="0" dirty="0"/>
                  <a:t> plane.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B1091C1-B86F-F879-5225-91E53D38A3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999177"/>
                <a:ext cx="7886700" cy="4122021"/>
              </a:xfrm>
              <a:blipFill>
                <a:blip r:embed="rId3"/>
                <a:stretch>
                  <a:fillRect l="-643" t="-153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BCD1717-32FA-FFC7-38C3-F3FA7645C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8D0F2B2-97C4-44E1-7FE3-392DE412D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7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1205A795-9D11-8433-E652-1BD91B094475}"/>
              </a:ext>
            </a:extLst>
          </p:cNvPr>
          <p:cNvCxnSpPr/>
          <p:nvPr/>
        </p:nvCxnSpPr>
        <p:spPr>
          <a:xfrm flipV="1">
            <a:off x="1192522" y="2254487"/>
            <a:ext cx="0" cy="1438274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FF0D5561-967E-FE70-355E-3DAC3B98034B}"/>
              </a:ext>
            </a:extLst>
          </p:cNvPr>
          <p:cNvCxnSpPr>
            <a:cxnSpLocks/>
          </p:cNvCxnSpPr>
          <p:nvPr/>
        </p:nvCxnSpPr>
        <p:spPr>
          <a:xfrm>
            <a:off x="1192522" y="2982926"/>
            <a:ext cx="2177612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60427C3C-C3E8-E54A-B99A-AACF2A958A76}"/>
                  </a:ext>
                </a:extLst>
              </p:cNvPr>
              <p:cNvSpPr txBox="1"/>
              <p:nvPr/>
            </p:nvSpPr>
            <p:spPr>
              <a:xfrm>
                <a:off x="3324846" y="2829037"/>
                <a:ext cx="30925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60427C3C-C3E8-E54A-B99A-AACF2A958A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4846" y="2829037"/>
                <a:ext cx="309251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D217741-4F7E-1389-D584-0021974CEB48}"/>
              </a:ext>
            </a:extLst>
          </p:cNvPr>
          <p:cNvCxnSpPr>
            <a:cxnSpLocks/>
          </p:cNvCxnSpPr>
          <p:nvPr/>
        </p:nvCxnSpPr>
        <p:spPr>
          <a:xfrm>
            <a:off x="4056358" y="2975878"/>
            <a:ext cx="848086" cy="0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Freihandform 28">
            <a:extLst>
              <a:ext uri="{FF2B5EF4-FFF2-40B4-BE49-F238E27FC236}">
                <a16:creationId xmlns:a16="http://schemas.microsoft.com/office/drawing/2014/main" id="{46807EB4-35C4-38A5-6D87-3F7CF78C9FD2}"/>
              </a:ext>
            </a:extLst>
          </p:cNvPr>
          <p:cNvSpPr/>
          <p:nvPr/>
        </p:nvSpPr>
        <p:spPr>
          <a:xfrm>
            <a:off x="1204332" y="2549891"/>
            <a:ext cx="2051824" cy="661699"/>
          </a:xfrm>
          <a:custGeom>
            <a:avLst/>
            <a:gdLst>
              <a:gd name="connsiteX0" fmla="*/ 0 w 2051824"/>
              <a:gd name="connsiteY0" fmla="*/ 423768 h 661699"/>
              <a:gd name="connsiteX1" fmla="*/ 156117 w 2051824"/>
              <a:gd name="connsiteY1" fmla="*/ 21 h 661699"/>
              <a:gd name="connsiteX2" fmla="*/ 446048 w 2051824"/>
              <a:gd name="connsiteY2" fmla="*/ 438636 h 661699"/>
              <a:gd name="connsiteX3" fmla="*/ 676507 w 2051824"/>
              <a:gd name="connsiteY3" fmla="*/ 661660 h 661699"/>
              <a:gd name="connsiteX4" fmla="*/ 1152292 w 2051824"/>
              <a:gd name="connsiteY4" fmla="*/ 423768 h 661699"/>
              <a:gd name="connsiteX5" fmla="*/ 1553736 w 2051824"/>
              <a:gd name="connsiteY5" fmla="*/ 282519 h 661699"/>
              <a:gd name="connsiteX6" fmla="*/ 2051824 w 2051824"/>
              <a:gd name="connsiteY6" fmla="*/ 408899 h 6616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51824" h="661699">
                <a:moveTo>
                  <a:pt x="0" y="423768"/>
                </a:moveTo>
                <a:cubicBezTo>
                  <a:pt x="40888" y="210655"/>
                  <a:pt x="81776" y="-2457"/>
                  <a:pt x="156117" y="21"/>
                </a:cubicBezTo>
                <a:cubicBezTo>
                  <a:pt x="230458" y="2499"/>
                  <a:pt x="359316" y="328363"/>
                  <a:pt x="446048" y="438636"/>
                </a:cubicBezTo>
                <a:cubicBezTo>
                  <a:pt x="532780" y="548909"/>
                  <a:pt x="558800" y="664138"/>
                  <a:pt x="676507" y="661660"/>
                </a:cubicBezTo>
                <a:cubicBezTo>
                  <a:pt x="794214" y="659182"/>
                  <a:pt x="1006087" y="486958"/>
                  <a:pt x="1152292" y="423768"/>
                </a:cubicBezTo>
                <a:cubicBezTo>
                  <a:pt x="1298497" y="360578"/>
                  <a:pt x="1403814" y="284997"/>
                  <a:pt x="1553736" y="282519"/>
                </a:cubicBezTo>
                <a:cubicBezTo>
                  <a:pt x="1703658" y="280041"/>
                  <a:pt x="1877741" y="344470"/>
                  <a:pt x="2051824" y="408899"/>
                </a:cubicBezTo>
              </a:path>
            </a:pathLst>
          </a:custGeom>
          <a:noFill/>
          <a:ln w="254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80B9B14A-7CDC-4C77-DFE6-1EF229F8E552}"/>
                  </a:ext>
                </a:extLst>
              </p:cNvPr>
              <p:cNvSpPr txBox="1"/>
              <p:nvPr/>
            </p:nvSpPr>
            <p:spPr>
              <a:xfrm>
                <a:off x="1571710" y="3728552"/>
                <a:ext cx="154965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−0.8</m:t>
                          </m:r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func>
                        <m:funcPr>
                          <m:ctrlP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i="0" noProof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noProof="0" dirty="0"/>
              </a:p>
            </p:txBody>
          </p:sp>
        </mc:Choice>
        <mc:Fallback>
          <p:sp>
            <p:nvSpPr>
              <p:cNvPr id="30" name="Textfeld 29">
                <a:extLst>
                  <a:ext uri="{FF2B5EF4-FFF2-40B4-BE49-F238E27FC236}">
                    <a16:creationId xmlns:a16="http://schemas.microsoft.com/office/drawing/2014/main" id="{80B9B14A-7CDC-4C77-DFE6-1EF229F8E5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1710" y="3728552"/>
                <a:ext cx="154965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A57CD816-7D62-B25A-6063-8E0E144D758C}"/>
              </a:ext>
            </a:extLst>
          </p:cNvPr>
          <p:cNvCxnSpPr>
            <a:cxnSpLocks/>
          </p:cNvCxnSpPr>
          <p:nvPr/>
        </p:nvCxnSpPr>
        <p:spPr>
          <a:xfrm flipV="1">
            <a:off x="6599861" y="1905489"/>
            <a:ext cx="0" cy="1823063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1B51D230-B74B-FC67-3C93-A0E05DE6631C}"/>
              </a:ext>
            </a:extLst>
          </p:cNvPr>
          <p:cNvCxnSpPr>
            <a:cxnSpLocks/>
          </p:cNvCxnSpPr>
          <p:nvPr/>
        </p:nvCxnSpPr>
        <p:spPr>
          <a:xfrm>
            <a:off x="5493834" y="2809666"/>
            <a:ext cx="2312484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6E44505C-2659-776E-7056-FB28A3AED486}"/>
                  </a:ext>
                </a:extLst>
              </p:cNvPr>
              <p:cNvSpPr txBox="1"/>
              <p:nvPr/>
            </p:nvSpPr>
            <p:spPr>
              <a:xfrm>
                <a:off x="4252916" y="3539704"/>
                <a:ext cx="3389851" cy="6173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r>
                        <m:rPr>
                          <m:lit/>
                        </m:rPr>
                        <a:rPr lang="en-US" sz="1800" i="1" noProof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sSup>
                        <m:sSupPr>
                          <m:ctrlPr>
                            <a:rPr lang="en-US" sz="18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8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8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−0.8</m:t>
                          </m:r>
                          <m:r>
                            <a:rPr lang="en-US" sz="18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func>
                        <m:funcPr>
                          <m:ctrlPr>
                            <a:rPr lang="en-US" sz="18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800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1800" i="1" noProof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 noProof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n-US" sz="1800" i="1" noProof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  <m:r>
                        <m:rPr>
                          <m:lit/>
                        </m:rPr>
                        <a:rPr lang="en-US" sz="1800" i="1" noProof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sz="1800" i="1" noProof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sSup>
                            <m:sSupPr>
                              <m:ctrlPr>
                                <a:rPr lang="en-US" sz="1800" i="1" noProof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 noProof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1800" i="1" noProof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800" i="1" noProof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+9</m:t>
                          </m:r>
                        </m:den>
                      </m:f>
                    </m:oMath>
                  </m:oMathPara>
                </a14:m>
                <a:endParaRPr lang="en-US" noProof="0" dirty="0"/>
              </a:p>
            </p:txBody>
          </p:sp>
        </mc:Choice>
        <mc:Fallback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6E44505C-2659-776E-7056-FB28A3AED4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2916" y="3539704"/>
                <a:ext cx="3389851" cy="617348"/>
              </a:xfrm>
              <a:prstGeom prst="rect">
                <a:avLst/>
              </a:prstGeom>
              <a:blipFill>
                <a:blip r:embed="rId6"/>
                <a:stretch>
                  <a:fillRect b="-2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feld 42">
                <a:extLst>
                  <a:ext uri="{FF2B5EF4-FFF2-40B4-BE49-F238E27FC236}">
                    <a16:creationId xmlns:a16="http://schemas.microsoft.com/office/drawing/2014/main" id="{4942173F-CEF1-48D3-8103-F96D1E8B6764}"/>
                  </a:ext>
                </a:extLst>
              </p:cNvPr>
              <p:cNvSpPr txBox="1"/>
              <p:nvPr/>
            </p:nvSpPr>
            <p:spPr>
              <a:xfrm>
                <a:off x="7254813" y="3620830"/>
                <a:ext cx="1393330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with poles at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noProof="0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600" i="1" noProof="0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 = ±3</m:t>
                      </m:r>
                      <m:r>
                        <a:rPr lang="en-US" sz="1600" i="1" noProof="0" smtClean="0">
                          <a:solidFill>
                            <a:schemeClr val="accent4"/>
                          </a:solidFill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en-US" sz="1600" noProof="0" dirty="0">
                  <a:solidFill>
                    <a:schemeClr val="accent4"/>
                  </a:solidFill>
                </a:endParaRPr>
              </a:p>
            </p:txBody>
          </p:sp>
        </mc:Choice>
        <mc:Fallback>
          <p:sp>
            <p:nvSpPr>
              <p:cNvPr id="43" name="Textfeld 42">
                <a:extLst>
                  <a:ext uri="{FF2B5EF4-FFF2-40B4-BE49-F238E27FC236}">
                    <a16:creationId xmlns:a16="http://schemas.microsoft.com/office/drawing/2014/main" id="{4942173F-CEF1-48D3-8103-F96D1E8B67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4813" y="3620830"/>
                <a:ext cx="1393330" cy="584775"/>
              </a:xfrm>
              <a:prstGeom prst="rect">
                <a:avLst/>
              </a:prstGeom>
              <a:blipFill>
                <a:blip r:embed="rId7"/>
                <a:stretch>
                  <a:fillRect l="-2703" t="-4255" r="-901" b="-851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Gerade Verbindung 44">
            <a:extLst>
              <a:ext uri="{FF2B5EF4-FFF2-40B4-BE49-F238E27FC236}">
                <a16:creationId xmlns:a16="http://schemas.microsoft.com/office/drawing/2014/main" id="{81387410-464F-3448-6E62-CE82F52FA178}"/>
              </a:ext>
            </a:extLst>
          </p:cNvPr>
          <p:cNvCxnSpPr>
            <a:cxnSpLocks/>
          </p:cNvCxnSpPr>
          <p:nvPr/>
        </p:nvCxnSpPr>
        <p:spPr>
          <a:xfrm>
            <a:off x="6805451" y="2681423"/>
            <a:ext cx="0" cy="12824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50">
            <a:extLst>
              <a:ext uri="{FF2B5EF4-FFF2-40B4-BE49-F238E27FC236}">
                <a16:creationId xmlns:a16="http://schemas.microsoft.com/office/drawing/2014/main" id="{4AD5EEF4-3018-591B-01DD-7B54DD9EF9FB}"/>
              </a:ext>
            </a:extLst>
          </p:cNvPr>
          <p:cNvCxnSpPr>
            <a:cxnSpLocks/>
          </p:cNvCxnSpPr>
          <p:nvPr/>
        </p:nvCxnSpPr>
        <p:spPr>
          <a:xfrm>
            <a:off x="7006770" y="2681422"/>
            <a:ext cx="0" cy="12824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51">
            <a:extLst>
              <a:ext uri="{FF2B5EF4-FFF2-40B4-BE49-F238E27FC236}">
                <a16:creationId xmlns:a16="http://schemas.microsoft.com/office/drawing/2014/main" id="{F052EFFB-B21F-E2E7-DF4D-04462F5A6ABD}"/>
              </a:ext>
            </a:extLst>
          </p:cNvPr>
          <p:cNvCxnSpPr>
            <a:cxnSpLocks/>
          </p:cNvCxnSpPr>
          <p:nvPr/>
        </p:nvCxnSpPr>
        <p:spPr>
          <a:xfrm>
            <a:off x="7202264" y="2681421"/>
            <a:ext cx="0" cy="12824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Gerade Verbindung 57">
            <a:extLst>
              <a:ext uri="{FF2B5EF4-FFF2-40B4-BE49-F238E27FC236}">
                <a16:creationId xmlns:a16="http://schemas.microsoft.com/office/drawing/2014/main" id="{54F856D3-D230-057C-0511-23B8A9943B95}"/>
              </a:ext>
            </a:extLst>
          </p:cNvPr>
          <p:cNvCxnSpPr>
            <a:cxnSpLocks/>
          </p:cNvCxnSpPr>
          <p:nvPr/>
        </p:nvCxnSpPr>
        <p:spPr>
          <a:xfrm>
            <a:off x="6005821" y="2681421"/>
            <a:ext cx="0" cy="12824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58">
            <a:extLst>
              <a:ext uri="{FF2B5EF4-FFF2-40B4-BE49-F238E27FC236}">
                <a16:creationId xmlns:a16="http://schemas.microsoft.com/office/drawing/2014/main" id="{47B666B9-F0C0-6CBD-EAFC-84AFAA7C0304}"/>
              </a:ext>
            </a:extLst>
          </p:cNvPr>
          <p:cNvCxnSpPr>
            <a:cxnSpLocks/>
          </p:cNvCxnSpPr>
          <p:nvPr/>
        </p:nvCxnSpPr>
        <p:spPr>
          <a:xfrm>
            <a:off x="6207140" y="2681420"/>
            <a:ext cx="0" cy="12824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59">
            <a:extLst>
              <a:ext uri="{FF2B5EF4-FFF2-40B4-BE49-F238E27FC236}">
                <a16:creationId xmlns:a16="http://schemas.microsoft.com/office/drawing/2014/main" id="{C83052A6-2BEE-6555-690A-7A5C06E85A58}"/>
              </a:ext>
            </a:extLst>
          </p:cNvPr>
          <p:cNvCxnSpPr>
            <a:cxnSpLocks/>
          </p:cNvCxnSpPr>
          <p:nvPr/>
        </p:nvCxnSpPr>
        <p:spPr>
          <a:xfrm>
            <a:off x="6402634" y="2681419"/>
            <a:ext cx="0" cy="12824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B6D0131E-0810-02B2-C1EE-ECE71D3798F7}"/>
              </a:ext>
            </a:extLst>
          </p:cNvPr>
          <p:cNvGrpSpPr/>
          <p:nvPr/>
        </p:nvGrpSpPr>
        <p:grpSpPr>
          <a:xfrm rot="5400000">
            <a:off x="6345695" y="3110162"/>
            <a:ext cx="396813" cy="128245"/>
            <a:chOff x="6338843" y="2982925"/>
            <a:chExt cx="396813" cy="128245"/>
          </a:xfrm>
        </p:grpSpPr>
        <p:cxnSp>
          <p:nvCxnSpPr>
            <p:cNvPr id="61" name="Gerade Verbindung 60">
              <a:extLst>
                <a:ext uri="{FF2B5EF4-FFF2-40B4-BE49-F238E27FC236}">
                  <a16:creationId xmlns:a16="http://schemas.microsoft.com/office/drawing/2014/main" id="{3CCFD8EC-4DC9-E720-7332-0967BED85B76}"/>
                </a:ext>
              </a:extLst>
            </p:cNvPr>
            <p:cNvCxnSpPr>
              <a:cxnSpLocks/>
            </p:cNvCxnSpPr>
            <p:nvPr/>
          </p:nvCxnSpPr>
          <p:spPr>
            <a:xfrm>
              <a:off x="6338843" y="2982927"/>
              <a:ext cx="0" cy="12824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Gerade Verbindung 61">
              <a:extLst>
                <a:ext uri="{FF2B5EF4-FFF2-40B4-BE49-F238E27FC236}">
                  <a16:creationId xmlns:a16="http://schemas.microsoft.com/office/drawing/2014/main" id="{E0571B51-4B20-E80F-E839-310D36753FAC}"/>
                </a:ext>
              </a:extLst>
            </p:cNvPr>
            <p:cNvCxnSpPr>
              <a:cxnSpLocks/>
            </p:cNvCxnSpPr>
            <p:nvPr/>
          </p:nvCxnSpPr>
          <p:spPr>
            <a:xfrm>
              <a:off x="6540162" y="2982926"/>
              <a:ext cx="0" cy="12824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Gerade Verbindung 62">
              <a:extLst>
                <a:ext uri="{FF2B5EF4-FFF2-40B4-BE49-F238E27FC236}">
                  <a16:creationId xmlns:a16="http://schemas.microsoft.com/office/drawing/2014/main" id="{D7E14DB3-E07D-9BE8-5A3E-C471EC766B4A}"/>
                </a:ext>
              </a:extLst>
            </p:cNvPr>
            <p:cNvCxnSpPr>
              <a:cxnSpLocks/>
            </p:cNvCxnSpPr>
            <p:nvPr/>
          </p:nvCxnSpPr>
          <p:spPr>
            <a:xfrm>
              <a:off x="6735656" y="2982925"/>
              <a:ext cx="0" cy="12824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5" name="Gruppieren 64">
            <a:extLst>
              <a:ext uri="{FF2B5EF4-FFF2-40B4-BE49-F238E27FC236}">
                <a16:creationId xmlns:a16="http://schemas.microsoft.com/office/drawing/2014/main" id="{4C91A1D8-81C0-FE01-68DD-7AE16C831CCA}"/>
              </a:ext>
            </a:extLst>
          </p:cNvPr>
          <p:cNvGrpSpPr/>
          <p:nvPr/>
        </p:nvGrpSpPr>
        <p:grpSpPr>
          <a:xfrm rot="5400000">
            <a:off x="6345695" y="2366753"/>
            <a:ext cx="396813" cy="128245"/>
            <a:chOff x="6338843" y="2982925"/>
            <a:chExt cx="396813" cy="128245"/>
          </a:xfrm>
        </p:grpSpPr>
        <p:cxnSp>
          <p:nvCxnSpPr>
            <p:cNvPr id="66" name="Gerade Verbindung 65">
              <a:extLst>
                <a:ext uri="{FF2B5EF4-FFF2-40B4-BE49-F238E27FC236}">
                  <a16:creationId xmlns:a16="http://schemas.microsoft.com/office/drawing/2014/main" id="{CCC60C75-14B5-E0FF-7109-9894250EF3D8}"/>
                </a:ext>
              </a:extLst>
            </p:cNvPr>
            <p:cNvCxnSpPr>
              <a:cxnSpLocks/>
            </p:cNvCxnSpPr>
            <p:nvPr/>
          </p:nvCxnSpPr>
          <p:spPr>
            <a:xfrm>
              <a:off x="6338843" y="2982927"/>
              <a:ext cx="0" cy="12824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Gerade Verbindung 66">
              <a:extLst>
                <a:ext uri="{FF2B5EF4-FFF2-40B4-BE49-F238E27FC236}">
                  <a16:creationId xmlns:a16="http://schemas.microsoft.com/office/drawing/2014/main" id="{795B324E-7127-578B-2182-E6CB46960439}"/>
                </a:ext>
              </a:extLst>
            </p:cNvPr>
            <p:cNvCxnSpPr>
              <a:cxnSpLocks/>
            </p:cNvCxnSpPr>
            <p:nvPr/>
          </p:nvCxnSpPr>
          <p:spPr>
            <a:xfrm>
              <a:off x="6540162" y="2982926"/>
              <a:ext cx="0" cy="12824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Gerade Verbindung 67">
              <a:extLst>
                <a:ext uri="{FF2B5EF4-FFF2-40B4-BE49-F238E27FC236}">
                  <a16:creationId xmlns:a16="http://schemas.microsoft.com/office/drawing/2014/main" id="{186B510C-594E-2A78-ED4A-D0D67774D3D0}"/>
                </a:ext>
              </a:extLst>
            </p:cNvPr>
            <p:cNvCxnSpPr>
              <a:cxnSpLocks/>
            </p:cNvCxnSpPr>
            <p:nvPr/>
          </p:nvCxnSpPr>
          <p:spPr>
            <a:xfrm>
              <a:off x="6735656" y="2982925"/>
              <a:ext cx="0" cy="12824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9" name="Textfeld 68">
            <a:extLst>
              <a:ext uri="{FF2B5EF4-FFF2-40B4-BE49-F238E27FC236}">
                <a16:creationId xmlns:a16="http://schemas.microsoft.com/office/drawing/2014/main" id="{B9A5FC9C-B6A1-7F6B-0140-12460D965887}"/>
              </a:ext>
            </a:extLst>
          </p:cNvPr>
          <p:cNvSpPr txBox="1"/>
          <p:nvPr/>
        </p:nvSpPr>
        <p:spPr>
          <a:xfrm>
            <a:off x="6689182" y="2802078"/>
            <a:ext cx="2423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1</a:t>
            </a: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66F282F2-AE75-30FE-A580-D9A01F9C3EA9}"/>
              </a:ext>
            </a:extLst>
          </p:cNvPr>
          <p:cNvSpPr txBox="1"/>
          <p:nvPr/>
        </p:nvSpPr>
        <p:spPr>
          <a:xfrm>
            <a:off x="6891328" y="2802078"/>
            <a:ext cx="2423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2</a:t>
            </a: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0909C1FE-CB30-D159-6CB7-AB3679D749C8}"/>
              </a:ext>
            </a:extLst>
          </p:cNvPr>
          <p:cNvSpPr txBox="1"/>
          <p:nvPr/>
        </p:nvSpPr>
        <p:spPr>
          <a:xfrm>
            <a:off x="7081075" y="2807997"/>
            <a:ext cx="2423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3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8E6D66EC-E614-DA0E-01BE-64CFCD6BA808}"/>
              </a:ext>
            </a:extLst>
          </p:cNvPr>
          <p:cNvSpPr txBox="1"/>
          <p:nvPr/>
        </p:nvSpPr>
        <p:spPr>
          <a:xfrm>
            <a:off x="5858622" y="2793317"/>
            <a:ext cx="27603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-3</a:t>
            </a:r>
          </a:p>
        </p:txBody>
      </p:sp>
      <p:sp>
        <p:nvSpPr>
          <p:cNvPr id="74" name="Textfeld 73">
            <a:extLst>
              <a:ext uri="{FF2B5EF4-FFF2-40B4-BE49-F238E27FC236}">
                <a16:creationId xmlns:a16="http://schemas.microsoft.com/office/drawing/2014/main" id="{C260D2DC-1CEE-FEAF-EB72-2BE59C53F004}"/>
              </a:ext>
            </a:extLst>
          </p:cNvPr>
          <p:cNvSpPr txBox="1"/>
          <p:nvPr/>
        </p:nvSpPr>
        <p:spPr>
          <a:xfrm>
            <a:off x="6060768" y="2793317"/>
            <a:ext cx="27603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-2</a:t>
            </a:r>
          </a:p>
        </p:txBody>
      </p:sp>
      <p:sp>
        <p:nvSpPr>
          <p:cNvPr id="75" name="Textfeld 74">
            <a:extLst>
              <a:ext uri="{FF2B5EF4-FFF2-40B4-BE49-F238E27FC236}">
                <a16:creationId xmlns:a16="http://schemas.microsoft.com/office/drawing/2014/main" id="{9153F5F4-EA2E-341A-316E-FDE78A6DAB8F}"/>
              </a:ext>
            </a:extLst>
          </p:cNvPr>
          <p:cNvSpPr txBox="1"/>
          <p:nvPr/>
        </p:nvSpPr>
        <p:spPr>
          <a:xfrm>
            <a:off x="6250515" y="2799236"/>
            <a:ext cx="27603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-1</a:t>
            </a:r>
          </a:p>
        </p:txBody>
      </p:sp>
      <p:sp>
        <p:nvSpPr>
          <p:cNvPr id="79" name="Textfeld 78">
            <a:extLst>
              <a:ext uri="{FF2B5EF4-FFF2-40B4-BE49-F238E27FC236}">
                <a16:creationId xmlns:a16="http://schemas.microsoft.com/office/drawing/2014/main" id="{A083B27E-BC3B-F3DC-6C15-6771BC81EC78}"/>
              </a:ext>
            </a:extLst>
          </p:cNvPr>
          <p:cNvSpPr txBox="1"/>
          <p:nvPr/>
        </p:nvSpPr>
        <p:spPr>
          <a:xfrm>
            <a:off x="6606907" y="2537594"/>
            <a:ext cx="2423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1</a:t>
            </a:r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385682AF-2F9D-4183-9BE5-F6B6D0D5965A}"/>
              </a:ext>
            </a:extLst>
          </p:cNvPr>
          <p:cNvSpPr txBox="1"/>
          <p:nvPr/>
        </p:nvSpPr>
        <p:spPr>
          <a:xfrm>
            <a:off x="6597605" y="2327785"/>
            <a:ext cx="2423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2</a:t>
            </a:r>
          </a:p>
        </p:txBody>
      </p:sp>
      <p:sp>
        <p:nvSpPr>
          <p:cNvPr id="81" name="Textfeld 80">
            <a:extLst>
              <a:ext uri="{FF2B5EF4-FFF2-40B4-BE49-F238E27FC236}">
                <a16:creationId xmlns:a16="http://schemas.microsoft.com/office/drawing/2014/main" id="{5D385A1A-F654-11E8-C3C8-3AFD783981AD}"/>
              </a:ext>
            </a:extLst>
          </p:cNvPr>
          <p:cNvSpPr txBox="1"/>
          <p:nvPr/>
        </p:nvSpPr>
        <p:spPr>
          <a:xfrm>
            <a:off x="6592345" y="2146765"/>
            <a:ext cx="2423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3</a:t>
            </a:r>
          </a:p>
        </p:txBody>
      </p:sp>
      <p:sp>
        <p:nvSpPr>
          <p:cNvPr id="82" name="Textfeld 81">
            <a:extLst>
              <a:ext uri="{FF2B5EF4-FFF2-40B4-BE49-F238E27FC236}">
                <a16:creationId xmlns:a16="http://schemas.microsoft.com/office/drawing/2014/main" id="{AEF50BAC-5D62-F831-5EE5-EF808127D0A4}"/>
              </a:ext>
            </a:extLst>
          </p:cNvPr>
          <p:cNvSpPr txBox="1"/>
          <p:nvPr/>
        </p:nvSpPr>
        <p:spPr>
          <a:xfrm>
            <a:off x="6566608" y="3276548"/>
            <a:ext cx="27603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-3</a:t>
            </a:r>
          </a:p>
        </p:txBody>
      </p:sp>
      <p:sp>
        <p:nvSpPr>
          <p:cNvPr id="83" name="Textfeld 82">
            <a:extLst>
              <a:ext uri="{FF2B5EF4-FFF2-40B4-BE49-F238E27FC236}">
                <a16:creationId xmlns:a16="http://schemas.microsoft.com/office/drawing/2014/main" id="{BF681D0A-7A12-53CC-FE04-5378652F3677}"/>
              </a:ext>
            </a:extLst>
          </p:cNvPr>
          <p:cNvSpPr txBox="1"/>
          <p:nvPr/>
        </p:nvSpPr>
        <p:spPr>
          <a:xfrm>
            <a:off x="6563079" y="3071657"/>
            <a:ext cx="27603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-2</a:t>
            </a:r>
          </a:p>
        </p:txBody>
      </p:sp>
      <p:sp>
        <p:nvSpPr>
          <p:cNvPr id="84" name="Textfeld 83">
            <a:extLst>
              <a:ext uri="{FF2B5EF4-FFF2-40B4-BE49-F238E27FC236}">
                <a16:creationId xmlns:a16="http://schemas.microsoft.com/office/drawing/2014/main" id="{223403B0-4E57-BA88-445F-03065F9A4FDD}"/>
              </a:ext>
            </a:extLst>
          </p:cNvPr>
          <p:cNvSpPr txBox="1"/>
          <p:nvPr/>
        </p:nvSpPr>
        <p:spPr>
          <a:xfrm>
            <a:off x="6563079" y="2875204"/>
            <a:ext cx="27603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0" dirty="0"/>
              <a:t>-1</a:t>
            </a:r>
          </a:p>
        </p:txBody>
      </p:sp>
      <p:sp>
        <p:nvSpPr>
          <p:cNvPr id="85" name="Textfeld 84">
            <a:extLst>
              <a:ext uri="{FF2B5EF4-FFF2-40B4-BE49-F238E27FC236}">
                <a16:creationId xmlns:a16="http://schemas.microsoft.com/office/drawing/2014/main" id="{C822EC73-C207-1CD2-2301-2B7E4AEC39EA}"/>
              </a:ext>
            </a:extLst>
          </p:cNvPr>
          <p:cNvSpPr txBox="1"/>
          <p:nvPr/>
        </p:nvSpPr>
        <p:spPr>
          <a:xfrm>
            <a:off x="6463378" y="2056742"/>
            <a:ext cx="2744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>
                <a:solidFill>
                  <a:schemeClr val="accent4"/>
                </a:solidFill>
              </a:rPr>
              <a:t>x</a:t>
            </a:r>
          </a:p>
        </p:txBody>
      </p:sp>
      <p:sp>
        <p:nvSpPr>
          <p:cNvPr id="86" name="Textfeld 85">
            <a:extLst>
              <a:ext uri="{FF2B5EF4-FFF2-40B4-BE49-F238E27FC236}">
                <a16:creationId xmlns:a16="http://schemas.microsoft.com/office/drawing/2014/main" id="{670F7C31-F90C-78BE-138A-2CAE4198AB4A}"/>
              </a:ext>
            </a:extLst>
          </p:cNvPr>
          <p:cNvSpPr txBox="1"/>
          <p:nvPr/>
        </p:nvSpPr>
        <p:spPr>
          <a:xfrm>
            <a:off x="6471006" y="3200727"/>
            <a:ext cx="2744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>
                <a:solidFill>
                  <a:schemeClr val="accent4"/>
                </a:solidFill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28531042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780CC6-E1DB-3F98-83C4-1DEEB9E76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Quiz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0EA1775-A4F8-EB01-E052-BF7EEAECD2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noProof="0" dirty="0"/>
              <a:t>What are the transfer functions of an (1) integrator and a (2) differentiator?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41165A5-333E-12B4-B27B-9CF0428A7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90BEDA5-655A-7FD9-BCF1-35297F5D93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8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ctangle: Rounded Corners 18">
                <a:extLst>
                  <a:ext uri="{FF2B5EF4-FFF2-40B4-BE49-F238E27FC236}">
                    <a16:creationId xmlns:a16="http://schemas.microsoft.com/office/drawing/2014/main" id="{8061E8B9-75E1-E064-3504-6E8F7D8F0701}"/>
                  </a:ext>
                </a:extLst>
              </p:cNvPr>
              <p:cNvSpPr/>
              <p:nvPr/>
            </p:nvSpPr>
            <p:spPr>
              <a:xfrm>
                <a:off x="628650" y="2159603"/>
                <a:ext cx="2974706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A.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sSubPr>
                      <m:e>
                        <m: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𝑮</m:t>
                        </m:r>
                      </m:e>
                      <m:sub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sub>
                    </m:sSub>
                    <m:d>
                      <m:d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𝒔</m:t>
                    </m:r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, </m:t>
                    </m:r>
                    <m:sSub>
                      <m:sSub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sSub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𝑮</m:t>
                        </m:r>
                      </m:e>
                      <m:sub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𝟐</m:t>
                        </m:r>
                      </m:sub>
                    </m:sSub>
                    <m:d>
                      <m:d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den>
                    </m:f>
                  </m:oMath>
                </a14:m>
                <a:endParaRPr lang="en-US" b="1" noProof="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>
          <p:sp>
            <p:nvSpPr>
              <p:cNvPr id="6" name="Rectangle: Rounded Corners 18">
                <a:extLst>
                  <a:ext uri="{FF2B5EF4-FFF2-40B4-BE49-F238E27FC236}">
                    <a16:creationId xmlns:a16="http://schemas.microsoft.com/office/drawing/2014/main" id="{8061E8B9-75E1-E064-3504-6E8F7D8F07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2159603"/>
                <a:ext cx="2974706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18">
            <a:extLst>
              <a:ext uri="{FF2B5EF4-FFF2-40B4-BE49-F238E27FC236}">
                <a16:creationId xmlns:a16="http://schemas.microsoft.com/office/drawing/2014/main" id="{1C86AA1E-C5E9-D2DD-303B-AB5F7179A018}"/>
              </a:ext>
            </a:extLst>
          </p:cNvPr>
          <p:cNvSpPr/>
          <p:nvPr/>
        </p:nvSpPr>
        <p:spPr>
          <a:xfrm>
            <a:off x="628650" y="3425393"/>
            <a:ext cx="2974706" cy="498355"/>
          </a:xfrm>
          <a:prstGeom prst="roundRect">
            <a:avLst>
              <a:gd name="adj" fmla="val 11229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>
              <a:spcBef>
                <a:spcPts val="200"/>
              </a:spcBef>
            </a:pPr>
            <a:r>
              <a:rPr lang="en-US" b="1" noProof="0" dirty="0">
                <a:solidFill>
                  <a:schemeClr val="tx1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C.   </a:t>
            </a:r>
            <a:r>
              <a:rPr lang="en-US" b="1" noProof="0" dirty="0">
                <a:solidFill>
                  <a:schemeClr val="tx1"/>
                </a:solidFill>
                <a:latin typeface="Segoe UI Semibold" panose="020B0702040204020203" pitchFamily="34" charset="0"/>
                <a:ea typeface="Segoe UI Black" panose="020B0A02040204020203" pitchFamily="34" charset="0"/>
                <a:cs typeface="Segoe UI Semibold" panose="020B0702040204020203" pitchFamily="34" charset="0"/>
              </a:rPr>
              <a:t>They don't have transfer functions</a:t>
            </a:r>
            <a:endParaRPr lang="en-US" b="1" noProof="0" dirty="0">
              <a:solidFill>
                <a:schemeClr val="tx1"/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: Rounded Corners 18">
                <a:extLst>
                  <a:ext uri="{FF2B5EF4-FFF2-40B4-BE49-F238E27FC236}">
                    <a16:creationId xmlns:a16="http://schemas.microsoft.com/office/drawing/2014/main" id="{7A63441A-63EB-AAED-3223-F3C55E04AD42}"/>
                  </a:ext>
                </a:extLst>
              </p:cNvPr>
              <p:cNvSpPr/>
              <p:nvPr/>
            </p:nvSpPr>
            <p:spPr>
              <a:xfrm>
                <a:off x="628650" y="2792498"/>
                <a:ext cx="2974706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B.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sSub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𝑮</m:t>
                        </m:r>
                      </m:e>
                      <m:sub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sub>
                    </m:sSub>
                    <m:d>
                      <m:d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den>
                    </m:f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, </m:t>
                    </m:r>
                    <m:sSub>
                      <m:sSub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sSub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𝑮</m:t>
                        </m:r>
                      </m:e>
                      <m:sub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𝟐</m:t>
                        </m:r>
                      </m:sub>
                    </m:sSub>
                    <m:d>
                      <m:d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𝒔</m:t>
                    </m:r>
                  </m:oMath>
                </a14:m>
                <a:endParaRPr lang="en-US" b="1" noProof="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>
          <p:sp>
            <p:nvSpPr>
              <p:cNvPr id="9" name="Rectangle: Rounded Corners 18">
                <a:extLst>
                  <a:ext uri="{FF2B5EF4-FFF2-40B4-BE49-F238E27FC236}">
                    <a16:creationId xmlns:a16="http://schemas.microsoft.com/office/drawing/2014/main" id="{7A63441A-63EB-AAED-3223-F3C55E04AD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2792498"/>
                <a:ext cx="2974706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ectangle: Rounded Corners 18">
                <a:extLst>
                  <a:ext uri="{FF2B5EF4-FFF2-40B4-BE49-F238E27FC236}">
                    <a16:creationId xmlns:a16="http://schemas.microsoft.com/office/drawing/2014/main" id="{C91461BF-3956-F130-1362-0E7EA4D30FB4}"/>
                  </a:ext>
                </a:extLst>
              </p:cNvPr>
              <p:cNvSpPr/>
              <p:nvPr/>
            </p:nvSpPr>
            <p:spPr>
              <a:xfrm>
                <a:off x="628650" y="4058288"/>
                <a:ext cx="2974706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D.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sSubPr>
                      <m:e>
                        <m: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𝑮</m:t>
                        </m:r>
                      </m:e>
                      <m:sub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sub>
                    </m:sSub>
                    <m:d>
                      <m:d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+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den>
                    </m:f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, </m:t>
                    </m:r>
                    <m:sSub>
                      <m:sSub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sSub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𝑮</m:t>
                        </m:r>
                      </m:e>
                      <m:sub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𝟐</m:t>
                        </m:r>
                      </m:sub>
                    </m:sSub>
                    <m:d>
                      <m:d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+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den>
                    </m:f>
                  </m:oMath>
                </a14:m>
                <a:endParaRPr lang="en-US" b="1" noProof="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>
          <p:sp>
            <p:nvSpPr>
              <p:cNvPr id="10" name="Rectangle: Rounded Corners 18">
                <a:extLst>
                  <a:ext uri="{FF2B5EF4-FFF2-40B4-BE49-F238E27FC236}">
                    <a16:creationId xmlns:a16="http://schemas.microsoft.com/office/drawing/2014/main" id="{C91461BF-3956-F130-1362-0E7EA4D30F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4058288"/>
                <a:ext cx="2974706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39395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246941-4D3F-716E-10F4-B7AAD492E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Controllable Canonical 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F3EEA68-7BE1-D5E4-71F1-517CD3366B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noProof="0" dirty="0"/>
                  <a:t>We know how to go from state-space to Transfer function, for the other way we use the canonical form</a:t>
                </a:r>
              </a:p>
              <a:p>
                <a:r>
                  <a:rPr lang="en-US" noProof="0" dirty="0"/>
                  <a:t>For a general TF </a:t>
                </a:r>
                <a14:m>
                  <m:oMath xmlns:m="http://schemas.openxmlformats.org/officeDocument/2006/math">
                    <m:r>
                      <a:rPr lang="en-US" i="1" noProof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noProof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i="1" noProof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noProof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 noProof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sSup>
                          <m:sSupPr>
                            <m:ctrlPr>
                              <a:rPr lang="en-US" i="1" noProof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r>
                          <a:rPr lang="en-US" i="1" noProof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 noProof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  <m:sSup>
                          <m:sSupPr>
                            <m:ctrlPr>
                              <a:rPr lang="en-US" i="1" noProof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p>
                        </m:sSup>
                        <m:r>
                          <a:rPr lang="en-US" i="1" noProof="0">
                            <a:latin typeface="Cambria Math" panose="02040503050406030204" pitchFamily="18" charset="0"/>
                          </a:rPr>
                          <m:t>+⋯+</m:t>
                        </m:r>
                        <m:sSub>
                          <m:sSubPr>
                            <m:ctrlPr>
                              <a:rPr lang="en-US" i="1" noProof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en-US" i="1" noProof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en-US" i="1" noProof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 noProof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sSup>
                          <m:sSupPr>
                            <m:ctrlPr>
                              <a:rPr lang="en-US" i="1" noProof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r>
                          <a:rPr lang="en-US" i="1" noProof="0">
                            <a:latin typeface="Cambria Math" panose="02040503050406030204" pitchFamily="18" charset="0"/>
                          </a:rPr>
                          <m:t>+⋯+</m:t>
                        </m:r>
                        <m:sSub>
                          <m:sSubPr>
                            <m:ctrlPr>
                              <a:rPr lang="en-US" i="1" noProof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en-US" i="1" noProof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endParaRPr lang="en-US" noProof="0" dirty="0"/>
              </a:p>
              <a:p>
                <a:pPr marL="0" indent="0">
                  <a:buNone/>
                </a:pPr>
                <a:endParaRPr lang="en-US" noProof="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3F3EEA68-7BE1-D5E4-71F1-517CD3366B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82" t="-23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BBD641F-8E4B-27BC-5654-066E7CF69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372FC28-72A1-0793-FDEA-D31ADCD23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9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Grafik 7" descr="Ein Bild, das Text, Reihe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C4D2A4CD-2203-6ED3-F655-03E44ABAE7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1089" y="2571750"/>
            <a:ext cx="5881822" cy="2203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6425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B70CB4-8BCD-6A12-3F1D-B01C75995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Quiz 2</a:t>
            </a:r>
          </a:p>
        </p:txBody>
      </p:sp>
      <p:pic>
        <p:nvPicPr>
          <p:cNvPr id="7" name="Inhaltsplatzhalter 6" descr="Ein Bild, das Text, Screenshot, Schrift, weiß enthält.&#10;&#10;KI-generierte Inhalte können fehlerhaft sein.">
            <a:extLst>
              <a:ext uri="{FF2B5EF4-FFF2-40B4-BE49-F238E27FC236}">
                <a16:creationId xmlns:a16="http://schemas.microsoft.com/office/drawing/2014/main" id="{37FBF759-3EFD-7BB2-D997-1D408C4DA2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1487" y="1108495"/>
            <a:ext cx="4760445" cy="2085101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C091DC1-0E8D-0706-2718-BA34CA791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0C04863-4AA0-3FCB-5F8D-37FA390DB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10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: Rounded Corners 18">
                <a:extLst>
                  <a:ext uri="{FF2B5EF4-FFF2-40B4-BE49-F238E27FC236}">
                    <a16:creationId xmlns:a16="http://schemas.microsoft.com/office/drawing/2014/main" id="{829EB5CF-2663-871E-69F2-F16B4A0DA0B0}"/>
                  </a:ext>
                </a:extLst>
              </p:cNvPr>
              <p:cNvSpPr/>
              <p:nvPr/>
            </p:nvSpPr>
            <p:spPr>
              <a:xfrm>
                <a:off x="628650" y="3324386"/>
                <a:ext cx="1843330" cy="412146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A.   </a:t>
                </a:r>
                <a14:m>
                  <m:oMath xmlns:m="http://schemas.openxmlformats.org/officeDocument/2006/math">
                    <m:r>
                      <a:rPr lang="en-US" b="1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𝑮</m:t>
                    </m:r>
                    <m:d>
                      <m:dPr>
                        <m:ctrlP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𝟑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+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𝟐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num>
                      <m:den>
                        <m:sSup>
                          <m:sSupPr>
                            <m:ctrlP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</m:ctrlPr>
                          </m:sSupPr>
                          <m:e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𝒔</m:t>
                            </m:r>
                          </m:e>
                          <m:sup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𝟐</m:t>
                            </m:r>
                          </m:sup>
                        </m:sSup>
                        <m:d>
                          <m:dPr>
                            <m:ctrlP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</m:ctrlPr>
                          </m:dPr>
                          <m:e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𝒔</m:t>
                            </m:r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+</m:t>
                            </m:r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𝟏</m:t>
                            </m:r>
                          </m:e>
                        </m:d>
                      </m:den>
                    </m:f>
                  </m:oMath>
                </a14:m>
                <a:endParaRPr lang="en-US" b="1" noProof="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>
          <p:sp>
            <p:nvSpPr>
              <p:cNvPr id="8" name="Rectangle: Rounded Corners 18">
                <a:extLst>
                  <a:ext uri="{FF2B5EF4-FFF2-40B4-BE49-F238E27FC236}">
                    <a16:creationId xmlns:a16="http://schemas.microsoft.com/office/drawing/2014/main" id="{829EB5CF-2663-871E-69F2-F16B4A0DA0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3324386"/>
                <a:ext cx="1843330" cy="412146"/>
              </a:xfrm>
              <a:prstGeom prst="roundRect">
                <a:avLst>
                  <a:gd name="adj" fmla="val 11229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: Rounded Corners 18">
                <a:extLst>
                  <a:ext uri="{FF2B5EF4-FFF2-40B4-BE49-F238E27FC236}">
                    <a16:creationId xmlns:a16="http://schemas.microsoft.com/office/drawing/2014/main" id="{332F51D8-52CD-EA99-E05B-804816F71B08}"/>
                  </a:ext>
                </a:extLst>
              </p:cNvPr>
              <p:cNvSpPr/>
              <p:nvPr/>
            </p:nvSpPr>
            <p:spPr>
              <a:xfrm>
                <a:off x="628650" y="3949484"/>
                <a:ext cx="1843330" cy="412146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B.   </a:t>
                </a:r>
                <a14:m>
                  <m:oMath xmlns:m="http://schemas.openxmlformats.org/officeDocument/2006/math">
                    <m:r>
                      <a:rPr lang="en-US" b="1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𝑮</m:t>
                    </m:r>
                    <m:d>
                      <m:dPr>
                        <m:ctrlP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+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den>
                    </m:f>
                  </m:oMath>
                </a14:m>
                <a:endParaRPr lang="en-US" b="1" noProof="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>
          <p:sp>
            <p:nvSpPr>
              <p:cNvPr id="9" name="Rectangle: Rounded Corners 18">
                <a:extLst>
                  <a:ext uri="{FF2B5EF4-FFF2-40B4-BE49-F238E27FC236}">
                    <a16:creationId xmlns:a16="http://schemas.microsoft.com/office/drawing/2014/main" id="{332F51D8-52CD-EA99-E05B-804816F71B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3949484"/>
                <a:ext cx="1843330" cy="412146"/>
              </a:xfrm>
              <a:prstGeom prst="roundRect">
                <a:avLst>
                  <a:gd name="adj" fmla="val 11229"/>
                </a:avLst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ectangle: Rounded Corners 18">
                <a:extLst>
                  <a:ext uri="{FF2B5EF4-FFF2-40B4-BE49-F238E27FC236}">
                    <a16:creationId xmlns:a16="http://schemas.microsoft.com/office/drawing/2014/main" id="{C1D223FC-FCC2-B027-0562-AB3596D16FCB}"/>
                  </a:ext>
                </a:extLst>
              </p:cNvPr>
              <p:cNvSpPr/>
              <p:nvPr/>
            </p:nvSpPr>
            <p:spPr>
              <a:xfrm>
                <a:off x="2858204" y="3324386"/>
                <a:ext cx="1843330" cy="412146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C.   </a:t>
                </a:r>
                <a14:m>
                  <m:oMath xmlns:m="http://schemas.openxmlformats.org/officeDocument/2006/math">
                    <m:r>
                      <a:rPr lang="en-US" b="1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𝑮</m:t>
                    </m:r>
                    <m:d>
                      <m:dPr>
                        <m:ctrlP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𝟑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−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𝟐</m:t>
                        </m:r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num>
                      <m:den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  <m:d>
                          <m:dPr>
                            <m:ctrlP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</m:ctrlPr>
                          </m:dPr>
                          <m:e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𝒔</m:t>
                            </m:r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+</m:t>
                            </m:r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𝟏</m:t>
                            </m:r>
                          </m:e>
                        </m:d>
                      </m:den>
                    </m:f>
                  </m:oMath>
                </a14:m>
                <a:endParaRPr lang="en-US" b="1" noProof="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>
          <p:sp>
            <p:nvSpPr>
              <p:cNvPr id="10" name="Rectangle: Rounded Corners 18">
                <a:extLst>
                  <a:ext uri="{FF2B5EF4-FFF2-40B4-BE49-F238E27FC236}">
                    <a16:creationId xmlns:a16="http://schemas.microsoft.com/office/drawing/2014/main" id="{C1D223FC-FCC2-B027-0562-AB3596D16F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8204" y="3324386"/>
                <a:ext cx="1843330" cy="412146"/>
              </a:xfrm>
              <a:prstGeom prst="roundRect">
                <a:avLst>
                  <a:gd name="adj" fmla="val 11229"/>
                </a:avLst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ectangle: Rounded Corners 18">
                <a:extLst>
                  <a:ext uri="{FF2B5EF4-FFF2-40B4-BE49-F238E27FC236}">
                    <a16:creationId xmlns:a16="http://schemas.microsoft.com/office/drawing/2014/main" id="{2E43FDE8-60BC-447B-5D2F-6821971C18E9}"/>
                  </a:ext>
                </a:extLst>
              </p:cNvPr>
              <p:cNvSpPr/>
              <p:nvPr/>
            </p:nvSpPr>
            <p:spPr>
              <a:xfrm>
                <a:off x="2858204" y="3949484"/>
                <a:ext cx="1843330" cy="412146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D.   </a:t>
                </a:r>
                <a14:m>
                  <m:oMath xmlns:m="http://schemas.openxmlformats.org/officeDocument/2006/math">
                    <m:r>
                      <a:rPr lang="en-US" b="1" i="1" noProof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𝑮</m:t>
                    </m:r>
                    <m:d>
                      <m:dPr>
                        <m:ctrlP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dPr>
                      <m:e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</m:e>
                    </m:d>
                    <m:r>
                      <a:rPr lang="en-US" b="1" i="1" noProof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Segoe UI Black" panose="020B0A02040204020203" pitchFamily="34" charset="0"/>
                        <a:cs typeface="Segoe UI Semibold" panose="020B0702040204020203" pitchFamily="34" charset="0"/>
                      </a:rPr>
                      <m:t>=</m:t>
                    </m:r>
                    <m:f>
                      <m:fPr>
                        <m:ctrlP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𝟑</m:t>
                        </m:r>
                      </m:num>
                      <m:den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𝒔</m:t>
                        </m:r>
                        <m:d>
                          <m:dPr>
                            <m:ctrlP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</m:ctrlPr>
                          </m:dPr>
                          <m:e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𝒔</m:t>
                            </m:r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+</m:t>
                            </m:r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𝟏</m:t>
                            </m:r>
                          </m:e>
                        </m:d>
                      </m:den>
                    </m:f>
                  </m:oMath>
                </a14:m>
                <a:endParaRPr lang="en-US" b="1" noProof="0" dirty="0">
                  <a:solidFill>
                    <a:schemeClr val="tx1"/>
                  </a:solidFill>
                  <a:latin typeface="Segoe UI Black" panose="020B0A02040204020203" pitchFamily="34" charset="0"/>
                  <a:ea typeface="Segoe UI Black" panose="020B0A02040204020203" pitchFamily="34" charset="0"/>
                </a:endParaRPr>
              </a:p>
            </p:txBody>
          </p:sp>
        </mc:Choice>
        <mc:Fallback>
          <p:sp>
            <p:nvSpPr>
              <p:cNvPr id="13" name="Rectangle: Rounded Corners 18">
                <a:extLst>
                  <a:ext uri="{FF2B5EF4-FFF2-40B4-BE49-F238E27FC236}">
                    <a16:creationId xmlns:a16="http://schemas.microsoft.com/office/drawing/2014/main" id="{2E43FDE8-60BC-447B-5D2F-6821971C18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8204" y="3949484"/>
                <a:ext cx="1843330" cy="412146"/>
              </a:xfrm>
              <a:prstGeom prst="roundRect">
                <a:avLst>
                  <a:gd name="adj" fmla="val 11229"/>
                </a:avLst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Grafik 13" descr="Ein Bild, das Text, Schrift, weiß, Typografie enthält.&#10;&#10;KI-generierte Inhalte können fehlerhaft sein.">
            <a:extLst>
              <a:ext uri="{FF2B5EF4-FFF2-40B4-BE49-F238E27FC236}">
                <a16:creationId xmlns:a16="http://schemas.microsoft.com/office/drawing/2014/main" id="{5D337AB3-3ADF-FE4E-B077-E7D7B99393E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85895" y="102393"/>
            <a:ext cx="3558105" cy="735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8769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6CC64-0DBE-B30D-A730-8FA4D19E4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AAA2AB-8549-DFCF-746A-7B77B3859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932" y="-74781"/>
            <a:ext cx="7886700" cy="994172"/>
          </a:xfrm>
        </p:spPr>
        <p:txBody>
          <a:bodyPr>
            <a:normAutofit/>
          </a:bodyPr>
          <a:lstStyle/>
          <a:p>
            <a:r>
              <a:rPr lang="en-US" sz="2200" noProof="0" dirty="0"/>
              <a:t>Course Schedule</a:t>
            </a:r>
          </a:p>
        </p:txBody>
      </p:sp>
      <p:graphicFrame>
        <p:nvGraphicFramePr>
          <p:cNvPr id="6" name="Inhaltsplatzhalter 5">
            <a:extLst>
              <a:ext uri="{FF2B5EF4-FFF2-40B4-BE49-F238E27FC236}">
                <a16:creationId xmlns:a16="http://schemas.microsoft.com/office/drawing/2014/main" id="{82A225B6-0519-8214-8DAA-A58A56D112E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91889348"/>
              </p:ext>
            </p:extLst>
          </p:nvPr>
        </p:nvGraphicFramePr>
        <p:xfrm>
          <a:off x="1515762" y="601877"/>
          <a:ext cx="6977657" cy="41148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75768">
                  <a:extLst>
                    <a:ext uri="{9D8B030D-6E8A-4147-A177-3AD203B41FA5}">
                      <a16:colId xmlns:a16="http://schemas.microsoft.com/office/drawing/2014/main" val="1380074924"/>
                    </a:ext>
                  </a:extLst>
                </a:gridCol>
                <a:gridCol w="1201889">
                  <a:extLst>
                    <a:ext uri="{9D8B030D-6E8A-4147-A177-3AD203B41FA5}">
                      <a16:colId xmlns:a16="http://schemas.microsoft.com/office/drawing/2014/main" val="1379686130"/>
                    </a:ext>
                  </a:extLst>
                </a:gridCol>
              </a:tblGrid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Subject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Week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7072606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Introduction, Control Architectures, Motivation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5878649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Modeling, Model examples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highlight>
                            <a:srgbClr val="C0C0C0"/>
                          </a:highlight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2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8833323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System properties, Linearization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0094237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Analysis: Time response, Stability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4</a:t>
                      </a:r>
                    </a:p>
                  </a:txBody>
                  <a:tcPr>
                    <a:solidFill>
                      <a:srgbClr val="E7E7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1718805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Transfer functions 1: Definition and properties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5</a:t>
                      </a:r>
                    </a:p>
                  </a:txBody>
                  <a:tcPr>
                    <a:solidFill>
                      <a:srgbClr val="CC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6186559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Transfer functions 2: Poles and Zeros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6</a:t>
                      </a:r>
                    </a:p>
                  </a:txBody>
                  <a:tcP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514993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Proportional feedback control, Root Locus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5015324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Time-Domain specifications, PID control, Computer implementation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1599545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Frequency response, Bode plots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0241698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The Nyquist condition, Time delays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444306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Frequency-domain Specifications, Dynamic Compensation, Loop Shaping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586294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Time delays, Successive loop closure, Nonlinearities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1751894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Describing functions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9238377"/>
                  </a:ext>
                </a:extLst>
              </a:tr>
              <a:tr h="202554">
                <a:tc>
                  <a:txBody>
                    <a:bodyPr/>
                    <a:lstStyle/>
                    <a:p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Intro to Uncertainty and Robustness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0974576"/>
                  </a:ext>
                </a:extLst>
              </a:tr>
            </a:tbl>
          </a:graphicData>
        </a:graphic>
      </p:graphicFrame>
      <p:sp>
        <p:nvSpPr>
          <p:cNvPr id="20" name="Textfeld 19">
            <a:extLst>
              <a:ext uri="{FF2B5EF4-FFF2-40B4-BE49-F238E27FC236}">
                <a16:creationId xmlns:a16="http://schemas.microsoft.com/office/drawing/2014/main" id="{F4099E1C-F5C1-8EB0-C32A-9FABF9E13B5C}"/>
              </a:ext>
            </a:extLst>
          </p:cNvPr>
          <p:cNvSpPr txBox="1"/>
          <p:nvPr/>
        </p:nvSpPr>
        <p:spPr>
          <a:xfrm>
            <a:off x="387695" y="1188631"/>
            <a:ext cx="82105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Modeling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654D5136-D84F-27EE-492C-52DB88CD3DA3}"/>
              </a:ext>
            </a:extLst>
          </p:cNvPr>
          <p:cNvSpPr txBox="1"/>
          <p:nvPr/>
        </p:nvSpPr>
        <p:spPr>
          <a:xfrm>
            <a:off x="483876" y="2528472"/>
            <a:ext cx="7248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Analysis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0CF889FA-8E46-8663-A0F5-184385FA3DD1}"/>
              </a:ext>
            </a:extLst>
          </p:cNvPr>
          <p:cNvSpPr txBox="1"/>
          <p:nvPr/>
        </p:nvSpPr>
        <p:spPr>
          <a:xfrm>
            <a:off x="403725" y="4071829"/>
            <a:ext cx="80502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Synthesis</a:t>
            </a:r>
          </a:p>
        </p:txBody>
      </p:sp>
      <p:sp>
        <p:nvSpPr>
          <p:cNvPr id="37" name="Geschweifte Klammer links 36">
            <a:extLst>
              <a:ext uri="{FF2B5EF4-FFF2-40B4-BE49-F238E27FC236}">
                <a16:creationId xmlns:a16="http://schemas.microsoft.com/office/drawing/2014/main" id="{0B0A67E7-7C57-C73E-4879-C13FFF882B68}"/>
              </a:ext>
            </a:extLst>
          </p:cNvPr>
          <p:cNvSpPr/>
          <p:nvPr/>
        </p:nvSpPr>
        <p:spPr>
          <a:xfrm>
            <a:off x="1208754" y="1820468"/>
            <a:ext cx="257337" cy="1710523"/>
          </a:xfrm>
          <a:prstGeom prst="leftBrac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8" name="Geschweifte Klammer links 37">
            <a:extLst>
              <a:ext uri="{FF2B5EF4-FFF2-40B4-BE49-F238E27FC236}">
                <a16:creationId xmlns:a16="http://schemas.microsoft.com/office/drawing/2014/main" id="{2D72810E-ED2B-7956-66CA-4602D2A82388}"/>
              </a:ext>
            </a:extLst>
          </p:cNvPr>
          <p:cNvSpPr/>
          <p:nvPr/>
        </p:nvSpPr>
        <p:spPr>
          <a:xfrm>
            <a:off x="1208754" y="994180"/>
            <a:ext cx="196599" cy="650513"/>
          </a:xfrm>
          <a:prstGeom prst="leftBrac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9" name="Geschweifte Klammer links 38">
            <a:extLst>
              <a:ext uri="{FF2B5EF4-FFF2-40B4-BE49-F238E27FC236}">
                <a16:creationId xmlns:a16="http://schemas.microsoft.com/office/drawing/2014/main" id="{CBA056D0-42DA-D2CE-1EC0-9CCE338DF6B3}"/>
              </a:ext>
            </a:extLst>
          </p:cNvPr>
          <p:cNvSpPr/>
          <p:nvPr/>
        </p:nvSpPr>
        <p:spPr>
          <a:xfrm>
            <a:off x="1170298" y="3735078"/>
            <a:ext cx="257337" cy="935113"/>
          </a:xfrm>
          <a:prstGeom prst="leftBrac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156553A-9A4C-1E19-B27B-2D993B339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1A8A2D-3E36-17EC-3693-31A5FD6CD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11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575278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Quattrocento Sans"/>
              <a:buNone/>
            </a:pPr>
            <a:r>
              <a:rPr lang="en-US" noProof="0" dirty="0"/>
              <a:t>Today</a:t>
            </a:r>
          </a:p>
        </p:txBody>
      </p:sp>
      <p:sp>
        <p:nvSpPr>
          <p:cNvPr id="72" name="Google Shape;72;p16"/>
          <p:cNvSpPr txBox="1">
            <a:spLocks noGrp="1"/>
          </p:cNvSpPr>
          <p:nvPr>
            <p:ph idx="1"/>
          </p:nvPr>
        </p:nvSpPr>
        <p:spPr>
          <a:xfrm>
            <a:off x="628650" y="1230934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endParaRPr lang="en-US" u="sng" noProof="0" dirty="0"/>
          </a:p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r>
              <a:rPr lang="en-US" u="sng" noProof="0" dirty="0"/>
              <a:t>Different TF Notations</a:t>
            </a:r>
          </a:p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r>
              <a:rPr lang="en-US" u="sng" noProof="0" dirty="0"/>
              <a:t>System Response</a:t>
            </a:r>
          </a:p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r>
              <a:rPr lang="en-US" u="sng" noProof="0" dirty="0"/>
              <a:t>Poles &amp; Zeros</a:t>
            </a:r>
          </a:p>
          <a:p>
            <a:pPr marL="342900" lvl="0" indent="-342900">
              <a:spcBef>
                <a:spcPts val="0"/>
              </a:spcBef>
              <a:buClr>
                <a:schemeClr val="dk1"/>
              </a:buClr>
              <a:buSzPts val="1800"/>
              <a:buFont typeface="+mj-lt"/>
              <a:buAutoNum type="arabicPeriod"/>
            </a:pPr>
            <a:endParaRPr lang="en-US" u="sng" noProof="0" dirty="0"/>
          </a:p>
        </p:txBody>
      </p:sp>
      <p:sp>
        <p:nvSpPr>
          <p:cNvPr id="74" name="Google Shape;74;p16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/>
              <a:t>Kissan Varatharajan - </a:t>
            </a:r>
            <a:r>
              <a:rPr lang="en-US" noProof="0" dirty="0" err="1"/>
              <a:t>kissanv.github.io</a:t>
            </a:r>
            <a:endParaRPr lang="en-US" noProof="0" dirty="0"/>
          </a:p>
        </p:txBody>
      </p:sp>
      <p:sp>
        <p:nvSpPr>
          <p:cNvPr id="73" name="Google Shape;73;p16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noProof="0" smtClean="0"/>
              <a:t>12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851524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7F4AE5C-3E2F-B68C-A037-64DF367CED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959851" cy="1790700"/>
          </a:xfrm>
        </p:spPr>
        <p:txBody>
          <a:bodyPr/>
          <a:lstStyle/>
          <a:p>
            <a:r>
              <a:rPr lang="en-US" noProof="0" dirty="0"/>
              <a:t>1. Different TF Notations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FEC819A-74B0-7EC8-4337-41DC3E86B62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833F9BA-5972-1172-A390-8A7AA1A20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32D4EBF-656E-D2D2-0159-2EA0943B9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13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303333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AD67A8-A115-8CC5-2718-F4C78017BB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572" y="273843"/>
            <a:ext cx="7886700" cy="994172"/>
          </a:xfrm>
        </p:spPr>
        <p:txBody>
          <a:bodyPr/>
          <a:lstStyle/>
          <a:p>
            <a:r>
              <a:rPr lang="en-US" noProof="0" dirty="0"/>
              <a:t>Partial Fraction Expansion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F67FFA1-7B44-1676-9B5D-F12362CE6C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4572" y="1336816"/>
                <a:ext cx="7886700" cy="3662346"/>
              </a:xfrm>
            </p:spPr>
            <p:txBody>
              <a:bodyPr>
                <a:normAutofit/>
              </a:bodyPr>
              <a:lstStyle/>
              <a:p>
                <a:r>
                  <a:rPr lang="en-US" sz="1600" noProof="0" dirty="0"/>
                  <a:t>Recall the </a:t>
                </a:r>
                <a:r>
                  <a:rPr lang="en-US" sz="1600" b="1" i="1" noProof="0" dirty="0"/>
                  <a:t>General Form</a:t>
                </a:r>
                <a:r>
                  <a:rPr lang="en-US" sz="1600" noProof="0" dirty="0"/>
                  <a:t> of transfer function:</a:t>
                </a:r>
              </a:p>
              <a:p>
                <a:pPr marL="0" indent="0">
                  <a:buNone/>
                </a:pPr>
                <a:endParaRPr lang="en-US" sz="1600" noProof="0" dirty="0"/>
              </a:p>
              <a:p>
                <a:pPr marL="0" indent="0">
                  <a:buNone/>
                </a:pPr>
                <a:endParaRPr lang="en-US" sz="800" noProof="0" dirty="0"/>
              </a:p>
              <a:p>
                <a:r>
                  <a:rPr lang="en-US" sz="1600" noProof="0" dirty="0"/>
                  <a:t>In some cases, it's helpful to represent TF in different forms, like</a:t>
                </a:r>
              </a:p>
              <a:p>
                <a:pPr marL="0" indent="0">
                  <a:buNone/>
                </a:pPr>
                <a:r>
                  <a:rPr lang="en-US" sz="1600" noProof="0" dirty="0"/>
                  <a:t>the </a:t>
                </a:r>
                <a:r>
                  <a:rPr lang="en-US" sz="1600" b="1" i="1" noProof="0" dirty="0"/>
                  <a:t>Partial Fraction Expansion:</a:t>
                </a:r>
              </a:p>
              <a:p>
                <a:pPr marL="0" indent="0">
                  <a:buNone/>
                </a:pPr>
                <a:endParaRPr lang="en-US" sz="1600" b="1" i="1" noProof="0" dirty="0"/>
              </a:p>
              <a:p>
                <a:pPr marL="0" indent="0">
                  <a:buNone/>
                </a:pPr>
                <a:endParaRPr lang="en-US" sz="800" b="1" i="1" noProof="0" dirty="0"/>
              </a:p>
              <a:p>
                <a:pPr marL="0" indent="0">
                  <a:buNone/>
                </a:pPr>
                <a:r>
                  <a:rPr lang="en-US" sz="1600" noProof="0" dirty="0"/>
                  <a:t>How to determine residues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600" noProof="0" dirty="0"/>
                  <a:t>Partial Fraction Decomposition (Analysis I/II)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600" noProof="0" dirty="0"/>
                  <a:t>Cover-up method: For non-repeating poles </a:t>
                </a:r>
                <a14:m>
                  <m:oMath xmlns:m="http://schemas.openxmlformats.org/officeDocument/2006/math"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600" i="1" baseline="-25000" noProof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1600" noProof="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600" i="1" noProof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1600" i="1" noProof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1600" i="0" noProof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→</m:t>
                            </m:r>
                            <m:sSub>
                              <m:sSub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lim>
                        </m:limLow>
                      </m:fName>
                      <m:e>
                        <m:d>
                          <m:dPr>
                            <m:ctrlPr>
                              <a:rPr lang="en-US" sz="1600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sz="1600" i="1" noProof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1600" noProof="0" dirty="0"/>
              </a:p>
              <a:p>
                <a:pPr marL="0" indent="0">
                  <a:buNone/>
                </a:pPr>
                <a:r>
                  <a:rPr lang="en-US" sz="1600" noProof="0" dirty="0"/>
                  <a:t>For repeating pole </a:t>
                </a:r>
                <a14:m>
                  <m:oMath xmlns:m="http://schemas.openxmlformats.org/officeDocument/2006/math">
                    <m:r>
                      <a:rPr lang="en-US" sz="1600" i="1" noProof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1600" i="1" baseline="-25000" noProof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1600" noProof="0" dirty="0"/>
                  <a:t> of order </a:t>
                </a:r>
                <a14:m>
                  <m:oMath xmlns:m="http://schemas.openxmlformats.org/officeDocument/2006/math"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1600" noProof="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600" i="1" noProof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d>
                          <m:dPr>
                            <m:ctrlPr>
                              <a:rPr lang="en-US" sz="1600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!</m:t>
                        </m:r>
                      </m:den>
                    </m:f>
                    <m:func>
                      <m:func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1600" i="0" noProof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→</m:t>
                            </m:r>
                            <m:sSub>
                              <m:sSubPr>
                                <m:ctrlP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lim>
                        </m:limLow>
                      </m:fName>
                      <m:e>
                        <m:f>
                          <m:fPr>
                            <m:ctrlPr>
                              <a:rPr lang="en-US" sz="1600" i="1" noProof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p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</m:num>
                          <m:den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sSup>
                              <m:sSup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</m:den>
                        </m:f>
                        <m:d>
                          <m:dPr>
                            <m:begChr m:val="["/>
                            <m:endChr m:val="]"/>
                            <m:ctrlPr>
                              <a:rPr lang="en-US" sz="1600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1600" i="1" noProof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1600" i="1" noProof="0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sz="1600" i="1" noProof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p>
                            </m:sSup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𝐺</m:t>
                            </m:r>
                            <m:d>
                              <m:d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endParaRPr lang="en-US" sz="1600" noProof="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F67FFA1-7B44-1676-9B5D-F12362CE6C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4572" y="1336816"/>
                <a:ext cx="7886700" cy="3662346"/>
              </a:xfrm>
              <a:blipFill>
                <a:blip r:embed="rId3"/>
                <a:stretch>
                  <a:fillRect l="-643" t="-138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97DA1AE-57B3-8315-DA37-5BB91A8AB0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AFC7A9E-4422-8B20-4A32-295A271AA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14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80D05296-F8C3-8E22-A43A-FED60EE2A980}"/>
              </a:ext>
            </a:extLst>
          </p:cNvPr>
          <p:cNvGrpSpPr/>
          <p:nvPr/>
        </p:nvGrpSpPr>
        <p:grpSpPr>
          <a:xfrm>
            <a:off x="4833205" y="1189953"/>
            <a:ext cx="4310795" cy="874470"/>
            <a:chOff x="5025483" y="1204943"/>
            <a:chExt cx="4310795" cy="874470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6F99C0CE-D02E-5798-DB7C-8FFD0526D744}"/>
                    </a:ext>
                  </a:extLst>
                </p:cNvPr>
                <p:cNvSpPr txBox="1"/>
                <p:nvPr/>
              </p:nvSpPr>
              <p:spPr>
                <a:xfrm>
                  <a:off x="5025483" y="1204943"/>
                  <a:ext cx="4310795" cy="87447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600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sz="1600" i="1" noProof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−2</m:t>
                                </m:r>
                              </m:sup>
                            </m:sSup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+⋯+</m:t>
                            </m:r>
                            <m:sSub>
                              <m:sSub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num>
                          <m:den>
                            <m:sSup>
                              <m:sSup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p>
                            </m:sSup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+⋯+</m:t>
                            </m:r>
                            <m:sSub>
                              <m:sSub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𝑑</m:t>
                        </m:r>
                      </m:oMath>
                    </m:oMathPara>
                  </a14:m>
                  <a:endParaRPr lang="en-US" sz="1600" noProof="0" dirty="0"/>
                </a:p>
                <a:p>
                  <a:endParaRPr lang="en-US" sz="1600" noProof="0" dirty="0"/>
                </a:p>
              </p:txBody>
            </p:sp>
          </mc:Choice>
          <mc:Fallback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6F99C0CE-D02E-5798-DB7C-8FFD0526D7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5483" y="1204943"/>
                  <a:ext cx="4310795" cy="87447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Rectangle: Rounded Corners 17">
              <a:extLst>
                <a:ext uri="{FF2B5EF4-FFF2-40B4-BE49-F238E27FC236}">
                  <a16:creationId xmlns:a16="http://schemas.microsoft.com/office/drawing/2014/main" id="{7E954F6D-03EE-6B35-5223-3CB35CDA80B4}"/>
                </a:ext>
              </a:extLst>
            </p:cNvPr>
            <p:cNvSpPr/>
            <p:nvPr/>
          </p:nvSpPr>
          <p:spPr>
            <a:xfrm>
              <a:off x="5255941" y="1204943"/>
              <a:ext cx="3836019" cy="675896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0E72EEE-61E0-E91E-C291-3647294B8A0E}"/>
                  </a:ext>
                </a:extLst>
              </p:cNvPr>
              <p:cNvSpPr txBox="1"/>
              <p:nvPr/>
            </p:nvSpPr>
            <p:spPr>
              <a:xfrm>
                <a:off x="5874482" y="633016"/>
                <a:ext cx="3044423" cy="51161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noProof="0" dirty="0">
                    <a:solidFill>
                      <a:srgbClr val="FF0000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Note strictly proper</a:t>
                </a:r>
                <a14:m>
                  <m:oMath xmlns:m="http://schemas.openxmlformats.org/officeDocument/2006/math">
                    <m:r>
                      <a:rPr lang="en-US" sz="1800" i="1" noProof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:</m:t>
                    </m:r>
                    <m:f>
                      <m:fPr>
                        <m:ctrlPr>
                          <a:rPr lang="en-US" sz="1800" i="1" noProof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1800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800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</m:num>
                      <m:den>
                        <m:sSup>
                          <m:sSupPr>
                            <m:ctrlPr>
                              <a:rPr lang="en-US" sz="1800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800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den>
                    </m:f>
                    <m:r>
                      <a:rPr lang="en-US" sz="1800" i="1" noProof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800" i="1" noProof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800" i="1" noProof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1800" i="1" noProof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sz="1800" noProof="0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0E72EEE-61E0-E91E-C291-3647294B8A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4482" y="633016"/>
                <a:ext cx="3044423" cy="511615"/>
              </a:xfrm>
              <a:prstGeom prst="rect">
                <a:avLst/>
              </a:prstGeom>
              <a:blipFill>
                <a:blip r:embed="rId5"/>
                <a:stretch>
                  <a:fillRect l="-1245" b="-23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feld 9">
            <a:extLst>
              <a:ext uri="{FF2B5EF4-FFF2-40B4-BE49-F238E27FC236}">
                <a16:creationId xmlns:a16="http://schemas.microsoft.com/office/drawing/2014/main" id="{371C510F-78A9-00E6-CF13-C8D35BA1ABCD}"/>
              </a:ext>
            </a:extLst>
          </p:cNvPr>
          <p:cNvSpPr txBox="1"/>
          <p:nvPr/>
        </p:nvSpPr>
        <p:spPr>
          <a:xfrm>
            <a:off x="4191849" y="1847123"/>
            <a:ext cx="51295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Note: useful to switch between state-space and TF with canonical form</a:t>
            </a:r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92EACAB8-A253-53DC-153E-98835E37ECB2}"/>
              </a:ext>
            </a:extLst>
          </p:cNvPr>
          <p:cNvGrpSpPr/>
          <p:nvPr/>
        </p:nvGrpSpPr>
        <p:grpSpPr>
          <a:xfrm>
            <a:off x="3681409" y="2648319"/>
            <a:ext cx="5328777" cy="1068115"/>
            <a:chOff x="3659106" y="2636175"/>
            <a:chExt cx="5328777" cy="1068115"/>
          </a:xfrm>
        </p:grpSpPr>
        <p:grpSp>
          <p:nvGrpSpPr>
            <p:cNvPr id="16" name="Gruppieren 15">
              <a:extLst>
                <a:ext uri="{FF2B5EF4-FFF2-40B4-BE49-F238E27FC236}">
                  <a16:creationId xmlns:a16="http://schemas.microsoft.com/office/drawing/2014/main" id="{564E7043-9FC6-FA49-E65C-8400483C2A90}"/>
                </a:ext>
              </a:extLst>
            </p:cNvPr>
            <p:cNvGrpSpPr/>
            <p:nvPr/>
          </p:nvGrpSpPr>
          <p:grpSpPr>
            <a:xfrm>
              <a:off x="3683148" y="2636175"/>
              <a:ext cx="3867213" cy="595821"/>
              <a:chOff x="3683148" y="2636175"/>
              <a:chExt cx="3867213" cy="595821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D191B54E-5D42-AC0C-2D82-D02F273A6F40}"/>
                      </a:ext>
                    </a:extLst>
                  </p:cNvPr>
                  <p:cNvSpPr txBox="1"/>
                  <p:nvPr/>
                </p:nvSpPr>
                <p:spPr>
                  <a:xfrm>
                    <a:off x="3683148" y="2636175"/>
                    <a:ext cx="3867213" cy="55560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d>
                            <m:d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+…+</m:t>
                          </m:r>
                          <m:f>
                            <m:f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den>
                          </m:f>
                          <m:r>
                            <a:rPr lang="en-US" sz="1600" i="1" noProof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noProof="0" dirty="0"/>
                  </a:p>
                </p:txBody>
              </p:sp>
            </mc:Choice>
            <mc:Fallback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D191B54E-5D42-AC0C-2D82-D02F273A6F4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83148" y="2636175"/>
                    <a:ext cx="3867213" cy="555601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4444"/>
                    </a:stretch>
                  </a:blipFill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2" name="Rectangle: Rounded Corners 17">
                <a:extLst>
                  <a:ext uri="{FF2B5EF4-FFF2-40B4-BE49-F238E27FC236}">
                    <a16:creationId xmlns:a16="http://schemas.microsoft.com/office/drawing/2014/main" id="{CCC3D7C0-31FC-447A-6615-17777A0272C1}"/>
                  </a:ext>
                </a:extLst>
              </p:cNvPr>
              <p:cNvSpPr/>
              <p:nvPr/>
            </p:nvSpPr>
            <p:spPr>
              <a:xfrm>
                <a:off x="3723283" y="2636175"/>
                <a:ext cx="3762901" cy="595821"/>
              </a:xfrm>
              <a:prstGeom prst="roundRect">
                <a:avLst>
                  <a:gd name="adj" fmla="val 12642"/>
                </a:avLst>
              </a:prstGeom>
              <a:noFill/>
              <a:ln w="25400">
                <a:solidFill>
                  <a:schemeClr val="tx1">
                    <a:lumMod val="90000"/>
                    <a:lumOff val="10000"/>
                  </a:schemeClr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360000" rtlCol="0" anchor="ctr"/>
              <a:lstStyle/>
              <a:p>
                <a:pPr>
                  <a:spcBef>
                    <a:spcPts val="200"/>
                  </a:spcBef>
                </a:pPr>
                <a:endParaRPr lang="en-US" noProof="0" dirty="0">
                  <a:solidFill>
                    <a:schemeClr val="bg2">
                      <a:lumMod val="10000"/>
                    </a:schemeClr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15" name="Gruppieren 14">
              <a:extLst>
                <a:ext uri="{FF2B5EF4-FFF2-40B4-BE49-F238E27FC236}">
                  <a16:creationId xmlns:a16="http://schemas.microsoft.com/office/drawing/2014/main" id="{9D965B55-B865-65B7-3F7B-7DA785A6DC78}"/>
                </a:ext>
              </a:extLst>
            </p:cNvPr>
            <p:cNvGrpSpPr/>
            <p:nvPr/>
          </p:nvGrpSpPr>
          <p:grpSpPr>
            <a:xfrm>
              <a:off x="3659106" y="2703523"/>
              <a:ext cx="5328777" cy="1000767"/>
              <a:chOff x="3659106" y="2703523"/>
              <a:chExt cx="5328777" cy="1000767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" name="Textfeld 12">
                    <a:extLst>
                      <a:ext uri="{FF2B5EF4-FFF2-40B4-BE49-F238E27FC236}">
                        <a16:creationId xmlns:a16="http://schemas.microsoft.com/office/drawing/2014/main" id="{BF616EB0-76F8-3999-8C58-0A11C05CBF8B}"/>
                      </a:ext>
                    </a:extLst>
                  </p:cNvPr>
                  <p:cNvSpPr txBox="1"/>
                  <p:nvPr/>
                </p:nvSpPr>
                <p:spPr>
                  <a:xfrm>
                    <a:off x="7550361" y="2703523"/>
                    <a:ext cx="1221938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 xmlns:m="http://schemas.openxmlformats.org/officeDocument/2006/math"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600" i="1" baseline="-25000" noProof="0" smtClean="0">
                            <a:latin typeface="Cambria Math" panose="02040503050406030204" pitchFamily="18" charset="0"/>
                          </a:rPr>
                          <m:t>𝑖</m:t>
                        </m:r>
                      </m:oMath>
                    </a14:m>
                    <a:r>
                      <a:rPr lang="en-US" sz="1600" noProof="0" dirty="0"/>
                      <a:t>: residues</a:t>
                    </a:r>
                  </a:p>
                </p:txBody>
              </p:sp>
            </mc:Choice>
            <mc:Fallback>
              <p:sp>
                <p:nvSpPr>
                  <p:cNvPr id="13" name="Textfeld 12">
                    <a:extLst>
                      <a:ext uri="{FF2B5EF4-FFF2-40B4-BE49-F238E27FC236}">
                        <a16:creationId xmlns:a16="http://schemas.microsoft.com/office/drawing/2014/main" id="{BF616EB0-76F8-3999-8C58-0A11C05CBF8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550361" y="2703523"/>
                    <a:ext cx="1221938" cy="33855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t="-3571" r="-2062" b="-25000"/>
                    </a:stretch>
                  </a:blipFill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" name="Textfeld 13">
                    <a:extLst>
                      <a:ext uri="{FF2B5EF4-FFF2-40B4-BE49-F238E27FC236}">
                        <a16:creationId xmlns:a16="http://schemas.microsoft.com/office/drawing/2014/main" id="{7ECD6B55-EB1E-3E44-AB59-2D4880B679C7}"/>
                      </a:ext>
                    </a:extLst>
                  </p:cNvPr>
                  <p:cNvSpPr txBox="1"/>
                  <p:nvPr/>
                </p:nvSpPr>
                <p:spPr>
                  <a:xfrm>
                    <a:off x="3659106" y="3211847"/>
                    <a:ext cx="5328777" cy="49244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200" noProof="0" dirty="0">
                        <a:solidFill>
                          <a:srgbClr val="FF0000"/>
                        </a:solidFill>
                      </a:rPr>
                      <a:t>Note: useful to use inverse Laplace to get the time response of each pole</a:t>
                    </a:r>
                  </a:p>
                  <a:p>
                    <a:r>
                      <a:rPr lang="en-US" sz="1200" noProof="0" dirty="0">
                        <a:solidFill>
                          <a:srgbClr val="FF0000"/>
                        </a:solidFill>
                      </a:rPr>
                      <a:t>	</a:t>
                    </a:r>
                    <a14:m>
                      <m:oMath xmlns:m="http://schemas.openxmlformats.org/officeDocument/2006/math">
                        <m:r>
                          <a:rPr lang="en-US" i="1" noProof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i="1" noProof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 noProof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noProof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 noProof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en-US" i="1" noProof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p>
                          <m:sSupPr>
                            <m:ctrlP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 noProof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noProof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 noProof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 noProof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en-US" i="1" noProof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+…</m:t>
                        </m:r>
                        <m:r>
                          <a:rPr lang="en-US" i="1" noProof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i="1" noProof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i="1" noProof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p>
                          <m:sSupPr>
                            <m:ctrlPr>
                              <a:rPr lang="en-US" i="1" noProof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noProof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 noProof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noProof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i="1" noProof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i="1" noProof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oMath>
                    </a14:m>
                    <a:endParaRPr lang="en-US" sz="1200" noProof="0" dirty="0">
                      <a:solidFill>
                        <a:srgbClr val="FF0000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14" name="Textfeld 13">
                    <a:extLst>
                      <a:ext uri="{FF2B5EF4-FFF2-40B4-BE49-F238E27FC236}">
                        <a16:creationId xmlns:a16="http://schemas.microsoft.com/office/drawing/2014/main" id="{7ECD6B55-EB1E-3E44-AB59-2D4880B679C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59106" y="3211847"/>
                    <a:ext cx="5328777" cy="49244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2500"/>
                    </a:stretch>
                  </a:blipFill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10203804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404FB9-ECAE-0A47-2648-499ABD256F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Root-Locus- &amp; Bode-Form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E67A4EE-AC84-94BA-E418-88FB5DE288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noProof="0" dirty="0"/>
                  <a:t>These are also other forms to represent the TF, recall from last week:</a:t>
                </a:r>
              </a:p>
              <a:p>
                <a:r>
                  <a:rPr lang="en-US" b="1" noProof="0" dirty="0"/>
                  <a:t>Poles </a:t>
                </a:r>
                <a14:m>
                  <m:oMath xmlns:m="http://schemas.openxmlformats.org/officeDocument/2006/math">
                    <m:r>
                      <a:rPr lang="en-US" b="1" i="1" noProof="0" smtClean="0"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b="1" i="1" baseline="-25000" noProof="0" smtClean="0"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r>
                  <a:rPr lang="en-US" noProof="0" dirty="0"/>
                  <a:t> are the roots of the </a:t>
                </a:r>
                <a:r>
                  <a:rPr lang="en-US" i="1" noProof="0" dirty="0"/>
                  <a:t>Denominator</a:t>
                </a:r>
                <a:r>
                  <a:rPr lang="en-US" noProof="0" dirty="0"/>
                  <a:t> of </a:t>
                </a:r>
                <a14:m>
                  <m:oMath xmlns:m="http://schemas.openxmlformats.org/officeDocument/2006/math">
                    <m:r>
                      <a:rPr lang="en-US" i="1" noProof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noProof="0" dirty="0"/>
              </a:p>
              <a:p>
                <a:r>
                  <a:rPr lang="en-US" b="1" noProof="0" dirty="0"/>
                  <a:t>Zeros </a:t>
                </a:r>
                <a14:m>
                  <m:oMath xmlns:m="http://schemas.openxmlformats.org/officeDocument/2006/math">
                    <m:r>
                      <a:rPr lang="en-US" b="1" i="1" noProof="0" smtClean="0"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b="1" i="1" baseline="-25000" noProof="0" smtClean="0">
                        <a:latin typeface="Cambria Math" panose="02040503050406030204" pitchFamily="18" charset="0"/>
                      </a:rPr>
                      <m:t>𝒋</m:t>
                    </m:r>
                  </m:oMath>
                </a14:m>
                <a:r>
                  <a:rPr lang="en-US" noProof="0" dirty="0"/>
                  <a:t> are the roots of the </a:t>
                </a:r>
                <a:r>
                  <a:rPr lang="en-US" i="1" noProof="0" dirty="0"/>
                  <a:t>Nominator</a:t>
                </a:r>
                <a:r>
                  <a:rPr lang="en-US" noProof="0" dirty="0"/>
                  <a:t> of </a:t>
                </a:r>
                <a14:m>
                  <m:oMath xmlns:m="http://schemas.openxmlformats.org/officeDocument/2006/math">
                    <m:r>
                      <a:rPr lang="en-US" i="1" noProof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noProof="0" dirty="0"/>
              </a:p>
              <a:p>
                <a:endParaRPr lang="en-US" noProof="0" dirty="0"/>
              </a:p>
              <a:p>
                <a:r>
                  <a:rPr lang="en-US" b="1" i="1" noProof="0" dirty="0"/>
                  <a:t>Root Locus Form:</a:t>
                </a:r>
              </a:p>
              <a:p>
                <a:endParaRPr lang="en-US" b="1" i="1" noProof="0" dirty="0"/>
              </a:p>
              <a:p>
                <a:endParaRPr lang="en-US" b="1" i="1" noProof="0" dirty="0"/>
              </a:p>
              <a:p>
                <a:endParaRPr lang="en-US" b="1" i="1" noProof="0" dirty="0"/>
              </a:p>
              <a:p>
                <a:r>
                  <a:rPr lang="en-US" b="1" i="1" noProof="0" dirty="0"/>
                  <a:t>Bode Form:</a:t>
                </a:r>
              </a:p>
              <a:p>
                <a:pPr marL="0" indent="0">
                  <a:buNone/>
                </a:pPr>
                <a:endParaRPr lang="en-US" noProof="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E67A4EE-AC84-94BA-E418-88FB5DE288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43" t="-23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B331CEC-9D71-443B-FE54-48C05842B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E3B71F2-7812-F1FE-F716-450BA7A62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15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A0FB237-DEAB-F116-145E-1B72113CF5CA}"/>
              </a:ext>
            </a:extLst>
          </p:cNvPr>
          <p:cNvSpPr/>
          <p:nvPr/>
        </p:nvSpPr>
        <p:spPr>
          <a:xfrm>
            <a:off x="2984810" y="3755801"/>
            <a:ext cx="4501375" cy="1011462"/>
          </a:xfrm>
          <a:prstGeom prst="roundRect">
            <a:avLst>
              <a:gd name="adj" fmla="val 12642"/>
            </a:avLst>
          </a:prstGeom>
          <a:noFill/>
          <a:ln w="25400">
            <a:solidFill>
              <a:schemeClr val="tx1">
                <a:lumMod val="90000"/>
                <a:lumOff val="1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360000" rtlCol="0" anchor="ctr"/>
          <a:lstStyle/>
          <a:p>
            <a:pPr>
              <a:spcBef>
                <a:spcPts val="200"/>
              </a:spcBef>
            </a:pPr>
            <a:endParaRPr lang="en-US" noProof="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192B6803-2B45-D18C-0CBC-08958A98CC59}"/>
              </a:ext>
            </a:extLst>
          </p:cNvPr>
          <p:cNvGrpSpPr/>
          <p:nvPr/>
        </p:nvGrpSpPr>
        <p:grpSpPr>
          <a:xfrm>
            <a:off x="3375102" y="2567562"/>
            <a:ext cx="3709237" cy="792671"/>
            <a:chOff x="3375102" y="2567562"/>
            <a:chExt cx="3709237" cy="792671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1AC3FB64-22C8-1361-8CC2-6F17D2232BAD}"/>
                    </a:ext>
                  </a:extLst>
                </p:cNvPr>
                <p:cNvSpPr txBox="1"/>
                <p:nvPr/>
              </p:nvSpPr>
              <p:spPr>
                <a:xfrm>
                  <a:off x="3375102" y="2631688"/>
                  <a:ext cx="3582456" cy="61177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𝑟𝑙</m:t>
                            </m:r>
                          </m:sub>
                        </m:sSub>
                        <m:f>
                          <m:f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ctrlP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  <m:d>
                              <m:d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…</m:t>
                            </m:r>
                            <m:d>
                              <m:d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d>
                              <m:d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  <m:d>
                              <m:d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…</m:t>
                            </m:r>
                            <m:d>
                              <m:d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d>
                          </m:den>
                        </m:f>
                      </m:oMath>
                    </m:oMathPara>
                  </a14:m>
                  <a:endParaRPr lang="en-US" noProof="0" dirty="0"/>
                </a:p>
              </p:txBody>
            </p:sp>
          </mc:Choice>
          <mc:Fallback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1AC3FB64-22C8-1361-8CC2-6F17D2232BA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75102" y="2631688"/>
                  <a:ext cx="3582456" cy="611771"/>
                </a:xfrm>
                <a:prstGeom prst="rect">
                  <a:avLst/>
                </a:prstGeom>
                <a:blipFill>
                  <a:blip r:embed="rId3"/>
                  <a:stretch>
                    <a:fillRect b="-4082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Rectangle: Rounded Corners 17">
              <a:extLst>
                <a:ext uri="{FF2B5EF4-FFF2-40B4-BE49-F238E27FC236}">
                  <a16:creationId xmlns:a16="http://schemas.microsoft.com/office/drawing/2014/main" id="{CB501C1D-8911-5DB5-36DB-3F846ECD8BA9}"/>
                </a:ext>
              </a:extLst>
            </p:cNvPr>
            <p:cNvSpPr/>
            <p:nvPr/>
          </p:nvSpPr>
          <p:spPr>
            <a:xfrm>
              <a:off x="3375102" y="2567562"/>
              <a:ext cx="3709237" cy="792671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182ED777-A279-8B45-4060-CF2B8EF99B4D}"/>
                  </a:ext>
                </a:extLst>
              </p:cNvPr>
              <p:cNvSpPr txBox="1"/>
              <p:nvPr/>
            </p:nvSpPr>
            <p:spPr>
              <a:xfrm>
                <a:off x="1832315" y="3770644"/>
                <a:ext cx="6794810" cy="9966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𝑏𝑜𝑑𝑒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p>
                          </m:sSup>
                        </m:den>
                      </m:f>
                      <m:f>
                        <m:f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num>
                                <m:den>
                                  <m: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1600" i="1" noProof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 noProof="0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  <m:sub>
                                      <m:r>
                                        <a:rPr lang="en-US" sz="1600" i="1" noProof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  <m:d>
                            <m:dPr>
                              <m:ctrlP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num>
                                <m:den>
                                  <m: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1600" i="1" noProof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 noProof="0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  <m:sub>
                                      <m:r>
                                        <a:rPr lang="en-US" sz="1600" i="1" noProof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  <m:r>
                            <a:rPr lang="en-US" sz="1600" i="1" noProof="0">
                              <a:latin typeface="Cambria Math" panose="02040503050406030204" pitchFamily="18" charset="0"/>
                            </a:rPr>
                            <m:t>…</m:t>
                          </m:r>
                          <m:d>
                            <m:dPr>
                              <m:ctrlP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num>
                                <m:den>
                                  <m: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1600" i="1" noProof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 noProof="0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  <m:sub>
                                      <m:r>
                                        <a:rPr lang="en-US" sz="1600" i="1" noProof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num>
                        <m:den>
                          <m:d>
                            <m:d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num>
                                <m:den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1600" i="1" noProof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 noProof="0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1600" i="1" noProof="0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  <m:d>
                            <m:d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num>
                                <m:den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1600" i="1" noProof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 noProof="0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1600" i="1" noProof="0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…</m:t>
                          </m:r>
                          <m:d>
                            <m:d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num>
                                <m:den>
                                  <m:r>
                                    <a:rPr lang="en-US" sz="1600" i="1" noProof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sz="1600" i="1" noProof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 noProof="0" smtClean="0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sz="1600" i="1" noProof="0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sz="1600" i="1" noProof="0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sz="1600" i="1" noProof="0" smtClean="0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noProof="0" dirty="0"/>
              </a:p>
            </p:txBody>
          </p:sp>
        </mc:Choice>
        <mc:Fallback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182ED777-A279-8B45-4060-CF2B8EF99B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2315" y="3770644"/>
                <a:ext cx="6794810" cy="996619"/>
              </a:xfrm>
              <a:prstGeom prst="rect">
                <a:avLst/>
              </a:prstGeom>
              <a:blipFill>
                <a:blip r:embed="rId4"/>
                <a:stretch>
                  <a:fillRect b="-126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feld 9">
            <a:extLst>
              <a:ext uri="{FF2B5EF4-FFF2-40B4-BE49-F238E27FC236}">
                <a16:creationId xmlns:a16="http://schemas.microsoft.com/office/drawing/2014/main" id="{9A00E93B-0F9C-1890-EB8B-D447C7AD9009}"/>
              </a:ext>
            </a:extLst>
          </p:cNvPr>
          <p:cNvSpPr txBox="1"/>
          <p:nvPr/>
        </p:nvSpPr>
        <p:spPr>
          <a:xfrm>
            <a:off x="7307562" y="2680855"/>
            <a:ext cx="12218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noProof="0" dirty="0"/>
              <a:t>Used for </a:t>
            </a:r>
            <a:br>
              <a:rPr lang="en-US" sz="1600" noProof="0" dirty="0"/>
            </a:br>
            <a:r>
              <a:rPr lang="en-US" sz="1600" noProof="0" dirty="0"/>
              <a:t>Root Locus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2C3238BF-DD1B-22AE-C6B6-425024199501}"/>
              </a:ext>
            </a:extLst>
          </p:cNvPr>
          <p:cNvSpPr txBox="1"/>
          <p:nvPr/>
        </p:nvSpPr>
        <p:spPr>
          <a:xfrm>
            <a:off x="7652208" y="3921152"/>
            <a:ext cx="11753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noProof="0" dirty="0"/>
              <a:t>Used for </a:t>
            </a:r>
            <a:br>
              <a:rPr lang="en-US" sz="1600" noProof="0" dirty="0"/>
            </a:br>
            <a:r>
              <a:rPr lang="en-US" sz="1600" noProof="0" dirty="0"/>
              <a:t>Bode Plots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EAD71D8-B990-5776-58B0-98743B72D1C6}"/>
              </a:ext>
            </a:extLst>
          </p:cNvPr>
          <p:cNvSpPr txBox="1"/>
          <p:nvPr/>
        </p:nvSpPr>
        <p:spPr>
          <a:xfrm>
            <a:off x="3432763" y="3343457"/>
            <a:ext cx="30684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rgbClr val="FF0000"/>
                </a:solidFill>
              </a:rPr>
              <a:t>Note: we can directly see all poles &amp; zeros</a:t>
            </a:r>
          </a:p>
        </p:txBody>
      </p:sp>
    </p:spTree>
    <p:extLst>
      <p:ext uri="{BB962C8B-B14F-4D97-AF65-F5344CB8AC3E}">
        <p14:creationId xmlns:p14="http://schemas.microsoft.com/office/powerpoint/2010/main" val="4374380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0AB8F7-A645-FB6B-8916-5648BE429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8381BD3-82B4-45FE-D16B-32D1B84F9D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87187" y="482566"/>
                <a:ext cx="1955181" cy="57672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4</m:t>
                          </m:r>
                          <m:d>
                            <m:d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+3</m:t>
                              </m:r>
                            </m:e>
                          </m:d>
                        </m:num>
                        <m:den>
                          <m:sSup>
                            <m:sSup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+3</m:t>
                          </m:r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+2</m:t>
                          </m:r>
                        </m:den>
                      </m:f>
                    </m:oMath>
                  </m:oMathPara>
                </a14:m>
                <a:endParaRPr lang="en-US" noProof="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8381BD3-82B4-45FE-D16B-32D1B84F9D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87187" y="482566"/>
                <a:ext cx="1955181" cy="576728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262306-E477-8BBD-B428-25B73F9A95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DEF21C8-40D9-E7B6-AF33-BB6A78E9C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16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99841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16323D-A67B-972A-0E14-4CA5EAC78B9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2. System Response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71A2F78-6FDE-7425-D5B0-C4652E3B135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AFA28EE-B066-FA52-BC89-D26A73534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6364BA5-66E2-3837-1A74-6983482F4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17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436777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 descr="Ein Bild, das Reihe, Kreis, Diagramm, Symbol enthält.&#10;&#10;KI-generierte Inhalte können fehlerhaft sein.">
            <a:extLst>
              <a:ext uri="{FF2B5EF4-FFF2-40B4-BE49-F238E27FC236}">
                <a16:creationId xmlns:a16="http://schemas.microsoft.com/office/drawing/2014/main" id="{007EC4C9-9348-2E13-6889-097889D53E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9798" y="2956030"/>
            <a:ext cx="2180640" cy="2047472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B2951644-6123-81FD-BCC4-3EB8B3531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Recap Complex Numbers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8CD2F72-5A51-4AB1-D623-14392E4BA90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042404"/>
                <a:ext cx="8314628" cy="3827252"/>
              </a:xfrm>
            </p:spPr>
            <p:txBody>
              <a:bodyPr>
                <a:normAutofit/>
              </a:bodyPr>
              <a:lstStyle/>
              <a:p>
                <a:r>
                  <a:rPr lang="en-US" noProof="0" dirty="0"/>
                  <a:t>Every complex number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noProof="0" dirty="0"/>
                  <a:t> can be represented by its </a:t>
                </a:r>
                <a:r>
                  <a:rPr lang="en-US" b="1" noProof="0" dirty="0">
                    <a:solidFill>
                      <a:schemeClr val="accent5"/>
                    </a:solidFill>
                  </a:rPr>
                  <a:t>magnitude</a:t>
                </a:r>
                <a:r>
                  <a:rPr lang="en-US" noProof="0" dirty="0"/>
                  <a:t> and </a:t>
                </a:r>
                <a:r>
                  <a:rPr lang="en-US" b="1" noProof="0" dirty="0">
                    <a:solidFill>
                      <a:schemeClr val="accent3"/>
                    </a:solidFill>
                  </a:rPr>
                  <a:t>phase</a:t>
                </a:r>
              </a:p>
              <a:p>
                <a:r>
                  <a:rPr lang="en-US" noProof="0" dirty="0"/>
                  <a:t>Geometrically,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i="1" noProof="0" smtClean="0">
                        <a:solidFill>
                          <a:schemeClr val="accent4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𝑗𝑏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noProof="0" dirty="0"/>
                  <a:t>corresponds to a vector in the complex plane</a:t>
                </a:r>
                <a:endParaRPr lang="en-US" i="1" noProof="0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i="1" noProof="0" dirty="0"/>
                  <a:t>Computing magnitude: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i="1" noProof="0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en-US" noProof="0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i="1" noProof="0" dirty="0"/>
                  <a:t>Computing phase: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∠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i="0" noProof="0" smtClean="0"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(</m:t>
                        </m:r>
                        <m:f>
                          <m:fPr>
                            <m:ctrlPr>
                              <a:rPr lang="en-US" b="0" i="1" noProof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noProof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num>
                          <m:den>
                            <m:r>
                              <a:rPr lang="en-US" b="0" i="1" noProof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den>
                        </m:f>
                        <m:r>
                          <a:rPr lang="en-US" b="0" i="1" noProof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i="1" noProof="0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i="1" noProof="0" dirty="0"/>
                  <a:t>Vector interpretation: </a:t>
                </a:r>
                <a:r>
                  <a:rPr lang="en-US" noProof="0" dirty="0"/>
                  <a:t>The difference</a:t>
                </a:r>
                <a14:m>
                  <m:oMath xmlns:m="http://schemas.openxmlformats.org/officeDocument/2006/math">
                    <m:r>
                      <a:rPr lang="en-US" b="0" i="0" noProof="0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b="0" i="0" noProof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noProof="0" dirty="0"/>
                  <a:t>represents the vector from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noProof="0" dirty="0"/>
                  <a:t>to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noProof="0" dirty="0"/>
                  <a:t>in the complex plane</a:t>
                </a:r>
              </a:p>
              <a:p>
                <a:r>
                  <a:rPr lang="en-US" noProof="0" dirty="0"/>
                  <a:t>For two complex numbers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baseline="-25000" noProof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noProof="0" dirty="0"/>
                  <a:t>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&amp;</m:t>
                    </m:r>
                  </m:oMath>
                </a14:m>
                <a:r>
                  <a:rPr lang="en-US" noProof="0" dirty="0"/>
                  <a:t>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i="1" baseline="-25000" noProof="0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noProof="0" dirty="0"/>
                  <a:t> following rules hold:</a:t>
                </a:r>
              </a:p>
              <a:p>
                <a:pPr marL="342900" indent="-342900">
                  <a:buFont typeface="+mj-lt"/>
                  <a:buAutoNum type="arabicPeriod"/>
                </a:pPr>
                <a:endParaRPr lang="en-US" sz="1600" noProof="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8CD2F72-5A51-4AB1-D623-14392E4BA9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042404"/>
                <a:ext cx="8314628" cy="3827252"/>
              </a:xfrm>
              <a:blipFill>
                <a:blip r:embed="rId3"/>
                <a:stretch>
                  <a:fillRect l="-762" t="-198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7D29482-0ECC-6974-900A-85954DC3C2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F0BC3DE-E14F-9DC1-406C-DF88BB656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18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3FF74A4-9808-FB0A-93A2-1FAD46B7C98A}"/>
                  </a:ext>
                </a:extLst>
              </p:cNvPr>
              <p:cNvSpPr txBox="1"/>
              <p:nvPr/>
            </p:nvSpPr>
            <p:spPr>
              <a:xfrm>
                <a:off x="1486186" y="3503185"/>
                <a:ext cx="5039008" cy="153792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lit/>
                        </m:rPr>
                        <a:rPr lang="en-US" sz="1800" i="1" noProof="0" smtClean="0">
                          <a:latin typeface="Cambria Math" panose="02040503050406030204" pitchFamily="18" charset="0"/>
                        </a:rPr>
                        <m:t>,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,  </m:t>
                      </m:r>
                      <m:d>
                        <m:dPr>
                          <m:begChr m:val="|"/>
                          <m:endChr m:val="|"/>
                          <m:ctrlP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lit/>
                            </m:rP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sSub>
                            <m:sSubPr>
                              <m:ctrlP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 noProof="0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800" i="1" noProof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8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800" i="1" noProof="0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800" i="1" noProof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den>
                      </m:f>
                    </m:oMath>
                  </m:oMathPara>
                </a14:m>
                <a:endParaRPr lang="en-US" sz="1800" i="1" noProof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∠</m:t>
                      </m:r>
                      <m:d>
                        <m:dPr>
                          <m:ctrlP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=∠</m:t>
                      </m:r>
                      <m:sSub>
                        <m:sSubPr>
                          <m:ctrlP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+∠</m:t>
                      </m:r>
                      <m:sSub>
                        <m:sSubPr>
                          <m:ctrlP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,  ∠</m:t>
                      </m:r>
                      <m:d>
                        <m:dPr>
                          <m:ctrlP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lit/>
                            </m:rP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/</m:t>
                          </m:r>
                          <m:sSub>
                            <m:sSubPr>
                              <m:ctrlP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=∠</m:t>
                      </m:r>
                      <m:sSub>
                        <m:sSubPr>
                          <m:ctrlP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−∠</m:t>
                      </m:r>
                      <m:sSub>
                        <m:sSubPr>
                          <m:ctrlP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1800" i="1" noProof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800" noProof="0" dirty="0"/>
              </a:p>
              <a:p>
                <a:endParaRPr lang="en-US" sz="1800" noProof="0" dirty="0"/>
              </a:p>
            </p:txBody>
          </p:sp>
        </mc:Choice>
        <mc:Fallback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3FF74A4-9808-FB0A-93A2-1FAD46B7C9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6186" y="3503185"/>
                <a:ext cx="5039008" cy="153792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Freihand 5">
                <a:extLst>
                  <a:ext uri="{FF2B5EF4-FFF2-40B4-BE49-F238E27FC236}">
                    <a16:creationId xmlns:a16="http://schemas.microsoft.com/office/drawing/2014/main" id="{032C2424-A34A-7141-0A2D-87D80D61EA05}"/>
                  </a:ext>
                </a:extLst>
              </p14:cNvPr>
              <p14:cNvContentPartPr/>
              <p14:nvPr/>
            </p14:nvContentPartPr>
            <p14:xfrm>
              <a:off x="7731360" y="2917080"/>
              <a:ext cx="1113840" cy="1113480"/>
            </p14:xfrm>
          </p:contentPart>
        </mc:Choice>
        <mc:Fallback xmlns="">
          <p:pic>
            <p:nvPicPr>
              <p:cNvPr id="6" name="Freihand 5">
                <a:extLst>
                  <a:ext uri="{FF2B5EF4-FFF2-40B4-BE49-F238E27FC236}">
                    <a16:creationId xmlns:a16="http://schemas.microsoft.com/office/drawing/2014/main" id="{032C2424-A34A-7141-0A2D-87D80D61EA05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722000" y="2907720"/>
                <a:ext cx="1132560" cy="1132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707144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2EC6CB-D48D-03EF-E08D-C29A575979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Sinusoidal Response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E7D9D44-8B2C-F63B-1FD6-A1E1CCD8F8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385887"/>
                <a:ext cx="7886700" cy="326350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1600" u="sng" noProof="0" dirty="0"/>
                  <a:t>Example: </a:t>
                </a:r>
                <a:r>
                  <a:rPr lang="en-US" sz="1600" noProof="0" dirty="0"/>
                  <a:t>	Given </a:t>
                </a:r>
                <a14:m>
                  <m:oMath xmlns:m="http://schemas.openxmlformats.org/officeDocument/2006/math">
                    <m:r>
                      <a:rPr lang="en-US" sz="1600" i="1" noProof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600" i="1" noProof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600" noProof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1600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func>
                  </m:oMath>
                </a14:m>
                <a:endParaRPr lang="en-US" sz="1600" noProof="0" dirty="0"/>
              </a:p>
              <a:p>
                <a:pPr marL="0" indent="0">
                  <a:buNone/>
                </a:pPr>
                <a:r>
                  <a:rPr lang="en-US" sz="1600" noProof="0" dirty="0"/>
                  <a:t>Goal: Compute the time response of the system:</a:t>
                </a:r>
              </a:p>
              <a:p>
                <a:pPr marL="0" indent="0">
                  <a:buNone/>
                </a:pPr>
                <a:endParaRPr lang="en-US" sz="1600" noProof="0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600" noProof="0" dirty="0"/>
                  <a:t>Compute </a:t>
                </a:r>
                <a14:m>
                  <m:oMath xmlns:m="http://schemas.openxmlformats.org/officeDocument/2006/math">
                    <m:r>
                      <a:rPr lang="en-US" sz="1600" i="1" noProof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1600" i="1" noProof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600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</m:d>
                      </m:e>
                    </m:d>
                  </m:oMath>
                </a14:m>
                <a:endParaRPr lang="en-US" sz="1600" noProof="0" dirty="0"/>
              </a:p>
              <a:p>
                <a:pPr marL="342900" indent="-342900">
                  <a:buFont typeface="+mj-lt"/>
                  <a:buAutoNum type="arabicPeriod"/>
                </a:pPr>
                <a:endParaRPr lang="en-US" sz="1600" noProof="0" dirty="0"/>
              </a:p>
              <a:p>
                <a:pPr marL="342900" indent="-342900">
                  <a:buFont typeface="+mj-lt"/>
                  <a:buAutoNum type="arabicPeriod"/>
                </a:pPr>
                <a:endParaRPr lang="en-US" sz="1600" noProof="0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sz="1600" noProof="0" dirty="0"/>
                  <a:t>Compute </a:t>
                </a:r>
                <a14:m>
                  <m:oMath xmlns:m="http://schemas.openxmlformats.org/officeDocument/2006/math">
                    <m:r>
                      <a:rPr lang="en-US" sz="1600" i="1" noProof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sz="1600" i="1" noProof="0">
                        <a:latin typeface="Cambria Math" panose="02040503050406030204" pitchFamily="18" charset="0"/>
                      </a:rPr>
                      <m:t>=∠</m:t>
                    </m:r>
                    <m:r>
                      <a:rPr lang="en-US" sz="1600" i="1" noProof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𝑗</m:t>
                        </m:r>
                      </m:e>
                    </m:d>
                  </m:oMath>
                </a14:m>
                <a:endParaRPr lang="en-US" sz="1600" noProof="0" dirty="0"/>
              </a:p>
              <a:p>
                <a:pPr marL="0" indent="0">
                  <a:buNone/>
                </a:pPr>
                <a:endParaRPr lang="en-US" sz="1600" noProof="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E7D9D44-8B2C-F63B-1FD6-A1E1CCD8F8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385887"/>
                <a:ext cx="7886700" cy="3263504"/>
              </a:xfrm>
              <a:blipFill>
                <a:blip r:embed="rId3"/>
                <a:stretch>
                  <a:fillRect l="-482" t="-115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DDF6009-577D-8D11-6AB4-C8AD297E77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704C7C1-6A66-A964-394E-D57DDDA22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19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404FA680-FC19-6FEF-050A-B258058600A2}"/>
                  </a:ext>
                </a:extLst>
              </p:cNvPr>
              <p:cNvSpPr txBox="1"/>
              <p:nvPr/>
            </p:nvSpPr>
            <p:spPr>
              <a:xfrm>
                <a:off x="4899103" y="102393"/>
                <a:ext cx="4854497" cy="10772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noProof="0" dirty="0"/>
                  <a:t>If Input is:		</a:t>
                </a:r>
                <a14:m>
                  <m:oMath xmlns:m="http://schemas.openxmlformats.org/officeDocument/2006/math">
                    <m:r>
                      <a:rPr lang="en-US" sz="1600" i="1" noProof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600" i="1" noProof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600" noProof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1600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func>
                  </m:oMath>
                </a14:m>
                <a:endParaRPr lang="en-US" sz="1600" noProof="0" dirty="0"/>
              </a:p>
              <a:p>
                <a:r>
                  <a:rPr lang="en-US" sz="1600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Output given by: </a:t>
                </a:r>
                <a:r>
                  <a:rPr lang="en-US" sz="1600" noProof="0" dirty="0"/>
                  <a:t>	</a:t>
                </a:r>
                <a14:m>
                  <m:oMath xmlns:m="http://schemas.openxmlformats.org/officeDocument/2006/math">
                    <m:r>
                      <a:rPr lang="en-US" sz="1600" i="1" noProof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1600" i="1" noProof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1" noProof="0">
                        <a:latin typeface="Cambria Math" panose="02040503050406030204" pitchFamily="18" charset="0"/>
                      </a:rPr>
                      <m:t>𝑀</m:t>
                    </m:r>
                    <m:func>
                      <m:funcPr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600" noProof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n-US" sz="1600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𝜙</m:t>
                            </m:r>
                          </m:e>
                        </m:d>
                      </m:e>
                    </m:func>
                  </m:oMath>
                </a14:m>
                <a:endParaRPr lang="en-US" sz="1600" noProof="0" dirty="0"/>
              </a:p>
              <a:p>
                <a:r>
                  <a:rPr lang="en-US" sz="1600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with</a:t>
                </a:r>
                <a:r>
                  <a:rPr lang="en-US" sz="1600" noProof="0" dirty="0"/>
                  <a:t> 		</a:t>
                </a:r>
                <a14:m>
                  <m:oMath xmlns:m="http://schemas.openxmlformats.org/officeDocument/2006/math"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600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r>
                      <a:rPr lang="en-US" sz="1600" i="1" noProof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i="1" noProof="0">
                        <a:latin typeface="Cambria Math" panose="02040503050406030204" pitchFamily="18" charset="0"/>
                      </a:rPr>
                      <m:t>𝜙</m:t>
                    </m:r>
                    <m:r>
                      <a:rPr lang="en-US" sz="1600" i="1" noProof="0">
                        <a:latin typeface="Cambria Math" panose="02040503050406030204" pitchFamily="18" charset="0"/>
                      </a:rPr>
                      <m:t>=∠</m:t>
                    </m:r>
                    <m:r>
                      <a:rPr lang="en-US" sz="1600" i="1" noProof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endParaRPr lang="en-US" sz="1600" noProof="0" dirty="0"/>
              </a:p>
              <a:p>
                <a:endParaRPr lang="en-US" sz="1600" noProof="0" dirty="0"/>
              </a:p>
            </p:txBody>
          </p:sp>
        </mc:Choice>
        <mc:Fallback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404FA680-FC19-6FEF-050A-B258058600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9103" y="102393"/>
                <a:ext cx="4854497" cy="1077218"/>
              </a:xfrm>
              <a:prstGeom prst="rect">
                <a:avLst/>
              </a:prstGeom>
              <a:blipFill>
                <a:blip r:embed="rId4"/>
                <a:stretch>
                  <a:fillRect l="-522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F3D12A6C-F3BB-932A-F6D1-036429F06808}"/>
              </a:ext>
            </a:extLst>
          </p:cNvPr>
          <p:cNvSpPr/>
          <p:nvPr/>
        </p:nvSpPr>
        <p:spPr>
          <a:xfrm>
            <a:off x="4899103" y="116797"/>
            <a:ext cx="4192858" cy="857076"/>
          </a:xfrm>
          <a:prstGeom prst="roundRect">
            <a:avLst>
              <a:gd name="adj" fmla="val 12642"/>
            </a:avLst>
          </a:prstGeom>
          <a:noFill/>
          <a:ln w="25400">
            <a:solidFill>
              <a:schemeClr val="tx1">
                <a:lumMod val="90000"/>
                <a:lumOff val="1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360000" rtlCol="0" anchor="ctr"/>
          <a:lstStyle/>
          <a:p>
            <a:pPr>
              <a:spcBef>
                <a:spcPts val="200"/>
              </a:spcBef>
            </a:pPr>
            <a:endParaRPr lang="en-US" noProof="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7FE055E9-3FB6-08DE-18AF-F28DAD70F7B2}"/>
                  </a:ext>
                </a:extLst>
              </p:cNvPr>
              <p:cNvSpPr txBox="1"/>
              <p:nvPr/>
            </p:nvSpPr>
            <p:spPr>
              <a:xfrm>
                <a:off x="4762966" y="1308322"/>
                <a:ext cx="4192857" cy="7153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noProof="0" dirty="0"/>
                  <a:t>let </a:t>
                </a:r>
                <a14:m>
                  <m:oMath xmlns:m="http://schemas.openxmlformats.org/officeDocument/2006/math"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=2</m:t>
                    </m:r>
                    <m:f>
                      <m:f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+1</m:t>
                        </m:r>
                      </m:num>
                      <m:den>
                        <m:d>
                          <m:d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</m:e>
                        </m:d>
                        <m:d>
                          <m:d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+1+</m:t>
                            </m:r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</m:d>
                        <m:d>
                          <m:d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+1−</m:t>
                            </m:r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e>
                        </m:d>
                      </m:den>
                    </m:f>
                  </m:oMath>
                </a14:m>
                <a:endParaRPr lang="en-US" sz="1600" noProof="0" dirty="0"/>
              </a:p>
              <a:p>
                <a:endParaRPr lang="en-US" sz="1600" noProof="0" dirty="0"/>
              </a:p>
            </p:txBody>
          </p:sp>
        </mc:Choice>
        <mc:Fallback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7FE055E9-3FB6-08DE-18AF-F28DAD70F7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2966" y="1308322"/>
                <a:ext cx="4192857" cy="715389"/>
              </a:xfrm>
              <a:prstGeom prst="rect">
                <a:avLst/>
              </a:prstGeom>
              <a:blipFill>
                <a:blip r:embed="rId5"/>
                <a:stretch>
                  <a:fillRect l="-6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28E91CD7-402F-28CB-68E6-1F89C1664804}"/>
                  </a:ext>
                </a:extLst>
              </p:cNvPr>
              <p:cNvSpPr txBox="1"/>
              <p:nvPr/>
            </p:nvSpPr>
            <p:spPr>
              <a:xfrm>
                <a:off x="628650" y="4280059"/>
                <a:ext cx="748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800" i="1" baseline="-25000" noProof="0" smtClean="0">
                          <a:latin typeface="Cambria Math" panose="02040503050406030204" pitchFamily="18" charset="0"/>
                        </a:rPr>
                        <m:t>𝑠𝑠</m:t>
                      </m:r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28E91CD7-402F-28CB-68E6-1F89C16648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4280059"/>
                <a:ext cx="748859" cy="369332"/>
              </a:xfrm>
              <a:prstGeom prst="rect">
                <a:avLst/>
              </a:prstGeom>
              <a:blipFill>
                <a:blip r:embed="rId6"/>
                <a:stretch>
                  <a:fillRect b="-967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2129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 descr="Ein Bild, das Reihe, Diagramm, Screenshot, parallel enthält.&#10;&#10;KI-generierte Inhalte können fehlerhaft sein.">
            <a:extLst>
              <a:ext uri="{FF2B5EF4-FFF2-40B4-BE49-F238E27FC236}">
                <a16:creationId xmlns:a16="http://schemas.microsoft.com/office/drawing/2014/main" id="{6DAAEBB9-0775-F179-FD47-149C1E4FBB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251"/>
          <a:stretch>
            <a:fillRect/>
          </a:stretch>
        </p:blipFill>
        <p:spPr>
          <a:xfrm>
            <a:off x="6155172" y="2571750"/>
            <a:ext cx="3230438" cy="262327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5D9C172-051E-885E-4EC4-D156B4AAB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Graphical Approach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C16E004-31C4-2070-4E27-7D31B72084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sz="1600" noProof="0" dirty="0"/>
                  <a:t>Each term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600" noProof="0" dirty="0"/>
                  <a:t> and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600" noProof="0" dirty="0"/>
                  <a:t> is a complex vector from zeros and poles to s; using the </a:t>
                </a:r>
                <a:r>
                  <a:rPr lang="en-US" sz="1600" b="1" noProof="0" dirty="0"/>
                  <a:t>magnitude and phase rules</a:t>
                </a:r>
                <a:r>
                  <a:rPr lang="en-US" sz="1600" noProof="0" dirty="0"/>
                  <a:t>, the total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1600" noProof="0" dirty="0"/>
                  <a:t> and </a:t>
                </a:r>
                <a14:m>
                  <m:oMath xmlns:m="http://schemas.openxmlformats.org/officeDocument/2006/math"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∠</m:t>
                    </m:r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noProof="0" dirty="0"/>
                  <a:t> result from the product of lengths and sum of angles.</a:t>
                </a:r>
                <a:endParaRPr lang="en-US" noProof="0" dirty="0"/>
              </a:p>
              <a:p>
                <a:pPr marL="0" indent="0">
                  <a:buNone/>
                </a:pPr>
                <a:r>
                  <a:rPr lang="en-US" noProof="0" dirty="0"/>
                  <a:t>Magnitude: </a:t>
                </a:r>
              </a:p>
              <a:p>
                <a:pPr marL="0" indent="0">
                  <a:buNone/>
                </a:pPr>
                <a:endParaRPr lang="en-US" noProof="0" dirty="0"/>
              </a:p>
              <a:p>
                <a:pPr marL="0" indent="0">
                  <a:buNone/>
                </a:pPr>
                <a:endParaRPr lang="en-US" noProof="0" dirty="0"/>
              </a:p>
              <a:p>
                <a:pPr marL="0" indent="0">
                  <a:buNone/>
                </a:pPr>
                <a:r>
                  <a:rPr lang="en-US" noProof="0" dirty="0"/>
                  <a:t>Argument: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C16E004-31C4-2070-4E27-7D31B72084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643" t="-15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65818AF-247B-A055-563D-881B2B9401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76360E7-6314-5076-8DB2-2E23625F0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20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C00EC41E-CE51-19DE-06F1-EDEF6A79C008}"/>
                  </a:ext>
                </a:extLst>
              </p:cNvPr>
              <p:cNvSpPr txBox="1"/>
              <p:nvPr/>
            </p:nvSpPr>
            <p:spPr>
              <a:xfrm>
                <a:off x="628650" y="3932663"/>
                <a:ext cx="74885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800" i="1" baseline="-25000" noProof="0" smtClean="0">
                          <a:latin typeface="Cambria Math" panose="02040503050406030204" pitchFamily="18" charset="0"/>
                        </a:rPr>
                        <m:t>𝑠𝑠</m:t>
                      </m:r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noProof="0" dirty="0"/>
              </a:p>
            </p:txBody>
          </p:sp>
        </mc:Choice>
        <mc:Fallback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C00EC41E-CE51-19DE-06F1-EDEF6A79C0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3932663"/>
                <a:ext cx="748859" cy="369332"/>
              </a:xfrm>
              <a:prstGeom prst="rect">
                <a:avLst/>
              </a:prstGeom>
              <a:blipFill>
                <a:blip r:embed="rId4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00FDA690-7009-0561-90A7-6A484BD9A671}"/>
              </a:ext>
            </a:extLst>
          </p:cNvPr>
          <p:cNvGrpSpPr/>
          <p:nvPr/>
        </p:nvGrpSpPr>
        <p:grpSpPr>
          <a:xfrm>
            <a:off x="5314260" y="172641"/>
            <a:ext cx="3709237" cy="792671"/>
            <a:chOff x="3375102" y="2567562"/>
            <a:chExt cx="3709237" cy="792671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F5D53E22-4DD6-E7B9-6F29-B5E6CC4BD1BF}"/>
                    </a:ext>
                  </a:extLst>
                </p:cNvPr>
                <p:cNvSpPr txBox="1"/>
                <p:nvPr/>
              </p:nvSpPr>
              <p:spPr>
                <a:xfrm>
                  <a:off x="3375102" y="2631688"/>
                  <a:ext cx="3582456" cy="61177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𝑟𝑙</m:t>
                            </m:r>
                          </m:sub>
                        </m:sSub>
                        <m:f>
                          <m:f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ctrlP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  <m:d>
                              <m:d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…</m:t>
                            </m:r>
                            <m:d>
                              <m:d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</m:e>
                            </m:d>
                          </m:num>
                          <m:den>
                            <m:d>
                              <m:d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  <m:d>
                              <m:d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…</m:t>
                            </m:r>
                            <m:d>
                              <m:d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600" i="1" noProof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d>
                          </m:den>
                        </m:f>
                      </m:oMath>
                    </m:oMathPara>
                  </a14:m>
                  <a:endParaRPr lang="en-US" noProof="0" dirty="0"/>
                </a:p>
              </p:txBody>
            </p:sp>
          </mc:Choice>
          <mc:Fallback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F5D53E22-4DD6-E7B9-6F29-B5E6CC4BD1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75102" y="2631688"/>
                  <a:ext cx="3582456" cy="611771"/>
                </a:xfrm>
                <a:prstGeom prst="rect">
                  <a:avLst/>
                </a:prstGeom>
                <a:blipFill>
                  <a:blip r:embed="rId5"/>
                  <a:stretch>
                    <a:fillRect b="-4082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Rectangle: Rounded Corners 17">
              <a:extLst>
                <a:ext uri="{FF2B5EF4-FFF2-40B4-BE49-F238E27FC236}">
                  <a16:creationId xmlns:a16="http://schemas.microsoft.com/office/drawing/2014/main" id="{5AAA27CC-44DF-F08D-D38D-1E75E50EEC69}"/>
                </a:ext>
              </a:extLst>
            </p:cNvPr>
            <p:cNvSpPr/>
            <p:nvPr/>
          </p:nvSpPr>
          <p:spPr>
            <a:xfrm>
              <a:off x="3375102" y="2567562"/>
              <a:ext cx="3709237" cy="792671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004064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D1304AB-2247-B2E5-43BE-17C6A08EF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Quiz 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1DBDCEC-5443-3DDE-35C4-76A44F393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014B29A-DDE5-AC16-344C-643BAD153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21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C39612BA-0D7B-CF16-FD34-C2CC8FCB79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310" y="1077218"/>
            <a:ext cx="3649807" cy="3606699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DD6B4B38-871F-BFAA-ECF2-31CD0F838B9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" r="53796" b="63196"/>
          <a:stretch>
            <a:fillRect/>
          </a:stretch>
        </p:blipFill>
        <p:spPr>
          <a:xfrm>
            <a:off x="4366403" y="962572"/>
            <a:ext cx="4578543" cy="44944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Rectangle: Rounded Corners 18">
                <a:extLst>
                  <a:ext uri="{FF2B5EF4-FFF2-40B4-BE49-F238E27FC236}">
                    <a16:creationId xmlns:a16="http://schemas.microsoft.com/office/drawing/2014/main" id="{EE34E819-F778-9742-85B5-FB168B15ED47}"/>
                  </a:ext>
                </a:extLst>
              </p:cNvPr>
              <p:cNvSpPr/>
              <p:nvPr/>
            </p:nvSpPr>
            <p:spPr>
              <a:xfrm>
                <a:off x="4366404" y="1495361"/>
                <a:ext cx="876716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A.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𝟐</m:t>
                        </m:r>
                        <m:rad>
                          <m:radPr>
                            <m:degHide m:val="on"/>
                            <m:ctrlP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𝟐</m:t>
                            </m:r>
                          </m:e>
                        </m:rad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8" name="Rectangle: Rounded Corners 18">
                <a:extLst>
                  <a:ext uri="{FF2B5EF4-FFF2-40B4-BE49-F238E27FC236}">
                    <a16:creationId xmlns:a16="http://schemas.microsoft.com/office/drawing/2014/main" id="{EE34E819-F778-9742-85B5-FB168B15ED4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6404" y="1495361"/>
                <a:ext cx="876716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Rectangle: Rounded Corners 18">
                <a:extLst>
                  <a:ext uri="{FF2B5EF4-FFF2-40B4-BE49-F238E27FC236}">
                    <a16:creationId xmlns:a16="http://schemas.microsoft.com/office/drawing/2014/main" id="{88A375D1-8078-7259-D3F4-763725B20D13}"/>
                  </a:ext>
                </a:extLst>
              </p:cNvPr>
              <p:cNvSpPr/>
              <p:nvPr/>
            </p:nvSpPr>
            <p:spPr>
              <a:xfrm>
                <a:off x="5423418" y="1495361"/>
                <a:ext cx="876716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B.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𝟒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9" name="Rectangle: Rounded Corners 18">
                <a:extLst>
                  <a:ext uri="{FF2B5EF4-FFF2-40B4-BE49-F238E27FC236}">
                    <a16:creationId xmlns:a16="http://schemas.microsoft.com/office/drawing/2014/main" id="{88A375D1-8078-7259-D3F4-763725B20D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3418" y="1495361"/>
                <a:ext cx="876716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Rectangle: Rounded Corners 18">
                <a:extLst>
                  <a:ext uri="{FF2B5EF4-FFF2-40B4-BE49-F238E27FC236}">
                    <a16:creationId xmlns:a16="http://schemas.microsoft.com/office/drawing/2014/main" id="{60039A27-26FD-7BC0-DF5D-1610D8C62429}"/>
                  </a:ext>
                </a:extLst>
              </p:cNvPr>
              <p:cNvSpPr/>
              <p:nvPr/>
            </p:nvSpPr>
            <p:spPr>
              <a:xfrm>
                <a:off x="6480432" y="1495359"/>
                <a:ext cx="876716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C.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2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10" name="Rectangle: Rounded Corners 18">
                <a:extLst>
                  <a:ext uri="{FF2B5EF4-FFF2-40B4-BE49-F238E27FC236}">
                    <a16:creationId xmlns:a16="http://schemas.microsoft.com/office/drawing/2014/main" id="{60039A27-26FD-7BC0-DF5D-1610D8C624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0432" y="1495359"/>
                <a:ext cx="876716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6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ectangle: Rounded Corners 18">
                <a:extLst>
                  <a:ext uri="{FF2B5EF4-FFF2-40B4-BE49-F238E27FC236}">
                    <a16:creationId xmlns:a16="http://schemas.microsoft.com/office/drawing/2014/main" id="{E29E8C4A-48B6-319D-307D-C0FCE806F610}"/>
                  </a:ext>
                </a:extLst>
              </p:cNvPr>
              <p:cNvSpPr/>
              <p:nvPr/>
            </p:nvSpPr>
            <p:spPr>
              <a:xfrm>
                <a:off x="7537446" y="1495359"/>
                <a:ext cx="876716" cy="498355"/>
              </a:xfrm>
              <a:prstGeom prst="roundRect">
                <a:avLst>
                  <a:gd name="adj" fmla="val 11229"/>
                </a:avLst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lIns="182880" rtlCol="0" anchor="ctr"/>
              <a:lstStyle/>
              <a:p>
                <a:pPr>
                  <a:spcBef>
                    <a:spcPts val="200"/>
                  </a:spcBef>
                </a:pPr>
                <a:r>
                  <a:rPr lang="en-US" b="1" noProof="0" dirty="0">
                    <a:solidFill>
                      <a:schemeClr val="tx1"/>
                    </a:solidFill>
                    <a:latin typeface="Segoe UI Black" panose="020B0A02040204020203" pitchFamily="34" charset="0"/>
                    <a:ea typeface="Segoe UI Black" panose="020B0A02040204020203" pitchFamily="34" charset="0"/>
                  </a:rPr>
                  <a:t>D.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noProof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</m:ctrlPr>
                      </m:fPr>
                      <m:num>
                        <m:r>
                          <a:rPr lang="en-US" b="1" i="1" noProof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Segoe UI Black" panose="020B0A02040204020203" pitchFamily="34" charset="0"/>
                            <a:cs typeface="Segoe UI Semibold" panose="020B0702040204020203" pitchFamily="34" charset="0"/>
                          </a:rPr>
                          <m:t>𝟏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1" i="1" noProof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Segoe UI Black" panose="020B0A02040204020203" pitchFamily="34" charset="0"/>
                                <a:cs typeface="Segoe UI Semibold" panose="020B0702040204020203" pitchFamily="34" charset="0"/>
                              </a:rPr>
                              <m:t>𝟐</m:t>
                            </m:r>
                          </m:e>
                        </m:rad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11" name="Rectangle: Rounded Corners 18">
                <a:extLst>
                  <a:ext uri="{FF2B5EF4-FFF2-40B4-BE49-F238E27FC236}">
                    <a16:creationId xmlns:a16="http://schemas.microsoft.com/office/drawing/2014/main" id="{E29E8C4A-48B6-319D-307D-C0FCE806F6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7446" y="1495359"/>
                <a:ext cx="876716" cy="498355"/>
              </a:xfrm>
              <a:prstGeom prst="roundRect">
                <a:avLst>
                  <a:gd name="adj" fmla="val 11229"/>
                </a:avLst>
              </a:prstGeom>
              <a:blipFill>
                <a:blip r:embed="rId7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880368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52C6F9-2376-91EA-F59C-2DDC8B032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26547"/>
            <a:ext cx="7886700" cy="994172"/>
          </a:xfrm>
        </p:spPr>
        <p:txBody>
          <a:bodyPr/>
          <a:lstStyle/>
          <a:p>
            <a:r>
              <a:rPr lang="en-US" noProof="0" dirty="0"/>
              <a:t>Impulse Response</a:t>
            </a:r>
          </a:p>
        </p:txBody>
      </p:sp>
      <p:pic>
        <p:nvPicPr>
          <p:cNvPr id="7" name="Inhaltsplatzhalter 6" descr="Ein Bild, das Reihe, Diagramm, Screenshot, Rechteck enthält.&#10;&#10;KI-generierte Inhalte können fehlerhaft sein.">
            <a:extLst>
              <a:ext uri="{FF2B5EF4-FFF2-40B4-BE49-F238E27FC236}">
                <a16:creationId xmlns:a16="http://schemas.microsoft.com/office/drawing/2014/main" id="{517C0E6C-F639-B869-A7C5-15D204F09A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807521" y="87224"/>
            <a:ext cx="2336479" cy="1683004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8B7F97E-7DE9-0C01-6B56-A6861BF72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F7DF8ED-6547-921A-76BF-AB4C530CC9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22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2E8495F7-DE52-1EF2-689A-906375C0CD25}"/>
              </a:ext>
            </a:extLst>
          </p:cNvPr>
          <p:cNvGrpSpPr/>
          <p:nvPr/>
        </p:nvGrpSpPr>
        <p:grpSpPr>
          <a:xfrm>
            <a:off x="272082" y="1311782"/>
            <a:ext cx="8812924" cy="4603543"/>
            <a:chOff x="207423" y="1265393"/>
            <a:chExt cx="8812924" cy="460354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4A70AAF6-5D50-A542-470B-A7A22039D771}"/>
                    </a:ext>
                  </a:extLst>
                </p:cNvPr>
                <p:cNvSpPr txBox="1"/>
                <p:nvPr/>
              </p:nvSpPr>
              <p:spPr>
                <a:xfrm>
                  <a:off x="207423" y="1314099"/>
                  <a:ext cx="8812924" cy="45548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800" noProof="0" dirty="0"/>
                    <a:t>E.g. input: </a:t>
                  </a:r>
                  <a14:m>
                    <m:oMath xmlns:m="http://schemas.openxmlformats.org/officeDocument/2006/math"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b="0" i="1" noProof="0" smtClean="0">
                          <a:latin typeface="Cambria Math" panose="02040503050406030204" pitchFamily="18" charset="0"/>
                        </a:rPr>
                        <m:t> {</m:t>
                      </m:r>
                    </m:oMath>
                  </a14:m>
                  <a:r>
                    <a:rPr lang="en-US" sz="1800" noProof="0" dirty="0"/>
                    <a:t>		 </a:t>
                  </a:r>
                  <a14:m>
                    <m:oMath xmlns:m="http://schemas.openxmlformats.org/officeDocument/2006/math">
                      <m:r>
                        <a:rPr lang="en-US" sz="1800" b="0" i="0" noProof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 = 0  </m:t>
                      </m:r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(0) = 0</m:t>
                      </m:r>
                    </m:oMath>
                  </a14:m>
                  <a:endParaRPr lang="en-US" sz="1800" noProof="0" dirty="0"/>
                </a:p>
                <a:p>
                  <a:r>
                    <a:rPr lang="en-US" sz="1800" noProof="0" dirty="0"/>
                    <a:t>Forced response: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sub>
                      </m:sSub>
                      <m:d>
                        <m:dPr>
                          <m:ctrlP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800" i="0" noProof="0" smtClean="0">
                              <a:latin typeface="Cambria Math" panose="02040503050406030204" pitchFamily="18" charset="0"/>
                            </a:rPr>
                            <m:t>imp</m:t>
                          </m:r>
                        </m:sub>
                      </m:sSub>
                      <m:d>
                        <m:dPr>
                          <m:ctrlP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𝐶</m:t>
                      </m:r>
                      <m:nary>
                        <m:naryPr>
                          <m:ctrlP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sSup>
                            <m:sSupPr>
                              <m:ctrlP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sz="1800" i="1" noProof="0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d>
                                <m:dPr>
                                  <m:ctrlPr>
                                    <a:rPr lang="en-US" sz="1800" i="1" noProof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i="1" noProof="0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800" i="1" noProof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1800" i="1" noProof="0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</m:d>
                            </m:sup>
                          </m:sSup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nary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𝐶</m:t>
                      </m:r>
                      <m:sSup>
                        <m:sSupPr>
                          <m:ctrlP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𝐴𝑡</m:t>
                          </m:r>
                        </m:sup>
                      </m:sSup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a14:m>
                  <a:endParaRPr lang="en-US" sz="1800" noProof="0" dirty="0"/>
                </a:p>
                <a:p>
                  <a:r>
                    <a:rPr lang="en-US" sz="1800" noProof="0" dirty="0"/>
                    <a:t>This is equivalent to the initial condition response if </a:t>
                  </a:r>
                  <a14:m>
                    <m:oMath xmlns:m="http://schemas.openxmlformats.org/officeDocument/2006/math"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 noProof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sz="18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800" i="1" noProof="0">
                          <a:latin typeface="Cambria Math" panose="02040503050406030204" pitchFamily="18" charset="0"/>
                        </a:rPr>
                        <m:t>𝐵</m:t>
                      </m:r>
                    </m:oMath>
                  </a14:m>
                  <a:endParaRPr lang="en-US" sz="1800" noProof="0" dirty="0"/>
                </a:p>
                <a:p>
                  <a:endParaRPr lang="en-US" sz="1800" noProof="0" dirty="0"/>
                </a:p>
                <a:p>
                  <a:r>
                    <a:rPr lang="en-US" sz="1600" noProof="0" dirty="0"/>
                    <a:t>Another way to compute the forced response is with the Laplace transform:</a:t>
                  </a:r>
                </a:p>
                <a:p>
                  <a14:m>
                    <m:oMath xmlns:m="http://schemas.openxmlformats.org/officeDocument/2006/math"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d>
                            <m:d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a14:m>
                  <a:r>
                    <a:rPr lang="en-US" sz="1600" noProof="0" dirty="0"/>
                    <a:t> </a:t>
                  </a:r>
                  <a14:m>
                    <m:oMath xmlns:m="http://schemas.openxmlformats.org/officeDocument/2006/math">
                      <m:r>
                        <a:rPr lang="en-US" sz="1600" i="1" noProof="0" smtClean="0">
                          <a:latin typeface="Cambria Math" panose="02040503050406030204" pitchFamily="18" charset="0"/>
                          <a:sym typeface="Wingdings" pitchFamily="2" charset="2"/>
                        </a:rPr>
                        <m:t>⟶</m:t>
                      </m:r>
                    </m:oMath>
                  </a14:m>
                  <a:r>
                    <a:rPr lang="en-US" sz="1600" noProof="0" dirty="0"/>
                    <a:t> </a:t>
                  </a:r>
                  <a14:m>
                    <m:oMath xmlns:m="http://schemas.openxmlformats.org/officeDocument/2006/math"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b="0" i="1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noProof="0" smtClean="0"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d>
                            <m:d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b="0" i="0" noProof="0" smtClean="0">
                          <a:latin typeface="Cambria Math" panose="02040503050406030204" pitchFamily="18" charset="0"/>
                        </a:rPr>
                        <m:t>⋅1</m:t>
                      </m:r>
                    </m:oMath>
                  </a14:m>
                  <a:endParaRPr lang="en-US" sz="1600" b="0" i="0" noProof="0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⟶</m:t>
                        </m:r>
                        <m:sSub>
                          <m:sSub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m:rPr>
                                <m:sty m:val="p"/>
                              </m:rP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  <m:t>mp</m:t>
                            </m:r>
                          </m:sub>
                        </m:sSub>
                        <m:d>
                          <m:d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1600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noProof="0" smtClean="0">
                                <a:latin typeface="Cambria Math" panose="02040503050406030204" pitchFamily="18" charset="0"/>
                              </a:rPr>
                              <m:t>ℒ</m:t>
                            </m:r>
                          </m:e>
                          <m:sup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d>
                          <m:d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  <m:d>
                              <m:dPr>
                                <m:ctrlP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</m:oMath>
                    </m:oMathPara>
                  </a14:m>
                  <a:endParaRPr lang="en-US" sz="1600" b="0" i="0" noProof="0" dirty="0">
                    <a:latin typeface="Cambria Math" panose="02040503050406030204" pitchFamily="18" charset="0"/>
                  </a:endParaRPr>
                </a:p>
                <a:p>
                  <a:endParaRPr lang="en-US" sz="600" noProof="0" dirty="0"/>
                </a:p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1600" noProof="0" smtClean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If</m:t>
                      </m:r>
                      <m:r>
                        <m:rPr>
                          <m:nor/>
                        </m:rPr>
                        <a:rPr lang="en-US" sz="1600" noProof="0" smtClean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600" noProof="0" smtClean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given</m:t>
                      </m:r>
                      <m:r>
                        <m:rPr>
                          <m:nor/>
                        </m:rPr>
                        <a:rPr lang="en-US" sz="1600" noProof="0" smtClean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600" noProof="0" smtClean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partial</m:t>
                      </m:r>
                      <m:r>
                        <m:rPr>
                          <m:nor/>
                        </m:rPr>
                        <a:rPr lang="en-US" sz="1600" noProof="0" smtClean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600" noProof="0" smtClean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fraction</m:t>
                      </m:r>
                      <m:r>
                        <m:rPr>
                          <m:nor/>
                        </m:rPr>
                        <a:rPr lang="en-US" sz="1600" noProof="0" smtClean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600" noProof="0" smtClean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expansion</m:t>
                      </m:r>
                      <m:r>
                        <m:rPr>
                          <m:nor/>
                        </m:rPr>
                        <a:rPr lang="en-US" sz="1600" noProof="0" smtClean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600" noProof="0" smtClean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of</m:t>
                      </m:r>
                      <m:r>
                        <m:rPr>
                          <m:nor/>
                        </m:rPr>
                        <a:rPr lang="en-US" sz="1600" noProof="0" smtClean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600" noProof="0" smtClean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en-US" sz="1600" noProof="0" smtClean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600" noProof="0" smtClean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m:t>TF</m:t>
                      </m:r>
                      <m:r>
                        <m:rPr>
                          <m:nor/>
                        </m:rPr>
                        <a:rPr lang="en-US" sz="1600" noProof="0" smtClean="0"/>
                        <m:t>: </m:t>
                      </m:r>
                    </m:oMath>
                  </a14:m>
                  <a:r>
                    <a:rPr lang="en-US" sz="1600" noProof="0" dirty="0"/>
                    <a:t> </a:t>
                  </a:r>
                  <a14:m>
                    <m:oMath xmlns:m="http://schemas.openxmlformats.org/officeDocument/2006/math"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+…+</m:t>
                      </m:r>
                      <m:f>
                        <m:f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num>
                        <m:den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endParaRPr lang="en-US" sz="1600" noProof="0" dirty="0"/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𝑖𝑚𝑝</m:t>
                            </m:r>
                          </m:sub>
                        </m:sSub>
                        <m:d>
                          <m:d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sSup>
                          <m:sSup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ℒ</m:t>
                            </m:r>
                          </m:e>
                          <m:sup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d>
                          <m:d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  <m:d>
                              <m:dPr>
                                <m:ctrlP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p>
                          <m:sSup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p>
                          <m:sSup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+…+</m:t>
                        </m:r>
                        <m:sSub>
                          <m:sSub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p>
                          <m:sSup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oMath>
                    </m:oMathPara>
                  </a14:m>
                  <a:endParaRPr lang="en-US" sz="1600" noProof="0" dirty="0"/>
                </a:p>
                <a:p>
                  <a:endParaRPr lang="en-US" sz="1800" noProof="0" dirty="0"/>
                </a:p>
                <a:p>
                  <a:r>
                    <a:rPr lang="en-US" sz="1600" noProof="0" dirty="0">
                      <a:latin typeface="Segoe UI" panose="020B0502040204020203" pitchFamily="34" charset="0"/>
                      <a:cs typeface="Segoe UI" panose="020B0502040204020203" pitchFamily="34" charset="0"/>
                      <a:sym typeface="Wingdings" pitchFamily="2" charset="2"/>
                    </a:rPr>
                    <a:t> </a:t>
                  </a:r>
                  <a:r>
                    <a:rPr lang="en-US" sz="1600" noProof="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We note that each pole generates an exponential in the time domain!</a:t>
                  </a:r>
                </a:p>
                <a:p>
                  <a:endParaRPr lang="en-US" sz="1600" noProof="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endParaRPr lang="en-US" sz="1600" noProof="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  <a:p>
                  <a:endParaRPr lang="en-US" sz="1800" noProof="0" dirty="0"/>
                </a:p>
                <a:p>
                  <a:endParaRPr lang="en-US" sz="1800" noProof="0" dirty="0"/>
                </a:p>
              </p:txBody>
            </p:sp>
          </mc:Choice>
          <mc:Fallback>
            <p:sp>
              <p:nvSpPr>
                <p:cNvPr id="9" name="Textfeld 8">
                  <a:extLst>
                    <a:ext uri="{FF2B5EF4-FFF2-40B4-BE49-F238E27FC236}">
                      <a16:creationId xmlns:a16="http://schemas.microsoft.com/office/drawing/2014/main" id="{4A70AAF6-5D50-A542-470B-A7A22039D7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7423" y="1314099"/>
                  <a:ext cx="8812924" cy="4554837"/>
                </a:xfrm>
                <a:prstGeom prst="rect">
                  <a:avLst/>
                </a:prstGeom>
                <a:blipFill>
                  <a:blip r:embed="rId4"/>
                  <a:stretch>
                    <a:fillRect l="-576" t="-4457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3" name="Gruppieren 12">
              <a:extLst>
                <a:ext uri="{FF2B5EF4-FFF2-40B4-BE49-F238E27FC236}">
                  <a16:creationId xmlns:a16="http://schemas.microsoft.com/office/drawing/2014/main" id="{C6D1EE7C-FC22-4807-8845-E0E5056846C2}"/>
                </a:ext>
              </a:extLst>
            </p:cNvPr>
            <p:cNvGrpSpPr/>
            <p:nvPr/>
          </p:nvGrpSpPr>
          <p:grpSpPr>
            <a:xfrm>
              <a:off x="2939474" y="1265393"/>
              <a:ext cx="1251433" cy="724227"/>
              <a:chOff x="2894048" y="1243597"/>
              <a:chExt cx="1251433" cy="724227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03F938B4-FC08-AF3C-0E08-575D4E1641CE}"/>
                      </a:ext>
                    </a:extLst>
                  </p:cNvPr>
                  <p:cNvSpPr txBox="1"/>
                  <p:nvPr/>
                </p:nvSpPr>
                <p:spPr>
                  <a:xfrm>
                    <a:off x="2911804" y="1243597"/>
                    <a:ext cx="986104" cy="5495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∞  </m:t>
                          </m:r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 = 0 </m:t>
                          </m:r>
                        </m:oMath>
                      </m:oMathPara>
                    </a14:m>
                    <a:endParaRPr lang="en-US" noProof="0" dirty="0"/>
                  </a:p>
                  <a:p>
                    <a:endParaRPr lang="en-US" noProof="0" dirty="0"/>
                  </a:p>
                </p:txBody>
              </p:sp>
            </mc:Choice>
            <mc:Fallback>
              <p:sp>
                <p:nvSpPr>
                  <p:cNvPr id="11" name="Textfeld 10">
                    <a:extLst>
                      <a:ext uri="{FF2B5EF4-FFF2-40B4-BE49-F238E27FC236}">
                        <a16:creationId xmlns:a16="http://schemas.microsoft.com/office/drawing/2014/main" id="{03F938B4-FC08-AF3C-0E08-575D4E1641C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11804" y="1243597"/>
                    <a:ext cx="986104" cy="549509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2" name="Textfeld 11">
                    <a:extLst>
                      <a:ext uri="{FF2B5EF4-FFF2-40B4-BE49-F238E27FC236}">
                        <a16:creationId xmlns:a16="http://schemas.microsoft.com/office/drawing/2014/main" id="{4352177E-DDC5-8D2D-7B11-DD81C2614E68}"/>
                      </a:ext>
                    </a:extLst>
                  </p:cNvPr>
                  <p:cNvSpPr txBox="1"/>
                  <p:nvPr/>
                </p:nvSpPr>
                <p:spPr>
                  <a:xfrm>
                    <a:off x="2894048" y="1418315"/>
                    <a:ext cx="1251433" cy="549509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 0  </m:t>
                          </m:r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𝑜𝑡h𝑒𝑟𝑤𝑖𝑠𝑒</m:t>
                          </m:r>
                        </m:oMath>
                      </m:oMathPara>
                    </a14:m>
                    <a:endParaRPr lang="en-US" noProof="0" dirty="0"/>
                  </a:p>
                  <a:p>
                    <a:endParaRPr lang="en-US" noProof="0" dirty="0"/>
                  </a:p>
                </p:txBody>
              </p:sp>
            </mc:Choice>
            <mc:Fallback>
              <p:sp>
                <p:nvSpPr>
                  <p:cNvPr id="12" name="Textfeld 11">
                    <a:extLst>
                      <a:ext uri="{FF2B5EF4-FFF2-40B4-BE49-F238E27FC236}">
                        <a16:creationId xmlns:a16="http://schemas.microsoft.com/office/drawing/2014/main" id="{4352177E-DDC5-8D2D-7B11-DD81C2614E6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4048" y="1418315"/>
                    <a:ext cx="1251433" cy="549509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>
                    <a:noFill/>
                  </a:ln>
                </p:spPr>
                <p:txBody>
                  <a:bodyPr/>
                  <a:lstStyle/>
                  <a:p>
                    <a:r>
                      <a:rPr lang="de-D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17" name="Geschweifte Klammer rechts 16">
            <a:extLst>
              <a:ext uri="{FF2B5EF4-FFF2-40B4-BE49-F238E27FC236}">
                <a16:creationId xmlns:a16="http://schemas.microsoft.com/office/drawing/2014/main" id="{75824C3E-2B4D-922C-A325-C0E65B7C5117}"/>
              </a:ext>
            </a:extLst>
          </p:cNvPr>
          <p:cNvSpPr/>
          <p:nvPr/>
        </p:nvSpPr>
        <p:spPr>
          <a:xfrm>
            <a:off x="7219978" y="3637906"/>
            <a:ext cx="164670" cy="542581"/>
          </a:xfrm>
          <a:prstGeom prst="rightBrac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21DF4BDC-7C47-4E5B-DE06-AC3C08A36CBD}"/>
                  </a:ext>
                </a:extLst>
              </p:cNvPr>
              <p:cNvSpPr txBox="1"/>
              <p:nvPr/>
            </p:nvSpPr>
            <p:spPr>
              <a:xfrm>
                <a:off x="7384648" y="3613554"/>
                <a:ext cx="1363578" cy="4971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noProof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r>
                        <m:rPr>
                          <m:lit/>
                        </m:rPr>
                        <a:rPr lang="en-US" i="1" noProof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{</m:t>
                      </m:r>
                      <m:sSup>
                        <m:sSupPr>
                          <m:ctrlPr>
                            <a:rPr lang="en-US" i="1" noProof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noProof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i="1" noProof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𝑎𝑡</m:t>
                          </m:r>
                        </m:sup>
                      </m:sSup>
                      <m:r>
                        <m:rPr>
                          <m:lit/>
                        </m:rPr>
                        <a:rPr lang="en-US" i="1" noProof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i="1" noProof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noProof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noProof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 noProof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noProof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 noProof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den>
                      </m:f>
                    </m:oMath>
                  </m:oMathPara>
                </a14:m>
                <a:endParaRPr lang="en-US" noProof="0" dirty="0"/>
              </a:p>
            </p:txBody>
          </p:sp>
        </mc:Choice>
        <mc:Fallback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21DF4BDC-7C47-4E5B-DE06-AC3C08A36C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4648" y="3613554"/>
                <a:ext cx="1363578" cy="49712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33598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A04357-395B-9793-804C-9B51D003A0E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3. Poles &amp; Zeros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DAA4A5D-2AFA-1585-555A-E69DCE95F39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2587AE6-057E-871E-D3F2-62CAB94FD4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6E5B7B9-E099-ECFB-E496-11FB4C4EC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23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65418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>
            <a:extLst>
              <a:ext uri="{FF2B5EF4-FFF2-40B4-BE49-F238E27FC236}">
                <a16:creationId xmlns:a16="http://schemas.microsoft.com/office/drawing/2014/main" id="{1344E1BD-5B0E-3284-6695-A9AE37DBD8A9}"/>
              </a:ext>
            </a:extLst>
          </p:cNvPr>
          <p:cNvSpPr/>
          <p:nvPr/>
        </p:nvSpPr>
        <p:spPr>
          <a:xfrm>
            <a:off x="4389120" y="3535680"/>
            <a:ext cx="182880" cy="162560"/>
          </a:xfrm>
          <a:prstGeom prst="rect">
            <a:avLst/>
          </a:prstGeom>
          <a:solidFill>
            <a:schemeClr val="accent2"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477DB3FB-066A-DF6A-02AB-ABA6E03F42BA}"/>
              </a:ext>
            </a:extLst>
          </p:cNvPr>
          <p:cNvSpPr/>
          <p:nvPr/>
        </p:nvSpPr>
        <p:spPr>
          <a:xfrm>
            <a:off x="5511630" y="3535680"/>
            <a:ext cx="182880" cy="162560"/>
          </a:xfrm>
          <a:prstGeom prst="rect">
            <a:avLst/>
          </a:prstGeom>
          <a:solidFill>
            <a:schemeClr val="accent2"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2AFC925-0B6E-AC9A-0E01-BA9F21E59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Effects of Poles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38BD5D8-5A63-D703-EE88-BC1AF370BB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155427"/>
                <a:ext cx="8586470" cy="3263504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noProof="0" dirty="0"/>
                  <a:t>The poles of a TF are calculated by setting the </a:t>
                </a:r>
                <a:r>
                  <a:rPr lang="en-US" b="1" noProof="0" dirty="0"/>
                  <a:t>denominator</a:t>
                </a:r>
                <a:r>
                  <a:rPr lang="en-US" noProof="0" dirty="0"/>
                  <a:t> to zero</a:t>
                </a:r>
              </a:p>
              <a:p>
                <a:r>
                  <a:rPr lang="en-US" noProof="0" dirty="0"/>
                  <a:t>Why are we interested in poles of a TF?</a:t>
                </a:r>
              </a:p>
              <a:p>
                <a:pPr>
                  <a:buFont typeface="Wingdings" pitchFamily="2" charset="2"/>
                  <a:buChar char="à"/>
                </a:pPr>
                <a:r>
                  <a:rPr lang="en-US" noProof="0" dirty="0">
                    <a:sym typeface="Wingdings" pitchFamily="2" charset="2"/>
                  </a:rPr>
                  <a:t> the denominator of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  <a:sym typeface="Wingdings" pitchFamily="2" charset="2"/>
                      </a:rPr>
                      <m:t>𝐺</m:t>
                    </m:r>
                    <m:r>
                      <a:rPr lang="en-US" i="1" noProof="0" smtClean="0">
                        <a:latin typeface="Cambria Math" panose="02040503050406030204" pitchFamily="18" charset="0"/>
                        <a:sym typeface="Wingdings" pitchFamily="2" charset="2"/>
                      </a:rPr>
                      <m:t>(</m:t>
                    </m:r>
                    <m:r>
                      <a:rPr lang="en-US" i="1" noProof="0" smtClean="0">
                        <a:latin typeface="Cambria Math" panose="02040503050406030204" pitchFamily="18" charset="0"/>
                        <a:sym typeface="Wingdings" pitchFamily="2" charset="2"/>
                      </a:rPr>
                      <m:t>𝑠</m:t>
                    </m:r>
                    <m:r>
                      <a:rPr lang="en-US" i="1" noProof="0" smtClean="0">
                        <a:latin typeface="Cambria Math" panose="02040503050406030204" pitchFamily="18" charset="0"/>
                        <a:sym typeface="Wingdings" pitchFamily="2" charset="2"/>
                      </a:rPr>
                      <m:t>)</m:t>
                    </m:r>
                  </m:oMath>
                </a14:m>
                <a:r>
                  <a:rPr lang="en-US" noProof="0" dirty="0">
                    <a:sym typeface="Wingdings" pitchFamily="2" charset="2"/>
                  </a:rPr>
                  <a:t> is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noProof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noProof="0">
                            <a:latin typeface="Cambria Math" panose="02040503050406030204" pitchFamily="18" charset="0"/>
                          </a:rPr>
                          <m:t>𝑑𝑒𝑡</m:t>
                        </m:r>
                      </m:fName>
                      <m:e>
                        <m:d>
                          <m:dPr>
                            <m:ctrlPr>
                              <a:rPr lang="en-US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𝑠𝐼</m:t>
                            </m:r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d>
                      </m:e>
                    </m:func>
                  </m:oMath>
                </a14:m>
                <a:endParaRPr lang="en-US" noProof="0" dirty="0"/>
              </a:p>
              <a:p>
                <a:pPr>
                  <a:buFont typeface="Wingdings" pitchFamily="2" charset="2"/>
                  <a:buChar char="à"/>
                </a:pPr>
                <a:r>
                  <a:rPr lang="en-US" noProof="0" dirty="0"/>
                  <a:t> to get the poles we solve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noProof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noProof="0">
                            <a:latin typeface="Cambria Math" panose="02040503050406030204" pitchFamily="18" charset="0"/>
                          </a:rPr>
                          <m:t>𝑑𝑒𝑡</m:t>
                        </m:r>
                      </m:fName>
                      <m:e>
                        <m:d>
                          <m:dPr>
                            <m:ctrlPr>
                              <a:rPr lang="en-US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𝑠𝐼</m:t>
                            </m:r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d>
                      </m:e>
                    </m:func>
                  </m:oMath>
                </a14:m>
                <a:r>
                  <a:rPr lang="en-US" noProof="0" dirty="0"/>
                  <a:t> = 0</a:t>
                </a:r>
              </a:p>
              <a:p>
                <a:pPr>
                  <a:buFont typeface="Wingdings" pitchFamily="2" charset="2"/>
                  <a:buChar char="à"/>
                </a:pPr>
                <a:r>
                  <a:rPr lang="en-US" noProof="0" dirty="0"/>
                  <a:t> this look like an EV problem? </a:t>
                </a:r>
                <a:r>
                  <a:rPr lang="en-US" i="1" noProof="0" dirty="0"/>
                  <a:t>Poles = Eigenvalues of A!</a:t>
                </a:r>
              </a:p>
              <a:p>
                <a:pPr marL="0" indent="0">
                  <a:buNone/>
                </a:pPr>
                <a:endParaRPr lang="en-US" i="1" noProof="0" dirty="0"/>
              </a:p>
              <a:p>
                <a:r>
                  <a:rPr lang="en-US" i="1" noProof="0" dirty="0"/>
                  <a:t>Time response</a:t>
                </a:r>
                <a:r>
                  <a:rPr lang="en-US" noProof="0" dirty="0"/>
                  <a:t>: solution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noProof="0" dirty="0"/>
                  <a:t> describing how the state evolves over time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noProof="0" smtClean="0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p>
                        <m:sSup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b>
                            <m:sSubPr>
                              <m:ctrlP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sSub>
                        <m:sSub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noProof="0" smtClean="0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b>
                            <m:sSubPr>
                              <m:ctrlP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sSub>
                        <m:sSub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+…</m:t>
                      </m:r>
                    </m:oMath>
                  </m:oMathPara>
                </a14:m>
                <a:endParaRPr lang="en-US" noProof="0" dirty="0"/>
              </a:p>
              <a:p>
                <a:r>
                  <a:rPr lang="en-US" noProof="0" dirty="0"/>
                  <a:t>Poles are directly connected how a system behaves!</a:t>
                </a:r>
              </a:p>
              <a:p>
                <a:pPr>
                  <a:buFont typeface="Wingdings" pitchFamily="2" charset="2"/>
                  <a:buChar char="à"/>
                </a:pPr>
                <a:endParaRPr lang="en-US" noProof="0" dirty="0"/>
              </a:p>
              <a:p>
                <a:pPr marL="0" indent="0">
                  <a:buNone/>
                </a:pPr>
                <a:endParaRPr lang="en-US" noProof="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38BD5D8-5A63-D703-EE88-BC1AF370BB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155427"/>
                <a:ext cx="8586470" cy="3263504"/>
              </a:xfrm>
              <a:blipFill>
                <a:blip r:embed="rId3"/>
                <a:stretch>
                  <a:fillRect l="-591" t="-233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CE93A53-80B8-B083-4970-B31B54C66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A39E59A-F9E9-6C9A-6636-930CA9A9E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24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0DBE876A-1923-CB63-78A5-2DEEE7C24702}"/>
              </a:ext>
            </a:extLst>
          </p:cNvPr>
          <p:cNvGrpSpPr/>
          <p:nvPr/>
        </p:nvGrpSpPr>
        <p:grpSpPr>
          <a:xfrm>
            <a:off x="5694510" y="250590"/>
            <a:ext cx="3139779" cy="700906"/>
            <a:chOff x="3200400" y="4094956"/>
            <a:chExt cx="3139779" cy="700906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E22C48BA-80FA-087F-8455-4C6DC8C62587}"/>
                    </a:ext>
                  </a:extLst>
                </p:cNvPr>
                <p:cNvSpPr txBox="1"/>
                <p:nvPr/>
              </p:nvSpPr>
              <p:spPr>
                <a:xfrm>
                  <a:off x="3337177" y="4094956"/>
                  <a:ext cx="3003002" cy="66909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8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80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𝐶</m:t>
                        </m:r>
                        <m:f>
                          <m:fPr>
                            <m:ctrlPr>
                              <a:rPr lang="en-US" sz="1800" i="1" noProof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800" i="1" noProof="0" smtClean="0">
                                <a:latin typeface="Cambria Math" panose="02040503050406030204" pitchFamily="18" charset="0"/>
                              </a:rPr>
                              <m:t>𝑎𝑑𝑗</m:t>
                            </m:r>
                            <m:d>
                              <m:dPr>
                                <m:ctrlPr>
                                  <a:rPr lang="en-US" sz="18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800" i="1" noProof="0" smtClean="0">
                                    <a:latin typeface="Cambria Math" panose="02040503050406030204" pitchFamily="18" charset="0"/>
                                  </a:rPr>
                                  <m:t>𝑠𝐼</m:t>
                                </m:r>
                                <m:r>
                                  <a:rPr lang="en-US" sz="1800" i="1" noProof="0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sz="1800" i="1" noProof="0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d>
                          </m:num>
                          <m:den>
                            <m:func>
                              <m:funcPr>
                                <m:ctrlPr>
                                  <a:rPr lang="en-US" sz="18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a:rPr lang="en-US" sz="1800" i="0" noProof="0" smtClean="0">
                                    <a:latin typeface="Cambria Math" panose="02040503050406030204" pitchFamily="18" charset="0"/>
                                  </a:rPr>
                                  <m:t>𝑑𝑒𝑡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sz="1800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800" i="1" noProof="0" smtClean="0">
                                        <a:latin typeface="Cambria Math" panose="02040503050406030204" pitchFamily="18" charset="0"/>
                                      </a:rPr>
                                      <m:t>𝑠𝐼</m:t>
                                    </m:r>
                                    <m:r>
                                      <a:rPr lang="en-US" sz="1800" i="1" noProof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800" i="1" noProof="0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</m:d>
                              </m:e>
                            </m:func>
                          </m:den>
                        </m:f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800" i="1" noProof="0" smtClean="0">
                            <a:latin typeface="Cambria Math" panose="02040503050406030204" pitchFamily="18" charset="0"/>
                          </a:rPr>
                          <m:t>𝐷</m:t>
                        </m:r>
                      </m:oMath>
                    </m:oMathPara>
                  </a14:m>
                  <a:endParaRPr lang="en-US" sz="1800" noProof="0" dirty="0"/>
                </a:p>
              </p:txBody>
            </p:sp>
          </mc:Choice>
          <mc:Fallback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E22C48BA-80FA-087F-8455-4C6DC8C625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7177" y="4094956"/>
                  <a:ext cx="3003002" cy="66909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Rectangle: Rounded Corners 17">
              <a:extLst>
                <a:ext uri="{FF2B5EF4-FFF2-40B4-BE49-F238E27FC236}">
                  <a16:creationId xmlns:a16="http://schemas.microsoft.com/office/drawing/2014/main" id="{C1C10F7C-88D8-854D-3538-81B218A56A73}"/>
                </a:ext>
              </a:extLst>
            </p:cNvPr>
            <p:cNvSpPr/>
            <p:nvPr/>
          </p:nvSpPr>
          <p:spPr>
            <a:xfrm>
              <a:off x="3200400" y="4094956"/>
              <a:ext cx="3139779" cy="700906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630628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 descr="Ein Bild, das Diagramm, Reihe, Schrift, Zeichnung enthält.&#10;&#10;KI-generierte Inhalte können fehlerhaft sein.">
            <a:extLst>
              <a:ext uri="{FF2B5EF4-FFF2-40B4-BE49-F238E27FC236}">
                <a16:creationId xmlns:a16="http://schemas.microsoft.com/office/drawing/2014/main" id="{E42BF7B4-7BB7-5D9F-AB97-1EB207AF9B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888" y="0"/>
            <a:ext cx="4164376" cy="1761852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70E3B5F3-27B8-D30D-2833-02678B6C1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Effects of Poles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C0C2F9C-0EFA-DAC8-6805-7D5E5191D8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761852"/>
                <a:ext cx="7886700" cy="3500437"/>
              </a:xfrm>
            </p:spPr>
            <p:txBody>
              <a:bodyPr>
                <a:normAutofit/>
              </a:bodyPr>
              <a:lstStyle/>
              <a:p>
                <a:r>
                  <a:rPr lang="en-US" noProof="0" dirty="0"/>
                  <a:t>Can be complex </a:t>
                </a:r>
                <a:r>
                  <a:rPr lang="en-US" noProof="0" dirty="0">
                    <a:sym typeface="Wingdings" pitchFamily="2" charset="2"/>
                  </a:rPr>
                  <a:t> appear in conjugate pairs and have an oscillatory effect</a:t>
                </a:r>
              </a:p>
              <a:p>
                <a:r>
                  <a:rPr lang="en-US" noProof="0" dirty="0"/>
                  <a:t>Recall stability discussion from Week 4:</a:t>
                </a:r>
              </a:p>
              <a:p>
                <a:pPr marL="0" indent="0">
                  <a:buNone/>
                </a:pPr>
                <a:r>
                  <a:rPr lang="en-US" noProof="0" dirty="0"/>
                  <a:t>A linearized, diagonalized system with </a:t>
                </a:r>
                <a14:m>
                  <m:oMath xmlns:m="http://schemas.openxmlformats.org/officeDocument/2006/math">
                    <m:r>
                      <a:rPr lang="en-US" i="1" noProof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noProof="0" dirty="0"/>
                  <a:t>matrices is called</a:t>
                </a:r>
              </a:p>
              <a:p>
                <a:r>
                  <a:rPr lang="en-US" b="1" noProof="0" dirty="0"/>
                  <a:t>Lyapunov stable</a:t>
                </a:r>
                <a:r>
                  <a:rPr lang="en-US" noProof="0" dirty="0"/>
                  <a:t> if		</a:t>
                </a:r>
                <a14:m>
                  <m:oMath xmlns:m="http://schemas.openxmlformats.org/officeDocument/2006/math">
                    <m:r>
                      <a:rPr lang="en-US" i="1" noProof="0">
                        <a:latin typeface="Cambria Math" panose="02040503050406030204" pitchFamily="18" charset="0"/>
                      </a:rPr>
                      <m:t>𝑅𝑒</m:t>
                    </m:r>
                    <m:d>
                      <m:dPr>
                        <m:ctrlPr>
                          <a:rPr lang="en-US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noProof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i="1" noProof="0">
                        <a:latin typeface="Cambria Math" panose="02040503050406030204" pitchFamily="18" charset="0"/>
                      </a:rPr>
                      <m:t>≤0 ∀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noProof="0" dirty="0"/>
              </a:p>
              <a:p>
                <a:r>
                  <a:rPr lang="en-US" b="1" noProof="0" dirty="0"/>
                  <a:t>Asymptotically</a:t>
                </a:r>
                <a:r>
                  <a:rPr lang="en-US" noProof="0" dirty="0"/>
                  <a:t> stable if		</a:t>
                </a:r>
                <a14:m>
                  <m:oMath xmlns:m="http://schemas.openxmlformats.org/officeDocument/2006/math">
                    <m:r>
                      <a:rPr lang="en-US" i="1" noProof="0">
                        <a:latin typeface="Cambria Math" panose="02040503050406030204" pitchFamily="18" charset="0"/>
                      </a:rPr>
                      <m:t>𝑅𝑒</m:t>
                    </m:r>
                    <m:d>
                      <m:dPr>
                        <m:ctrlPr>
                          <a:rPr lang="en-US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noProof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i="1" noProof="0">
                        <a:latin typeface="Cambria Math" panose="02040503050406030204" pitchFamily="18" charset="0"/>
                      </a:rPr>
                      <m:t>&lt;0 ∀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noProof="0" dirty="0"/>
              </a:p>
              <a:p>
                <a:r>
                  <a:rPr lang="en-US" b="1" noProof="0" dirty="0"/>
                  <a:t>Unstable</a:t>
                </a:r>
                <a:r>
                  <a:rPr lang="en-US" noProof="0" dirty="0"/>
                  <a:t> if				</a:t>
                </a:r>
                <a14:m>
                  <m:oMath xmlns:m="http://schemas.openxmlformats.org/officeDocument/2006/math">
                    <m:r>
                      <a:rPr lang="en-US" i="1" noProof="0">
                        <a:latin typeface="Cambria Math" panose="02040503050406030204" pitchFamily="18" charset="0"/>
                      </a:rPr>
                      <m:t>∃ 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𝑅𝑒</m:t>
                    </m:r>
                    <m:d>
                      <m:dPr>
                        <m:ctrlPr>
                          <a:rPr lang="en-US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noProof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i="1" noProof="0">
                        <a:latin typeface="Cambria Math" panose="02040503050406030204" pitchFamily="18" charset="0"/>
                      </a:rPr>
                      <m:t>&gt;0 ∀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noProof="0" dirty="0"/>
              </a:p>
              <a:p>
                <a:pPr marL="0" indent="0">
                  <a:buNone/>
                </a:pPr>
                <a:r>
                  <a:rPr lang="en-US" noProof="0" dirty="0"/>
                  <a:t>A linearized system with non-</a:t>
                </a:r>
                <a:r>
                  <a:rPr lang="en-US" noProof="0" dirty="0" err="1"/>
                  <a:t>diagonizable</a:t>
                </a:r>
                <a:r>
                  <a:rPr lang="en-US" noProof="0" dirty="0"/>
                  <a:t> </a:t>
                </a:r>
                <a14:m>
                  <m:oMath xmlns:m="http://schemas.openxmlformats.org/officeDocument/2006/math">
                    <m:r>
                      <a:rPr lang="en-US" i="1" noProof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noProof="0" dirty="0"/>
                  <a:t> matrix is called</a:t>
                </a:r>
              </a:p>
              <a:p>
                <a:r>
                  <a:rPr lang="en-US" b="1" noProof="0" dirty="0"/>
                  <a:t>Lyapunov stable </a:t>
                </a:r>
                <a:r>
                  <a:rPr lang="en-US" noProof="0" dirty="0"/>
                  <a:t>if </a:t>
                </a:r>
                <a14:m>
                  <m:oMath xmlns:m="http://schemas.openxmlformats.org/officeDocument/2006/math">
                    <m:r>
                      <a:rPr lang="en-US" i="1" noProof="0">
                        <a:latin typeface="Cambria Math" panose="02040503050406030204" pitchFamily="18" charset="0"/>
                      </a:rPr>
                      <m:t>𝑅𝑒</m:t>
                    </m:r>
                    <m:d>
                      <m:dPr>
                        <m:ctrlPr>
                          <a:rPr lang="en-US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noProof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i="1" noProof="0">
                        <a:latin typeface="Cambria Math" panose="02040503050406030204" pitchFamily="18" charset="0"/>
                      </a:rPr>
                      <m:t>≤0 ∀</m:t>
                    </m:r>
                    <m:r>
                      <a:rPr lang="en-US" i="1" noProof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noProof="0" dirty="0"/>
                  <a:t> and there are no repeated eigenvalues with </a:t>
                </a:r>
                <a14:m>
                  <m:oMath xmlns:m="http://schemas.openxmlformats.org/officeDocument/2006/math">
                    <m:r>
                      <a:rPr lang="en-US" i="1" noProof="0">
                        <a:latin typeface="Cambria Math" panose="02040503050406030204" pitchFamily="18" charset="0"/>
                      </a:rPr>
                      <m:t>𝑅𝑒</m:t>
                    </m:r>
                    <m:d>
                      <m:dPr>
                        <m:ctrlPr>
                          <a:rPr lang="en-US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noProof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i="1" noProof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i="1" noProof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US" noProof="0" dirty="0"/>
              </a:p>
              <a:p>
                <a:pPr marL="0" indent="0">
                  <a:buNone/>
                </a:pPr>
                <a:endParaRPr lang="en-US" noProof="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C0C2F9C-0EFA-DAC8-6805-7D5E5191D8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761852"/>
                <a:ext cx="7886700" cy="3500437"/>
              </a:xfrm>
              <a:blipFill>
                <a:blip r:embed="rId3"/>
                <a:stretch>
                  <a:fillRect l="-643" t="-1805" r="-3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6451420-5D92-8270-E636-4E0B0AD32A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ABE751B-4553-BB08-1066-A3A42B774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25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22713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18E188-CAB1-5880-AABA-9F898DDF0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344" y="190560"/>
            <a:ext cx="7886700" cy="994172"/>
          </a:xfrm>
        </p:spPr>
        <p:txBody>
          <a:bodyPr/>
          <a:lstStyle/>
          <a:p>
            <a:r>
              <a:rPr lang="en-US" noProof="0" dirty="0"/>
              <a:t>Effects of Zeros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0FAF975-574C-81FA-FD19-2860A69B90E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38724" y="973107"/>
                <a:ext cx="7886700" cy="3263504"/>
              </a:xfrm>
            </p:spPr>
            <p:txBody>
              <a:bodyPr>
                <a:normAutofit/>
              </a:bodyPr>
              <a:lstStyle/>
              <a:p>
                <a:r>
                  <a:rPr lang="en-US" sz="1600" noProof="0" dirty="0"/>
                  <a:t>The zeros of a TF are calculated by setting the </a:t>
                </a:r>
                <a:r>
                  <a:rPr lang="en-US" sz="1600" b="1" noProof="0" dirty="0"/>
                  <a:t>nominator</a:t>
                </a:r>
                <a:r>
                  <a:rPr lang="en-US" sz="1600" noProof="0" dirty="0"/>
                  <a:t> to zero</a:t>
                </a:r>
              </a:p>
              <a:p>
                <a:r>
                  <a:rPr lang="en-US" sz="1600" noProof="0" dirty="0"/>
                  <a:t>To look at the effects of zeros consider the Transfer Function </a:t>
                </a:r>
                <a14:m>
                  <m:oMath xmlns:m="http://schemas.openxmlformats.org/officeDocument/2006/math"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noProof="0" dirty="0"/>
                  <a:t> containing a zero:</a:t>
                </a:r>
              </a:p>
              <a:p>
                <a:pPr marL="0" indent="0">
                  <a:buNone/>
                </a:pPr>
                <a:r>
                  <a:rPr lang="en-US" sz="1600" noProof="0" dirty="0"/>
                  <a:t> </a:t>
                </a:r>
                <a14:m>
                  <m:oMath xmlns:m="http://schemas.openxmlformats.org/officeDocument/2006/math"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600" i="1" noProof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1600" i="1" noProof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num>
                          <m:den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den>
                        </m:f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  <m:acc>
                      <m:accPr>
                        <m:chr m:val="̂"/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acc>
                    <m:d>
                      <m:dPr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600" i="1" noProof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̂"/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acc>
                    <m:d>
                      <m:dPr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600" i="1" noProof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𝑠</m:t>
                        </m:r>
                      </m:num>
                      <m:den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𝑧</m:t>
                        </m:r>
                      </m:den>
                    </m:f>
                    <m:acc>
                      <m:accPr>
                        <m:chr m:val="̂"/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acc>
                    <m:d>
                      <m:dPr>
                        <m:ctrlPr>
                          <a:rPr lang="en-US" sz="1600" i="1" noProof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1600" noProof="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0FAF975-574C-81FA-FD19-2860A69B90E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38724" y="973107"/>
                <a:ext cx="7886700" cy="3263504"/>
              </a:xfrm>
              <a:blipFill>
                <a:blip r:embed="rId3"/>
                <a:stretch>
                  <a:fillRect l="-322" t="-116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D9450FC-D108-43EF-7C71-E1186886F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739024" y="4767263"/>
            <a:ext cx="3086100" cy="273844"/>
          </a:xfrm>
        </p:spPr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7B3D4D8-D4FB-B8FD-67F4-DBD129EA37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68024" y="4767263"/>
            <a:ext cx="2057400" cy="273844"/>
          </a:xfrm>
        </p:spPr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26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66292D3F-F027-BAA1-5F09-0BC1995DEBAF}"/>
                  </a:ext>
                </a:extLst>
              </p:cNvPr>
              <p:cNvSpPr txBox="1"/>
              <p:nvPr/>
            </p:nvSpPr>
            <p:spPr>
              <a:xfrm>
                <a:off x="332344" y="2133707"/>
                <a:ext cx="7675499" cy="28757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Let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sz="1600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be the response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acc>
                    <m:d>
                      <m:d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1600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. Then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acc>
                          <m:accPr>
                            <m:chr m:val="̂"/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acc>
                    <m:d>
                      <m:d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sz="1600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 is the response of </a:t>
                </a:r>
                <a14:m>
                  <m:oMath xmlns:m="http://schemas.openxmlformats.org/officeDocument/2006/math"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𝑠</m:t>
                    </m:r>
                    <m:acc>
                      <m:accPr>
                        <m:chr m:val="̂"/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acc>
                    <m:d>
                      <m:dPr>
                        <m:ctrlPr>
                          <a:rPr lang="en-US" sz="160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1600" noProof="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noProof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⟶</m:t>
                      </m:r>
                      <m:r>
                        <a:rPr lang="en-US" b="0" i="1" noProof="0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𝑌</m:t>
                      </m:r>
                      <m:d>
                        <m:dPr>
                          <m:ctrlPr>
                            <a:rPr lang="en-US" i="1" noProof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1" noProof="0" smtClean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s</m:t>
                          </m:r>
                        </m:e>
                      </m:d>
                      <m:r>
                        <a:rPr lang="en-US" i="1" noProof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i="1" noProof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𝐺</m:t>
                      </m:r>
                      <m:d>
                        <m:dPr>
                          <m:ctrlPr>
                            <a:rPr lang="en-US" i="1" noProof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 noProof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𝑠</m:t>
                          </m:r>
                        </m:e>
                      </m:d>
                      <m:r>
                        <a:rPr lang="en-US" i="1" noProof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d>
                        <m:dPr>
                          <m:ctrlPr>
                            <a:rPr lang="en-US" i="1" noProof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 noProof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𝑠</m:t>
                          </m:r>
                        </m:e>
                      </m:d>
                      <m:r>
                        <a:rPr lang="en-US" i="1" noProof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d>
                        <m:dPr>
                          <m:ctrlPr>
                            <a:rPr lang="en-US" i="1" noProof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i="1" noProof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accPr>
                            <m:e>
                              <m:r>
                                <a:rPr lang="en-US" i="1" noProof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𝐺</m:t>
                              </m:r>
                            </m:e>
                          </m:acc>
                          <m:d>
                            <m:dPr>
                              <m:ctrlPr>
                                <a:rPr lang="en-US" i="1" noProof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i="1" noProof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en-US" i="1" noProof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i="1" noProof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fPr>
                            <m:num>
                              <m:r>
                                <a:rPr lang="en-US" i="1" noProof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𝑠</m:t>
                              </m:r>
                            </m:num>
                            <m:den>
                              <m:r>
                                <a:rPr lang="en-US" i="1" noProof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−</m:t>
                              </m:r>
                              <m:r>
                                <a:rPr lang="en-US" i="1" noProof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𝑧</m:t>
                              </m:r>
                            </m:den>
                          </m:f>
                          <m:acc>
                            <m:accPr>
                              <m:chr m:val="̂"/>
                              <m:ctrlPr>
                                <a:rPr lang="en-US" i="1" noProof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accPr>
                            <m:e>
                              <m:r>
                                <a:rPr lang="en-US" i="1" noProof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𝐺</m:t>
                              </m:r>
                            </m:e>
                          </m:acc>
                          <m:d>
                            <m:dPr>
                              <m:ctrlPr>
                                <a:rPr lang="en-US" i="1" noProof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</m:ctrlPr>
                            </m:dPr>
                            <m:e>
                              <m:r>
                                <a:rPr lang="en-US" i="1" noProof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  <m:r>
                        <a:rPr lang="en-US" i="1" noProof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𝑈</m:t>
                      </m:r>
                      <m:d>
                        <m:dPr>
                          <m:ctrlPr>
                            <a:rPr lang="en-US" i="1" noProof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dPr>
                        <m:e>
                          <m:r>
                            <a:rPr lang="en-US" i="1" noProof="0">
                              <a:latin typeface="Cambria Math" panose="02040503050406030204" pitchFamily="18" charset="0"/>
                              <a:cs typeface="Segoe UI" panose="020B0502040204020203" pitchFamily="34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en-US" i="1" noProof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p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m:rPr>
                          <m:lit/>
                        </m:rPr>
                        <a:rPr lang="en-US" i="1" noProof="0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lit/>
                        </m:rPr>
                        <a:rPr lang="en-US" i="1" noProof="0" smtClean="0"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p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m:rPr>
                          <m:lit/>
                        </m:rPr>
                        <a:rPr lang="en-US" i="1" noProof="0" smtClean="0">
                          <a:latin typeface="Cambria Math" panose="02040503050406030204" pitchFamily="18" charset="0"/>
                        </a:rPr>
                        <m:t>{</m:t>
                      </m:r>
                      <m:acc>
                        <m:accPr>
                          <m:chr m:val="̂"/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acc>
                      <m:d>
                        <m:d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lit/>
                        </m:rPr>
                        <a:rPr lang="en-US" i="1" noProof="0" smtClean="0"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den>
                      </m:f>
                      <m:sSup>
                        <m:sSup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ℒ</m:t>
                          </m:r>
                        </m:e>
                        <m:sup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m:rPr>
                          <m:lit/>
                        </m:rPr>
                        <a:rPr lang="en-US" i="1" noProof="0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𝑠</m:t>
                      </m:r>
                      <m:acc>
                        <m:accPr>
                          <m:chr m:val="̂"/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acc>
                      <m:d>
                        <m:d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lit/>
                        </m:rPr>
                        <a:rPr lang="en-US" i="1" noProof="0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noProof="0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noProof="0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noProof="0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den>
                      </m:f>
                      <m:acc>
                        <m:accPr>
                          <m:chr m:val="̇"/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acc>
                            <m:accPr>
                              <m:chr m:val="̂"/>
                              <m:ctrlP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noProof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acc>
                      <m:d>
                        <m:dPr>
                          <m:ctrlPr>
                            <a:rPr lang="en-US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</a:p>
              <a:p/>
              <a:p>
                <a:endParaRPr lang="en-US" sz="1600" noProof="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285750" indent="-285750">
                  <a:buFont typeface="Wingdings" pitchFamily="2" charset="2"/>
                  <a:buChar char="à"/>
                </a:pPr>
                <a:r>
                  <a:rPr lang="en-US" sz="1600" noProof="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zeros add a derivative term to the output</a:t>
                </a:r>
              </a:p>
              <a:p>
                <a:pPr marL="285750" indent="-285750">
                  <a:buFont typeface="Wingdings" pitchFamily="2" charset="2"/>
                  <a:buChar char="à"/>
                </a:pPr>
                <a:r>
                  <a:rPr lang="en-US" sz="1600" i="1" noProof="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The closer the zero is to the origin, the </a:t>
                </a:r>
                <a:r>
                  <a:rPr lang="en-US" sz="1600" i="1" u="sng" noProof="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stronger its effect</a:t>
                </a:r>
                <a:endParaRPr lang="en-US" sz="1600" noProof="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  <a:sym typeface="Wingdings" pitchFamily="2" charset="2"/>
                </a:endParaRPr>
              </a:p>
              <a:p>
                <a:pPr marL="285750" indent="-285750">
                  <a:buFont typeface="Wingdings" pitchFamily="2" charset="2"/>
                  <a:buChar char="à"/>
                </a:pPr>
                <a:r>
                  <a:rPr lang="en-US" sz="1600" noProof="0" dirty="0">
                    <a:solidFill>
                      <a:schemeClr val="tx1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this means we usually have an anticipatory effect but we will discuss two cases…</a:t>
                </a:r>
              </a:p>
              <a:p>
                <a:endParaRPr lang="en-US" sz="1600" noProof="0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mc:Choice>
        <mc:Fallback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66292D3F-F027-BAA1-5F09-0BC1995DEB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344" y="2133707"/>
                <a:ext cx="7675499" cy="2875787"/>
              </a:xfrm>
              <a:prstGeom prst="rect">
                <a:avLst/>
              </a:prstGeom>
              <a:blipFill>
                <a:blip r:embed="rId4"/>
                <a:stretch>
                  <a:fillRect l="-496" t="-44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9F748C47-EF25-C2BE-04A1-8F61693537B0}"/>
              </a:ext>
            </a:extLst>
          </p:cNvPr>
          <p:cNvGrpSpPr/>
          <p:nvPr/>
        </p:nvGrpSpPr>
        <p:grpSpPr>
          <a:xfrm>
            <a:off x="5316081" y="1819487"/>
            <a:ext cx="1880643" cy="387878"/>
            <a:chOff x="5670127" y="2791890"/>
            <a:chExt cx="1880643" cy="387878"/>
          </a:xfrm>
        </p:grpSpPr>
        <p:sp>
          <p:nvSpPr>
            <p:cNvPr id="13" name="Geschweifte Klammer links 12">
              <a:extLst>
                <a:ext uri="{FF2B5EF4-FFF2-40B4-BE49-F238E27FC236}">
                  <a16:creationId xmlns:a16="http://schemas.microsoft.com/office/drawing/2014/main" id="{DA629824-ED4F-BE44-FD9A-9827AF0CA237}"/>
                </a:ext>
              </a:extLst>
            </p:cNvPr>
            <p:cNvSpPr/>
            <p:nvPr/>
          </p:nvSpPr>
          <p:spPr>
            <a:xfrm rot="5400000">
              <a:off x="6453390" y="2877179"/>
              <a:ext cx="143875" cy="461303"/>
            </a:xfrm>
            <a:prstGeom prst="leftBrace">
              <a:avLst/>
            </a:prstGeom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51B84042-8315-68FC-80D0-7848A97B86C3}"/>
                </a:ext>
              </a:extLst>
            </p:cNvPr>
            <p:cNvSpPr txBox="1"/>
            <p:nvPr/>
          </p:nvSpPr>
          <p:spPr>
            <a:xfrm>
              <a:off x="5670127" y="2791890"/>
              <a:ext cx="188064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noProof="0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derivative in Laplace: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362984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B46178-4CA8-2370-A8A5-1DCE48763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48206"/>
            <a:ext cx="7886700" cy="994172"/>
          </a:xfrm>
        </p:spPr>
        <p:txBody>
          <a:bodyPr/>
          <a:lstStyle/>
          <a:p>
            <a:r>
              <a:rPr lang="en-US" noProof="0" dirty="0"/>
              <a:t>Zeros as Derivative 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1A15483-1C33-9A87-821D-6F81A8F3D0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3376569"/>
                <a:ext cx="7886700" cy="2074736"/>
              </a:xfrm>
            </p:spPr>
            <p:txBody>
              <a:bodyPr>
                <a:normAutofit/>
              </a:bodyPr>
              <a:lstStyle/>
              <a:p>
                <a:endParaRPr lang="en-US" sz="1600" i="1" noProof="0" dirty="0">
                  <a:latin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pPr marL="285750" indent="-285750">
                  <a:buFont typeface="Wingdings" pitchFamily="2" charset="2"/>
                  <a:buChar char="à"/>
                </a:pPr>
                <a:r>
                  <a:rPr lang="en-US" sz="1600" b="1" i="1" noProof="0" dirty="0">
                    <a:solidFill>
                      <a:schemeClr val="accent3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Minimum-Phase Zero</a:t>
                </a:r>
                <a:r>
                  <a:rPr lang="en-US" sz="1600" b="1" noProof="0" dirty="0">
                    <a:solidFill>
                      <a:schemeClr val="accent3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:</a:t>
                </a:r>
                <a:r>
                  <a:rPr lang="en-US" sz="1600" noProof="0" dirty="0">
                    <a:solidFill>
                      <a:schemeClr val="accent3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 noProof="0" smtClean="0">
                        <a:latin typeface="Cambria Math" panose="02040503050406030204" pitchFamily="18" charset="0"/>
                        <a:cs typeface="Segoe UI" panose="020B0502040204020203" pitchFamily="34" charset="0"/>
                        <a:sym typeface="Wingdings" pitchFamily="2" charset="2"/>
                      </a:rPr>
                      <m:t>𝑅𝑒</m:t>
                    </m:r>
                    <m:d>
                      <m:dPr>
                        <m:ctrlPr>
                          <a:rPr lang="en-US" sz="1600" i="1" noProof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  <a:sym typeface="Wingdings" pitchFamily="2" charset="2"/>
                          </a:rPr>
                        </m:ctrlPr>
                      </m:dPr>
                      <m:e>
                        <m:r>
                          <a:rPr lang="en-US" sz="1600" i="1" noProof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  <a:sym typeface="Wingdings" pitchFamily="2" charset="2"/>
                          </a:rPr>
                          <m:t>𝑧</m:t>
                        </m:r>
                      </m:e>
                    </m:d>
                    <m:r>
                      <a:rPr lang="en-US" sz="1600" i="1" noProof="0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600" i="1" noProof="0" smtClean="0">
                        <a:latin typeface="Cambria Math" panose="02040503050406030204" pitchFamily="18" charset="0"/>
                        <a:cs typeface="Segoe UI" panose="020B0502040204020203" pitchFamily="34" charset="0"/>
                        <a:sym typeface="Wingdings" pitchFamily="2" charset="2"/>
                      </a:rPr>
                      <m:t>0</m:t>
                    </m:r>
                  </m:oMath>
                </a14:m>
                <a:r>
                  <a:rPr lang="en-US" sz="1600" noProof="0" dirty="0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: adds an anticipatory effect</a:t>
                </a:r>
              </a:p>
              <a:p>
                <a:pPr marL="285750" indent="-285750">
                  <a:buFont typeface="Wingdings" pitchFamily="2" charset="2"/>
                  <a:buChar char="à"/>
                </a:pPr>
                <a:r>
                  <a:rPr lang="en-US" sz="1600" b="1" i="1" noProof="0" dirty="0">
                    <a:solidFill>
                      <a:schemeClr val="accent4"/>
                    </a:solidFill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Non-Minimum-Phase Zero:</a:t>
                </a:r>
                <a:r>
                  <a:rPr lang="en-US" sz="1600" noProof="0" dirty="0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sz="1600" i="1" noProof="0" smtClean="0">
                        <a:latin typeface="Cambria Math" panose="02040503050406030204" pitchFamily="18" charset="0"/>
                        <a:cs typeface="Segoe UI" panose="020B0502040204020203" pitchFamily="34" charset="0"/>
                        <a:sym typeface="Wingdings" pitchFamily="2" charset="2"/>
                      </a:rPr>
                      <m:t>𝑅𝑒</m:t>
                    </m:r>
                    <m:r>
                      <a:rPr lang="en-US" sz="1600" i="1" noProof="0" smtClean="0">
                        <a:latin typeface="Cambria Math" panose="02040503050406030204" pitchFamily="18" charset="0"/>
                        <a:cs typeface="Segoe UI" panose="020B0502040204020203" pitchFamily="34" charset="0"/>
                        <a:sym typeface="Wingdings" pitchFamily="2" charset="2"/>
                      </a:rPr>
                      <m:t>(</m:t>
                    </m:r>
                    <m:r>
                      <a:rPr lang="en-US" sz="1600" i="1" noProof="0" smtClean="0">
                        <a:latin typeface="Cambria Math" panose="02040503050406030204" pitchFamily="18" charset="0"/>
                        <a:cs typeface="Segoe UI" panose="020B0502040204020203" pitchFamily="34" charset="0"/>
                        <a:sym typeface="Wingdings" pitchFamily="2" charset="2"/>
                      </a:rPr>
                      <m:t>𝑧</m:t>
                    </m:r>
                    <m:r>
                      <a:rPr lang="en-US" sz="1600" i="1" noProof="0" smtClean="0">
                        <a:latin typeface="Cambria Math" panose="02040503050406030204" pitchFamily="18" charset="0"/>
                        <a:cs typeface="Segoe UI" panose="020B0502040204020203" pitchFamily="34" charset="0"/>
                        <a:sym typeface="Wingdings" pitchFamily="2" charset="2"/>
                      </a:rPr>
                      <m:t>)&gt;0</m:t>
                    </m:r>
                  </m:oMath>
                </a14:m>
                <a:r>
                  <a:rPr lang="en-US" sz="1600" noProof="0" dirty="0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: adds "negative" derivative action</a:t>
                </a:r>
              </a:p>
              <a:p>
                <a:pPr marL="0" indent="0">
                  <a:buNone/>
                </a:pPr>
                <a:r>
                  <a:rPr lang="en-US" sz="1600" noProof="0" dirty="0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 zeros affect the output but they </a:t>
                </a:r>
                <a:r>
                  <a:rPr lang="en-US" sz="1600" u="sng" noProof="0" dirty="0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can't</a:t>
                </a:r>
                <a:r>
                  <a:rPr lang="en-US" sz="1600" noProof="0" dirty="0">
                    <a:latin typeface="Segoe UI" panose="020B0502040204020203" pitchFamily="34" charset="0"/>
                    <a:cs typeface="Segoe UI" panose="020B0502040204020203" pitchFamily="34" charset="0"/>
                    <a:sym typeface="Wingdings" pitchFamily="2" charset="2"/>
                  </a:rPr>
                  <a:t> influence stability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1A15483-1C33-9A87-821D-6F81A8F3D0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3376569"/>
                <a:ext cx="7886700" cy="2074736"/>
              </a:xfrm>
              <a:blipFill>
                <a:blip r:embed="rId2"/>
                <a:stretch>
                  <a:fillRect l="-3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BBB979A-60D1-4A5B-E294-AB9EC50C6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4C66DC3-18A0-21C5-25C8-8FF793675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27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8E0B63DD-42BD-7B1F-5B16-D2AF124033C1}"/>
              </a:ext>
            </a:extLst>
          </p:cNvPr>
          <p:cNvSpPr txBox="1"/>
          <p:nvPr/>
        </p:nvSpPr>
        <p:spPr>
          <a:xfrm>
            <a:off x="1214247" y="1853538"/>
            <a:ext cx="25058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Minimum Phase Zero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2D94312-38B9-31CB-4E00-11EE34016B63}"/>
              </a:ext>
            </a:extLst>
          </p:cNvPr>
          <p:cNvSpPr txBox="1"/>
          <p:nvPr/>
        </p:nvSpPr>
        <p:spPr>
          <a:xfrm>
            <a:off x="5777262" y="1853538"/>
            <a:ext cx="23936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0" dirty="0"/>
              <a:t>Non-Minimum Phase Zero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4EE9A4BA-DC9E-AC97-0FD7-794933B3DF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876" y="2326908"/>
            <a:ext cx="4027018" cy="1220578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DF059D69-32C5-6E34-9F9B-CA43492C7D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1659" y="2292039"/>
            <a:ext cx="4072682" cy="122057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06DE2B15-A726-6F94-1847-3E912C2EC9E6}"/>
                  </a:ext>
                </a:extLst>
              </p:cNvPr>
              <p:cNvSpPr txBox="1"/>
              <p:nvPr/>
            </p:nvSpPr>
            <p:spPr>
              <a:xfrm>
                <a:off x="2286000" y="1088923"/>
                <a:ext cx="4572000" cy="5533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 noProof="0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 noProof="0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 noProof="0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noProof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den>
                      </m:f>
                      <m:acc>
                        <m:accPr>
                          <m:chr m:val="̇"/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acc>
                            <m:accPr>
                              <m:chr m:val="̂"/>
                              <m:ctrlP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i="1" noProof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acc>
                      <m:d>
                        <m:d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sz="1600" noProof="0" dirty="0"/>
              </a:p>
            </p:txBody>
          </p:sp>
        </mc:Choice>
        <mc:Fallback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06DE2B15-A726-6F94-1847-3E912C2EC9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6000" y="1088923"/>
                <a:ext cx="4572000" cy="55335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: Rounded Corners 17">
            <a:extLst>
              <a:ext uri="{FF2B5EF4-FFF2-40B4-BE49-F238E27FC236}">
                <a16:creationId xmlns:a16="http://schemas.microsoft.com/office/drawing/2014/main" id="{F2AAC199-F5D7-A135-0B55-C2D872232AFC}"/>
              </a:ext>
            </a:extLst>
          </p:cNvPr>
          <p:cNvSpPr/>
          <p:nvPr/>
        </p:nvSpPr>
        <p:spPr>
          <a:xfrm>
            <a:off x="3481149" y="1088923"/>
            <a:ext cx="2141984" cy="678008"/>
          </a:xfrm>
          <a:prstGeom prst="roundRect">
            <a:avLst>
              <a:gd name="adj" fmla="val 12642"/>
            </a:avLst>
          </a:prstGeom>
          <a:noFill/>
          <a:ln w="25400">
            <a:solidFill>
              <a:schemeClr val="tx1">
                <a:lumMod val="90000"/>
                <a:lumOff val="10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360000" rtlCol="0" anchor="ctr"/>
          <a:lstStyle/>
          <a:p>
            <a:pPr>
              <a:spcBef>
                <a:spcPts val="200"/>
              </a:spcBef>
            </a:pPr>
            <a:endParaRPr lang="en-US" noProof="0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1365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F87581-3427-0C10-FB80-1EB01EB7B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48206"/>
            <a:ext cx="7886700" cy="994172"/>
          </a:xfrm>
        </p:spPr>
        <p:txBody>
          <a:bodyPr/>
          <a:lstStyle/>
          <a:p>
            <a:r>
              <a:rPr lang="en-US" noProof="0" dirty="0"/>
              <a:t>Pole-Zero Cancellation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CF6305A-1F7C-AA5D-9C69-98518797F5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0794" y="939998"/>
            <a:ext cx="7886700" cy="3263504"/>
          </a:xfrm>
        </p:spPr>
        <p:txBody>
          <a:bodyPr/>
          <a:lstStyle/>
          <a:p>
            <a:pPr marL="0" indent="0">
              <a:buNone/>
            </a:pPr>
            <a:r>
              <a:rPr lang="en-US" sz="1600" noProof="0" dirty="0"/>
              <a:t>We would like to </a:t>
            </a:r>
            <a:r>
              <a:rPr lang="en-US" sz="1600" noProof="0" dirty="0" err="1"/>
              <a:t>analyse</a:t>
            </a:r>
            <a:r>
              <a:rPr lang="en-US" sz="1600" noProof="0" dirty="0"/>
              <a:t> what happens when a pole and a zero are close to each other, and or if we would cancel them in the TF. Consider the following TF</a:t>
            </a:r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r>
              <a:rPr lang="en-US" sz="1600" noProof="0" dirty="0"/>
              <a:t>Remember that looking at the partial fraction expansion, we actually see how much a pole is present in the response. So let’s compute the residues:</a:t>
            </a:r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B577E5-01AC-D92E-8917-6CE319C41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CE6898F-D6B4-5602-060F-48E06CC37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28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FD5096D7-7572-348A-7504-9623DC8A47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7191" y="1855790"/>
            <a:ext cx="2870828" cy="550643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64418359-366E-EB79-4CC3-B6EF49094A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6040" y="1431913"/>
            <a:ext cx="1323844" cy="1165522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CAD55A72-0E3A-72F6-375A-633250CF6A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794" y="3228806"/>
            <a:ext cx="3589634" cy="1438000"/>
          </a:xfrm>
          <a:prstGeom prst="rect">
            <a:avLst/>
          </a:prstGeom>
        </p:spPr>
      </p:pic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FA0FB5E4-87C0-0DFF-9F02-3BF9EE1EC332}"/>
              </a:ext>
            </a:extLst>
          </p:cNvPr>
          <p:cNvCxnSpPr>
            <a:stCxn id="16" idx="3"/>
          </p:cNvCxnSpPr>
          <p:nvPr/>
        </p:nvCxnSpPr>
        <p:spPr>
          <a:xfrm>
            <a:off x="4280428" y="3947806"/>
            <a:ext cx="98403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BA6F8B05-DF80-1F25-38B4-07172F433B17}"/>
              </a:ext>
            </a:extLst>
          </p:cNvPr>
          <p:cNvGrpSpPr/>
          <p:nvPr/>
        </p:nvGrpSpPr>
        <p:grpSpPr>
          <a:xfrm>
            <a:off x="5430619" y="3586579"/>
            <a:ext cx="3589633" cy="780003"/>
            <a:chOff x="5430619" y="3586579"/>
            <a:chExt cx="3589633" cy="780003"/>
          </a:xfrm>
        </p:grpSpPr>
        <p:pic>
          <p:nvPicPr>
            <p:cNvPr id="17" name="Grafik 16">
              <a:extLst>
                <a:ext uri="{FF2B5EF4-FFF2-40B4-BE49-F238E27FC236}">
                  <a16:creationId xmlns:a16="http://schemas.microsoft.com/office/drawing/2014/main" id="{01A9832B-3649-6152-0694-16D76F1933B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30620" y="3662658"/>
              <a:ext cx="3530271" cy="641301"/>
            </a:xfrm>
            <a:prstGeom prst="rect">
              <a:avLst/>
            </a:prstGeom>
          </p:spPr>
        </p:pic>
        <p:sp>
          <p:nvSpPr>
            <p:cNvPr id="20" name="Rectangle: Rounded Corners 17">
              <a:extLst>
                <a:ext uri="{FF2B5EF4-FFF2-40B4-BE49-F238E27FC236}">
                  <a16:creationId xmlns:a16="http://schemas.microsoft.com/office/drawing/2014/main" id="{B6D353BE-A259-4DDC-01EE-2BC0CB86EBEE}"/>
                </a:ext>
              </a:extLst>
            </p:cNvPr>
            <p:cNvSpPr/>
            <p:nvPr/>
          </p:nvSpPr>
          <p:spPr>
            <a:xfrm>
              <a:off x="5430619" y="3586579"/>
              <a:ext cx="3589633" cy="780003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359821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37715A-8F88-50F6-2383-80E196D478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Pole-Zero Cancellation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05F29B2-0055-43A8-C412-22080C9CC3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2399029"/>
            <a:ext cx="7886700" cy="3263504"/>
          </a:xfrm>
        </p:spPr>
        <p:txBody>
          <a:bodyPr/>
          <a:lstStyle/>
          <a:p>
            <a:r>
              <a:rPr lang="en-US" noProof="0" dirty="0"/>
              <a:t>Remember that we chose the zero being arbitrarily close to the pole. We can see now that when </a:t>
            </a:r>
            <a:r>
              <a:rPr lang="en-US" b="1" noProof="0" dirty="0"/>
              <a:t>we move the zero closer to the pole</a:t>
            </a:r>
            <a:r>
              <a:rPr lang="en-US" noProof="0" dirty="0"/>
              <a:t>, the residue of this pole, </a:t>
            </a:r>
            <a:r>
              <a:rPr lang="en-US" b="1" noProof="0" dirty="0"/>
              <a:t>it’s effect on the response, gets smaller</a:t>
            </a:r>
            <a:r>
              <a:rPr lang="en-US" noProof="0" dirty="0"/>
              <a:t>, until it gets 0 eventually. </a:t>
            </a:r>
          </a:p>
          <a:p>
            <a:pPr marL="0" indent="0">
              <a:buNone/>
            </a:pPr>
            <a:endParaRPr lang="en-US" noProof="0" dirty="0"/>
          </a:p>
          <a:p>
            <a:r>
              <a:rPr lang="en-US" noProof="0" dirty="0"/>
              <a:t>This is fine as long as we do not cancel any unstable poles.</a:t>
            </a:r>
          </a:p>
          <a:p>
            <a:r>
              <a:rPr lang="en-US" b="1" noProof="0" dirty="0"/>
              <a:t>DO NOT CANCEL UNSTABLE POLES! </a:t>
            </a:r>
            <a:r>
              <a:rPr lang="en-US" noProof="0" dirty="0"/>
              <a:t>(System blows up)</a:t>
            </a:r>
          </a:p>
          <a:p>
            <a:pPr marL="0" indent="0">
              <a:buNone/>
            </a:pPr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A8B6C10-0BD4-D990-FE56-95FB659B1E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A330BBD-08C3-9355-7508-AAE2486D0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29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" name="Gruppieren 5">
            <a:extLst>
              <a:ext uri="{FF2B5EF4-FFF2-40B4-BE49-F238E27FC236}">
                <a16:creationId xmlns:a16="http://schemas.microsoft.com/office/drawing/2014/main" id="{57F2C298-8D4D-E75B-A902-48F47D4D59BA}"/>
              </a:ext>
            </a:extLst>
          </p:cNvPr>
          <p:cNvGrpSpPr/>
          <p:nvPr/>
        </p:nvGrpSpPr>
        <p:grpSpPr>
          <a:xfrm>
            <a:off x="2777183" y="1387601"/>
            <a:ext cx="3589633" cy="780003"/>
            <a:chOff x="5430619" y="3586579"/>
            <a:chExt cx="3589633" cy="780003"/>
          </a:xfrm>
        </p:grpSpPr>
        <p:pic>
          <p:nvPicPr>
            <p:cNvPr id="7" name="Grafik 6">
              <a:extLst>
                <a:ext uri="{FF2B5EF4-FFF2-40B4-BE49-F238E27FC236}">
                  <a16:creationId xmlns:a16="http://schemas.microsoft.com/office/drawing/2014/main" id="{A7DE2C48-856F-B886-46BF-FA473805AE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30620" y="3662658"/>
              <a:ext cx="3530271" cy="641301"/>
            </a:xfrm>
            <a:prstGeom prst="rect">
              <a:avLst/>
            </a:prstGeom>
          </p:spPr>
        </p:pic>
        <p:sp>
          <p:nvSpPr>
            <p:cNvPr id="8" name="Rectangle: Rounded Corners 17">
              <a:extLst>
                <a:ext uri="{FF2B5EF4-FFF2-40B4-BE49-F238E27FC236}">
                  <a16:creationId xmlns:a16="http://schemas.microsoft.com/office/drawing/2014/main" id="{DA7FF7B9-5E95-6C5B-D204-EFECA57542B7}"/>
                </a:ext>
              </a:extLst>
            </p:cNvPr>
            <p:cNvSpPr/>
            <p:nvPr/>
          </p:nvSpPr>
          <p:spPr>
            <a:xfrm>
              <a:off x="5430619" y="3586579"/>
              <a:ext cx="3589633" cy="780003"/>
            </a:xfrm>
            <a:prstGeom prst="roundRect">
              <a:avLst>
                <a:gd name="adj" fmla="val 12642"/>
              </a:avLst>
            </a:prstGeom>
            <a:noFill/>
            <a:ln w="25400">
              <a:solidFill>
                <a:schemeClr val="tx1">
                  <a:lumMod val="90000"/>
                  <a:lumOff val="10000"/>
                </a:schemeClr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360000" rtlCol="0" anchor="ctr"/>
            <a:lstStyle/>
            <a:p>
              <a:pPr>
                <a:spcBef>
                  <a:spcPts val="200"/>
                </a:spcBef>
              </a:pPr>
              <a:endParaRPr lang="en-US" noProof="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pic>
        <p:nvPicPr>
          <p:cNvPr id="10" name="Grafik 9" descr="Ein Bild, das Berg, Vulkan, Wärme, Feuer enthält.&#10;&#10;KI-generierte Inhalte können fehlerhaft sein.">
            <a:extLst>
              <a:ext uri="{FF2B5EF4-FFF2-40B4-BE49-F238E27FC236}">
                <a16:creationId xmlns:a16="http://schemas.microsoft.com/office/drawing/2014/main" id="{A45D2ADA-A23A-5D94-B601-5256C4DC28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2555" y="3625162"/>
            <a:ext cx="2030402" cy="1142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56582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2C1016-B956-3E3F-5B88-37CC9159F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Initial &amp; Final Value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8A1B810-20FB-B51F-96CF-94074AF8AF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369219"/>
                <a:ext cx="7886700" cy="474449"/>
              </a:xfrm>
            </p:spPr>
            <p:txBody>
              <a:bodyPr/>
              <a:lstStyle/>
              <a:p>
                <a:r>
                  <a:rPr lang="en-US" noProof="0" dirty="0"/>
                  <a:t>We can use the following trick to compute the initial/final value of </a:t>
                </a:r>
                <a14:m>
                  <m:oMath xmlns:m="http://schemas.openxmlformats.org/officeDocument/2006/math"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noProof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noProof="0" dirty="0"/>
              </a:p>
              <a:p>
                <a:endParaRPr lang="en-US" noProof="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8A1B810-20FB-B51F-96CF-94074AF8AF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369219"/>
                <a:ext cx="7886700" cy="474449"/>
              </a:xfrm>
              <a:blipFill>
                <a:blip r:embed="rId2"/>
                <a:stretch>
                  <a:fillRect l="-482" t="-162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4948B1A-79F3-6C09-17C5-7690CD7CF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4D9EA44-DBCA-4D19-EA49-AABE7C9D4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30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C0ECB50B-9734-0E39-4EC2-08C867C6F10C}"/>
              </a:ext>
            </a:extLst>
          </p:cNvPr>
          <p:cNvGrpSpPr/>
          <p:nvPr/>
        </p:nvGrpSpPr>
        <p:grpSpPr>
          <a:xfrm>
            <a:off x="471600" y="1895706"/>
            <a:ext cx="8200800" cy="666782"/>
            <a:chOff x="471600" y="1836234"/>
            <a:chExt cx="8200800" cy="66678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10450FD3-54C9-B22B-AC6B-70D8346B6111}"/>
                    </a:ext>
                  </a:extLst>
                </p:cNvPr>
                <p:cNvSpPr txBox="1"/>
                <p:nvPr/>
              </p:nvSpPr>
              <p:spPr>
                <a:xfrm>
                  <a:off x="471600" y="1843668"/>
                  <a:ext cx="4021875" cy="65934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600" b="1" i="1" noProof="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Initial Value Theorem: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unc>
                          <m:func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sz="1600" i="0" noProof="0">
                                    <a:latin typeface="Cambria Math" panose="02040503050406030204" pitchFamily="18" charset="0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en-US" sz="1600" b="0" i="1" noProof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US" sz="1600" b="0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lim>
                            </m:limLow>
                          </m:fName>
                          <m:e>
                            <m: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func>
                        <m:d>
                          <m:dPr>
                            <m:ctrlP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sz="1600" b="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sz="1600" i="0" noProof="0" smtClean="0">
                                    <a:latin typeface="Cambria Math" panose="02040503050406030204" pitchFamily="18" charset="0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en-US" sz="1600" b="0" i="1" noProof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  <m:t>→∞</m:t>
                                </m:r>
                              </m:lim>
                            </m:limLow>
                          </m:fName>
                          <m:e>
                            <m: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func>
                        <m: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𝑌</m:t>
                        </m:r>
                        <m:d>
                          <m:dPr>
                            <m:ctrlP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sz="1600" i="0" noProof="0" smtClean="0">
                                    <a:latin typeface="Cambria Math" panose="02040503050406030204" pitchFamily="18" charset="0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en-US" sz="1600" b="0" i="1" noProof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  <m:t>→∞</m:t>
                                </m:r>
                              </m:lim>
                            </m:limLow>
                          </m:fName>
                          <m:e>
                            <m: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func>
                        <m: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sz="1600" b="0" i="1" noProof="0" smtClean="0">
                            <a:latin typeface="Cambria Math" panose="02040503050406030204" pitchFamily="18" charset="0"/>
                          </a:rPr>
                          <m:t>𝑈</m:t>
                        </m:r>
                        <m:d>
                          <m:dPr>
                            <m:ctrlP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oMath>
                    </m:oMathPara>
                  </a14:m>
                  <a:endParaRPr lang="en-US" sz="1600" b="1" i="1" noProof="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mc:Choice>
          <mc:Fallback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10450FD3-54C9-B22B-AC6B-70D8346B61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1600" y="1843668"/>
                  <a:ext cx="4021875" cy="659348"/>
                </a:xfrm>
                <a:prstGeom prst="rect">
                  <a:avLst/>
                </a:prstGeom>
                <a:blipFill>
                  <a:blip r:embed="rId3"/>
                  <a:stretch>
                    <a:fillRect t="-1887" b="-1887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AE6DD0C7-3BFA-4B83-2A41-4F1DFA6AB907}"/>
                    </a:ext>
                  </a:extLst>
                </p:cNvPr>
                <p:cNvSpPr txBox="1"/>
                <p:nvPr/>
              </p:nvSpPr>
              <p:spPr>
                <a:xfrm>
                  <a:off x="4650525" y="1836234"/>
                  <a:ext cx="4021875" cy="65934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600" b="1" i="1" noProof="0" dirty="0">
                      <a:latin typeface="Segoe UI" panose="020B0502040204020203" pitchFamily="34" charset="0"/>
                      <a:cs typeface="Segoe UI" panose="020B0502040204020203" pitchFamily="34" charset="0"/>
                    </a:rPr>
                    <a:t>Final Value Theorem: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unc>
                          <m:func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sz="1600" i="0" noProof="0">
                                    <a:latin typeface="Cambria Math" panose="02040503050406030204" pitchFamily="18" charset="0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→∞</m:t>
                                </m:r>
                              </m:lim>
                            </m:limLow>
                          </m:fName>
                          <m:e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func>
                        <m:d>
                          <m:dPr>
                            <m:ctrlPr>
                              <a:rPr lang="en-US" sz="1600" i="1" noProof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1600" i="1" noProof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sz="1600" i="0" noProof="0">
                                    <a:latin typeface="Cambria Math" panose="02040503050406030204" pitchFamily="18" charset="0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1600" i="1" noProof="0">
                                    <a:latin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lim>
                            </m:limLow>
                          </m:fName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func>
                        <m:r>
                          <a:rPr lang="en-US" sz="1600" i="1" noProof="0" smtClean="0">
                            <a:latin typeface="Cambria Math" panose="02040503050406030204" pitchFamily="18" charset="0"/>
                          </a:rPr>
                          <m:t>𝑌</m:t>
                        </m:r>
                        <m:d>
                          <m:d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sz="1600" noProof="0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sz="1600" i="1" noProof="0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 sz="1600" noProof="0" smtClean="0">
                                    <a:latin typeface="Cambria Math" panose="02040503050406030204" pitchFamily="18" charset="0"/>
                                  </a:rPr>
                                  <m:t>lim</m:t>
                                </m:r>
                              </m:e>
                              <m:lim>
                                <m:r>
                                  <a:rPr lang="en-US" sz="1600" b="0" i="0" noProof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1600" i="1" noProof="0" smtClean="0">
                                    <a:latin typeface="Cambria Math" panose="02040503050406030204" pitchFamily="18" charset="0"/>
                                  </a:rPr>
                                  <m:t>→</m:t>
                                </m:r>
                                <m:r>
                                  <a:rPr lang="en-US" sz="1600" b="0" i="0" noProof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lim>
                            </m:limLow>
                          </m:fName>
                          <m:e>
                            <m:r>
                              <a:rPr lang="en-US" sz="1600" b="0" i="0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func>
                        <m:r>
                          <a:rPr lang="en-US" sz="1600" b="0" i="0" noProof="0" smtClean="0">
                            <a:latin typeface="Cambria Math" panose="02040503050406030204" pitchFamily="18" charset="0"/>
                          </a:rPr>
                          <m:t>𝐺</m:t>
                        </m:r>
                        <m:d>
                          <m:dPr>
                            <m:ctrlP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0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sz="1600" b="0" i="0" noProof="0" smtClean="0">
                            <a:latin typeface="Cambria Math" panose="02040503050406030204" pitchFamily="18" charset="0"/>
                          </a:rPr>
                          <m:t>𝑈</m:t>
                        </m:r>
                        <m:d>
                          <m:dPr>
                            <m:ctrlPr>
                              <a:rPr lang="en-US" sz="1600" b="0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0" noProof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oMath>
                    </m:oMathPara>
                  </a14:m>
                  <a:endParaRPr lang="en-US" sz="1600" b="1" i="1" noProof="0" dirty="0">
                    <a:latin typeface="Segoe UI" panose="020B0502040204020203" pitchFamily="34" charset="0"/>
                    <a:cs typeface="Segoe UI" panose="020B0502040204020203" pitchFamily="34" charset="0"/>
                  </a:endParaRPr>
                </a:p>
              </p:txBody>
            </p:sp>
          </mc:Choice>
          <mc:Fallback>
            <p:sp>
              <p:nvSpPr>
                <p:cNvPr id="7" name="Textfeld 6">
                  <a:extLst>
                    <a:ext uri="{FF2B5EF4-FFF2-40B4-BE49-F238E27FC236}">
                      <a16:creationId xmlns:a16="http://schemas.microsoft.com/office/drawing/2014/main" id="{AE6DD0C7-3BFA-4B83-2A41-4F1DFA6AB9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0525" y="1836234"/>
                  <a:ext cx="4021875" cy="659348"/>
                </a:xfrm>
                <a:prstGeom prst="rect">
                  <a:avLst/>
                </a:prstGeom>
                <a:blipFill>
                  <a:blip r:embed="rId4"/>
                  <a:stretch>
                    <a:fillRect t="-3774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383B8BD1-6CBB-F4AB-7711-18789AB98124}"/>
                  </a:ext>
                </a:extLst>
              </p:cNvPr>
              <p:cNvSpPr txBox="1"/>
              <p:nvPr/>
            </p:nvSpPr>
            <p:spPr>
              <a:xfrm>
                <a:off x="628650" y="3078668"/>
                <a:ext cx="5532925" cy="67698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noProof="0" dirty="0"/>
                  <a:t>We can apply this to derivatives: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sz="1600" i="1" noProof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600" i="0" noProof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acc>
                            <m:accPr>
                              <m:chr m:val="̇"/>
                              <m:ctrlP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</m:func>
                      <m:d>
                        <m:dPr>
                          <m:ctrlPr>
                            <a:rPr lang="en-US" sz="1600" i="1" noProof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1600" i="1" noProof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i="1" noProof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600" i="0" noProof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>
                            <a:rPr lang="en-US" sz="1600" i="1" noProof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func>
                      <m:d>
                        <m:dPr>
                          <m:begChr m:val="["/>
                          <m:endChr m:val="]"/>
                          <m:ctrlPr>
                            <a:rPr lang="en-US" sz="1600" i="1" noProof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>
                              <a:latin typeface="Cambria Math" panose="02040503050406030204" pitchFamily="18" charset="0"/>
                            </a:rPr>
                            <m:t>ℒ</m:t>
                          </m:r>
                          <m:d>
                            <m:dPr>
                              <m:ctrlP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̇"/>
                                  <m:ctrlP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d>
                                <m:dPr>
                                  <m:ctrlP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 noProof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</m:e>
                      </m:d>
                      <m:r>
                        <a:rPr lang="en-US" sz="1600" i="1" noProof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i="1" noProof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600" i="0" noProof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func>
                      <m:r>
                        <a:rPr lang="en-US" sz="1600" i="1" noProof="0">
                          <a:latin typeface="Cambria Math" panose="02040503050406030204" pitchFamily="18" charset="0"/>
                        </a:rPr>
                        <m:t>𝑌</m:t>
                      </m:r>
                      <m:d>
                        <m:dPr>
                          <m:ctrlPr>
                            <a:rPr lang="en-US" sz="1600" i="1" noProof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i="1" noProof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600" i="1" noProof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600" i="0" noProof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sSup>
                            <m:sSupPr>
                              <m:ctrlP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1600" i="1" noProof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func>
                      <m:r>
                        <a:rPr lang="en-US" sz="1600" i="1" noProof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sz="1600" i="1" noProof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i="1" noProof="0">
                          <a:latin typeface="Cambria Math" panose="02040503050406030204" pitchFamily="18" charset="0"/>
                        </a:rPr>
                        <m:t>𝑈</m:t>
                      </m:r>
                      <m:d>
                        <m:dPr>
                          <m:ctrlPr>
                            <a:rPr lang="en-US" sz="1600" i="1" noProof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 noProof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en-US" sz="1600" noProof="0" dirty="0"/>
              </a:p>
            </p:txBody>
          </p:sp>
        </mc:Choice>
        <mc:Fallback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383B8BD1-6CBB-F4AB-7711-18789AB981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3078668"/>
                <a:ext cx="5532925" cy="676980"/>
              </a:xfrm>
              <a:prstGeom prst="rect">
                <a:avLst/>
              </a:prstGeom>
              <a:blipFill>
                <a:blip r:embed="rId5"/>
                <a:stretch>
                  <a:fillRect l="-458" t="-370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555641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 descr="Ein Bild, das Tex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CD6E1972-A42C-D26F-9208-74B0EEC610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420" y="519771"/>
            <a:ext cx="3745987" cy="2847896"/>
          </a:xfrm>
          <a:prstGeom prst="rect">
            <a:avLst/>
          </a:prstGeom>
        </p:spPr>
      </p:pic>
      <p:pic>
        <p:nvPicPr>
          <p:cNvPr id="11" name="Grafik 10" descr="Ein Bild, das Diagramm, Text, Reihe enthält.&#10;&#10;KI-generierte Inhalte können fehlerhaft sein.">
            <a:extLst>
              <a:ext uri="{FF2B5EF4-FFF2-40B4-BE49-F238E27FC236}">
                <a16:creationId xmlns:a16="http://schemas.microsoft.com/office/drawing/2014/main" id="{3E7E8C25-9DFC-F8C3-D691-B40DB23A33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5579" y="644401"/>
            <a:ext cx="3973158" cy="4314495"/>
          </a:xfrm>
          <a:prstGeom prst="rect">
            <a:avLst/>
          </a:prstGeom>
        </p:spPr>
      </p:pic>
      <p:pic>
        <p:nvPicPr>
          <p:cNvPr id="9" name="Grafik 8" descr="Ein Bild, das Text, Quittung, Schrift, Screenshot enthält.&#10;&#10;KI-generierte Inhalte können fehlerhaft sein.">
            <a:extLst>
              <a:ext uri="{FF2B5EF4-FFF2-40B4-BE49-F238E27FC236}">
                <a16:creationId xmlns:a16="http://schemas.microsoft.com/office/drawing/2014/main" id="{3E7D3915-96EA-D5C9-F993-F35DADCD35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867" y="3293327"/>
            <a:ext cx="4140712" cy="1559668"/>
          </a:xfrm>
          <a:prstGeom prst="rect">
            <a:avLst/>
          </a:prstGeo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9C15134-EA94-553A-1905-2C306D1584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3260C5D-E8E1-C5FB-200E-3E26A5B3B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31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991B457-1537-E7C8-291E-4958B8704018}"/>
              </a:ext>
            </a:extLst>
          </p:cNvPr>
          <p:cNvSpPr txBox="1"/>
          <p:nvPr/>
        </p:nvSpPr>
        <p:spPr>
          <a:xfrm>
            <a:off x="7457320" y="15327"/>
            <a:ext cx="16866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noProof="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x: pole / o: zero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FEC99FD-CC82-D841-2E07-534F68F997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66" y="-143271"/>
            <a:ext cx="7886700" cy="994172"/>
          </a:xfrm>
        </p:spPr>
        <p:txBody>
          <a:bodyPr/>
          <a:lstStyle/>
          <a:p>
            <a:r>
              <a:rPr lang="en-US" noProof="0" dirty="0"/>
              <a:t>Old Exam Question</a:t>
            </a:r>
          </a:p>
        </p:txBody>
      </p:sp>
    </p:spTree>
    <p:extLst>
      <p:ext uri="{BB962C8B-B14F-4D97-AF65-F5344CB8AC3E}">
        <p14:creationId xmlns:p14="http://schemas.microsoft.com/office/powerpoint/2010/main" val="11791847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4686BD-3580-DA3F-5093-541A8AC475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89954"/>
            <a:ext cx="7886700" cy="994172"/>
          </a:xfrm>
        </p:spPr>
        <p:txBody>
          <a:bodyPr/>
          <a:lstStyle/>
          <a:p>
            <a:r>
              <a:rPr lang="en-US" noProof="0" dirty="0"/>
              <a:t>Summary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763D69F-2246-C01F-4340-98A2F81D08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005386"/>
            <a:ext cx="8087179" cy="4138114"/>
          </a:xfrm>
        </p:spPr>
        <p:txBody>
          <a:bodyPr>
            <a:normAutofit/>
          </a:bodyPr>
          <a:lstStyle/>
          <a:p>
            <a:r>
              <a:rPr lang="en-US" noProof="0" dirty="0"/>
              <a:t>Different representation of transfer functions: partial fraction expansion, Root-Locus Form, Bode Form</a:t>
            </a:r>
          </a:p>
          <a:p>
            <a:r>
              <a:rPr lang="en-US" noProof="0" dirty="0"/>
              <a:t>How to compute the transfer function graphically</a:t>
            </a:r>
          </a:p>
          <a:p>
            <a:r>
              <a:rPr lang="en-US" noProof="0" dirty="0"/>
              <a:t>How poles correspond to exponentials in the time response and determine the system behavior (stability, oscillation, decay rate)</a:t>
            </a:r>
          </a:p>
          <a:p>
            <a:r>
              <a:rPr lang="en-US" noProof="0" dirty="0"/>
              <a:t>Zeros act as derivative terms in the system response: they modify the output dynamics without changing system stability</a:t>
            </a:r>
          </a:p>
          <a:p>
            <a:r>
              <a:rPr lang="en-US" noProof="0" dirty="0"/>
              <a:t>Min-phase → anticipatory | Non-min-phase → inverse response</a:t>
            </a:r>
          </a:p>
          <a:p>
            <a:r>
              <a:rPr lang="en-US" noProof="0" dirty="0"/>
              <a:t>Pole-zero cancellation reduces a pole’s effect, but canceling unstable poles makes the system blow up</a:t>
            </a:r>
          </a:p>
          <a:p>
            <a:r>
              <a:rPr lang="en-US" noProof="0" dirty="0"/>
              <a:t>Theorems to find a signal’s start and steady-state value directly from its Laplace form.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20A2DB56-64DE-70FE-12A6-311AA2083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32412C0-E04B-8EFA-1050-5FEF8D2B7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32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2844789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AAD27D-8A89-0C85-0D2E-09677A32E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Tips for Problem Set 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Inhaltsplatzhalter 5">
                <a:extLst>
                  <a:ext uri="{FF2B5EF4-FFF2-40B4-BE49-F238E27FC236}">
                    <a16:creationId xmlns:a16="http://schemas.microsoft.com/office/drawing/2014/main" id="{93899BAA-8742-D882-B584-EDA0E722F3F2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988699993"/>
                  </p:ext>
                </p:extLst>
              </p:nvPr>
            </p:nvGraphicFramePr>
            <p:xfrm>
              <a:off x="628650" y="1121099"/>
              <a:ext cx="7886700" cy="994174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628900">
                      <a:extLst>
                        <a:ext uri="{9D8B030D-6E8A-4147-A177-3AD203B41FA5}">
                          <a16:colId xmlns:a16="http://schemas.microsoft.com/office/drawing/2014/main" val="3962552202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49204568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278263022"/>
                        </a:ext>
                      </a:extLst>
                    </a:gridCol>
                  </a:tblGrid>
                  <a:tr h="49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 dirty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Easy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 dirty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Medium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 dirty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Hard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66955868"/>
                      </a:ext>
                    </a:extLst>
                  </a:tr>
                  <a:tr h="497087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000" b="1" i="1" noProof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𝟏</m:t>
                              </m:r>
                              <m:r>
                                <a:rPr lang="en-US" sz="2000" b="1" i="1" noProof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,</m:t>
                              </m:r>
                              <m:r>
                                <a:rPr lang="en-US" sz="2000" b="1" i="1" noProof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𝟐</m:t>
                              </m:r>
                            </m:oMath>
                          </a14:m>
                          <a:r>
                            <a:rPr lang="en-US" sz="2000" b="1" i="1" noProof="0" dirty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,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1" i="1" noProof="0" smtClean="0">
                                  <a:latin typeface="Cambria Math" panose="02040503050406030204" pitchFamily="18" charset="0"/>
                                  <a:cs typeface="Segoe UI" panose="020B0502040204020203" pitchFamily="34" charset="0"/>
                                </a:rPr>
                                <m:t>𝟒</m:t>
                              </m:r>
                            </m:oMath>
                          </a14:m>
                          <a:endParaRPr lang="en-US" sz="2000" b="1" i="1" noProof="0" dirty="0">
                            <a:latin typeface="Segoe UI" panose="020B0502040204020203" pitchFamily="34" charset="0"/>
                            <a:cs typeface="Segoe UI" panose="020B0502040204020203" pitchFamily="34" charset="0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800" b="1" i="1" noProof="0" smtClean="0"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sz="1800" b="1" i="1" noProof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800" b="1" i="1" noProof="0" smtClean="0">
                                    <a:latin typeface="Cambria Math" panose="02040503050406030204" pitchFamily="18" charset="0"/>
                                  </a:rPr>
                                  <m:t>𝟓</m:t>
                                </m:r>
                                <m:r>
                                  <a:rPr lang="en-US" sz="1800" b="1" i="1" noProof="0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sz="1800" b="1" i="1" noProof="0" smtClean="0">
                                    <a:latin typeface="Cambria Math" panose="02040503050406030204" pitchFamily="18" charset="0"/>
                                  </a:rPr>
                                  <m:t>𝟔</m:t>
                                </m:r>
                              </m:oMath>
                            </m:oMathPara>
                          </a14:m>
                          <a:endParaRPr lang="en-US" sz="1800" b="1" noProof="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noProof="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27601718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Inhaltsplatzhalter 5">
                <a:extLst>
                  <a:ext uri="{FF2B5EF4-FFF2-40B4-BE49-F238E27FC236}">
                    <a16:creationId xmlns:a16="http://schemas.microsoft.com/office/drawing/2014/main" id="{93899BAA-8742-D882-B584-EDA0E722F3F2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988699993"/>
                  </p:ext>
                </p:extLst>
              </p:nvPr>
            </p:nvGraphicFramePr>
            <p:xfrm>
              <a:off x="628650" y="1121099"/>
              <a:ext cx="7886700" cy="994174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628900">
                      <a:extLst>
                        <a:ext uri="{9D8B030D-6E8A-4147-A177-3AD203B41FA5}">
                          <a16:colId xmlns:a16="http://schemas.microsoft.com/office/drawing/2014/main" val="3962552202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49204568"/>
                        </a:ext>
                      </a:extLst>
                    </a:gridCol>
                    <a:gridCol w="2628900">
                      <a:extLst>
                        <a:ext uri="{9D8B030D-6E8A-4147-A177-3AD203B41FA5}">
                          <a16:colId xmlns:a16="http://schemas.microsoft.com/office/drawing/2014/main" val="1278263022"/>
                        </a:ext>
                      </a:extLst>
                    </a:gridCol>
                  </a:tblGrid>
                  <a:tr h="4970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 dirty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Easy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 dirty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Medium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noProof="0" dirty="0">
                              <a:latin typeface="Segoe UI" panose="020B0502040204020203" pitchFamily="34" charset="0"/>
                              <a:cs typeface="Segoe UI" panose="020B0502040204020203" pitchFamily="34" charset="0"/>
                            </a:rPr>
                            <a:t>Hard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66955868"/>
                      </a:ext>
                    </a:extLst>
                  </a:tr>
                  <a:tr h="497087"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483" t="-105128" r="-201449" b="-128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105128" r="-100481" b="-1282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noProof="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2760171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B8B719D-70FB-7DAE-35F1-4131F7F40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0458931-4B41-5370-0EFE-FCA313A39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33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B999B5A6-5CE1-678B-600B-D8284012A26E}"/>
                  </a:ext>
                </a:extLst>
              </p:cNvPr>
              <p:cNvSpPr txBox="1"/>
              <p:nvPr/>
            </p:nvSpPr>
            <p:spPr>
              <a:xfrm>
                <a:off x="628650" y="2284333"/>
                <a:ext cx="7796892" cy="23092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Nr. 1: Use the definitions of poles &amp; zeros, look at the example we did together, look up the cover-up method in the slides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Nr. 2: Focus on the zeros, look at the slide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Nr. 3: think about out pole-zero cancellation in 3b)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Nr. 4: look at the discriminant i.e.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800" i="1" noProof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</m:ctrlPr>
                      </m:sSupPr>
                      <m:e>
                        <m:r>
                          <a:rPr lang="en-US" sz="1800" i="1" noProof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𝑏</m:t>
                        </m:r>
                      </m:e>
                      <m:sup>
                        <m:r>
                          <a:rPr lang="en-US" sz="1800" i="1" noProof="0" smtClean="0">
                            <a:latin typeface="Cambria Math" panose="02040503050406030204" pitchFamily="18" charset="0"/>
                            <a:cs typeface="Segoe UI" panose="020B0502040204020203" pitchFamily="34" charset="0"/>
                          </a:rPr>
                          <m:t>2</m:t>
                        </m:r>
                      </m:sup>
                    </m:sSup>
                    <m:r>
                      <a:rPr lang="en-US" sz="1800" i="1" noProof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−4</m:t>
                    </m:r>
                    <m:r>
                      <a:rPr lang="en-US" sz="1800" i="1" noProof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𝑎𝑐</m:t>
                    </m:r>
                    <m:r>
                      <a:rPr lang="en-US" sz="1800" b="0" i="1" noProof="0" smtClean="0">
                        <a:latin typeface="Cambria Math" panose="02040503050406030204" pitchFamily="18" charset="0"/>
                        <a:cs typeface="Segoe UI" panose="020B0502040204020203" pitchFamily="34" charset="0"/>
                      </a:rPr>
                      <m:t> </m:t>
                    </m:r>
                    <m:r>
                      <m:rPr>
                        <m:nor/>
                      </m:rPr>
                      <a:rPr lang="en-US" sz="1800" i="0" noProof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m:t>to</m:t>
                    </m:r>
                    <m:r>
                      <m:rPr>
                        <m:nor/>
                      </m:rPr>
                      <a:rPr lang="en-US" sz="1800" i="0" noProof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m:t> </m:t>
                    </m:r>
                    <m:r>
                      <m:rPr>
                        <m:nor/>
                      </m:rPr>
                      <a:rPr lang="en-US" sz="1800" i="0" noProof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m:t>check</m:t>
                    </m:r>
                    <m:r>
                      <m:rPr>
                        <m:nor/>
                      </m:rPr>
                      <a:rPr lang="en-US" sz="1800" i="0" noProof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m:t> </m:t>
                    </m:r>
                    <m:r>
                      <m:rPr>
                        <m:nor/>
                      </m:rPr>
                      <a:rPr lang="en-US" sz="1800" i="0" noProof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m:t>if</m:t>
                    </m:r>
                    <m:r>
                      <m:rPr>
                        <m:nor/>
                      </m:rPr>
                      <a:rPr lang="en-US" sz="1800" i="0" noProof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m:t> </m:t>
                    </m:r>
                    <m:r>
                      <m:rPr>
                        <m:nor/>
                      </m:rPr>
                      <a:rPr lang="en-US" sz="1800" i="0" noProof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m:t>complex</m:t>
                    </m:r>
                    <m:r>
                      <m:rPr>
                        <m:nor/>
                      </m:rPr>
                      <a:rPr lang="en-US" sz="1800" i="0" noProof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m:t> </m:t>
                    </m:r>
                    <m:r>
                      <m:rPr>
                        <m:nor/>
                      </m:rPr>
                      <a:rPr lang="en-US" sz="1800" i="0" noProof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m:t>or</m:t>
                    </m:r>
                    <m:r>
                      <m:rPr>
                        <m:nor/>
                      </m:rPr>
                      <a:rPr lang="en-US" sz="1800" i="0" noProof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m:t> </m:t>
                    </m:r>
                    <m:r>
                      <m:rPr>
                        <m:nor/>
                      </m:rPr>
                      <a:rPr lang="en-US" sz="1800" i="0" noProof="0">
                        <a:latin typeface="Segoe UI" panose="020B0502040204020203" pitchFamily="34" charset="0"/>
                        <a:cs typeface="Segoe UI" panose="020B0502040204020203" pitchFamily="34" charset="0"/>
                      </a:rPr>
                      <m:t>not</m:t>
                    </m:r>
                  </m:oMath>
                </a14:m>
                <a:endParaRPr lang="en-US" sz="1800" noProof="0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Nr. 5: look at the example we did it for the sinusoidal input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800" noProof="0" dirty="0">
                    <a:latin typeface="Segoe UI" panose="020B0502040204020203" pitchFamily="34" charset="0"/>
                    <a:cs typeface="Segoe UI" panose="020B0502040204020203" pitchFamily="34" charset="0"/>
                  </a:rPr>
                  <a:t>Nr. 6: similar to Nr.5, apply the formula for sinusoidal inputs from the slides</a:t>
                </a:r>
              </a:p>
            </p:txBody>
          </p:sp>
        </mc:Choice>
        <mc:Fallback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B999B5A6-5CE1-678B-600B-D8284012A2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2284333"/>
                <a:ext cx="7796892" cy="2309287"/>
              </a:xfrm>
              <a:prstGeom prst="rect">
                <a:avLst/>
              </a:prstGeom>
              <a:blipFill>
                <a:blip r:embed="rId3"/>
                <a:stretch>
                  <a:fillRect l="-488" t="-1648" b="-329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728893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E65319-C120-C099-FB22-07576EC8CCD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0" dirty="0"/>
              <a:t>Questions?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CABF65E-A2BE-C5A3-A238-B2C34F5C372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EF77125-0866-A1E0-1A75-FABC1474E2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8004AFB-473A-87EE-195F-BED0DD24B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34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4272159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962236-C78D-1583-548D-CDC22CC086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599514"/>
            <a:ext cx="6858000" cy="1790700"/>
          </a:xfrm>
        </p:spPr>
        <p:txBody>
          <a:bodyPr/>
          <a:lstStyle/>
          <a:p>
            <a:r>
              <a:rPr lang="en-US" noProof="0" dirty="0"/>
              <a:t>Feedback? 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B38DF9A-4CB3-2931-74A1-D2FC05310A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0589" y="2494113"/>
            <a:ext cx="8342822" cy="1241822"/>
          </a:xfrm>
        </p:spPr>
        <p:txBody>
          <a:bodyPr>
            <a:normAutofit lnSpcReduction="10000"/>
          </a:bodyPr>
          <a:lstStyle/>
          <a:p>
            <a:r>
              <a:rPr lang="en-US" noProof="0" dirty="0"/>
              <a:t>Too fast? Too slow? Less theory, more exercises?</a:t>
            </a:r>
          </a:p>
          <a:p>
            <a:r>
              <a:rPr lang="en-US" noProof="0" dirty="0"/>
              <a:t>I would appreciate your feedback. Please let me know.</a:t>
            </a:r>
          </a:p>
          <a:p>
            <a:r>
              <a:rPr lang="en-US" noProof="0" dirty="0">
                <a:hlinkClick r:id="rId2"/>
              </a:rPr>
              <a:t>https://docs.google.com/forms/d/e/1FAIpQLSdHl0kjWo63aNzDkAV0cnmQadCAj5L0D7v7aSh0BK7BBdEgpA/viewform?usp=header</a:t>
            </a:r>
            <a:endParaRPr lang="en-US" noProof="0" dirty="0"/>
          </a:p>
          <a:p>
            <a:endParaRPr lang="en-US" noProof="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0382365-2B79-A2DC-45B8-AA3C069F0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>
              <a:buClrTx/>
            </a:pPr>
            <a:r>
              <a:rPr lang="en-US" kern="1200" noProof="0" dirty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 Varatharajan - </a:t>
            </a:r>
            <a:r>
              <a:rPr lang="en-US" kern="1200" noProof="0" dirty="0" err="1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t>kissanv.github.io</a:t>
            </a:r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74564F6-4B5F-BBD9-45BC-F1FCCD4F6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>
              <a:buClrTx/>
            </a:pPr>
            <a:fld id="{36EAFFE7-40E2-CA47-82C0-73D0FC591208}" type="slidenum">
              <a:rPr lang="en-US" kern="1200" noProof="0" smtClean="0">
                <a:solidFill>
                  <a:srgbClr val="101623">
                    <a:tint val="75000"/>
                  </a:srgbClr>
                </a:solidFill>
                <a:latin typeface="Calibri" panose="020F0502020204030204"/>
                <a:ea typeface="+mn-ea"/>
                <a:cs typeface="+mn-cs"/>
              </a:rPr>
              <a:pPr defTabSz="342900">
                <a:buClrTx/>
              </a:pPr>
              <a:t>35</a:t>
            </a:fld>
            <a:endParaRPr lang="en-US" kern="1200" noProof="0" dirty="0">
              <a:solidFill>
                <a:srgbClr val="101623">
                  <a:tint val="75000"/>
                </a:srgbClr>
              </a:solidFill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825981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Custom 1">
      <a:dk1>
        <a:srgbClr val="101623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EA"/>
      </a:accent2>
      <a:accent3>
        <a:srgbClr val="47DE13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S1_Week5_kvaratharaja_annotated" id="{1325B490-456F-614D-BFB2-E826360AF242}" vid="{3DDC5642-7B7C-754C-809D-713C14150B84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</Template>
  <TotalTime>0</TotalTime>
  <Words>2610</Words>
  <Application>Microsoft Macintosh PowerPoint</Application>
  <PresentationFormat>Bildschirmpräsentation (16:9)</PresentationFormat>
  <Paragraphs>407</Paragraphs>
  <Slides>35</Slides>
  <Notes>11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35</vt:i4>
      </vt:variant>
    </vt:vector>
  </HeadingPairs>
  <TitlesOfParts>
    <vt:vector size="45" baseType="lpstr">
      <vt:lpstr>Segoe UI Black</vt:lpstr>
      <vt:lpstr>Calibri</vt:lpstr>
      <vt:lpstr>Segoe UI Semibold</vt:lpstr>
      <vt:lpstr>Cambria Math</vt:lpstr>
      <vt:lpstr>Quattrocento Sans</vt:lpstr>
      <vt:lpstr>Wingdings</vt:lpstr>
      <vt:lpstr>Segoe UI</vt:lpstr>
      <vt:lpstr>Segoe UI Light</vt:lpstr>
      <vt:lpstr>Arial</vt:lpstr>
      <vt:lpstr>Office</vt:lpstr>
      <vt:lpstr>CS1 Week 6 Empty</vt:lpstr>
      <vt:lpstr>Attention</vt:lpstr>
      <vt:lpstr>Recap Last week</vt:lpstr>
      <vt:lpstr>Motivation</vt:lpstr>
      <vt:lpstr>Time Response</vt:lpstr>
      <vt:lpstr>Transfer Function</vt:lpstr>
      <vt:lpstr>s-Domain</vt:lpstr>
      <vt:lpstr>Quiz 1</vt:lpstr>
      <vt:lpstr>Controllable Canonical Form</vt:lpstr>
      <vt:lpstr>Quiz 2</vt:lpstr>
      <vt:lpstr>Course Schedule</vt:lpstr>
      <vt:lpstr>Today</vt:lpstr>
      <vt:lpstr>1. Different TF Notations</vt:lpstr>
      <vt:lpstr>Partial Fraction Expansion</vt:lpstr>
      <vt:lpstr>Root-Locus- &amp; Bode-Form</vt:lpstr>
      <vt:lpstr>Example</vt:lpstr>
      <vt:lpstr>2. System Response</vt:lpstr>
      <vt:lpstr>Recap Complex Numbers</vt:lpstr>
      <vt:lpstr>Sinusoidal Response</vt:lpstr>
      <vt:lpstr>Graphical Approach</vt:lpstr>
      <vt:lpstr>Quiz </vt:lpstr>
      <vt:lpstr>Impulse Response</vt:lpstr>
      <vt:lpstr>3. Poles &amp; Zeros</vt:lpstr>
      <vt:lpstr>Effects of Poles</vt:lpstr>
      <vt:lpstr>Effects of Poles</vt:lpstr>
      <vt:lpstr>Effects of Zeros</vt:lpstr>
      <vt:lpstr>Zeros as Derivative Actions</vt:lpstr>
      <vt:lpstr>Pole-Zero Cancellation</vt:lpstr>
      <vt:lpstr>Pole-Zero Cancellation</vt:lpstr>
      <vt:lpstr>Initial &amp; Final Value Theorem</vt:lpstr>
      <vt:lpstr>Old Exam Question</vt:lpstr>
      <vt:lpstr>Summary</vt:lpstr>
      <vt:lpstr>Tips for Problem Set 5</vt:lpstr>
      <vt:lpstr>Questions?</vt:lpstr>
      <vt:lpstr>Feedback?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CS1 Week 6 Annotated</dc:title>
  <dc:creator>Varatharajan  Kissan</dc:creator>
  <cp:lastModifiedBy>Varatharajan  Kissan</cp:lastModifiedBy>
  <cp:revision>3</cp:revision>
  <dcterms:created xsi:type="dcterms:W3CDTF">2025-10-18T14:01:04Z</dcterms:created>
  <dcterms:modified xsi:type="dcterms:W3CDTF">2025-10-25T06:24:17Z</dcterms:modified>
</cp:coreProperties>
</file>