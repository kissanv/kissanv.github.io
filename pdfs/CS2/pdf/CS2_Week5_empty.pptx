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9"/>
  </p:notesMasterIdLst>
  <p:handoutMasterIdLst>
    <p:handoutMasterId r:id="rId40"/>
  </p:handoutMasterIdLst>
  <p:sldIdLst>
    <p:sldId id="256" r:id="rId2"/>
    <p:sldId id="1199" r:id="rId3"/>
    <p:sldId id="1062" r:id="rId4"/>
    <p:sldId id="1212" r:id="rId5"/>
    <p:sldId id="1255" r:id="rId6"/>
    <p:sldId id="1229" r:id="rId7"/>
    <p:sldId id="1230" r:id="rId8"/>
    <p:sldId id="1234" r:id="rId9"/>
    <p:sldId id="1235" r:id="rId10"/>
    <p:sldId id="1201" r:id="rId11"/>
    <p:sldId id="257" r:id="rId12"/>
    <p:sldId id="1210" r:id="rId13"/>
    <p:sldId id="1236" r:id="rId14"/>
    <p:sldId id="1251" r:id="rId15"/>
    <p:sldId id="1258" r:id="rId16"/>
    <p:sldId id="1196" r:id="rId17"/>
    <p:sldId id="1237" r:id="rId18"/>
    <p:sldId id="1238" r:id="rId19"/>
    <p:sldId id="1250" r:id="rId20"/>
    <p:sldId id="1239" r:id="rId21"/>
    <p:sldId id="1240" r:id="rId22"/>
    <p:sldId id="1241" r:id="rId23"/>
    <p:sldId id="1242" r:id="rId24"/>
    <p:sldId id="1252" r:id="rId25"/>
    <p:sldId id="1243" r:id="rId26"/>
    <p:sldId id="1244" r:id="rId27"/>
    <p:sldId id="1257" r:id="rId28"/>
    <p:sldId id="1245" r:id="rId29"/>
    <p:sldId id="1256" r:id="rId30"/>
    <p:sldId id="1246" r:id="rId31"/>
    <p:sldId id="1254" r:id="rId32"/>
    <p:sldId id="1259" r:id="rId33"/>
    <p:sldId id="1253" r:id="rId34"/>
    <p:sldId id="1247" r:id="rId35"/>
    <p:sldId id="1248" r:id="rId36"/>
    <p:sldId id="1249" r:id="rId37"/>
    <p:sldId id="1067" r:id="rId3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1"/>
    </p:embeddedFont>
    <p:embeddedFont>
      <p:font typeface="Quattrocento Sans" panose="020B0502050000020003" pitchFamily="34" charset="0"/>
      <p:regular r:id="rId42"/>
      <p:bold r:id="rId43"/>
      <p:italic r:id="rId44"/>
      <p:boldItalic r:id="rId45"/>
    </p:embeddedFont>
    <p:embeddedFont>
      <p:font typeface="Segoe UI" panose="020B0502040204020203" pitchFamily="34" charset="0"/>
      <p:regular r:id="rId46"/>
      <p:bold r:id="rId47"/>
      <p:italic r:id="rId48"/>
      <p:boldItalic r:id="rId49"/>
    </p:embeddedFont>
    <p:embeddedFont>
      <p:font typeface="Segoe UI Black" panose="020B0A02040204020203" pitchFamily="34" charset="0"/>
      <p:bold r:id="rId50"/>
      <p:italic r:id="rId51"/>
      <p:boldItalic r:id="rId52"/>
    </p:embeddedFont>
    <p:embeddedFont>
      <p:font typeface="Segoe UI Light" panose="020B0502040204020203" pitchFamily="34" charset="0"/>
      <p:regular r:id="rId53"/>
      <p:italic r:id="rId54"/>
    </p:embeddedFont>
    <p:embeddedFont>
      <p:font typeface="Segoe UI Semibold" panose="020B0702040204020203" pitchFamily="3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E7E7E8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6CC274-69B1-B64E-B6BD-19352D6436AD}" v="1" dt="2026-03-19T09:32:21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35"/>
    <p:restoredTop sz="94762"/>
  </p:normalViewPr>
  <p:slideViewPr>
    <p:cSldViewPr snapToGrid="0">
      <p:cViewPr varScale="1">
        <p:scale>
          <a:sx n="161" d="100"/>
          <a:sy n="161" d="100"/>
        </p:scale>
        <p:origin x="672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66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99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934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84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E074-461E-889C-D948-6D91A803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F53F8B3-B488-EF24-7A86-3781C9E72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FB97A43-9DA4-F15F-E74D-8DE2D4546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45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292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930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D1041CCD-685A-FE46-96D1-3E2C6B1317C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19.03.26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3848465F-F72A-0941-9156-E0188137299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19.03.26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8DDE4E-C344-FB4C-860F-215D810B1B8F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19.03.26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0CC93683-A0E9-0449-95F7-50D94268C15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19.03.26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19AC7724-915F-984D-BDD3-56B6D1D6DDE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19.03.26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0A633956-F26E-014D-8854-2ECE0297438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19.03.26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338762FB-E42D-8A41-9FD3-F9F99F28FE0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19.03.26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049540F5-F8C1-A447-987C-F12367CAD68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19.03.26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36349309-85D4-BC4A-B0CF-8585A642F3E8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19.03.26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5653B1A-026D-0798-4C02-15C713B9863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863FD9D-D523-A4C2-C1BE-8E5F51E930A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issanv.github.i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polybox.ethz.ch/index.php/s/AReA9YBeJQKxBD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51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eg"/><Relationship Id="rId5" Type="http://schemas.openxmlformats.org/officeDocument/2006/relationships/image" Target="../media/image64.png"/><Relationship Id="rId4" Type="http://schemas.openxmlformats.org/officeDocument/2006/relationships/image" Target="../media/image5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CS2 Week 5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DOFB with Integral Action, Intro to MIMO systems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84B99F-910E-E4A1-8043-73828C6F93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938CD5-BABE-23AB-A447-8515387F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Exercise Classes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DCE39A-FDC9-F233-96B7-7CA7D6D9D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515350" cy="3263504"/>
          </a:xfrm>
        </p:spPr>
        <p:txBody>
          <a:bodyPr/>
          <a:lstStyle/>
          <a:p>
            <a:r>
              <a:rPr lang="en-US" dirty="0"/>
              <a:t>Shared exercise with </a:t>
            </a:r>
            <a:r>
              <a:rPr lang="en-US" dirty="0" err="1"/>
              <a:t>Haixiao</a:t>
            </a:r>
            <a:r>
              <a:rPr lang="en-US" dirty="0"/>
              <a:t> and Kissan</a:t>
            </a:r>
          </a:p>
          <a:p>
            <a:r>
              <a:rPr lang="en-US" dirty="0"/>
              <a:t>Theory recap</a:t>
            </a:r>
          </a:p>
          <a:p>
            <a:r>
              <a:rPr lang="en-US" dirty="0"/>
              <a:t>Notes available on </a:t>
            </a:r>
            <a:r>
              <a:rPr lang="en-US" dirty="0" err="1"/>
              <a:t>Kissan's</a:t>
            </a:r>
            <a:r>
              <a:rPr lang="en-US" dirty="0"/>
              <a:t> website: </a:t>
            </a:r>
            <a:r>
              <a:rPr lang="en-US" dirty="0">
                <a:hlinkClick r:id="rId3"/>
              </a:rPr>
              <a:t>https://kissanv.github.io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&amp; on </a:t>
            </a:r>
            <a:r>
              <a:rPr lang="en-US" dirty="0" err="1"/>
              <a:t>Haixiao's</a:t>
            </a:r>
            <a:r>
              <a:rPr lang="en-US" dirty="0"/>
              <a:t> </a:t>
            </a:r>
            <a:r>
              <a:rPr lang="en-US" dirty="0" err="1"/>
              <a:t>Polybox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https://polybox.ethz.ch/index.php/s/AReA9YBeJQKxBDn</a:t>
            </a:r>
            <a:endParaRPr lang="en-US" dirty="0"/>
          </a:p>
          <a:p>
            <a:r>
              <a:rPr lang="en-US" dirty="0"/>
              <a:t>Quizzes, Examples &amp; Old exam questions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427529-1D68-E341-795B-4E358E56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115DBD-21A3-73CF-05A2-4AF9A954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8B75B07-B41E-107B-E634-800AFB118E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6" b="576"/>
          <a:stretch/>
        </p:blipFill>
        <p:spPr>
          <a:xfrm>
            <a:off x="2473700" y="3289736"/>
            <a:ext cx="1110499" cy="10977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4700591-EBC6-588D-F570-23A53B89AECA}"/>
              </a:ext>
            </a:extLst>
          </p:cNvPr>
          <p:cNvSpPr txBox="1"/>
          <p:nvPr/>
        </p:nvSpPr>
        <p:spPr>
          <a:xfrm>
            <a:off x="2256943" y="4426149"/>
            <a:ext cx="1454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err="1">
                <a:latin typeface="Segoe UI" panose="020B0502040204020203" pitchFamily="34" charset="0"/>
                <a:cs typeface="Segoe UI" panose="020B0502040204020203" pitchFamily="34" charset="0"/>
              </a:rPr>
              <a:t>Kissan's</a:t>
            </a:r>
            <a:r>
              <a:rPr lang="en-US" i="1" u="sng">
                <a:latin typeface="Segoe UI" panose="020B0502040204020203" pitchFamily="34" charset="0"/>
                <a:cs typeface="Segoe UI" panose="020B0502040204020203" pitchFamily="34" charset="0"/>
              </a:rPr>
              <a:t> Website</a:t>
            </a:r>
          </a:p>
        </p:txBody>
      </p:sp>
      <p:pic>
        <p:nvPicPr>
          <p:cNvPr id="8" name="Grafik 7" descr="Ein Bild, das Muster, Pixel enthält.&#10;&#10;KI-generierte Inhalte können fehlerhaft sein.">
            <a:extLst>
              <a:ext uri="{FF2B5EF4-FFF2-40B4-BE49-F238E27FC236}">
                <a16:creationId xmlns:a16="http://schemas.microsoft.com/office/drawing/2014/main" id="{282856CE-68D9-03F5-07B2-46341D12BC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24" t="4241" r="2511" b="6076"/>
          <a:stretch>
            <a:fillRect/>
          </a:stretch>
        </p:blipFill>
        <p:spPr>
          <a:xfrm>
            <a:off x="5004133" y="3237726"/>
            <a:ext cx="1255082" cy="119691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84D5A8A-E4FE-BC11-FC16-F195A1B5B127}"/>
              </a:ext>
            </a:extLst>
          </p:cNvPr>
          <p:cNvSpPr txBox="1"/>
          <p:nvPr/>
        </p:nvSpPr>
        <p:spPr>
          <a:xfrm>
            <a:off x="4782886" y="4426147"/>
            <a:ext cx="169394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i="1" u="sng" err="1">
                <a:latin typeface="Segoe UI"/>
                <a:cs typeface="Segoe UI"/>
              </a:rPr>
              <a:t>Haixiao's</a:t>
            </a:r>
            <a:r>
              <a:rPr lang="en-US" i="1" u="sng">
                <a:latin typeface="Segoe UI"/>
                <a:cs typeface="Segoe UI"/>
              </a:rPr>
              <a:t> </a:t>
            </a:r>
            <a:r>
              <a:rPr lang="en-US" i="1" u="sng" err="1">
                <a:latin typeface="Segoe UI"/>
                <a:cs typeface="Segoe UI"/>
              </a:rPr>
              <a:t>Polybox</a:t>
            </a:r>
            <a:endParaRPr lang="de-DE" err="1"/>
          </a:p>
        </p:txBody>
      </p:sp>
    </p:spTree>
    <p:extLst>
      <p:ext uri="{BB962C8B-B14F-4D97-AF65-F5344CB8AC3E}">
        <p14:creationId xmlns:p14="http://schemas.microsoft.com/office/powerpoint/2010/main" val="90033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1DF6BA-034F-F1C5-3190-B77F4B3FD6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Recap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A95E09-9941-5AAE-ECC0-9572019139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858456-216D-BAE5-95F4-FA794BE4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EA2CC16-B953-4CEF-621D-5D66E30D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91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C9C92B-D0E1-9B78-AD2B-CFC28628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Feedback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E1C2BA-23FE-2720-0664-4B858CCA9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4216063"/>
            <a:ext cx="7886700" cy="797600"/>
          </a:xfrm>
        </p:spPr>
        <p:txBody>
          <a:bodyPr>
            <a:normAutofit/>
          </a:bodyPr>
          <a:lstStyle/>
          <a:p>
            <a:endParaRPr lang="en-US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819AF4-DDD3-316A-47C3-7AF491B4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163162-2D9E-4B0E-5D9A-BD9DCABF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E6DF9EC9-0849-F226-77F2-774583F70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15" y="2045405"/>
            <a:ext cx="6562169" cy="19879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66E46B01-8EB6-5739-1D8E-191A5CE6E7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1050" y="1257911"/>
                <a:ext cx="7886700" cy="7976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en-US" sz="1600" dirty="0"/>
                  <a:t>assume that we know the states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ym typeface="Wingdings" pitchFamily="2" charset="2"/>
                  </a:rPr>
                  <a:t> smarter to directly feed back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  <m:r>
                      <a:rPr lang="de-CH" sz="1600" b="0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instead of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endParaRPr lang="en-US" sz="1600" dirty="0">
                  <a:sym typeface="Wingdings" pitchFamily="2" charset="2"/>
                </a:endParaRPr>
              </a:p>
              <a:p>
                <a:pPr>
                  <a:buClrTx/>
                </a:pPr>
                <a:r>
                  <a:rPr lang="en-US" sz="1600" dirty="0">
                    <a:sym typeface="Wingdings" pitchFamily="2" charset="2"/>
                  </a:rPr>
                  <a:t>the control architecture would look like this:</a:t>
                </a:r>
                <a:endParaRPr lang="en-US" sz="1600" dirty="0"/>
              </a:p>
            </p:txBody>
          </p:sp>
        </mc:Choice>
        <mc:Fallback xmlns=""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66E46B01-8EB6-5739-1D8E-191A5CE6E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" y="1257911"/>
                <a:ext cx="7886700" cy="797600"/>
              </a:xfrm>
              <a:prstGeom prst="rect">
                <a:avLst/>
              </a:prstGeom>
              <a:blipFill>
                <a:blip r:embed="rId3"/>
                <a:stretch>
                  <a:fillRect l="-322" t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455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A1A19-4FE5-A514-7861-55057B00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AE70C-E196-5A81-F3A7-683D23F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LQR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CA25F7-8581-1869-B61D-62CF02324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1D1F34-836D-DBA5-FF84-24573EBB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3103D40C-C2AD-264C-28DF-BA3283F9A3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005767"/>
                <a:ext cx="7886700" cy="8514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:r>
                  <a:rPr lang="en-US" sz="1600" dirty="0"/>
                  <a:t>method to find optimal controller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 for a given task</a:t>
                </a:r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3103D40C-C2AD-264C-28DF-BA3283F9A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005767"/>
                <a:ext cx="7886700" cy="851467"/>
              </a:xfrm>
              <a:prstGeom prst="rect">
                <a:avLst/>
              </a:prstGeom>
              <a:blipFill>
                <a:blip r:embed="rId2"/>
                <a:stretch>
                  <a:fillRect l="-322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5D86FA49-CC74-F362-FD2A-38690A180A0E}"/>
              </a:ext>
            </a:extLst>
          </p:cNvPr>
          <p:cNvGrpSpPr/>
          <p:nvPr/>
        </p:nvGrpSpPr>
        <p:grpSpPr>
          <a:xfrm>
            <a:off x="2369794" y="1335692"/>
            <a:ext cx="4404411" cy="1168037"/>
            <a:chOff x="712445" y="1409612"/>
            <a:chExt cx="4404411" cy="11680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0A85CB0E-B467-A4CF-6C66-8D0C8F476E48}"/>
                    </a:ext>
                  </a:extLst>
                </p:cNvPr>
                <p:cNvSpPr txBox="1"/>
                <p:nvPr/>
              </p:nvSpPr>
              <p:spPr>
                <a:xfrm>
                  <a:off x="712445" y="1409612"/>
                  <a:ext cx="4404411" cy="11175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dirty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/>
                            </m:limLow>
                          </m:fName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i="1" dirty="0" err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</m:func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𝑄𝑥</m:t>
                                </m:r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sSup>
                                  <m:sSup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𝑅𝑢</m:t>
                                </m:r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oMath>
                    </m:oMathPara>
                  </a14:m>
                  <a:endParaRPr lang="de-CH" sz="1600" i="1" dirty="0">
                    <a:latin typeface="Cambria Math" panose="02040503050406030204" pitchFamily="18" charset="0"/>
                  </a:endParaRPr>
                </a:p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    </a:t>
                  </a:r>
                  <a:r>
                    <a:rPr lang="en-US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s.t.</a:t>
                  </a:r>
                  <a:r>
                    <a:rPr lang="en-US" sz="1600" dirty="0"/>
                    <a:t>	 </a:t>
                  </a:r>
                  <a14:m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𝐴𝑥</m:t>
                      </m:r>
                      <m:d>
                        <m:d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𝐵𝑢</m:t>
                      </m:r>
                      <m:d>
                        <m:d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a14:m>
                  <a:endParaRPr lang="de-CH" sz="16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) = −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𝐾𝑥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CH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0A85CB0E-B467-A4CF-6C66-8D0C8F476E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45" y="1409612"/>
                  <a:ext cx="4404411" cy="1117550"/>
                </a:xfrm>
                <a:prstGeom prst="rect">
                  <a:avLst/>
                </a:prstGeom>
                <a:blipFill>
                  <a:blip r:embed="rId3"/>
                  <a:stretch>
                    <a:fillRect t="-88636" b="-829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: Rounded Corners 17">
              <a:extLst>
                <a:ext uri="{FF2B5EF4-FFF2-40B4-BE49-F238E27FC236}">
                  <a16:creationId xmlns:a16="http://schemas.microsoft.com/office/drawing/2014/main" id="{2A5367E6-4C8C-50A3-53B1-D2262330D7B4}"/>
                </a:ext>
              </a:extLst>
            </p:cNvPr>
            <p:cNvSpPr/>
            <p:nvPr/>
          </p:nvSpPr>
          <p:spPr>
            <a:xfrm>
              <a:off x="712445" y="1422228"/>
              <a:ext cx="4296815" cy="1155421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6FA5C423-0E70-1BDD-3C65-C9CDFE011678}"/>
              </a:ext>
            </a:extLst>
          </p:cNvPr>
          <p:cNvGrpSpPr/>
          <p:nvPr/>
        </p:nvGrpSpPr>
        <p:grpSpPr>
          <a:xfrm>
            <a:off x="186430" y="3010328"/>
            <a:ext cx="7155110" cy="1047743"/>
            <a:chOff x="186430" y="3010328"/>
            <a:chExt cx="7155110" cy="1047743"/>
          </a:xfrm>
        </p:grpSpPr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99D37C59-E9E5-CC85-393C-9ED10E18A44A}"/>
                </a:ext>
              </a:extLst>
            </p:cNvPr>
            <p:cNvSpPr/>
            <p:nvPr/>
          </p:nvSpPr>
          <p:spPr>
            <a:xfrm>
              <a:off x="5188001" y="3765684"/>
              <a:ext cx="180246" cy="224392"/>
            </a:xfrm>
            <a:prstGeom prst="rect">
              <a:avLst/>
            </a:prstGeom>
            <a:solidFill>
              <a:schemeClr val="accent4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DFD33841-C78F-DF84-38C6-5B788D22ED16}"/>
                </a:ext>
              </a:extLst>
            </p:cNvPr>
            <p:cNvGrpSpPr/>
            <p:nvPr/>
          </p:nvGrpSpPr>
          <p:grpSpPr>
            <a:xfrm>
              <a:off x="186430" y="3010328"/>
              <a:ext cx="7155110" cy="1047743"/>
              <a:chOff x="186430" y="3010328"/>
              <a:chExt cx="7155110" cy="1047743"/>
            </a:xfrm>
          </p:grpSpPr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C875C51A-98A4-169D-6AED-6443C309A92A}"/>
                  </a:ext>
                </a:extLst>
              </p:cNvPr>
              <p:cNvSpPr/>
              <p:nvPr/>
            </p:nvSpPr>
            <p:spPr>
              <a:xfrm>
                <a:off x="1459536" y="3068569"/>
                <a:ext cx="180246" cy="224392"/>
              </a:xfrm>
              <a:prstGeom prst="rect">
                <a:avLst/>
              </a:prstGeom>
              <a:solidFill>
                <a:schemeClr val="accent4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D3C280F7-BD85-2342-7F05-C2C57835A1A7}"/>
                  </a:ext>
                </a:extLst>
              </p:cNvPr>
              <p:cNvSpPr/>
              <p:nvPr/>
            </p:nvSpPr>
            <p:spPr>
              <a:xfrm>
                <a:off x="1825109" y="3067409"/>
                <a:ext cx="180246" cy="224392"/>
              </a:xfrm>
              <a:prstGeom prst="rect">
                <a:avLst/>
              </a:prstGeom>
              <a:solidFill>
                <a:schemeClr val="accent4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31916094-8A13-3A46-3192-74C6BD097B5C}"/>
                  </a:ext>
                </a:extLst>
              </p:cNvPr>
              <p:cNvSpPr/>
              <p:nvPr/>
            </p:nvSpPr>
            <p:spPr>
              <a:xfrm>
                <a:off x="2707528" y="3067409"/>
                <a:ext cx="180246" cy="224392"/>
              </a:xfrm>
              <a:prstGeom prst="rect">
                <a:avLst/>
              </a:prstGeom>
              <a:solidFill>
                <a:schemeClr val="accent4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90B9550F-E239-0806-E0F0-2A05D7725073}"/>
                  </a:ext>
                </a:extLst>
              </p:cNvPr>
              <p:cNvSpPr/>
              <p:nvPr/>
            </p:nvSpPr>
            <p:spPr>
              <a:xfrm>
                <a:off x="3589947" y="3074502"/>
                <a:ext cx="180246" cy="224392"/>
              </a:xfrm>
              <a:prstGeom prst="rect">
                <a:avLst/>
              </a:prstGeom>
              <a:solidFill>
                <a:schemeClr val="accent4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2" name="Gruppieren 31">
                <a:extLst>
                  <a:ext uri="{FF2B5EF4-FFF2-40B4-BE49-F238E27FC236}">
                    <a16:creationId xmlns:a16="http://schemas.microsoft.com/office/drawing/2014/main" id="{BA08C447-D895-05BE-661C-39325970DFB1}"/>
                  </a:ext>
                </a:extLst>
              </p:cNvPr>
              <p:cNvGrpSpPr/>
              <p:nvPr/>
            </p:nvGrpSpPr>
            <p:grpSpPr>
              <a:xfrm>
                <a:off x="186430" y="3010328"/>
                <a:ext cx="7155110" cy="1047743"/>
                <a:chOff x="186430" y="3010328"/>
                <a:chExt cx="7155110" cy="1047743"/>
              </a:xfrm>
            </p:grpSpPr>
            <p:grpSp>
              <p:nvGrpSpPr>
                <p:cNvPr id="18" name="Gruppieren 17">
                  <a:extLst>
                    <a:ext uri="{FF2B5EF4-FFF2-40B4-BE49-F238E27FC236}">
                      <a16:creationId xmlns:a16="http://schemas.microsoft.com/office/drawing/2014/main" id="{18584ADE-D1EC-DBEE-35CC-0F4A49AB92E7}"/>
                    </a:ext>
                  </a:extLst>
                </p:cNvPr>
                <p:cNvGrpSpPr/>
                <p:nvPr/>
              </p:nvGrpSpPr>
              <p:grpSpPr>
                <a:xfrm>
                  <a:off x="186430" y="3010328"/>
                  <a:ext cx="4785621" cy="338554"/>
                  <a:chOff x="899926" y="2762698"/>
                  <a:chExt cx="4785621" cy="338554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" name="Textfeld 7">
                        <a:extLst>
                          <a:ext uri="{FF2B5EF4-FFF2-40B4-BE49-F238E27FC236}">
                            <a16:creationId xmlns:a16="http://schemas.microsoft.com/office/drawing/2014/main" id="{C10F3CEA-CF73-A16F-0749-CFD3B8F8A8D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13547" y="2762698"/>
                        <a:ext cx="4572000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0" indent="0"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𝑃𝐴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𝑃𝐵</m:t>
                              </m:r>
                              <m:sSup>
                                <m:sSupPr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m:oMathPara>
                        </a14:m>
                        <a:endParaRPr 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8" name="Textfeld 7">
                        <a:extLst>
                          <a:ext uri="{FF2B5EF4-FFF2-40B4-BE49-F238E27FC236}">
                            <a16:creationId xmlns:a16="http://schemas.microsoft.com/office/drawing/2014/main" id="{C10F3CEA-CF73-A16F-0749-CFD3B8F8A8D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13547" y="2762698"/>
                        <a:ext cx="4572000" cy="338554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b="-1111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677937C2-F352-242C-4930-23F7E1331762}"/>
                      </a:ext>
                    </a:extLst>
                  </p:cNvPr>
                  <p:cNvSpPr txBox="1"/>
                  <p:nvPr/>
                </p:nvSpPr>
                <p:spPr>
                  <a:xfrm>
                    <a:off x="899926" y="2762698"/>
                    <a:ext cx="97815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i="1" u="sng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Solution: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feld 11">
                      <a:extLst>
                        <a:ext uri="{FF2B5EF4-FFF2-40B4-BE49-F238E27FC236}">
                          <a16:creationId xmlns:a16="http://schemas.microsoft.com/office/drawing/2014/main" id="{C58C4442-82D1-FFB0-9B10-ACA50F4B57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0051" y="3473296"/>
                      <a:ext cx="6941489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marL="0" indent="0">
                        <a:buNone/>
                      </a:pPr>
                      <a14:m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Solve this equation for </a:t>
                      </a:r>
                      <a14:m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(positive definite and symmetric!)</a:t>
                      </a:r>
                    </a:p>
                    <a:p>
                      <a:pPr marL="0" indent="0">
                        <a:buNone/>
                      </a:pPr>
                      <a14:m>
                        <m:oMath xmlns:m="http://schemas.openxmlformats.org/officeDocument/2006/math"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The optimal controller is calculated by: </a:t>
                      </a:r>
                      <a14:m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𝐾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</m:oMath>
                      </a14:m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2" name="Textfeld 11">
                      <a:extLst>
                        <a:ext uri="{FF2B5EF4-FFF2-40B4-BE49-F238E27FC236}">
                          <a16:creationId xmlns:a16="http://schemas.microsoft.com/office/drawing/2014/main" id="{C58C4442-82D1-FFB0-9B10-ACA50F4B57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0051" y="3473296"/>
                      <a:ext cx="6941489" cy="58477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2128" b="-1276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pic>
        <p:nvPicPr>
          <p:cNvPr id="31" name="Grafik 30">
            <a:extLst>
              <a:ext uri="{FF2B5EF4-FFF2-40B4-BE49-F238E27FC236}">
                <a16:creationId xmlns:a16="http://schemas.microsoft.com/office/drawing/2014/main" id="{F09F199B-2701-C9FE-38C2-42F23CE5E7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853"/>
          <a:stretch>
            <a:fillRect/>
          </a:stretch>
        </p:blipFill>
        <p:spPr>
          <a:xfrm>
            <a:off x="6457950" y="3126745"/>
            <a:ext cx="1788083" cy="172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9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97B752-2145-89B6-0094-A83D04A5E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LQE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6A39A5-D37C-5072-14F1-82915201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9B9159-3FF3-99B9-929D-AFCD6F10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C20DE462-E159-4DD3-0983-EF7EE72E69E1}"/>
              </a:ext>
            </a:extLst>
          </p:cNvPr>
          <p:cNvGrpSpPr/>
          <p:nvPr/>
        </p:nvGrpSpPr>
        <p:grpSpPr>
          <a:xfrm>
            <a:off x="532395" y="888842"/>
            <a:ext cx="7982954" cy="1567889"/>
            <a:chOff x="535124" y="888842"/>
            <a:chExt cx="8067829" cy="1567889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4C746A08-5B79-60E8-1162-61F9DEA0C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42873" y="888842"/>
              <a:ext cx="3160080" cy="110819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Inhaltsplatzhalter 2">
                  <a:extLst>
                    <a:ext uri="{FF2B5EF4-FFF2-40B4-BE49-F238E27FC236}">
                      <a16:creationId xmlns:a16="http://schemas.microsoft.com/office/drawing/2014/main" id="{62AEA7E4-217B-C4C0-8F09-DB5F8EF1A4C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35124" y="1228783"/>
                  <a:ext cx="4982355" cy="122794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buClrTx/>
                  </a:pPr>
                  <a:r>
                    <a:rPr lang="en-US" sz="1600" dirty="0"/>
                    <a:t>We estimate the state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 dirty="0"/>
                    <a:t> instead of measuring it directly with sensors</a:t>
                  </a:r>
                </a:p>
              </p:txBody>
            </p:sp>
          </mc:Choice>
          <mc:Fallback xmlns="">
            <p:sp>
              <p:nvSpPr>
                <p:cNvPr id="8" name="Inhaltsplatzhalter 2">
                  <a:extLst>
                    <a:ext uri="{FF2B5EF4-FFF2-40B4-BE49-F238E27FC236}">
                      <a16:creationId xmlns:a16="http://schemas.microsoft.com/office/drawing/2014/main" id="{62AEA7E4-217B-C4C0-8F09-DB5F8EF1A4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124" y="1228783"/>
                  <a:ext cx="4982355" cy="1227948"/>
                </a:xfrm>
                <a:prstGeom prst="rect">
                  <a:avLst/>
                </a:prstGeom>
                <a:blipFill>
                  <a:blip r:embed="rId3"/>
                  <a:stretch>
                    <a:fillRect l="-513" t="-3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9173546-7866-DBCE-BE9E-555C20B42907}"/>
              </a:ext>
            </a:extLst>
          </p:cNvPr>
          <p:cNvGrpSpPr/>
          <p:nvPr/>
        </p:nvGrpSpPr>
        <p:grpSpPr>
          <a:xfrm>
            <a:off x="587290" y="2171106"/>
            <a:ext cx="7969420" cy="1533326"/>
            <a:chOff x="587290" y="2171106"/>
            <a:chExt cx="7969420" cy="1533326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56EB5877-4176-4E00-E478-2B968EC0B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4856" y="2171106"/>
              <a:ext cx="2991854" cy="153332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Inhaltsplatzhalter 2">
                  <a:extLst>
                    <a:ext uri="{FF2B5EF4-FFF2-40B4-BE49-F238E27FC236}">
                      <a16:creationId xmlns:a16="http://schemas.microsoft.com/office/drawing/2014/main" id="{2307A079-D291-8042-657D-FDA46EBF53D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87290" y="2289135"/>
                  <a:ext cx="4929940" cy="122794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de-CH" sz="1600" dirty="0" err="1"/>
                    <a:t>Compare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the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measured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output</a:t>
                  </a:r>
                  <a:r>
                    <a:rPr lang="de-CH" sz="1600" dirty="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 dirty="0" err="1">
                          <a:latin typeface="Cambria Math" panose="02040503050406030204" pitchFamily="18" charset="0"/>
                        </a:rPr>
                        <m:t>𝐶𝑥</m:t>
                      </m:r>
                    </m:oMath>
                  </a14:m>
                  <a:r>
                    <a:rPr lang="de-CH" sz="1600" dirty="0"/>
                    <a:t> </a:t>
                  </a:r>
                  <a:r>
                    <a:rPr lang="de-CH" sz="1600" dirty="0" err="1"/>
                    <a:t>with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the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predicted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output</a:t>
                  </a:r>
                  <a:r>
                    <a:rPr lang="de-CH" sz="1600" dirty="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̂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endParaRPr lang="de-CH" sz="1600" dirty="0"/>
                </a:p>
                <a:p>
                  <a:r>
                    <a:rPr lang="de-CH" sz="1600" dirty="0"/>
                    <a:t>Use </a:t>
                  </a:r>
                  <a:r>
                    <a:rPr lang="de-CH" sz="1600" dirty="0" err="1"/>
                    <a:t>their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difference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to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correct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the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state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estimate</a:t>
                  </a:r>
                  <a:r>
                    <a:rPr lang="de-CH" sz="1600" dirty="0"/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endParaRPr lang="de-CH" sz="1600" dirty="0"/>
                </a:p>
              </p:txBody>
            </p:sp>
          </mc:Choice>
          <mc:Fallback xmlns="">
            <p:sp>
              <p:nvSpPr>
                <p:cNvPr id="15" name="Inhaltsplatzhalter 2">
                  <a:extLst>
                    <a:ext uri="{FF2B5EF4-FFF2-40B4-BE49-F238E27FC236}">
                      <a16:creationId xmlns:a16="http://schemas.microsoft.com/office/drawing/2014/main" id="{2307A079-D291-8042-657D-FDA46EBF5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290" y="2289135"/>
                  <a:ext cx="4929940" cy="1227948"/>
                </a:xfrm>
                <a:prstGeom prst="rect">
                  <a:avLst/>
                </a:prstGeom>
                <a:blipFill>
                  <a:blip r:embed="rId5"/>
                  <a:stretch>
                    <a:fillRect l="-514" t="-41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528A2594-45B0-4991-87DB-691CF9779F15}"/>
              </a:ext>
            </a:extLst>
          </p:cNvPr>
          <p:cNvGrpSpPr/>
          <p:nvPr/>
        </p:nvGrpSpPr>
        <p:grpSpPr>
          <a:xfrm>
            <a:off x="587290" y="3576152"/>
            <a:ext cx="5217052" cy="1530301"/>
            <a:chOff x="587290" y="3576152"/>
            <a:chExt cx="5217052" cy="1530301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F0591FD2-B5D3-34CC-0402-9C5E8C723EE2}"/>
                </a:ext>
              </a:extLst>
            </p:cNvPr>
            <p:cNvGrpSpPr/>
            <p:nvPr/>
          </p:nvGrpSpPr>
          <p:grpSpPr>
            <a:xfrm>
              <a:off x="874402" y="3878505"/>
              <a:ext cx="4929940" cy="1227948"/>
              <a:chOff x="634916" y="3813159"/>
              <a:chExt cx="4929940" cy="1227948"/>
            </a:xfrm>
          </p:grpSpPr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A93642EA-B629-EF2C-6D2E-D1CDB9454D7A}"/>
                  </a:ext>
                </a:extLst>
              </p:cNvPr>
              <p:cNvSpPr/>
              <p:nvPr/>
            </p:nvSpPr>
            <p:spPr>
              <a:xfrm>
                <a:off x="1806498" y="3858322"/>
                <a:ext cx="161692" cy="200722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3532D2FB-7D02-A74A-CFD3-F982C5D145EF}"/>
                  </a:ext>
                </a:extLst>
              </p:cNvPr>
              <p:cNvSpPr/>
              <p:nvPr/>
            </p:nvSpPr>
            <p:spPr>
              <a:xfrm>
                <a:off x="2162441" y="3858322"/>
                <a:ext cx="161692" cy="200722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60656D23-AC52-E456-019C-1EC75C32E935}"/>
                  </a:ext>
                </a:extLst>
              </p:cNvPr>
              <p:cNvSpPr/>
              <p:nvPr/>
            </p:nvSpPr>
            <p:spPr>
              <a:xfrm>
                <a:off x="2772041" y="3858322"/>
                <a:ext cx="161692" cy="200722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DC512260-4D19-5674-AD80-116ADAA629F7}"/>
                  </a:ext>
                </a:extLst>
              </p:cNvPr>
              <p:cNvSpPr/>
              <p:nvPr/>
            </p:nvSpPr>
            <p:spPr>
              <a:xfrm>
                <a:off x="3604666" y="3858322"/>
                <a:ext cx="161692" cy="200722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0CD79E15-D56C-0E76-71E7-62201FCB0828}"/>
                  </a:ext>
                </a:extLst>
              </p:cNvPr>
              <p:cNvSpPr/>
              <p:nvPr/>
            </p:nvSpPr>
            <p:spPr>
              <a:xfrm>
                <a:off x="2914220" y="4067410"/>
                <a:ext cx="161692" cy="200722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Inhaltsplatzhalter 2">
                    <a:extLst>
                      <a:ext uri="{FF2B5EF4-FFF2-40B4-BE49-F238E27FC236}">
                        <a16:creationId xmlns:a16="http://schemas.microsoft.com/office/drawing/2014/main" id="{9A415B39-4D99-3B46-ACF1-FA7B2910B91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34916" y="3813159"/>
                    <a:ext cx="4929940" cy="1227948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rmAutofit/>
                  </a:bodyPr>
                  <a:lstStyle>
                    <a:lvl1pPr marL="1714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1pPr>
                    <a:lvl2pPr marL="5143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5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2pPr>
                    <a:lvl3pPr marL="8572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2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3pPr>
                    <a:lvl4pPr marL="12001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05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4pPr>
                    <a:lvl5pPr marL="15430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9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sSup>
                            <m:sSup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𝐴𝑌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sSup>
                            <m:sSup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sSup>
                            <m:sSup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𝐶𝑌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/>
                  </a:p>
                  <a:p>
                    <a:pPr marL="0" indent="0">
                      <a:buNone/>
                    </a:pPr>
                    <a:endParaRPr/>
                  </a:p>
                </p:txBody>
              </p:sp>
            </mc:Choice>
            <mc:Fallback xmlns="">
              <p:sp>
                <p:nvSpPr>
                  <p:cNvPr id="16" name="Inhaltsplatzhalter 2">
                    <a:extLst>
                      <a:ext uri="{FF2B5EF4-FFF2-40B4-BE49-F238E27FC236}">
                        <a16:creationId xmlns:a16="http://schemas.microsoft.com/office/drawing/2014/main" id="{9A415B39-4D99-3B46-ACF1-FA7B2910B9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916" y="3813159"/>
                    <a:ext cx="4929940" cy="122794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40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3C4A4FCE-28D2-DFC8-8451-6137070FFE8C}"/>
                    </a:ext>
                  </a:extLst>
                </p:cNvPr>
                <p:cNvSpPr txBox="1"/>
                <p:nvPr/>
              </p:nvSpPr>
              <p:spPr>
                <a:xfrm>
                  <a:off x="587290" y="3576152"/>
                  <a:ext cx="450905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Want to minimize: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CH" sz="1600" i="0" dirty="0" err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de-CH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𝑡</m:t>
                              </m:r>
                              <m:r>
                                <a:rPr lang="de-CH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de-CH" sz="1600" i="1" dirty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600" i="1" dirty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  <m:r>
                                    <a:rPr lang="de-CH" sz="1600" i="1" dirty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de-CH" sz="1600" i="1" dirty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CH" sz="1600" i="1" dirty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sSup>
                                <m:sSupPr>
                                  <m:ctrlPr>
                                    <a:rPr lang="de-CH" sz="1600" i="1" dirty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CH" sz="1600" i="1" dirty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sz="1600" i="1" dirty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𝑥</m:t>
                                      </m:r>
                                      <m:r>
                                        <a:rPr lang="de-CH" sz="1600" i="1" dirty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de-CH" sz="1600" i="1" dirty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CH" sz="1600" i="1" dirty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de-CH" sz="1600" i="1" dirty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a14:m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i="1" u="sng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Solution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</p:txBody>
            </p:sp>
          </mc:Choice>
          <mc:Fallback xmlns="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3C4A4FCE-28D2-DFC8-8451-6137070FF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290" y="3576152"/>
                  <a:ext cx="4509055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562" t="-4255" r="-562" b="-148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17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1B66C8B-1622-1A6D-127E-652295CB2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60412" y="0"/>
            <a:ext cx="4983587" cy="17938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EE29544-7842-6EB2-87F6-0504AC9D7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66" y="290936"/>
            <a:ext cx="7886700" cy="994172"/>
          </a:xfrm>
        </p:spPr>
        <p:txBody>
          <a:bodyPr/>
          <a:lstStyle/>
          <a:p>
            <a:r>
              <a:rPr lang="en-US" dirty="0"/>
              <a:t>DOFB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679072-DDD3-365A-6077-4CC9792A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F334CE-454B-5EFD-E757-4EDC8C9A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4ADDDB0A-B195-5E5C-93E0-A0DCF137F04D}"/>
              </a:ext>
            </a:extLst>
          </p:cNvPr>
          <p:cNvSpPr txBox="1">
            <a:spLocks/>
          </p:cNvSpPr>
          <p:nvPr/>
        </p:nvSpPr>
        <p:spPr>
          <a:xfrm>
            <a:off x="262550" y="1285108"/>
            <a:ext cx="4929940" cy="372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1600" dirty="0"/>
              <a:t>Idea: </a:t>
            </a:r>
            <a:r>
              <a:rPr lang="de-CH" sz="1600" dirty="0" err="1"/>
              <a:t>state</a:t>
            </a:r>
            <a:r>
              <a:rPr lang="de-CH" sz="1600" dirty="0"/>
              <a:t> </a:t>
            </a:r>
            <a:r>
              <a:rPr lang="de-CH" sz="1600" dirty="0" err="1"/>
              <a:t>feedback</a:t>
            </a:r>
            <a:r>
              <a:rPr lang="de-CH" sz="1600" dirty="0"/>
              <a:t> </a:t>
            </a:r>
            <a:r>
              <a:rPr lang="de-CH" sz="1600" dirty="0" err="1"/>
              <a:t>with</a:t>
            </a:r>
            <a:r>
              <a:rPr lang="de-CH" sz="1600" dirty="0"/>
              <a:t> </a:t>
            </a:r>
            <a:r>
              <a:rPr lang="de-CH" sz="1600" dirty="0" err="1"/>
              <a:t>estimated</a:t>
            </a:r>
            <a:r>
              <a:rPr lang="de-CH" sz="1600" dirty="0"/>
              <a:t> </a:t>
            </a:r>
            <a:r>
              <a:rPr lang="de-CH" sz="1600" dirty="0" err="1"/>
              <a:t>states</a:t>
            </a:r>
            <a:endParaRPr lang="de-CH" sz="1600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855B4F37-50C4-0AE5-F53E-2AD6144DFFDB}"/>
              </a:ext>
            </a:extLst>
          </p:cNvPr>
          <p:cNvGrpSpPr/>
          <p:nvPr/>
        </p:nvGrpSpPr>
        <p:grpSpPr>
          <a:xfrm>
            <a:off x="3890175" y="2150083"/>
            <a:ext cx="1938479" cy="757652"/>
            <a:chOff x="3890175" y="2150083"/>
            <a:chExt cx="1938479" cy="757652"/>
          </a:xfrm>
        </p:grpSpPr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C2297395-F0CE-2C6E-0D66-16F3935D009E}"/>
                </a:ext>
              </a:extLst>
            </p:cNvPr>
            <p:cNvCxnSpPr/>
            <p:nvPr/>
          </p:nvCxnSpPr>
          <p:spPr>
            <a:xfrm>
              <a:off x="4160412" y="2551864"/>
              <a:ext cx="13155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6967ADF8-A77C-0F21-0A35-C9939F648628}"/>
                    </a:ext>
                  </a:extLst>
                </p:cNvPr>
                <p:cNvSpPr txBox="1"/>
                <p:nvPr/>
              </p:nvSpPr>
              <p:spPr>
                <a:xfrm>
                  <a:off x="3890175" y="2150083"/>
                  <a:ext cx="193847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introducing: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6967ADF8-A77C-0F21-0A35-C9939F6486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0175" y="2150083"/>
                  <a:ext cx="193847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1307" t="-8000" r="-2614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F730A28-F058-1301-ACDC-1F34F746D081}"/>
                    </a:ext>
                  </a:extLst>
                </p:cNvPr>
                <p:cNvSpPr txBox="1"/>
                <p:nvPr/>
              </p:nvSpPr>
              <p:spPr>
                <a:xfrm>
                  <a:off x="4277016" y="2599958"/>
                  <a:ext cx="108234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&amp; rewriting</a:t>
                  </a:r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F730A28-F058-1301-ACDC-1F34F746D0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7016" y="2599958"/>
                  <a:ext cx="1082348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163" t="-4000" r="-4651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33116FD2-5546-89B5-BDF7-78BBBD9D72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90" t="-1" r="24415" b="47203"/>
          <a:stretch>
            <a:fillRect/>
          </a:stretch>
        </p:blipFill>
        <p:spPr>
          <a:xfrm>
            <a:off x="5932411" y="2087424"/>
            <a:ext cx="2949039" cy="828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EADAD84E-6F04-D432-7618-D81FD1E63657}"/>
                  </a:ext>
                </a:extLst>
              </p:cNvPr>
              <p:cNvSpPr txBox="1"/>
              <p:nvPr/>
            </p:nvSpPr>
            <p:spPr>
              <a:xfrm>
                <a:off x="333666" y="3147907"/>
                <a:ext cx="7396127" cy="616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poles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are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given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by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CH" sz="1600" i="0" dirty="0" err="1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𝑐𝑙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de-CH" sz="160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CH" sz="1600" i="0" dirty="0" err="1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</m:d>
                          </m:e>
                        </m:d>
                      </m:e>
                    </m:func>
                    <m:func>
                      <m:func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CH" sz="1600" i="0" dirty="0" err="1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de-CH" sz="1600" dirty="0"/>
              </a:p>
              <a:p>
                <a:endParaRPr lang="de-CH" sz="1600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EADAD84E-6F04-D432-7618-D81FD1E63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66" y="3147907"/>
                <a:ext cx="7396127" cy="616515"/>
              </a:xfrm>
              <a:prstGeom prst="rect">
                <a:avLst/>
              </a:prstGeom>
              <a:blipFill>
                <a:blip r:embed="rId7"/>
                <a:stretch>
                  <a:fillRect l="-515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46E1FDED-7713-CEDA-3523-9E8EAD2AD1B1}"/>
              </a:ext>
            </a:extLst>
          </p:cNvPr>
          <p:cNvGrpSpPr/>
          <p:nvPr/>
        </p:nvGrpSpPr>
        <p:grpSpPr>
          <a:xfrm>
            <a:off x="262550" y="1751354"/>
            <a:ext cx="4929940" cy="1227948"/>
            <a:chOff x="262550" y="1751354"/>
            <a:chExt cx="4929940" cy="1227948"/>
          </a:xfrm>
        </p:grpSpPr>
        <p:sp>
          <p:nvSpPr>
            <p:cNvPr id="9" name="Inhaltsplatzhalter 2">
              <a:extLst>
                <a:ext uri="{FF2B5EF4-FFF2-40B4-BE49-F238E27FC236}">
                  <a16:creationId xmlns:a16="http://schemas.microsoft.com/office/drawing/2014/main" id="{3AE85366-8D36-593A-8D01-FF2E17471456}"/>
                </a:ext>
              </a:extLst>
            </p:cNvPr>
            <p:cNvSpPr txBox="1">
              <a:spLocks/>
            </p:cNvSpPr>
            <p:nvPr/>
          </p:nvSpPr>
          <p:spPr>
            <a:xfrm>
              <a:off x="262550" y="1751354"/>
              <a:ext cx="4929940" cy="122794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CH" sz="1600" dirty="0"/>
                <a:t>The </a:t>
              </a:r>
              <a:r>
                <a:rPr lang="de-CH" sz="1600" dirty="0" err="1"/>
                <a:t>closed</a:t>
              </a:r>
              <a:r>
                <a:rPr lang="de-CH" sz="1600" dirty="0"/>
                <a:t> loop </a:t>
              </a:r>
              <a:r>
                <a:rPr lang="de-CH" sz="1600" dirty="0" err="1"/>
                <a:t>system</a:t>
              </a:r>
              <a:r>
                <a:rPr lang="de-CH" sz="1600" dirty="0"/>
                <a:t> </a:t>
              </a:r>
              <a:r>
                <a:rPr lang="de-CH" sz="1600" dirty="0" err="1"/>
                <a:t>has</a:t>
              </a:r>
              <a:r>
                <a:rPr lang="de-CH" sz="1600" dirty="0"/>
                <a:t> </a:t>
              </a:r>
              <a:r>
                <a:rPr lang="de-CH" sz="1600" dirty="0" err="1"/>
                <a:t>the</a:t>
              </a:r>
              <a:r>
                <a:rPr lang="de-CH" sz="1600" dirty="0"/>
                <a:t> </a:t>
              </a:r>
              <a:r>
                <a:rPr lang="de-CH" sz="1600" dirty="0" err="1"/>
                <a:t>following</a:t>
              </a:r>
              <a:r>
                <a:rPr lang="de-CH" sz="1600" dirty="0"/>
                <a:t> form: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FFA8EDDC-38BF-C72E-5E87-D7E21FD72A9C}"/>
                    </a:ext>
                  </a:extLst>
                </p:cNvPr>
                <p:cNvSpPr txBox="1"/>
                <p:nvPr/>
              </p:nvSpPr>
              <p:spPr>
                <a:xfrm>
                  <a:off x="399283" y="2137552"/>
                  <a:ext cx="3490892" cy="8286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eqArr>
                          <m:eqArr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&amp;=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𝐴𝑥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𝐵𝐾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 dirty="0" err="1">
                                <a:latin typeface="Cambria Math" panose="02040503050406030204" pitchFamily="18" charset="0"/>
                              </a:rPr>
                              <m:t>𝐵𝐾𝑆𝑟</m:t>
                            </m:r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acc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&amp;=</m:t>
                            </m:r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 dirty="0" err="1">
                                <a:latin typeface="Cambria Math" panose="02040503050406030204" pitchFamily="18" charset="0"/>
                              </a:rPr>
                              <m:t>𝐵𝐾𝑆𝑟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 dirty="0" err="1">
                                <a:latin typeface="Cambria Math" panose="02040503050406030204" pitchFamily="18" charset="0"/>
                              </a:rPr>
                              <m:t>𝐿𝐶𝑥</m:t>
                            </m:r>
                          </m:e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&amp;=</m:t>
                            </m:r>
                            <m:r>
                              <a:rPr lang="en-US" sz="1600" i="1" dirty="0" err="1">
                                <a:latin typeface="Cambria Math" panose="02040503050406030204" pitchFamily="18" charset="0"/>
                              </a:rPr>
                              <m:t>𝐶𝑥</m:t>
                            </m:r>
                          </m:e>
                        </m:eqAr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FFA8EDDC-38BF-C72E-5E87-D7E21FD72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283" y="2137552"/>
                  <a:ext cx="3490892" cy="828625"/>
                </a:xfrm>
                <a:prstGeom prst="rect">
                  <a:avLst/>
                </a:prstGeom>
                <a:blipFill>
                  <a:blip r:embed="rId8"/>
                  <a:stretch>
                    <a:fillRect r="-1087"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ectangle: Rounded Corners 17">
              <a:extLst>
                <a:ext uri="{FF2B5EF4-FFF2-40B4-BE49-F238E27FC236}">
                  <a16:creationId xmlns:a16="http://schemas.microsoft.com/office/drawing/2014/main" id="{6D315556-E649-B3BE-3EC5-45CD6EF5C2B3}"/>
                </a:ext>
              </a:extLst>
            </p:cNvPr>
            <p:cNvSpPr/>
            <p:nvPr/>
          </p:nvSpPr>
          <p:spPr>
            <a:xfrm>
              <a:off x="399283" y="2087472"/>
              <a:ext cx="3477651" cy="891830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CD5450-3BCE-31D5-131B-5EC53D879499}"/>
              </a:ext>
            </a:extLst>
          </p:cNvPr>
          <p:cNvGrpSpPr/>
          <p:nvPr/>
        </p:nvGrpSpPr>
        <p:grpSpPr>
          <a:xfrm>
            <a:off x="515529" y="3726749"/>
            <a:ext cx="8747381" cy="1596362"/>
            <a:chOff x="515529" y="3726749"/>
            <a:chExt cx="8747381" cy="15963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Inhaltsplatzhalter 2">
                  <a:extLst>
                    <a:ext uri="{FF2B5EF4-FFF2-40B4-BE49-F238E27FC236}">
                      <a16:creationId xmlns:a16="http://schemas.microsoft.com/office/drawing/2014/main" id="{470CACE2-4A69-50BA-08F3-C5C51BBB0B6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15529" y="3726749"/>
                  <a:ext cx="7886700" cy="120253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Font typeface="Arial" panose="020B0604020202020204" pitchFamily="34" charset="0"/>
                    <a:buNone/>
                  </a:pPr>
                  <a:r>
                    <a:rPr lang="en-US" sz="1600" dirty="0"/>
                    <a:t>Based on </a:t>
                  </a:r>
                  <a:r>
                    <a:rPr lang="en-US" sz="1600" dirty="0" err="1"/>
                    <a:t>seperation</a:t>
                  </a:r>
                  <a:r>
                    <a:rPr lang="en-US" sz="1600" dirty="0"/>
                    <a:t> principle we can</a:t>
                  </a:r>
                </a:p>
                <a:p>
                  <a:pPr>
                    <a:buClrTx/>
                  </a:pPr>
                  <a:r>
                    <a:rPr lang="en-US" sz="1600" dirty="0"/>
                    <a:t>Find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a14:m>
                  <a:r>
                    <a:rPr lang="en-US" sz="1600" dirty="0">
                      <a:solidFill>
                        <a:srgbClr val="FF0000"/>
                      </a:solidFill>
                    </a:rPr>
                    <a:t> with LQR</a:t>
                  </a:r>
                  <a:endParaRPr lang="en-US" sz="1600" dirty="0"/>
                </a:p>
                <a:p>
                  <a:pPr>
                    <a:buClrTx/>
                  </a:pPr>
                  <a:r>
                    <a:rPr lang="en-US" sz="1600" dirty="0"/>
                    <a:t>Find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US" sz="1600" dirty="0">
                      <a:solidFill>
                        <a:schemeClr val="accent1"/>
                      </a:solidFill>
                    </a:rPr>
                    <a:t> with LQE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20" name="Inhaltsplatzhalter 2">
                  <a:extLst>
                    <a:ext uri="{FF2B5EF4-FFF2-40B4-BE49-F238E27FC236}">
                      <a16:creationId xmlns:a16="http://schemas.microsoft.com/office/drawing/2014/main" id="{470CACE2-4A69-50BA-08F3-C5C51BBB0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529" y="3726749"/>
                  <a:ext cx="7886700" cy="1202531"/>
                </a:xfrm>
                <a:prstGeom prst="rect">
                  <a:avLst/>
                </a:prstGeom>
                <a:blipFill>
                  <a:blip r:embed="rId9"/>
                  <a:stretch>
                    <a:fillRect l="-482" t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F433AAB6-3612-EAB3-535E-657735A19A7B}"/>
                </a:ext>
              </a:extLst>
            </p:cNvPr>
            <p:cNvGrpSpPr/>
            <p:nvPr/>
          </p:nvGrpSpPr>
          <p:grpSpPr>
            <a:xfrm>
              <a:off x="2329472" y="4026575"/>
              <a:ext cx="2529942" cy="648392"/>
              <a:chOff x="2258874" y="3820932"/>
              <a:chExt cx="2529942" cy="648392"/>
            </a:xfrm>
          </p:grpSpPr>
          <p:sp>
            <p:nvSpPr>
              <p:cNvPr id="21" name="Geschweifte Klammer rechts 20">
                <a:extLst>
                  <a:ext uri="{FF2B5EF4-FFF2-40B4-BE49-F238E27FC236}">
                    <a16:creationId xmlns:a16="http://schemas.microsoft.com/office/drawing/2014/main" id="{40B2A91C-7D10-5C6A-E53A-B02F132B1E84}"/>
                  </a:ext>
                </a:extLst>
              </p:cNvPr>
              <p:cNvSpPr/>
              <p:nvPr/>
            </p:nvSpPr>
            <p:spPr>
              <a:xfrm>
                <a:off x="2258874" y="3820932"/>
                <a:ext cx="257694" cy="648392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Inhaltsplatzhalter 2">
                <a:extLst>
                  <a:ext uri="{FF2B5EF4-FFF2-40B4-BE49-F238E27FC236}">
                    <a16:creationId xmlns:a16="http://schemas.microsoft.com/office/drawing/2014/main" id="{C1004A85-612E-7754-883F-7A89C70E36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6568" y="3962955"/>
                <a:ext cx="2272248" cy="3808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sz="1600" dirty="0">
                    <a:solidFill>
                      <a:schemeClr val="accent3"/>
                    </a:solidFill>
                  </a:rPr>
                  <a:t>combine them to LQG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Inhaltsplatzhalter 2">
                  <a:extLst>
                    <a:ext uri="{FF2B5EF4-FFF2-40B4-BE49-F238E27FC236}">
                      <a16:creationId xmlns:a16="http://schemas.microsoft.com/office/drawing/2014/main" id="{4F104316-4B5B-6B73-2CE1-B09904236EE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859414" y="4120580"/>
                  <a:ext cx="4403496" cy="120253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system has optimal ctrl. / obs. gain!</a:t>
                  </a:r>
                </a:p>
                <a:p>
                  <a:pPr marL="0" indent="0">
                    <a:buClrTx/>
                    <a:buFont typeface="Arial" panose="020B0604020202020204" pitchFamily="34" charset="0"/>
                    <a:buNone/>
                  </a:pPr>
                  <a:endParaRPr lang="en-US" dirty="0"/>
                </a:p>
              </p:txBody>
            </p:sp>
          </mc:Choice>
          <mc:Fallback xmlns="">
            <p:sp>
              <p:nvSpPr>
                <p:cNvPr id="23" name="Inhaltsplatzhalter 2">
                  <a:extLst>
                    <a:ext uri="{FF2B5EF4-FFF2-40B4-BE49-F238E27FC236}">
                      <a16:creationId xmlns:a16="http://schemas.microsoft.com/office/drawing/2014/main" id="{4F104316-4B5B-6B73-2CE1-B09904236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9414" y="4120580"/>
                  <a:ext cx="4403496" cy="1202531"/>
                </a:xfrm>
                <a:prstGeom prst="rect">
                  <a:avLst/>
                </a:prstGeom>
                <a:blipFill>
                  <a:blip r:embed="rId10"/>
                  <a:stretch>
                    <a:fillRect t="-52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9249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9BD00E-FA1C-29C9-8B7B-D8B3AE1F5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A2FE2B-CEAC-9705-B65B-25252C2D4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6104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Which of the following statements about state estimation in state feedback control for LTI systems are true?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F80AE6-6953-7EDC-4642-83C5799C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6AFC3C-551E-862B-3292-7E792671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E94ACAB7-FA34-4922-6420-7672090DC012}"/>
              </a:ext>
            </a:extLst>
          </p:cNvPr>
          <p:cNvSpPr/>
          <p:nvPr/>
        </p:nvSpPr>
        <p:spPr>
          <a:xfrm>
            <a:off x="628650" y="1979125"/>
            <a:ext cx="8186487" cy="68156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To design a </a:t>
            </a:r>
            <a:r>
              <a:rPr lang="en-US" b="1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Luenberger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observer for a state feedback controller, additional sensors must be installed to measure all the states in the system.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4E71FC17-ECDC-B919-E70C-F0EBFC3C537D}"/>
              </a:ext>
            </a:extLst>
          </p:cNvPr>
          <p:cNvSpPr/>
          <p:nvPr/>
        </p:nvSpPr>
        <p:spPr>
          <a:xfrm>
            <a:off x="628650" y="2820424"/>
            <a:ext cx="8186487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 </a:t>
            </a:r>
            <a:r>
              <a:rPr lang="en-US" b="1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Luenberger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observer is sensitive to measurement noise, where high observer gains magnify measurement noise.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Rectangle: Rounded Corners 18">
            <a:extLst>
              <a:ext uri="{FF2B5EF4-FFF2-40B4-BE49-F238E27FC236}">
                <a16:creationId xmlns:a16="http://schemas.microsoft.com/office/drawing/2014/main" id="{C74A306D-6910-000F-D99C-A86CCC66A780}"/>
              </a:ext>
            </a:extLst>
          </p:cNvPr>
          <p:cNvSpPr/>
          <p:nvPr/>
        </p:nvSpPr>
        <p:spPr>
          <a:xfrm>
            <a:off x="628650" y="3522222"/>
            <a:ext cx="8186487" cy="492683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controller and the estimator must be designed together because they interact with each other.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Rectangle: Rounded Corners 18">
            <a:extLst>
              <a:ext uri="{FF2B5EF4-FFF2-40B4-BE49-F238E27FC236}">
                <a16:creationId xmlns:a16="http://schemas.microsoft.com/office/drawing/2014/main" id="{62176390-FB4F-F2B7-CD1E-53A4D8888CF8}"/>
              </a:ext>
            </a:extLst>
          </p:cNvPr>
          <p:cNvSpPr/>
          <p:nvPr/>
        </p:nvSpPr>
        <p:spPr>
          <a:xfrm>
            <a:off x="628649" y="4218348"/>
            <a:ext cx="8186487" cy="492683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If the observer gain is chosen large enough, measurement noise will automatically disappear.</a:t>
            </a:r>
          </a:p>
        </p:txBody>
      </p:sp>
    </p:spTree>
    <p:extLst>
      <p:ext uri="{BB962C8B-B14F-4D97-AF65-F5344CB8AC3E}">
        <p14:creationId xmlns:p14="http://schemas.microsoft.com/office/powerpoint/2010/main" val="37220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1C04-7405-0A83-14CE-9D615477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B1EB18-8E72-B5F0-8748-487552F8E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3FE668-7736-9DB8-43C6-F64B18461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1459"/>
            <a:ext cx="7886700" cy="6104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Which of the following statements about state estimation in state feedback control for LTI systems are true?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BCFE25-8D71-4F08-70D3-109E2F51C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D4B598-4CB5-E1FE-EB4A-54AEDC0B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0CE09EF0-9B75-2080-FC69-66795589A3DA}"/>
              </a:ext>
            </a:extLst>
          </p:cNvPr>
          <p:cNvSpPr/>
          <p:nvPr/>
        </p:nvSpPr>
        <p:spPr>
          <a:xfrm>
            <a:off x="628650" y="2056759"/>
            <a:ext cx="8186487" cy="68156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To design a </a:t>
            </a:r>
            <a:r>
              <a:rPr lang="en-US" b="1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Luenberger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observer for a state feedback controller, additional sensors must be installed to measure all the states in the system.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D89E06BD-A828-C2D0-085E-67DA64BCA764}"/>
              </a:ext>
            </a:extLst>
          </p:cNvPr>
          <p:cNvSpPr/>
          <p:nvPr/>
        </p:nvSpPr>
        <p:spPr>
          <a:xfrm>
            <a:off x="628650" y="2898058"/>
            <a:ext cx="8186487" cy="498355"/>
          </a:xfrm>
          <a:prstGeom prst="roundRect">
            <a:avLst>
              <a:gd name="adj" fmla="val 1122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 </a:t>
            </a:r>
            <a:r>
              <a:rPr lang="en-US" b="1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Luenberger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observer is sensitive to measurement noise, where high observer gains magnify measurement noise.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Rectangle: Rounded Corners 18">
            <a:extLst>
              <a:ext uri="{FF2B5EF4-FFF2-40B4-BE49-F238E27FC236}">
                <a16:creationId xmlns:a16="http://schemas.microsoft.com/office/drawing/2014/main" id="{E5E1514F-C72A-D7BF-3BB4-6079D648C7AF}"/>
              </a:ext>
            </a:extLst>
          </p:cNvPr>
          <p:cNvSpPr/>
          <p:nvPr/>
        </p:nvSpPr>
        <p:spPr>
          <a:xfrm>
            <a:off x="628650" y="3599856"/>
            <a:ext cx="8186487" cy="492683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controller and the estimator must be designed together because they interact with each other.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Rectangle: Rounded Corners 18">
            <a:extLst>
              <a:ext uri="{FF2B5EF4-FFF2-40B4-BE49-F238E27FC236}">
                <a16:creationId xmlns:a16="http://schemas.microsoft.com/office/drawing/2014/main" id="{9396AB19-DB53-C61C-E2AB-9644AD3F60A2}"/>
              </a:ext>
            </a:extLst>
          </p:cNvPr>
          <p:cNvSpPr/>
          <p:nvPr/>
        </p:nvSpPr>
        <p:spPr>
          <a:xfrm>
            <a:off x="628649" y="4295982"/>
            <a:ext cx="8186487" cy="492683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If the observer gain is chosen large enough, measurement noise will automatically disappear.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B70513A-9C44-0CA3-01CD-3DDEF5AE4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414" y="-3985"/>
            <a:ext cx="2803585" cy="143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08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845780"/>
              </p:ext>
            </p:extLst>
          </p:nvPr>
        </p:nvGraphicFramePr>
        <p:xfrm>
          <a:off x="1515762" y="601877"/>
          <a:ext cx="6977657" cy="41376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– Discrete Time Systems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Diagonalization, Modal Coordinates, </a:t>
                      </a:r>
                      <a:r>
                        <a:rPr lang="en-US" sz="1200" noProof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Contr</a:t>
                      </a:r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/Obs.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de-CH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 Feedback, Pole Placement, LQR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State Estimation, </a:t>
                      </a:r>
                      <a:r>
                        <a:rPr lang="en-US" sz="1200" noProof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Luenberger</a:t>
                      </a:r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Obs., </a:t>
                      </a:r>
                      <a:r>
                        <a:rPr lang="en-US" sz="1200" noProof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Seperation</a:t>
                      </a:r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Principle, LQG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DOFC with integral action, Intro to MIMO systems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Nonlinear Systems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Nonlinear Systems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break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Discrete-time Unconstrained Optimal Control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Convex Optimization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 Predictive Control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Practical Model Predictive Control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Robust Model Predictive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Implementation Methods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10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de-CH" u="sng" dirty="0"/>
              <a:t>DOFB </a:t>
            </a:r>
            <a:r>
              <a:rPr lang="de-CH" u="sng" dirty="0" err="1"/>
              <a:t>with</a:t>
            </a:r>
            <a:r>
              <a:rPr lang="de-CH" u="sng" dirty="0"/>
              <a:t> integral </a:t>
            </a:r>
            <a:r>
              <a:rPr lang="de-CH" u="sng" dirty="0" err="1"/>
              <a:t>action</a:t>
            </a:r>
            <a:endParaRPr lang="de-CH" u="sng" dirty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de-CH" u="sng" dirty="0"/>
              <a:t>Intro MIMO </a:t>
            </a:r>
            <a:r>
              <a:rPr lang="de-CH" u="sng" dirty="0" err="1"/>
              <a:t>systems</a:t>
            </a:r>
            <a:endParaRPr lang="de-CH" u="sng" dirty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de-CH" u="sng" dirty="0" err="1"/>
              <a:t>Norms</a:t>
            </a:r>
            <a:endParaRPr lang="de-CH" u="sng" dirty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de-CH" u="sng" dirty="0"/>
          </a:p>
          <a:p>
            <a:pPr marL="0" lvl="0" indent="0"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endParaRPr lang="de-CH" u="sng"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Kissan Varatharajan - kissanv.github.io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99206B-42D2-2EA4-9896-5D719C471B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 DOFC w/ integral action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199CFC-89E0-FB46-2976-4136F5E6B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6D85A1-9D70-433B-638F-B250DC86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BC3BEF-A05E-BF1F-B154-EAD1DE46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389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A21AB0F3-CA89-F765-E23F-2EE42863C8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84"/>
          <a:stretch>
            <a:fillRect/>
          </a:stretch>
        </p:blipFill>
        <p:spPr>
          <a:xfrm>
            <a:off x="4836895" y="1916376"/>
            <a:ext cx="3412960" cy="175575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A415722-9376-A908-8764-DF169670F5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66" r="83878" b="37496"/>
          <a:stretch>
            <a:fillRect/>
          </a:stretch>
        </p:blipFill>
        <p:spPr>
          <a:xfrm>
            <a:off x="998520" y="2258613"/>
            <a:ext cx="1205665" cy="107128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44C4516-2CF3-C01E-8163-A9110DE61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57528"/>
            <a:ext cx="7886700" cy="994172"/>
          </a:xfrm>
        </p:spPr>
        <p:txBody>
          <a:bodyPr/>
          <a:lstStyle/>
          <a:p>
            <a:r>
              <a:rPr lang="en-US" dirty="0"/>
              <a:t>DOFC with integral 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DA52E21-2746-2489-DA4F-3F344032BE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005304"/>
                <a:ext cx="7886700" cy="1202531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to eliminate steady-state error, we introduce integral state (same as LQR servo)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1600" i="1" dirty="0" err="1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sz="16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̇</m:t>
                          </m:r>
                        </m:e>
                        <m:sub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i="1" dirty="0" err="1">
                          <a:latin typeface="Cambria Math" panose="02040503050406030204" pitchFamily="18" charset="0"/>
                        </a:rPr>
                        <m:t>𝐶𝑥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Now we augment the plant to include this state: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DA52E21-2746-2489-DA4F-3F344032BE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005304"/>
                <a:ext cx="7886700" cy="1202531"/>
              </a:xfrm>
              <a:blipFill>
                <a:blip r:embed="rId3"/>
                <a:stretch>
                  <a:fillRect l="-322" t="-69474" b="-8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5806C9-6FBC-21E4-D778-D94F0CBF6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799F47-8DA8-7D62-9229-FBCC0DB7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7D1D8EA-1D4B-00C1-1426-F0A820B5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70" t="8342" r="62515" b="42827"/>
          <a:stretch>
            <a:fillRect/>
          </a:stretch>
        </p:blipFill>
        <p:spPr>
          <a:xfrm>
            <a:off x="2826914" y="2142752"/>
            <a:ext cx="1387252" cy="1056135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2938944-B54E-8EAA-AE48-07C8D8EE53A1}"/>
              </a:ext>
            </a:extLst>
          </p:cNvPr>
          <p:cNvGrpSpPr/>
          <p:nvPr/>
        </p:nvGrpSpPr>
        <p:grpSpPr>
          <a:xfrm>
            <a:off x="628649" y="3606934"/>
            <a:ext cx="6590298" cy="1379039"/>
            <a:chOff x="628649" y="3606934"/>
            <a:chExt cx="6590298" cy="13790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091E668-1EFC-E6A9-7706-7F4818E313F7}"/>
                    </a:ext>
                  </a:extLst>
                </p:cNvPr>
                <p:cNvSpPr txBox="1"/>
                <p:nvPr/>
              </p:nvSpPr>
              <p:spPr>
                <a:xfrm>
                  <a:off x="628649" y="3606934"/>
                  <a:ext cx="521488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For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</m:t>
                      </m:r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𝐵</m:t>
                          </m:r>
                        </m:e>
                        <m:sup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</m:t>
                      </m:r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𝐶</m:t>
                          </m:r>
                        </m:e>
                        <m:sup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we can find a new stabilizing feedback gain</a:t>
                  </a: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091E668-1EFC-E6A9-7706-7F4818E31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9" y="3606934"/>
                  <a:ext cx="5214889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485" t="-7407" b="-259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4EA99AF1-58F6-5BD4-3B21-18C9B9D31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1941" y="4004659"/>
              <a:ext cx="5387006" cy="9813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021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D1125-6FEB-7AA1-B598-4E104222D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6771"/>
            <a:ext cx="7886700" cy="994172"/>
          </a:xfrm>
        </p:spPr>
        <p:txBody>
          <a:bodyPr/>
          <a:lstStyle/>
          <a:p>
            <a:r>
              <a:rPr lang="en-US" dirty="0"/>
              <a:t>LQG stability margins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2F83E6-3F38-8D58-E463-F39D0933B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12BD5F7-68B9-295A-B260-766F2E68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29F4E2B-973C-C53D-3B13-AB74A603B747}"/>
                  </a:ext>
                </a:extLst>
              </p:cNvPr>
              <p:cNvSpPr txBox="1"/>
              <p:nvPr/>
            </p:nvSpPr>
            <p:spPr>
              <a:xfrm>
                <a:off x="628650" y="1021736"/>
                <a:ext cx="63939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Using this feedback law and again the coordinate change </a:t>
                </a:r>
                <a14:m>
                  <m:oMath xmlns:m="http://schemas.openxmlformats.org/officeDocument/2006/math">
                    <m:r>
                      <a:rPr lang="el-GR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𝜂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 </m:t>
                    </m:r>
                    <m:r>
                      <a:rPr lang="en-US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en-US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 </m:t>
                    </m:r>
                    <m:acc>
                      <m:accPr>
                        <m:chr m:val="̂"/>
                        <m:ctrlPr>
                          <a:rPr lang="de-CH" sz="1600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600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29F4E2B-973C-C53D-3B13-AB74A603B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021736"/>
                <a:ext cx="6393930" cy="338554"/>
              </a:xfrm>
              <a:prstGeom prst="rect">
                <a:avLst/>
              </a:prstGeom>
              <a:blipFill>
                <a:blip r:embed="rId2"/>
                <a:stretch>
                  <a:fillRect l="-397"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7">
            <a:extLst>
              <a:ext uri="{FF2B5EF4-FFF2-40B4-BE49-F238E27FC236}">
                <a16:creationId xmlns:a16="http://schemas.microsoft.com/office/drawing/2014/main" id="{55EE97F1-AFF4-2785-8025-166C399947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7588"/>
          <a:stretch>
            <a:fillRect/>
          </a:stretch>
        </p:blipFill>
        <p:spPr>
          <a:xfrm>
            <a:off x="1504971" y="1441566"/>
            <a:ext cx="3461665" cy="84290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5AE6353-6165-DBFD-DBBB-719A558AA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00" t="50659" r="50367"/>
          <a:stretch>
            <a:fillRect/>
          </a:stretch>
        </p:blipFill>
        <p:spPr>
          <a:xfrm>
            <a:off x="5194632" y="1419379"/>
            <a:ext cx="1657954" cy="86509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8CC8097-FDD9-1114-9D3F-98DA656E5469}"/>
              </a:ext>
            </a:extLst>
          </p:cNvPr>
          <p:cNvSpPr txBox="1"/>
          <p:nvPr/>
        </p:nvSpPr>
        <p:spPr>
          <a:xfrm>
            <a:off x="628651" y="2443532"/>
            <a:ext cx="788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Recall: If the conditions for state-feedback are given, then the LQR procedure always finds a stabilizing and robust controller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Also: Robustness can be measured with phase/gain margins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6B14A36-4537-C7CF-8C5A-B81F7C843195}"/>
              </a:ext>
            </a:extLst>
          </p:cNvPr>
          <p:cNvSpPr txBox="1"/>
          <p:nvPr/>
        </p:nvSpPr>
        <p:spPr>
          <a:xfrm>
            <a:off x="763930" y="3433591"/>
            <a:ext cx="209384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⇒ LQR guarantees: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• phase margin ≥ 60°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• gain margin ≥ 6 dB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65CF8228-A450-66FE-9A32-BF40C5A20707}"/>
              </a:ext>
            </a:extLst>
          </p:cNvPr>
          <p:cNvGrpSpPr/>
          <p:nvPr/>
        </p:nvGrpSpPr>
        <p:grpSpPr>
          <a:xfrm>
            <a:off x="3217762" y="4039565"/>
            <a:ext cx="2426751" cy="820863"/>
            <a:chOff x="3217762" y="4039565"/>
            <a:chExt cx="2426751" cy="820863"/>
          </a:xfrm>
        </p:grpSpPr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0E39105D-3A0B-4BAA-9010-0B113A578A0E}"/>
                </a:ext>
              </a:extLst>
            </p:cNvPr>
            <p:cNvCxnSpPr/>
            <p:nvPr/>
          </p:nvCxnSpPr>
          <p:spPr>
            <a:xfrm>
              <a:off x="3217762" y="4039565"/>
              <a:ext cx="197687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76CCB87-16E8-0A77-3549-ADBC5E0286C0}"/>
                </a:ext>
              </a:extLst>
            </p:cNvPr>
            <p:cNvSpPr txBox="1"/>
            <p:nvPr/>
          </p:nvSpPr>
          <p:spPr>
            <a:xfrm>
              <a:off x="3235803" y="4121764"/>
              <a:ext cx="240871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Do we still guarantee robustness with an optimal observer (LQG)?</a:t>
              </a: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CC482E0C-34A9-9462-37D7-2B0158BA9FA2}"/>
              </a:ext>
            </a:extLst>
          </p:cNvPr>
          <p:cNvSpPr txBox="1"/>
          <p:nvPr/>
        </p:nvSpPr>
        <p:spPr>
          <a:xfrm>
            <a:off x="5851367" y="3870287"/>
            <a:ext cx="308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guaranteed stability margins for LQG</a:t>
            </a:r>
          </a:p>
        </p:txBody>
      </p:sp>
    </p:spTree>
    <p:extLst>
      <p:ext uri="{BB962C8B-B14F-4D97-AF65-F5344CB8AC3E}">
        <p14:creationId xmlns:p14="http://schemas.microsoft.com/office/powerpoint/2010/main" val="52587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4E7194-DE1C-E88B-1E16-E7F9AB2F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Summarized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235E4916-FB7E-77CB-C0EC-F8EC59D4F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52383"/>
            <a:ext cx="7886700" cy="2779986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AA6EE6-7239-A8C1-0B8C-5A6CF3BD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57389F-5F8F-BAC4-CD8D-7C7E5780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427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6FC7-8CFE-F628-CAC7-CAEAC14D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BA826C-F399-DADD-C577-71F914689D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2. Intro MIMO </a:t>
            </a:r>
            <a:r>
              <a:rPr lang="de-DE" dirty="0" err="1"/>
              <a:t>systems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371EB74-18C1-F381-6DEB-53B39C0871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DF6B76-6CF3-B7D4-2B01-990E8A40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AC6D77-67F9-ECA3-9523-94EF9F00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643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1E7AC-CB10-10C9-3A48-D72468010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F2690E-800C-996D-F38F-CF49CB0E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A41C82-B6DE-9717-AF88-A5934722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8A0A13D-EAD9-7B64-A5C8-2D7347B1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538" y="1168557"/>
            <a:ext cx="4193938" cy="3193354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3CED0EC-CAC3-5118-64E3-099FD7D8B6AE}"/>
              </a:ext>
            </a:extLst>
          </p:cNvPr>
          <p:cNvSpPr txBox="1">
            <a:spLocks/>
          </p:cNvSpPr>
          <p:nvPr/>
        </p:nvSpPr>
        <p:spPr>
          <a:xfrm>
            <a:off x="781050" y="1521619"/>
            <a:ext cx="3695484" cy="3193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sz="1600" dirty="0"/>
              <a:t>Up to now, we have assumed all analyzed systems to be controlled by only one input and measured by only one output → </a:t>
            </a:r>
            <a:r>
              <a:rPr lang="en-US" sz="1600" dirty="0">
                <a:solidFill>
                  <a:srgbClr val="FF0000"/>
                </a:solidFill>
              </a:rPr>
              <a:t>SISO</a:t>
            </a:r>
          </a:p>
          <a:p>
            <a:pPr>
              <a:buClrTx/>
            </a:pPr>
            <a:r>
              <a:rPr lang="en-US" sz="1600" dirty="0"/>
              <a:t>In reality, many systems have multiple inputs and multiple outputs</a:t>
            </a:r>
          </a:p>
          <a:p>
            <a:pPr>
              <a:buClrTx/>
            </a:pPr>
            <a:r>
              <a:rPr lang="en-US" sz="1600" dirty="0"/>
              <a:t>To get a feeling for how MIMO systems affect complexity, let’s gain some intuition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181EE781-7FC7-158B-BEF2-A02AD7641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834" y="4032250"/>
            <a:ext cx="3695700" cy="3194050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In a MIMO system, we need specific combinations of inputs to obtain a desired output</a:t>
            </a:r>
          </a:p>
        </p:txBody>
      </p:sp>
    </p:spTree>
    <p:extLst>
      <p:ext uri="{BB962C8B-B14F-4D97-AF65-F5344CB8AC3E}">
        <p14:creationId xmlns:p14="http://schemas.microsoft.com/office/powerpoint/2010/main" val="155508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E864D-C693-FA72-C3CC-0B70932D6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2266"/>
            <a:ext cx="7886700" cy="99417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FF4A64A9-F62B-9474-C1AF-D8B193B63B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6173" y="1286715"/>
            <a:ext cx="4321011" cy="806237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2F8DF42-EFFE-B148-0F58-142B7083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1098FD-B5A6-D368-F0BD-92A336AF1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4547158A-BDF2-6090-DB6A-B21DDFA397DA}"/>
              </a:ext>
            </a:extLst>
          </p:cNvPr>
          <p:cNvSpPr txBox="1">
            <a:spLocks/>
          </p:cNvSpPr>
          <p:nvPr/>
        </p:nvSpPr>
        <p:spPr>
          <a:xfrm>
            <a:off x="628650" y="948160"/>
            <a:ext cx="8938044" cy="1726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sz="1600" dirty="0"/>
              <a:t>The previous example visualizes the interconnectivity of MIMO systems</a:t>
            </a:r>
          </a:p>
          <a:p>
            <a:pPr>
              <a:buClrTx/>
            </a:pPr>
            <a:endParaRPr lang="en-US" sz="1600" dirty="0"/>
          </a:p>
          <a:p>
            <a:pPr>
              <a:buClrTx/>
            </a:pPr>
            <a:endParaRPr lang="en-US" sz="1600" dirty="0"/>
          </a:p>
          <a:p>
            <a:pPr>
              <a:buClrTx/>
            </a:pPr>
            <a:endParaRPr lang="en-US" sz="1600" dirty="0"/>
          </a:p>
          <a:p>
            <a:pPr>
              <a:buClrTx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This is the general case for MIMO systems</a:t>
            </a:r>
          </a:p>
          <a:p>
            <a:pPr>
              <a:buClrTx/>
            </a:pPr>
            <a:endParaRPr lang="en-US" sz="1600" dirty="0"/>
          </a:p>
          <a:p>
            <a:pPr>
              <a:buClrTx/>
            </a:pPr>
            <a:endParaRPr lang="en-US" sz="1600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F0927770-F578-4ABF-209A-A0BA5084CBB0}"/>
              </a:ext>
            </a:extLst>
          </p:cNvPr>
          <p:cNvGrpSpPr/>
          <p:nvPr/>
        </p:nvGrpSpPr>
        <p:grpSpPr>
          <a:xfrm>
            <a:off x="628650" y="2635160"/>
            <a:ext cx="8449362" cy="1570651"/>
            <a:chOff x="628650" y="2174335"/>
            <a:chExt cx="8449362" cy="1570651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2A95AA2F-48BA-F346-BFB4-128855766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3995" y="2594680"/>
              <a:ext cx="3843189" cy="1150306"/>
            </a:xfrm>
            <a:prstGeom prst="rect">
              <a:avLst/>
            </a:prstGeom>
          </p:spPr>
        </p:pic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B457F0A-D18D-9CA3-1732-84B256732843}"/>
                </a:ext>
              </a:extLst>
            </p:cNvPr>
            <p:cNvSpPr txBox="1"/>
            <p:nvPr/>
          </p:nvSpPr>
          <p:spPr>
            <a:xfrm>
              <a:off x="628650" y="2174335"/>
              <a:ext cx="84493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In systems where each input affects only one separate output, we call the MIMO system </a:t>
              </a:r>
              <a:r>
                <a:rPr lang="en-US" sz="1600" u="sng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decoupled</a:t>
              </a:r>
            </a:p>
          </p:txBody>
        </p:sp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10696EC6-F2FD-2364-B3F8-07A08040169B}"/>
              </a:ext>
            </a:extLst>
          </p:cNvPr>
          <p:cNvSpPr txBox="1"/>
          <p:nvPr/>
        </p:nvSpPr>
        <p:spPr>
          <a:xfrm>
            <a:off x="628650" y="4191114"/>
            <a:ext cx="7978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The transfer function representation makes the system’s internal connections visible, since it relates each input to each output.</a:t>
            </a:r>
          </a:p>
        </p:txBody>
      </p:sp>
    </p:spTree>
    <p:extLst>
      <p:ext uri="{BB962C8B-B14F-4D97-AF65-F5344CB8AC3E}">
        <p14:creationId xmlns:p14="http://schemas.microsoft.com/office/powerpoint/2010/main" val="365973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9E49A-F7E6-EEB1-940E-9D1064A3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AFC5E3-7710-D173-2A33-EEEB51969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5595"/>
            <a:ext cx="7886700" cy="478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sz="1600" dirty="0"/>
              <a:t>But </a:t>
            </a:r>
            <a:r>
              <a:rPr lang="de-CH" sz="1600" dirty="0" err="1"/>
              <a:t>how</a:t>
            </a:r>
            <a:r>
              <a:rPr lang="de-CH" sz="1600" dirty="0"/>
              <a:t> </a:t>
            </a:r>
            <a:r>
              <a:rPr lang="de-CH" sz="1600" dirty="0" err="1"/>
              <a:t>can</a:t>
            </a:r>
            <a:r>
              <a:rPr lang="de-CH" sz="1600" dirty="0"/>
              <a:t> </a:t>
            </a: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write</a:t>
            </a:r>
            <a:r>
              <a:rPr lang="de-CH" sz="1600" dirty="0"/>
              <a:t> a </a:t>
            </a:r>
            <a:r>
              <a:rPr lang="de-CH" sz="1600" dirty="0" err="1"/>
              <a:t>transfer</a:t>
            </a:r>
            <a:r>
              <a:rPr lang="de-CH" sz="1600" dirty="0"/>
              <a:t> </a:t>
            </a:r>
            <a:r>
              <a:rPr lang="de-CH" sz="1600" dirty="0" err="1"/>
              <a:t>function</a:t>
            </a:r>
            <a:r>
              <a:rPr lang="de-CH" sz="1600" dirty="0"/>
              <a:t> </a:t>
            </a:r>
            <a:r>
              <a:rPr lang="de-CH" sz="1600" dirty="0" err="1"/>
              <a:t>for</a:t>
            </a:r>
            <a:r>
              <a:rPr lang="de-CH" sz="1600" dirty="0"/>
              <a:t> a MIMO </a:t>
            </a:r>
            <a:r>
              <a:rPr lang="de-CH" sz="1600" dirty="0" err="1"/>
              <a:t>system</a:t>
            </a:r>
            <a:r>
              <a:rPr lang="de-CH" sz="1600" dirty="0"/>
              <a:t>?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F174D0-3E0F-8F8B-08E7-C8A1E66F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2838F6-320A-29D3-8118-B919D679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1A0C1F7-0B23-9E5A-B50C-D0FF3BFB6C29}"/>
              </a:ext>
            </a:extLst>
          </p:cNvPr>
          <p:cNvGrpSpPr/>
          <p:nvPr/>
        </p:nvGrpSpPr>
        <p:grpSpPr>
          <a:xfrm>
            <a:off x="628650" y="1382367"/>
            <a:ext cx="8108086" cy="1250671"/>
            <a:chOff x="628650" y="1703215"/>
            <a:chExt cx="8108086" cy="1250671"/>
          </a:xfrm>
        </p:grpSpPr>
        <p:sp>
          <p:nvSpPr>
            <p:cNvPr id="6" name="Inhaltsplatzhalter 2">
              <a:extLst>
                <a:ext uri="{FF2B5EF4-FFF2-40B4-BE49-F238E27FC236}">
                  <a16:creationId xmlns:a16="http://schemas.microsoft.com/office/drawing/2014/main" id="{CFD5CE05-DFAB-3F25-3CEA-6953E2D2864A}"/>
                </a:ext>
              </a:extLst>
            </p:cNvPr>
            <p:cNvSpPr txBox="1">
              <a:spLocks/>
            </p:cNvSpPr>
            <p:nvPr/>
          </p:nvSpPr>
          <p:spPr>
            <a:xfrm>
              <a:off x="628650" y="1776141"/>
              <a:ext cx="7886700" cy="47843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CH" sz="1600" dirty="0"/>
                <a:t>Recall </a:t>
              </a:r>
              <a:r>
                <a:rPr lang="de-CH" sz="1600" dirty="0" err="1"/>
                <a:t>how</a:t>
              </a:r>
              <a:r>
                <a:rPr lang="de-CH" sz="1600" dirty="0"/>
                <a:t> </a:t>
              </a:r>
              <a:r>
                <a:rPr lang="de-CH" sz="1600" dirty="0" err="1"/>
                <a:t>we</a:t>
              </a:r>
              <a:r>
                <a:rPr lang="de-CH" sz="1600" dirty="0"/>
                <a:t> </a:t>
              </a:r>
              <a:r>
                <a:rPr lang="de-CH" sz="1600" dirty="0" err="1"/>
                <a:t>wrote</a:t>
              </a:r>
              <a:r>
                <a:rPr lang="de-CH" sz="1600" dirty="0"/>
                <a:t> </a:t>
              </a:r>
              <a:r>
                <a:rPr lang="de-CH" sz="1600" dirty="0" err="1"/>
                <a:t>transfer</a:t>
              </a:r>
              <a:r>
                <a:rPr lang="de-CH" sz="1600" dirty="0"/>
                <a:t> </a:t>
              </a:r>
              <a:r>
                <a:rPr lang="de-CH" sz="1600" dirty="0" err="1"/>
                <a:t>functions</a:t>
              </a:r>
              <a:r>
                <a:rPr lang="de-CH" sz="1600" dirty="0"/>
                <a:t> </a:t>
              </a:r>
              <a:r>
                <a:rPr lang="de-CH" sz="1600" dirty="0" err="1"/>
                <a:t>for</a:t>
              </a:r>
              <a:r>
                <a:rPr lang="de-CH" sz="1600" dirty="0"/>
                <a:t> SISO </a:t>
              </a:r>
              <a:r>
                <a:rPr lang="de-CH" sz="1600" dirty="0" err="1"/>
                <a:t>systems</a:t>
              </a:r>
              <a:r>
                <a:rPr lang="de-CH" sz="1600" dirty="0"/>
                <a:t>:</a:t>
              </a:r>
            </a:p>
          </p:txBody>
        </p: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78D5EC5A-645F-0958-E4C0-3D65FCC372A9}"/>
                </a:ext>
              </a:extLst>
            </p:cNvPr>
            <p:cNvGrpSpPr/>
            <p:nvPr/>
          </p:nvGrpSpPr>
          <p:grpSpPr>
            <a:xfrm>
              <a:off x="6236564" y="1703215"/>
              <a:ext cx="2500172" cy="1250671"/>
              <a:chOff x="6128301" y="1627801"/>
              <a:chExt cx="2500172" cy="12506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A7510C0C-A5D6-F93A-E0DE-1767DD91BB33}"/>
                      </a:ext>
                    </a:extLst>
                  </p:cNvPr>
                  <p:cNvSpPr txBox="1"/>
                  <p:nvPr/>
                </p:nvSpPr>
                <p:spPr>
                  <a:xfrm>
                    <a:off x="6128301" y="1627801"/>
                    <a:ext cx="2500172" cy="626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 dirty="0" err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 dirty="0" err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600" i="1" dirty="0" err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 dirty="0" err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 dirty="0" err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600" i="1" dirty="0" err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den>
                          </m:f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A7510C0C-A5D6-F93A-E0DE-1767DD91BB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28301" y="1627801"/>
                    <a:ext cx="2500172" cy="62677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60784" r="-2030" b="-921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487C258-5C22-D5BB-9702-689FE8D7A74F}"/>
                  </a:ext>
                </a:extLst>
              </p:cNvPr>
              <p:cNvSpPr txBox="1"/>
              <p:nvPr/>
            </p:nvSpPr>
            <p:spPr>
              <a:xfrm>
                <a:off x="6226469" y="2293697"/>
                <a:ext cx="23038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CH" sz="160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→ Output </a:t>
                </a:r>
                <a:r>
                  <a:rPr lang="de-CH" sz="1600" dirty="0" err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to</a:t>
                </a:r>
                <a:r>
                  <a:rPr lang="de-CH" sz="160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input</a:t>
                </a:r>
                <a:r>
                  <a:rPr lang="de-CH" sz="160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ratio</a:t>
                </a:r>
                <a:endParaRPr lang="de-CH" sz="160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60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D825007F-B571-55D2-6A4E-D04835DBB02B}"/>
              </a:ext>
            </a:extLst>
          </p:cNvPr>
          <p:cNvGrpSpPr/>
          <p:nvPr/>
        </p:nvGrpSpPr>
        <p:grpSpPr>
          <a:xfrm>
            <a:off x="0" y="2163881"/>
            <a:ext cx="8515350" cy="2449272"/>
            <a:chOff x="0" y="2163881"/>
            <a:chExt cx="8515350" cy="2449272"/>
          </a:xfrm>
        </p:grpSpPr>
        <p:sp>
          <p:nvSpPr>
            <p:cNvPr id="11" name="Inhaltsplatzhalter 2">
              <a:extLst>
                <a:ext uri="{FF2B5EF4-FFF2-40B4-BE49-F238E27FC236}">
                  <a16:creationId xmlns:a16="http://schemas.microsoft.com/office/drawing/2014/main" id="{D592EF87-B489-4576-BDFC-21F5DAA0DD54}"/>
                </a:ext>
              </a:extLst>
            </p:cNvPr>
            <p:cNvSpPr txBox="1">
              <a:spLocks/>
            </p:cNvSpPr>
            <p:nvPr/>
          </p:nvSpPr>
          <p:spPr>
            <a:xfrm>
              <a:off x="628650" y="2163881"/>
              <a:ext cx="7886700" cy="79107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Tx/>
              </a:pPr>
              <a:r>
                <a:rPr lang="de-CH" sz="1600" dirty="0" err="1"/>
                <a:t>For</a:t>
              </a:r>
              <a:r>
                <a:rPr lang="de-CH" sz="1600" dirty="0"/>
                <a:t> MIMO </a:t>
              </a:r>
              <a:r>
                <a:rPr lang="de-CH" sz="1600" dirty="0" err="1"/>
                <a:t>systems</a:t>
              </a:r>
              <a:r>
                <a:rPr lang="de-CH" sz="1600" dirty="0"/>
                <a:t>, </a:t>
              </a:r>
              <a:r>
                <a:rPr lang="de-CH" sz="1600" dirty="0" err="1"/>
                <a:t>each</a:t>
              </a:r>
              <a:r>
                <a:rPr lang="de-CH" sz="1600" dirty="0"/>
                <a:t> </a:t>
              </a:r>
              <a:r>
                <a:rPr lang="de-CH" sz="1600" dirty="0" err="1"/>
                <a:t>output</a:t>
              </a:r>
              <a:r>
                <a:rPr lang="de-CH" sz="1600" dirty="0"/>
                <a:t> </a:t>
              </a:r>
              <a:r>
                <a:rPr lang="de-CH" sz="1600" dirty="0" err="1"/>
                <a:t>has</a:t>
              </a:r>
              <a:r>
                <a:rPr lang="de-CH" sz="1600" dirty="0"/>
                <a:t> a </a:t>
              </a:r>
              <a:r>
                <a:rPr lang="de-CH" sz="1600" dirty="0" err="1"/>
                <a:t>ratio</a:t>
              </a:r>
              <a:r>
                <a:rPr lang="de-CH" sz="1600" dirty="0"/>
                <a:t> </a:t>
              </a:r>
              <a:r>
                <a:rPr lang="de-CH" sz="1600" dirty="0" err="1"/>
                <a:t>to</a:t>
              </a:r>
              <a:r>
                <a:rPr lang="de-CH" sz="1600" dirty="0"/>
                <a:t> </a:t>
              </a:r>
              <a:r>
                <a:rPr lang="de-CH" sz="1600" dirty="0" err="1"/>
                <a:t>each</a:t>
              </a:r>
              <a:r>
                <a:rPr lang="de-CH" sz="1600" dirty="0"/>
                <a:t> </a:t>
              </a:r>
              <a:r>
                <a:rPr lang="de-CH" sz="1600" dirty="0" err="1"/>
                <a:t>input</a:t>
              </a:r>
              <a:endParaRPr lang="de-CH" sz="1600" dirty="0"/>
            </a:p>
            <a:p>
              <a:pPr>
                <a:buClrTx/>
              </a:pPr>
              <a:r>
                <a:rPr lang="de-CH" sz="1600" dirty="0" err="1"/>
                <a:t>Instead</a:t>
              </a:r>
              <a:r>
                <a:rPr lang="de-CH" sz="1600" dirty="0"/>
                <a:t> </a:t>
              </a:r>
              <a:r>
                <a:rPr lang="de-CH" sz="1600" dirty="0" err="1"/>
                <a:t>of</a:t>
              </a:r>
              <a:r>
                <a:rPr lang="de-CH" sz="1600" dirty="0"/>
                <a:t> </a:t>
              </a:r>
              <a:r>
                <a:rPr lang="de-CH" sz="1600" dirty="0" err="1"/>
                <a:t>scalar</a:t>
              </a:r>
              <a:r>
                <a:rPr lang="de-CH" sz="1600" dirty="0"/>
                <a:t> </a:t>
              </a:r>
              <a:r>
                <a:rPr lang="de-CH" sz="1600" dirty="0" err="1"/>
                <a:t>transfer</a:t>
              </a:r>
              <a:r>
                <a:rPr lang="de-CH" sz="1600" dirty="0"/>
                <a:t> </a:t>
              </a:r>
              <a:r>
                <a:rPr lang="de-CH" sz="1600" dirty="0" err="1"/>
                <a:t>functions</a:t>
              </a:r>
              <a:r>
                <a:rPr lang="de-CH" sz="1600" dirty="0"/>
                <a:t>, </a:t>
              </a:r>
              <a:r>
                <a:rPr lang="de-CH" sz="1600" dirty="0" err="1"/>
                <a:t>we</a:t>
              </a:r>
              <a:r>
                <a:rPr lang="de-CH" sz="1600" dirty="0"/>
                <a:t> </a:t>
              </a:r>
              <a:r>
                <a:rPr lang="de-CH" sz="1600" dirty="0" err="1"/>
                <a:t>now</a:t>
              </a:r>
              <a:r>
                <a:rPr lang="de-CH" sz="1600" dirty="0"/>
                <a:t> </a:t>
              </a:r>
              <a:r>
                <a:rPr lang="de-CH" sz="1600" dirty="0" err="1"/>
                <a:t>have</a:t>
              </a:r>
              <a:r>
                <a:rPr lang="de-CH" sz="1600" dirty="0"/>
                <a:t> </a:t>
              </a:r>
              <a:r>
                <a:rPr lang="de-CH" sz="1600" dirty="0" err="1"/>
                <a:t>transfer</a:t>
              </a:r>
              <a:r>
                <a:rPr lang="de-CH" sz="1600" dirty="0"/>
                <a:t> </a:t>
              </a:r>
              <a:r>
                <a:rPr lang="de-CH" sz="1600" dirty="0" err="1"/>
                <a:t>function</a:t>
              </a:r>
              <a:r>
                <a:rPr lang="de-CH" sz="1600" dirty="0"/>
                <a:t> </a:t>
              </a:r>
              <a:r>
                <a:rPr lang="de-CH" sz="1600" dirty="0" err="1"/>
                <a:t>matrices</a:t>
              </a:r>
              <a:r>
                <a:rPr lang="de-CH" sz="1600" dirty="0"/>
                <a:t>.</a:t>
              </a:r>
            </a:p>
            <a:p>
              <a:pPr>
                <a:buClrTx/>
              </a:pPr>
              <a:endParaRPr lang="de-CH" sz="1600" dirty="0"/>
            </a:p>
            <a:p>
              <a:pPr marL="0" indent="0">
                <a:buClrTx/>
                <a:buFont typeface="Arial" panose="020B0604020202020204" pitchFamily="34" charset="0"/>
                <a:buNone/>
              </a:pPr>
              <a:endParaRPr lang="en-US" sz="1600" dirty="0"/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E53DFFCC-F34A-B645-1C5F-C44F3CA669CB}"/>
                </a:ext>
              </a:extLst>
            </p:cNvPr>
            <p:cNvGrpSpPr/>
            <p:nvPr/>
          </p:nvGrpSpPr>
          <p:grpSpPr>
            <a:xfrm>
              <a:off x="0" y="2926212"/>
              <a:ext cx="4051370" cy="1686941"/>
              <a:chOff x="-966952" y="3505863"/>
              <a:chExt cx="4051370" cy="16869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D5994F1F-3D86-AC40-01CC-4E6EF7D778C5}"/>
                      </a:ext>
                    </a:extLst>
                  </p:cNvPr>
                  <p:cNvSpPr txBox="1"/>
                  <p:nvPr/>
                </p:nvSpPr>
                <p:spPr>
                  <a:xfrm>
                    <a:off x="-966952" y="3505863"/>
                    <a:ext cx="4051370" cy="80034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600" i="1" dirty="0" err="1">
                                            <a:latin typeface="Cambria Math" panose="02040503050406030204" pitchFamily="18" charset="0"/>
                                          </a:rPr>
                                          <m:t>𝑙𝑚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D5994F1F-3D86-AC40-01CC-4E6EF7D778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966952" y="3505863"/>
                    <a:ext cx="4051370" cy="80034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61F1A473-CE0C-B514-1F85-E54C14B2C77D}"/>
                      </a:ext>
                    </a:extLst>
                  </p:cNvPr>
                  <p:cNvSpPr txBox="1"/>
                  <p:nvPr/>
                </p:nvSpPr>
                <p:spPr>
                  <a:xfrm>
                    <a:off x="22806" y="4357382"/>
                    <a:ext cx="2071854" cy="83542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</m:oMath>
                    </a14:m>
                    <a:r>
                      <a: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: number of outputs  </a:t>
                    </a:r>
                  </a:p>
                  <a:p>
                    <a14:m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𝑚</m:t>
                        </m:r>
                      </m:oMath>
                    </a14:m>
                    <a:r>
                      <a: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: number of inputs  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⇒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ℂ</m:t>
                              </m:r>
                            </m:e>
                            <m:sup>
                              <m:r>
                                <a:rPr lang="en-US" sz="1600" i="1" dirty="0" err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</m:t>
                              </m:r>
                              <m:r>
                                <a:rPr lang="en-US" sz="1600" i="1" dirty="0" err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×</m:t>
                              </m:r>
                              <m:r>
                                <a:rPr lang="en-US" sz="1600" i="1" dirty="0" err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𝑚</m:t>
                              </m:r>
                            </m:sup>
                          </m:sSup>
                        </m:oMath>
                      </m:oMathPara>
                    </a14:m>
                    <a:endPara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61F1A473-CE0C-B514-1F85-E54C14B2C7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06" y="4357382"/>
                    <a:ext cx="2071854" cy="83542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493" r="-5488" b="-746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16" name="Grafik 15">
            <a:extLst>
              <a:ext uri="{FF2B5EF4-FFF2-40B4-BE49-F238E27FC236}">
                <a16:creationId xmlns:a16="http://schemas.microsoft.com/office/drawing/2014/main" id="{C8F3ED24-39FB-0DAE-D11B-A5670B1AAC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370" y="2974432"/>
            <a:ext cx="4310506" cy="169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04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2FC4D-7CD9-39FD-B9CE-678C2DB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374"/>
            <a:ext cx="7886700" cy="994172"/>
          </a:xfrm>
        </p:spPr>
        <p:txBody>
          <a:bodyPr/>
          <a:lstStyle/>
          <a:p>
            <a:r>
              <a:rPr lang="en-US" dirty="0"/>
              <a:t>MIMO block diagrams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FA2704F1-310A-4CB1-E1D8-1CBC05F2D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857" y="1493729"/>
            <a:ext cx="2479821" cy="406846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704305-7848-B777-4D3E-C8393B66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1E10E7-4984-3BEC-1389-DEEC8014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54F631A-380B-011A-47EA-D6E824145FBB}"/>
                  </a:ext>
                </a:extLst>
              </p:cNvPr>
              <p:cNvSpPr txBox="1"/>
              <p:nvPr/>
            </p:nvSpPr>
            <p:spPr>
              <a:xfrm>
                <a:off x="606586" y="739158"/>
                <a:ext cx="670407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There is a crucial difference when dealing with MIMO block diagrams</a:t>
                </a:r>
              </a:p>
              <a:p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In general, matrices do not commute!</a:t>
                </a: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54F631A-380B-011A-47EA-D6E82414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86" y="739158"/>
                <a:ext cx="6704079" cy="584775"/>
              </a:xfrm>
              <a:prstGeom prst="rect">
                <a:avLst/>
              </a:prstGeom>
              <a:blipFill>
                <a:blip r:embed="rId3"/>
                <a:stretch>
                  <a:fillRect l="-568" t="-4255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E5C1798-3A3C-7140-E758-A833812F4511}"/>
              </a:ext>
            </a:extLst>
          </p:cNvPr>
          <p:cNvGrpSpPr/>
          <p:nvPr/>
        </p:nvGrpSpPr>
        <p:grpSpPr>
          <a:xfrm>
            <a:off x="606586" y="2032948"/>
            <a:ext cx="5479385" cy="1287881"/>
            <a:chOff x="606586" y="2032948"/>
            <a:chExt cx="5479385" cy="1287881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258CFA1C-B43C-927E-4285-552ECB93F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857" y="2430667"/>
              <a:ext cx="2093529" cy="890162"/>
            </a:xfrm>
            <a:prstGeom prst="rect">
              <a:avLst/>
            </a:prstGeom>
          </p:spPr>
        </p:pic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041CCFBE-A7A5-68D7-7CD0-CBEC828A3C35}"/>
                </a:ext>
              </a:extLst>
            </p:cNvPr>
            <p:cNvSpPr txBox="1"/>
            <p:nvPr/>
          </p:nvSpPr>
          <p:spPr>
            <a:xfrm>
              <a:off x="606586" y="2032948"/>
              <a:ext cx="54793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The following feedback loop highlights additional rules:</a:t>
              </a:r>
            </a:p>
          </p:txBody>
        </p:sp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CD71C2B2-4622-4734-0EC3-372E2679E271}"/>
              </a:ext>
            </a:extLst>
          </p:cNvPr>
          <p:cNvSpPr txBox="1"/>
          <p:nvPr/>
        </p:nvSpPr>
        <p:spPr>
          <a:xfrm>
            <a:off x="628650" y="3312821"/>
            <a:ext cx="64299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General rules (same as CS1):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Start from output and proceed against signal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Multiply inverse on the side where the term that you want gone is.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64E7C973-E402-11C0-6D21-9882B8280D7B}"/>
              </a:ext>
            </a:extLst>
          </p:cNvPr>
          <p:cNvGrpSpPr/>
          <p:nvPr/>
        </p:nvGrpSpPr>
        <p:grpSpPr>
          <a:xfrm>
            <a:off x="628650" y="4194357"/>
            <a:ext cx="8349018" cy="584775"/>
            <a:chOff x="628650" y="4194357"/>
            <a:chExt cx="8349018" cy="584775"/>
          </a:xfrm>
        </p:grpSpPr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6E77DFE2-C591-9DB4-E659-E79C8C5B1977}"/>
                </a:ext>
              </a:extLst>
            </p:cNvPr>
            <p:cNvSpPr txBox="1"/>
            <p:nvPr/>
          </p:nvSpPr>
          <p:spPr>
            <a:xfrm>
              <a:off x="628650" y="4194357"/>
              <a:ext cx="52315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For the derivation of more complex systems, the following rule can be handy: "Push-through identity"</a:t>
              </a:r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B081A563-D0A6-B23A-176D-406BC123784A}"/>
                </a:ext>
              </a:extLst>
            </p:cNvPr>
            <p:cNvGrpSpPr/>
            <p:nvPr/>
          </p:nvGrpSpPr>
          <p:grpSpPr>
            <a:xfrm>
              <a:off x="5643661" y="4270125"/>
              <a:ext cx="3334007" cy="459723"/>
              <a:chOff x="5469520" y="4319409"/>
              <a:chExt cx="3334007" cy="4597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939EFE1F-2A4E-ACC0-D870-733E8A3D99C6}"/>
                      </a:ext>
                    </a:extLst>
                  </p:cNvPr>
                  <p:cNvSpPr txBox="1"/>
                  <p:nvPr/>
                </p:nvSpPr>
                <p:spPr>
                  <a:xfrm>
                    <a:off x="5469520" y="4379047"/>
                    <a:ext cx="3334007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939EFE1F-2A4E-ACC0-D870-733E8A3D99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9520" y="4379047"/>
                    <a:ext cx="3334007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3571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Rectangle: Rounded Corners 17">
                <a:extLst>
                  <a:ext uri="{FF2B5EF4-FFF2-40B4-BE49-F238E27FC236}">
                    <a16:creationId xmlns:a16="http://schemas.microsoft.com/office/drawing/2014/main" id="{11C9A89A-542F-355F-5462-650D6492D4CB}"/>
                  </a:ext>
                </a:extLst>
              </p:cNvPr>
              <p:cNvSpPr/>
              <p:nvPr/>
            </p:nvSpPr>
            <p:spPr>
              <a:xfrm>
                <a:off x="5593026" y="4319409"/>
                <a:ext cx="3086101" cy="459723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DD9CB5BB-46E9-6577-3FD1-3F66FE8CBABD}"/>
                  </a:ext>
                </a:extLst>
              </p:cNvPr>
              <p:cNvSpPr txBox="1"/>
              <p:nvPr/>
            </p:nvSpPr>
            <p:spPr>
              <a:xfrm>
                <a:off x="4222944" y="1407352"/>
                <a:ext cx="123488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de-CH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de-CH" sz="1600" i="1" dirty="0">
                  <a:latin typeface="Cambria Math" panose="02040503050406030204" pitchFamily="18" charset="0"/>
                </a:endParaRPr>
              </a:p>
              <a:p>
                <a:endParaRPr lang="de-CH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DD9CB5BB-46E9-6577-3FD1-3F66FE8CB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944" y="1407352"/>
                <a:ext cx="1234881" cy="830997"/>
              </a:xfrm>
              <a:prstGeom prst="rect">
                <a:avLst/>
              </a:prstGeom>
              <a:blipFill>
                <a:blip r:embed="rId6"/>
                <a:stretch>
                  <a:fillRect l="-3061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26970CB-E57A-C997-D2E3-624763F357A3}"/>
              </a:ext>
            </a:extLst>
          </p:cNvPr>
          <p:cNvCxnSpPr>
            <a:cxnSpLocks/>
          </p:cNvCxnSpPr>
          <p:nvPr/>
        </p:nvCxnSpPr>
        <p:spPr>
          <a:xfrm flipV="1">
            <a:off x="4222944" y="1525643"/>
            <a:ext cx="1159620" cy="1715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65576B9-0F53-8CF5-6FAA-D7BD41050DCE}"/>
              </a:ext>
            </a:extLst>
          </p:cNvPr>
          <p:cNvSpPr txBox="1"/>
          <p:nvPr/>
        </p:nvSpPr>
        <p:spPr>
          <a:xfrm>
            <a:off x="5382564" y="1322282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wrong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7995CFD-DF5D-3AA6-856B-C989BA45D134}"/>
              </a:ext>
            </a:extLst>
          </p:cNvPr>
          <p:cNvSpPr txBox="1"/>
          <p:nvPr/>
        </p:nvSpPr>
        <p:spPr>
          <a:xfrm>
            <a:off x="5474384" y="1645471"/>
            <a:ext cx="338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✓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6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906B8DD5-0227-B6D2-17A5-72D86764D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4250" y="827601"/>
            <a:ext cx="2007446" cy="131917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B34AF34-70A2-5B03-8193-9A618D06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MIMO state-space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7A7A54-7BA9-08E2-4134-D4E628FB6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5816555-CBE6-D7C5-12EC-EA11CBEA9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4FCBA42-5202-5D50-42C1-53783C7FE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1147223"/>
            <a:ext cx="2686050" cy="57266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870C842-3A2D-DCA7-A624-EDA24C42D827}"/>
              </a:ext>
            </a:extLst>
          </p:cNvPr>
          <p:cNvSpPr txBox="1"/>
          <p:nvPr/>
        </p:nvSpPr>
        <p:spPr>
          <a:xfrm>
            <a:off x="281489" y="1171568"/>
            <a:ext cx="40206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The system dynamics can be written as: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C81392E-9E24-5788-4778-6D4C5778E282}"/>
              </a:ext>
            </a:extLst>
          </p:cNvPr>
          <p:cNvSpPr txBox="1"/>
          <p:nvPr/>
        </p:nvSpPr>
        <p:spPr>
          <a:xfrm>
            <a:off x="754128" y="2388886"/>
            <a:ext cx="4549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Nothing changes except for dimensionalities!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D300640-D3CB-358A-D85A-112FA6F8D6B4}"/>
              </a:ext>
            </a:extLst>
          </p:cNvPr>
          <p:cNvSpPr txBox="1"/>
          <p:nvPr/>
        </p:nvSpPr>
        <p:spPr>
          <a:xfrm>
            <a:off x="628650" y="4027716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 much for the basics. To analyze how a system behaves, we must look at its poles and zeros. But how do we do that if the transfer function is a matrix?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2B9E51B2-CFF4-20F1-1AE6-DA818E728735}"/>
              </a:ext>
            </a:extLst>
          </p:cNvPr>
          <p:cNvGrpSpPr/>
          <p:nvPr/>
        </p:nvGrpSpPr>
        <p:grpSpPr>
          <a:xfrm>
            <a:off x="673768" y="3020159"/>
            <a:ext cx="5939960" cy="459723"/>
            <a:chOff x="673768" y="3020159"/>
            <a:chExt cx="5939960" cy="4597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84E02355-3EAC-95B1-600C-AA260452D48E}"/>
                    </a:ext>
                  </a:extLst>
                </p:cNvPr>
                <p:cNvSpPr txBox="1"/>
                <p:nvPr/>
              </p:nvSpPr>
              <p:spPr>
                <a:xfrm>
                  <a:off x="673768" y="3035824"/>
                  <a:ext cx="343876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state-space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⟶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transfer function :</a:t>
                  </a:r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84E02355-3EAC-95B1-600C-AA260452D4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68" y="3035824"/>
                  <a:ext cx="3438762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1107" t="-7407" b="-259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1390FC4F-5CEB-44BB-AAFE-C7A734B8E129}"/>
                    </a:ext>
                  </a:extLst>
                </p:cNvPr>
                <p:cNvSpPr txBox="1"/>
                <p:nvPr/>
              </p:nvSpPr>
              <p:spPr>
                <a:xfrm>
                  <a:off x="4112529" y="3035824"/>
                  <a:ext cx="25011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err="1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1390FC4F-5CEB-44BB-AAFE-C7A734B8E1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529" y="3035824"/>
                  <a:ext cx="2501198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7407" r="-2030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7">
              <a:extLst>
                <a:ext uri="{FF2B5EF4-FFF2-40B4-BE49-F238E27FC236}">
                  <a16:creationId xmlns:a16="http://schemas.microsoft.com/office/drawing/2014/main" id="{473BD700-38DB-524E-7992-F3908B9BB71D}"/>
                </a:ext>
              </a:extLst>
            </p:cNvPr>
            <p:cNvSpPr/>
            <p:nvPr/>
          </p:nvSpPr>
          <p:spPr>
            <a:xfrm>
              <a:off x="4112530" y="3020159"/>
              <a:ext cx="2501198" cy="45972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020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2099B5-0F0F-0E78-B8E9-2BE59C3E9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6809"/>
            <a:ext cx="7886700" cy="994172"/>
          </a:xfrm>
        </p:spPr>
        <p:txBody>
          <a:bodyPr/>
          <a:lstStyle/>
          <a:p>
            <a:r>
              <a:rPr lang="en-US" dirty="0"/>
              <a:t>Poles &amp; Zeros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C20491-4828-17A0-04D6-92FF1DA77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21071"/>
            <a:ext cx="7886700" cy="422259"/>
          </a:xfrm>
        </p:spPr>
        <p:txBody>
          <a:bodyPr>
            <a:normAutofit/>
          </a:bodyPr>
          <a:lstStyle/>
          <a:p>
            <a:r>
              <a:rPr lang="de-CH" sz="1600" dirty="0"/>
              <a:t>The </a:t>
            </a:r>
            <a:r>
              <a:rPr lang="de-CH" sz="1600" dirty="0" err="1"/>
              <a:t>general</a:t>
            </a:r>
            <a:r>
              <a:rPr lang="de-CH" sz="1600" dirty="0"/>
              <a:t> </a:t>
            </a:r>
            <a:r>
              <a:rPr lang="de-CH" sz="1600" dirty="0" err="1"/>
              <a:t>meaning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poles</a:t>
            </a:r>
            <a:r>
              <a:rPr lang="de-CH" sz="1600" dirty="0"/>
              <a:t> and </a:t>
            </a:r>
            <a:r>
              <a:rPr lang="de-CH" sz="1600" dirty="0" err="1"/>
              <a:t>zeros</a:t>
            </a:r>
            <a:r>
              <a:rPr lang="de-CH" sz="1600" dirty="0"/>
              <a:t> </a:t>
            </a:r>
            <a:r>
              <a:rPr lang="de-CH" sz="1600" dirty="0" err="1"/>
              <a:t>remains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same</a:t>
            </a:r>
          </a:p>
          <a:p>
            <a:endParaRPr lang="en-US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B19F5B5-2B9B-F846-1110-A98E88197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7AAB2E-31D8-2188-9BAC-4F1CC8FA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8616167D-DA82-DC56-E24F-EBA5FF0B9A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128947"/>
                <a:ext cx="8823260" cy="7646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CH" sz="1600" dirty="0"/>
                  <a:t> pole: "</a:t>
                </a:r>
                <a:r>
                  <a:rPr lang="de-CH" sz="1600" dirty="0" err="1"/>
                  <a:t>Generated</a:t>
                </a:r>
                <a:r>
                  <a:rPr lang="de-CH" sz="1600" dirty="0"/>
                  <a:t> </a:t>
                </a:r>
                <a:r>
                  <a:rPr lang="de-CH" sz="1600" dirty="0" err="1"/>
                  <a:t>frequency</a:t>
                </a:r>
                <a:r>
                  <a:rPr lang="de-CH" sz="1600" dirty="0"/>
                  <a:t>" at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output</a:t>
                </a:r>
                <a:r>
                  <a:rPr lang="de-CH" sz="1600" dirty="0"/>
                  <a:t>, </a:t>
                </a:r>
                <a:r>
                  <a:rPr lang="de-CH" sz="1600" dirty="0" err="1"/>
                  <a:t>regardless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of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input</a:t>
                </a:r>
                <a:endParaRPr lang="de-CH" sz="1600" dirty="0"/>
              </a:p>
              <a:p>
                <a:pPr marL="0" indent="0">
                  <a:buClrTx/>
                  <a:buNone/>
                </a:pP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CH" sz="1600" dirty="0"/>
                  <a:t> </a:t>
                </a:r>
                <a:r>
                  <a:rPr lang="de-CH" sz="1600" dirty="0" err="1"/>
                  <a:t>zero</a:t>
                </a:r>
                <a:r>
                  <a:rPr lang="de-CH" sz="1600" dirty="0"/>
                  <a:t>: "</a:t>
                </a:r>
                <a:r>
                  <a:rPr lang="de-CH" sz="1600" dirty="0" err="1"/>
                  <a:t>Absorbed</a:t>
                </a:r>
                <a:r>
                  <a:rPr lang="de-CH" sz="1600" dirty="0"/>
                  <a:t> </a:t>
                </a:r>
                <a:r>
                  <a:rPr lang="de-CH" sz="1600" dirty="0" err="1"/>
                  <a:t>frequency</a:t>
                </a:r>
                <a:r>
                  <a:rPr lang="de-CH" sz="1600" dirty="0"/>
                  <a:t>" </a:t>
                </a:r>
                <a:r>
                  <a:rPr lang="de-CH" sz="1600" dirty="0" err="1"/>
                  <a:t>that</a:t>
                </a:r>
                <a:r>
                  <a:rPr lang="de-CH" sz="1600" dirty="0"/>
                  <a:t> </a:t>
                </a:r>
                <a:r>
                  <a:rPr lang="de-CH" sz="1600" dirty="0" err="1"/>
                  <a:t>is</a:t>
                </a:r>
                <a:r>
                  <a:rPr lang="de-CH" sz="1600" dirty="0"/>
                  <a:t> not </a:t>
                </a:r>
                <a:r>
                  <a:rPr lang="de-CH" sz="1600" dirty="0" err="1"/>
                  <a:t>transmitted</a:t>
                </a:r>
                <a:r>
                  <a:rPr lang="de-CH" sz="1600" dirty="0"/>
                  <a:t> </a:t>
                </a:r>
                <a:r>
                  <a:rPr lang="de-CH" sz="1600" dirty="0" err="1"/>
                  <a:t>from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input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to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output</a:t>
                </a:r>
                <a:endParaRPr lang="de-CH" sz="1600" dirty="0"/>
              </a:p>
              <a:p>
                <a:pPr marL="0" indent="0">
                  <a:buClrTx/>
                  <a:buNone/>
                </a:pPr>
                <a:endParaRPr lang="de-CH" sz="1600" dirty="0"/>
              </a:p>
              <a:p>
                <a:pPr marL="0" indent="0">
                  <a:buClrTx/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8616167D-DA82-DC56-E24F-EBA5FF0B9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128947"/>
                <a:ext cx="8823260" cy="764661"/>
              </a:xfrm>
              <a:prstGeom prst="rect">
                <a:avLst/>
              </a:prstGeom>
              <a:blipFill>
                <a:blip r:embed="rId3"/>
                <a:stretch>
                  <a:fillRect t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240DF9F9-CBF2-8FA0-74A9-DCC31F87339E}"/>
              </a:ext>
            </a:extLst>
          </p:cNvPr>
          <p:cNvGrpSpPr/>
          <p:nvPr/>
        </p:nvGrpSpPr>
        <p:grpSpPr>
          <a:xfrm>
            <a:off x="628650" y="1723616"/>
            <a:ext cx="8823260" cy="878925"/>
            <a:chOff x="693965" y="2078199"/>
            <a:chExt cx="8823260" cy="878925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1BE2BE7B-76CC-9B73-5359-C1B31035682F}"/>
                </a:ext>
              </a:extLst>
            </p:cNvPr>
            <p:cNvGrpSpPr/>
            <p:nvPr/>
          </p:nvGrpSpPr>
          <p:grpSpPr>
            <a:xfrm>
              <a:off x="693965" y="2087658"/>
              <a:ext cx="8823260" cy="869466"/>
              <a:chOff x="628650" y="2336316"/>
              <a:chExt cx="8823260" cy="869466"/>
            </a:xfrm>
          </p:grpSpPr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D7C68CCB-D1C9-10B5-8DEE-56799E0715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2441121"/>
                <a:ext cx="8823260" cy="7646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:r>
                  <a:rPr lang="en-US" sz="1600" dirty="0"/>
                  <a:t>Let's look at an example from a SISO system:</a:t>
                </a:r>
              </a:p>
            </p:txBody>
          </p:sp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0BA6F31D-8928-3AF9-93DA-E18E193187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69732" y="2336316"/>
                <a:ext cx="2071923" cy="638067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9FD3FC10-345F-FB9E-FA88-DDEDD3E6A61D}"/>
                    </a:ext>
                  </a:extLst>
                </p:cNvPr>
                <p:cNvSpPr txBox="1"/>
                <p:nvPr/>
              </p:nvSpPr>
              <p:spPr>
                <a:xfrm>
                  <a:off x="7069645" y="2078199"/>
                  <a:ext cx="2245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CH" sz="1600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pole: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𝜋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=−0.1±2.23 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𝑖</m:t>
                      </m:r>
                    </m:oMath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de-CH" sz="1600" dirty="0" err="1">
                      <a:solidFill>
                        <a:schemeClr val="accent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zero</a:t>
                  </a:r>
                  <a:r>
                    <a:rPr lang="de-CH" sz="1600" dirty="0">
                      <a:solidFill>
                        <a:schemeClr val="accent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  <a:r>
                    <a:rPr lang="de-CH" sz="1600" dirty="0">
                      <a:solidFill>
                        <a:srgbClr val="00B05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𝜁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 1</m:t>
                      </m:r>
                    </m:oMath>
                  </a14:m>
                  <a:endParaRPr lang="de-CH" sz="1600" dirty="0">
                    <a:solidFill>
                      <a:srgbClr val="00B050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9FD3FC10-345F-FB9E-FA88-DDEDD3E6A6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9645" y="2078199"/>
                  <a:ext cx="2245871" cy="584775"/>
                </a:xfrm>
                <a:prstGeom prst="rect">
                  <a:avLst/>
                </a:prstGeom>
                <a:blipFill>
                  <a:blip r:embed="rId5"/>
                  <a:stretch>
                    <a:fillRect l="-1124" t="-4255" r="-2247" b="-127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95323F8-AC5B-870B-18FC-C252F881CF7E}"/>
              </a:ext>
            </a:extLst>
          </p:cNvPr>
          <p:cNvGrpSpPr/>
          <p:nvPr/>
        </p:nvGrpSpPr>
        <p:grpSpPr>
          <a:xfrm>
            <a:off x="1104529" y="2371142"/>
            <a:ext cx="3230690" cy="2469405"/>
            <a:chOff x="1104529" y="2371142"/>
            <a:chExt cx="3230690" cy="2469405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9273D771-86AB-54B7-82BD-D298B72EC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1754" y="2371142"/>
              <a:ext cx="2914874" cy="1946185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4F9F20FE-148A-989D-A12F-B8947DE4483B}"/>
                </a:ext>
              </a:extLst>
            </p:cNvPr>
            <p:cNvSpPr txBox="1"/>
            <p:nvPr/>
          </p:nvSpPr>
          <p:spPr>
            <a:xfrm>
              <a:off x="1104529" y="4317327"/>
              <a:ext cx="32306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Pole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frequency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appears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in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output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independent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of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input</a:t>
              </a:r>
              <a:endParaRPr lang="de-CH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B32E38B-5D84-98C2-FF80-C3335B05FC02}"/>
              </a:ext>
            </a:extLst>
          </p:cNvPr>
          <p:cNvGrpSpPr/>
          <p:nvPr/>
        </p:nvGrpSpPr>
        <p:grpSpPr>
          <a:xfrm>
            <a:off x="5119844" y="2317850"/>
            <a:ext cx="3547439" cy="2794912"/>
            <a:chOff x="5119844" y="2317850"/>
            <a:chExt cx="3547439" cy="2794912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1D95D7A4-AC50-23A0-4CF6-2CEA95972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02424" y="2317850"/>
              <a:ext cx="2982281" cy="2090976"/>
            </a:xfrm>
            <a:prstGeom prst="rect">
              <a:avLst/>
            </a:prstGeom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045168EF-B549-B288-4B1D-8E8F9AD04A83}"/>
                </a:ext>
              </a:extLst>
            </p:cNvPr>
            <p:cNvSpPr txBox="1"/>
            <p:nvPr/>
          </p:nvSpPr>
          <p:spPr>
            <a:xfrm>
              <a:off x="5119844" y="4374098"/>
              <a:ext cx="354743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Pole </a:t>
              </a:r>
              <a:r>
                <a:rPr lang="de-CH" dirty="0" err="1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effect</a:t>
              </a:r>
              <a:r>
                <a: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remains</a:t>
              </a:r>
              <a:r>
                <a: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in </a:t>
              </a:r>
              <a:r>
                <a:rPr lang="de-CH" dirty="0" err="1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</a:t>
              </a:r>
              <a:r>
                <a: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transient, </a:t>
              </a:r>
              <a:r>
                <a:rPr lang="de-CH" dirty="0" err="1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while</a:t>
              </a:r>
              <a:r>
                <a: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</a:t>
              </a:r>
              <a:r>
                <a: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zero</a:t>
              </a:r>
              <a:r>
                <a: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cancels</a:t>
              </a:r>
              <a:r>
                <a: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</a:t>
              </a:r>
              <a:r>
                <a: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input</a:t>
              </a:r>
              <a:r>
                <a: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frequency</a:t>
              </a:r>
              <a:endParaRPr lang="de-CH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endParaRPr lang="de-CH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102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D40E0-BEEA-B0B4-4AEC-FC3D37BE6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MIMO poles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982351-5CDE-2DFC-85FC-BE00016DB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562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sz="1600" dirty="0"/>
              <a:t>Definition: MIMO </a:t>
            </a:r>
            <a:r>
              <a:rPr lang="de-CH" sz="1600" dirty="0" err="1"/>
              <a:t>poles</a:t>
            </a:r>
            <a:r>
              <a:rPr lang="de-CH" sz="1600" dirty="0"/>
              <a:t> </a:t>
            </a:r>
            <a:r>
              <a:rPr lang="de-CH" sz="1600" dirty="0" err="1"/>
              <a:t>are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roots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pole polynomial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>
                <a:solidFill>
                  <a:srgbClr val="FF0000"/>
                </a:solidFill>
              </a:rPr>
              <a:t>least </a:t>
            </a:r>
            <a:r>
              <a:rPr lang="de-CH" sz="1600" dirty="0" err="1">
                <a:solidFill>
                  <a:srgbClr val="FF0000"/>
                </a:solidFill>
              </a:rPr>
              <a:t>common</a:t>
            </a:r>
            <a:r>
              <a:rPr lang="de-CH" sz="1600" dirty="0">
                <a:solidFill>
                  <a:srgbClr val="FF0000"/>
                </a:solidFill>
              </a:rPr>
              <a:t> multiple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denominators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all possible </a:t>
            </a:r>
            <a:r>
              <a:rPr lang="de-CH" sz="1600" u="sng" dirty="0" err="1">
                <a:solidFill>
                  <a:srgbClr val="00B050"/>
                </a:solidFill>
              </a:rPr>
              <a:t>minors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transfer</a:t>
            </a:r>
            <a:r>
              <a:rPr lang="de-CH" sz="1600" dirty="0"/>
              <a:t> </a:t>
            </a:r>
            <a:r>
              <a:rPr lang="de-CH" sz="1600" dirty="0" err="1"/>
              <a:t>function</a:t>
            </a:r>
            <a:r>
              <a:rPr lang="de-CH" sz="1600" dirty="0"/>
              <a:t> </a:t>
            </a:r>
            <a:r>
              <a:rPr lang="de-CH" sz="1600" dirty="0" err="1"/>
              <a:t>matrix</a:t>
            </a:r>
            <a:r>
              <a:rPr lang="de-CH" sz="1600" dirty="0"/>
              <a:t>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F16F58-E2D7-93E4-46D5-13E21A8D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B099A0-5377-2F65-8588-EC7DCD04B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481478F-1E4E-37AD-6815-1FDC4EEEE80B}"/>
              </a:ext>
            </a:extLst>
          </p:cNvPr>
          <p:cNvSpPr txBox="1"/>
          <p:nvPr/>
        </p:nvSpPr>
        <p:spPr>
          <a:xfrm>
            <a:off x="441614" y="4482306"/>
            <a:ext cx="4831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With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this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find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poles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a MIMO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700DEC5-B809-58CF-1307-B7EB92984DFB}"/>
              </a:ext>
            </a:extLst>
          </p:cNvPr>
          <p:cNvGrpSpPr/>
          <p:nvPr/>
        </p:nvGrpSpPr>
        <p:grpSpPr>
          <a:xfrm>
            <a:off x="628650" y="1983282"/>
            <a:ext cx="7567903" cy="2407830"/>
            <a:chOff x="628650" y="1983282"/>
            <a:chExt cx="7567903" cy="2407830"/>
          </a:xfrm>
        </p:grpSpPr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7931F8D-5484-E7C8-AC2D-0A20C3D7328F}"/>
                </a:ext>
              </a:extLst>
            </p:cNvPr>
            <p:cNvSpPr txBox="1"/>
            <p:nvPr/>
          </p:nvSpPr>
          <p:spPr>
            <a:xfrm>
              <a:off x="628650" y="1983282"/>
              <a:ext cx="23230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600" dirty="0" err="1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What</a:t>
              </a:r>
              <a:r>
                <a:rPr lang="de-CH" sz="1600" dirty="0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sz="1600" dirty="0" err="1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are</a:t>
              </a:r>
              <a:r>
                <a:rPr lang="de-CH" sz="1600" dirty="0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sz="1600" dirty="0" err="1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minors</a:t>
              </a:r>
              <a:r>
                <a:rPr lang="de-CH" sz="1600" dirty="0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sz="1600" dirty="0" err="1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again</a:t>
              </a:r>
              <a:r>
                <a:rPr lang="de-CH" sz="1600" dirty="0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</a:p>
            <a:p>
              <a:br>
                <a:rPr lang="de-CH" sz="1600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34B483DF-CEEB-C9EB-7347-FAAACD086C54}"/>
                </a:ext>
              </a:extLst>
            </p:cNvPr>
            <p:cNvSpPr txBox="1"/>
            <p:nvPr/>
          </p:nvSpPr>
          <p:spPr>
            <a:xfrm>
              <a:off x="4719346" y="3430187"/>
              <a:ext cx="34772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 dirty="0" err="1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minors</a:t>
              </a:r>
              <a:r>
                <a:rPr lang="de-CH" sz="1600" dirty="0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sz="1600" dirty="0" err="1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are</a:t>
              </a:r>
              <a:r>
                <a:rPr lang="de-CH" sz="1600" dirty="0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sz="1600" dirty="0" err="1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</a:t>
              </a:r>
              <a:r>
                <a:rPr lang="de-CH" sz="1600" dirty="0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sz="1600" dirty="0" err="1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determinants</a:t>
              </a:r>
              <a:r>
                <a:rPr lang="de-CH" sz="1600" dirty="0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sz="1600" dirty="0" err="1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of</a:t>
              </a:r>
              <a:r>
                <a:rPr lang="de-CH" sz="1600" dirty="0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a </a:t>
              </a:r>
              <a:r>
                <a:rPr lang="de-CH" sz="1600" dirty="0" err="1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square</a:t>
              </a:r>
              <a:r>
                <a:rPr lang="de-CH" sz="1600" dirty="0">
                  <a:solidFill>
                    <a:srgbClr val="00B05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sub-matrix</a:t>
              </a:r>
              <a:endParaRPr lang="en-US" sz="16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07B7DB70-CEFC-D3BC-BB96-62A37D2BF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2461215"/>
              <a:ext cx="3465938" cy="19298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740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1023B2ED-40ED-5C79-4856-3BCC3658A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36" y="433918"/>
            <a:ext cx="3086100" cy="34437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BE8D438-95A4-9A7F-8728-E0709C11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36" y="-223242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EAC9BF-7E2F-CDEB-C82D-89B9456CF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79944A-E052-3C6B-48CE-5A2C6B7DC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D86F9A9-A9FD-F3CF-B0C3-2F3495714C5A}"/>
                  </a:ext>
                </a:extLst>
              </p:cNvPr>
              <p:cNvSpPr txBox="1"/>
              <p:nvPr/>
            </p:nvSpPr>
            <p:spPr>
              <a:xfrm>
                <a:off x="30415" y="4242478"/>
                <a:ext cx="52348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Simple example since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𝐺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is decoupled; for complex systems, cancellations and multiplicities are less obvious.</a:t>
                </a: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D86F9A9-A9FD-F3CF-B0C3-2F3495714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5" y="4242478"/>
                <a:ext cx="5234814" cy="584775"/>
              </a:xfrm>
              <a:prstGeom prst="rect">
                <a:avLst/>
              </a:prstGeom>
              <a:blipFill>
                <a:blip r:embed="rId3"/>
                <a:stretch>
                  <a:fillRect l="-484" t="-4255" r="-726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6492501-3B03-C45B-AA82-C4AD55496F8A}"/>
              </a:ext>
            </a:extLst>
          </p:cNvPr>
          <p:cNvGrpSpPr/>
          <p:nvPr/>
        </p:nvGrpSpPr>
        <p:grpSpPr>
          <a:xfrm>
            <a:off x="5265229" y="2462505"/>
            <a:ext cx="3878771" cy="2304758"/>
            <a:chOff x="5315208" y="2016985"/>
            <a:chExt cx="3878771" cy="23047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C5D3BBDE-5956-A972-0C00-078AAB02F05F}"/>
                    </a:ext>
                  </a:extLst>
                </p:cNvPr>
                <p:cNvSpPr txBox="1"/>
                <p:nvPr/>
              </p:nvSpPr>
              <p:spPr>
                <a:xfrm>
                  <a:off x="5365187" y="2120385"/>
                  <a:ext cx="3828792" cy="20621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Note: </a:t>
                  </a:r>
                  <a:r>
                    <a:rPr lang="en-US" sz="1600" i="1" u="sng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Stability</a:t>
                  </a:r>
                </a:p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With poles we can analyze the stability of MIMO systems  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⇒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Same conditions as for SISO:</a:t>
                  </a:r>
                </a:p>
                <a:p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• Stability: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𝑅𝑒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 err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 err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dirty="0" err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≤0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(in CT)</a:t>
                  </a:r>
                </a:p>
                <a:p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• Asymptotic stability: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𝑅𝑒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 err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 err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dirty="0" err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&lt;0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(in CT) </a:t>
                  </a:r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C5D3BBDE-5956-A972-0C00-078AAB02F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5187" y="2120385"/>
                  <a:ext cx="3828792" cy="2062103"/>
                </a:xfrm>
                <a:prstGeom prst="rect">
                  <a:avLst/>
                </a:prstGeom>
                <a:blipFill>
                  <a:blip r:embed="rId4"/>
                  <a:stretch>
                    <a:fillRect l="-662" t="-1227" r="-662" b="-30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: Rounded Corners 17">
              <a:extLst>
                <a:ext uri="{FF2B5EF4-FFF2-40B4-BE49-F238E27FC236}">
                  <a16:creationId xmlns:a16="http://schemas.microsoft.com/office/drawing/2014/main" id="{9B7FB9DA-3D67-B993-47A6-353A93BA6FB4}"/>
                </a:ext>
              </a:extLst>
            </p:cNvPr>
            <p:cNvSpPr/>
            <p:nvPr/>
          </p:nvSpPr>
          <p:spPr>
            <a:xfrm>
              <a:off x="5315208" y="2016985"/>
              <a:ext cx="3742165" cy="2304758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834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14ED81-C37B-2B68-1DF6-D2573C05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MIMO zeros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403340-4841-33ED-FC35-5C4FABAE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7E5DD6-3D80-9A56-12FC-32DD78CF5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5B6345CD-8BA4-4AD6-372A-F8F3C7534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1913"/>
            <a:ext cx="7886700" cy="695801"/>
          </a:xfrm>
        </p:spPr>
        <p:txBody>
          <a:bodyPr>
            <a:normAutofit/>
          </a:bodyPr>
          <a:lstStyle/>
          <a:p>
            <a:r>
              <a:rPr lang="en-US" sz="1600" dirty="0"/>
              <a:t>MIMO zeros are a little more complicated…</a:t>
            </a:r>
          </a:p>
          <a:p>
            <a:r>
              <a:rPr lang="en-US" sz="1600" dirty="0"/>
              <a:t>We differentiate between two types:</a:t>
            </a:r>
          </a:p>
          <a:p>
            <a:endParaRPr lang="en-US" sz="1600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11B9107-D4B6-A342-EB46-11C055631315}"/>
              </a:ext>
            </a:extLst>
          </p:cNvPr>
          <p:cNvGrpSpPr/>
          <p:nvPr/>
        </p:nvGrpSpPr>
        <p:grpSpPr>
          <a:xfrm>
            <a:off x="1660759" y="1717714"/>
            <a:ext cx="5825891" cy="956429"/>
            <a:chOff x="1331595" y="2362081"/>
            <a:chExt cx="5825891" cy="956429"/>
          </a:xfrm>
        </p:grpSpPr>
        <p:sp>
          <p:nvSpPr>
            <p:cNvPr id="7" name="Inhaltsplatzhalter 2">
              <a:extLst>
                <a:ext uri="{FF2B5EF4-FFF2-40B4-BE49-F238E27FC236}">
                  <a16:creationId xmlns:a16="http://schemas.microsoft.com/office/drawing/2014/main" id="{7A652F13-CE1B-32FE-DD2A-7DA0928BE19B}"/>
                </a:ext>
              </a:extLst>
            </p:cNvPr>
            <p:cNvSpPr txBox="1">
              <a:spLocks/>
            </p:cNvSpPr>
            <p:nvPr/>
          </p:nvSpPr>
          <p:spPr>
            <a:xfrm>
              <a:off x="1331595" y="2463879"/>
              <a:ext cx="3394710" cy="85463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Tx/>
              </a:pPr>
              <a:r>
                <a:rPr lang="en-US" sz="1600" dirty="0">
                  <a:solidFill>
                    <a:srgbClr val="FF0000"/>
                  </a:solidFill>
                </a:rPr>
                <a:t>Transmission</a:t>
              </a:r>
              <a:r>
                <a:rPr lang="en-US" sz="1600" dirty="0"/>
                <a:t> zeros</a:t>
              </a:r>
            </a:p>
            <a:p>
              <a:pPr>
                <a:buClrTx/>
              </a:pPr>
              <a:r>
                <a:rPr lang="en-US" sz="1600" dirty="0">
                  <a:solidFill>
                    <a:schemeClr val="accent4"/>
                  </a:solidFill>
                </a:rPr>
                <a:t>Invariant</a:t>
              </a:r>
              <a:r>
                <a:rPr lang="en-US" sz="1600" dirty="0"/>
                <a:t> zeros</a:t>
              </a:r>
            </a:p>
            <a:p>
              <a:pPr>
                <a:buClrTx/>
              </a:pPr>
              <a:endParaRPr lang="en-US" sz="1600" dirty="0"/>
            </a:p>
          </p:txBody>
        </p:sp>
        <p:sp>
          <p:nvSpPr>
            <p:cNvPr id="8" name="Geschweifte Klammer rechts 7">
              <a:extLst>
                <a:ext uri="{FF2B5EF4-FFF2-40B4-BE49-F238E27FC236}">
                  <a16:creationId xmlns:a16="http://schemas.microsoft.com/office/drawing/2014/main" id="{7A5F5F1A-BECB-0D5E-8B72-97B9D6EE16DB}"/>
                </a:ext>
              </a:extLst>
            </p:cNvPr>
            <p:cNvSpPr/>
            <p:nvPr/>
          </p:nvSpPr>
          <p:spPr>
            <a:xfrm>
              <a:off x="3390900" y="2362081"/>
              <a:ext cx="205740" cy="854631"/>
            </a:xfrm>
            <a:prstGeom prst="rightBrace">
              <a:avLst>
                <a:gd name="adj1" fmla="val 8333"/>
                <a:gd name="adj2" fmla="val 49108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4E4529A0-C52F-59A9-B4D6-85A981D0F9FC}"/>
                </a:ext>
              </a:extLst>
            </p:cNvPr>
            <p:cNvSpPr txBox="1"/>
            <p:nvPr/>
          </p:nvSpPr>
          <p:spPr>
            <a:xfrm>
              <a:off x="3598545" y="2478048"/>
              <a:ext cx="355894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dirty="0" err="1">
                  <a:solidFill>
                    <a:srgbClr val="00B050"/>
                  </a:solidFill>
                </a:rPr>
                <a:t>To</a:t>
              </a:r>
              <a:r>
                <a:rPr lang="de-CH" dirty="0">
                  <a:solidFill>
                    <a:srgbClr val="00B050"/>
                  </a:solidFill>
                </a:rPr>
                <a:t> </a:t>
              </a:r>
              <a:r>
                <a:rPr lang="de-CH" dirty="0" err="1">
                  <a:solidFill>
                    <a:srgbClr val="00B050"/>
                  </a:solidFill>
                </a:rPr>
                <a:t>properly</a:t>
              </a:r>
              <a:r>
                <a:rPr lang="de-CH" dirty="0">
                  <a:solidFill>
                    <a:srgbClr val="00B050"/>
                  </a:solidFill>
                </a:rPr>
                <a:t> </a:t>
              </a:r>
              <a:r>
                <a:rPr lang="de-CH" dirty="0" err="1">
                  <a:solidFill>
                    <a:srgbClr val="00B050"/>
                  </a:solidFill>
                </a:rPr>
                <a:t>understand</a:t>
              </a:r>
              <a:r>
                <a:rPr lang="de-CH" dirty="0">
                  <a:solidFill>
                    <a:srgbClr val="00B050"/>
                  </a:solidFill>
                </a:rPr>
                <a:t> </a:t>
              </a:r>
              <a:r>
                <a:rPr lang="de-CH" dirty="0" err="1">
                  <a:solidFill>
                    <a:srgbClr val="00B050"/>
                  </a:solidFill>
                </a:rPr>
                <a:t>their</a:t>
              </a:r>
              <a:r>
                <a:rPr lang="de-CH" dirty="0">
                  <a:solidFill>
                    <a:srgbClr val="00B050"/>
                  </a:solidFill>
                </a:rPr>
                <a:t> </a:t>
              </a:r>
              <a:r>
                <a:rPr lang="de-CH" dirty="0" err="1">
                  <a:solidFill>
                    <a:srgbClr val="00B050"/>
                  </a:solidFill>
                </a:rPr>
                <a:t>difference</a:t>
              </a:r>
              <a:r>
                <a:rPr lang="de-CH" dirty="0">
                  <a:solidFill>
                    <a:srgbClr val="00B050"/>
                  </a:solidFill>
                </a:rPr>
                <a:t> </a:t>
              </a:r>
              <a:r>
                <a:rPr lang="de-CH" dirty="0" err="1">
                  <a:solidFill>
                    <a:srgbClr val="00B050"/>
                  </a:solidFill>
                </a:rPr>
                <a:t>we</a:t>
              </a:r>
              <a:r>
                <a:rPr lang="de-CH" dirty="0">
                  <a:solidFill>
                    <a:srgbClr val="00B050"/>
                  </a:solidFill>
                </a:rPr>
                <a:t> </a:t>
              </a:r>
              <a:r>
                <a:rPr lang="de-CH" dirty="0" err="1">
                  <a:solidFill>
                    <a:srgbClr val="00B050"/>
                  </a:solidFill>
                </a:rPr>
                <a:t>look</a:t>
              </a:r>
              <a:r>
                <a:rPr lang="de-CH" dirty="0">
                  <a:solidFill>
                    <a:srgbClr val="00B050"/>
                  </a:solidFill>
                </a:rPr>
                <a:t> at </a:t>
              </a:r>
              <a:r>
                <a:rPr lang="de-CH" dirty="0" err="1">
                  <a:solidFill>
                    <a:srgbClr val="00B050"/>
                  </a:solidFill>
                </a:rPr>
                <a:t>them</a:t>
              </a:r>
              <a:r>
                <a:rPr lang="de-CH" dirty="0">
                  <a:solidFill>
                    <a:srgbClr val="00B050"/>
                  </a:solidFill>
                </a:rPr>
                <a:t> </a:t>
              </a:r>
              <a:r>
                <a:rPr lang="de-CH" dirty="0" err="1">
                  <a:solidFill>
                    <a:srgbClr val="00B050"/>
                  </a:solidFill>
                </a:rPr>
                <a:t>from</a:t>
              </a:r>
              <a:r>
                <a:rPr lang="de-CH" dirty="0">
                  <a:solidFill>
                    <a:srgbClr val="00B050"/>
                  </a:solidFill>
                </a:rPr>
                <a:t> different </a:t>
              </a:r>
              <a:r>
                <a:rPr lang="de-CH" dirty="0" err="1">
                  <a:solidFill>
                    <a:srgbClr val="00B050"/>
                  </a:solidFill>
                </a:rPr>
                <a:t>perspectives</a:t>
              </a:r>
              <a:endParaRPr lang="de-CH" dirty="0">
                <a:solidFill>
                  <a:srgbClr val="00B050"/>
                </a:solidFill>
              </a:endParaRPr>
            </a:p>
            <a:p>
              <a:endParaRPr 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59A29073-0D14-1CB1-48C7-3743BB77C1D1}"/>
              </a:ext>
            </a:extLst>
          </p:cNvPr>
          <p:cNvSpPr txBox="1"/>
          <p:nvPr/>
        </p:nvSpPr>
        <p:spPr>
          <a:xfrm>
            <a:off x="364807" y="409654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Hard to gain an intuitive understanding, but in essence we now have combinations of inputs </a:t>
            </a:r>
            <a:r>
              <a:rPr lang="en-US" sz="16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(directions)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that make the output go to zero.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56C6D9D-E534-D16C-1B26-868E3BB059E6}"/>
              </a:ext>
            </a:extLst>
          </p:cNvPr>
          <p:cNvGrpSpPr/>
          <p:nvPr/>
        </p:nvGrpSpPr>
        <p:grpSpPr>
          <a:xfrm>
            <a:off x="628650" y="2570612"/>
            <a:ext cx="6112042" cy="1592167"/>
            <a:chOff x="628650" y="2704377"/>
            <a:chExt cx="6112042" cy="159216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82BDAF4-8C0A-33B6-0010-D411D21FF1C5}"/>
                </a:ext>
              </a:extLst>
            </p:cNvPr>
            <p:cNvSpPr/>
            <p:nvPr/>
          </p:nvSpPr>
          <p:spPr>
            <a:xfrm>
              <a:off x="5440296" y="3457815"/>
              <a:ext cx="491778" cy="313175"/>
            </a:xfrm>
            <a:prstGeom prst="rect">
              <a:avLst/>
            </a:prstGeom>
            <a:solidFill>
              <a:srgbClr val="FF0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62D16F5F-717F-E2ED-F58E-4107243F6E9F}"/>
                    </a:ext>
                  </a:extLst>
                </p:cNvPr>
                <p:cNvSpPr txBox="1"/>
                <p:nvPr/>
              </p:nvSpPr>
              <p:spPr>
                <a:xfrm>
                  <a:off x="628650" y="2704377"/>
                  <a:ext cx="6112042" cy="1592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Transmission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zero definition </a:t>
                  </a:r>
                  <a:r>
                    <a:rPr lang="en-US" sz="1600" u="sng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(s-domain perspective)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₀ 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 a transmission zero of system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𝐺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if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non-zero rational function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𝑢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₀(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en-US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s.t.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𝑙𝑖𝑚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de-CH" sz="1600" b="0" i="1" dirty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b="0" i="1" dirty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CH" sz="1600" b="0" i="1" dirty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  <m:sSub>
                        <m:sSubPr>
                          <m:ctrlPr>
                            <a:rPr lang="de-CH" sz="1600" b="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=0</m:t>
                      </m:r>
                    </m:oMath>
                  </a14:m>
                  <a:endParaRPr lang="de-CH" sz="1600" i="1" dirty="0">
                    <a:latin typeface="Cambria Math" panose="02040503050406030204" pitchFamily="18" charset="0"/>
                    <a:cs typeface="Segoe UI" panose="020B0502040204020203" pitchFamily="34" charset="0"/>
                  </a:endParaRPr>
                </a:p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equivalently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: </m:t>
                      </m:r>
                      <m:r>
                        <a:rPr lang="de-CH" sz="16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𝐺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has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non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trivial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nullspace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rank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loss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)</m:t>
                      </m:r>
                    </m:oMath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62D16F5F-717F-E2ED-F58E-4107243F6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2704377"/>
                  <a:ext cx="6112042" cy="1592167"/>
                </a:xfrm>
                <a:prstGeom prst="rect">
                  <a:avLst/>
                </a:prstGeom>
                <a:blipFill>
                  <a:blip r:embed="rId2"/>
                  <a:stretch>
                    <a:fillRect l="-415" t="-794" b="-39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531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6">
            <a:extLst>
              <a:ext uri="{FF2B5EF4-FFF2-40B4-BE49-F238E27FC236}">
                <a16:creationId xmlns:a16="http://schemas.microsoft.com/office/drawing/2014/main" id="{C92EA436-8D8B-78FC-2662-2A4EF38D83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043"/>
          <a:stretch>
            <a:fillRect/>
          </a:stretch>
        </p:blipFill>
        <p:spPr>
          <a:xfrm>
            <a:off x="628649" y="3457815"/>
            <a:ext cx="6284087" cy="37805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E3F29F7-CCFB-B25D-ABFD-4C799C39B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3"/>
            <a:ext cx="7886700" cy="994172"/>
          </a:xfrm>
        </p:spPr>
        <p:txBody>
          <a:bodyPr/>
          <a:lstStyle/>
          <a:p>
            <a:r>
              <a:rPr lang="en-US" dirty="0"/>
              <a:t>Example: decoupled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9C5DAEC3-84B3-32E3-7E24-5AC45B5E9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2761"/>
          <a:stretch>
            <a:fillRect/>
          </a:stretch>
        </p:blipFill>
        <p:spPr>
          <a:xfrm>
            <a:off x="628650" y="846590"/>
            <a:ext cx="6284087" cy="266501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5413B1-7FAC-6F1E-8288-F08DC78D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5C4FF5-A501-0165-1A25-12C0DFCB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06B3C77-F900-9A2F-BE5B-668C160BA762}"/>
                  </a:ext>
                </a:extLst>
              </p:cNvPr>
              <p:cNvSpPr txBox="1"/>
              <p:nvPr/>
            </p:nvSpPr>
            <p:spPr>
              <a:xfrm>
                <a:off x="706931" y="4087905"/>
                <a:ext cx="759015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⇒ For this specific combination (i.e., </a:t>
                </a:r>
                <a:r>
                  <a:rPr lang="en-US" sz="1600" u="sng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direction</a:t>
                </a: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 of inputs, we have a zero at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=−2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  <a:p>
                <a:r>
                  <a:rPr lang="en-US" sz="160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Note: There is also a pole at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𝑠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=−2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, but they do not cancel!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06B3C77-F900-9A2F-BE5B-668C160BA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31" y="4087905"/>
                <a:ext cx="7590155" cy="584775"/>
              </a:xfrm>
              <a:prstGeom prst="rect">
                <a:avLst/>
              </a:prstGeom>
              <a:blipFill>
                <a:blip r:embed="rId3"/>
                <a:stretch>
                  <a:fillRect l="-334" t="-6383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nhaltsplatzhalter 6">
            <a:extLst>
              <a:ext uri="{FF2B5EF4-FFF2-40B4-BE49-F238E27FC236}">
                <a16:creationId xmlns:a16="http://schemas.microsoft.com/office/drawing/2014/main" id="{8293ED2B-BBDD-3AE0-DFC2-9030747BD4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267" t="45252"/>
          <a:stretch>
            <a:fillRect/>
          </a:stretch>
        </p:blipFill>
        <p:spPr>
          <a:xfrm>
            <a:off x="7098029" y="355287"/>
            <a:ext cx="1660023" cy="273844"/>
          </a:xfrm>
          <a:prstGeom prst="rect">
            <a:avLst/>
          </a:prstGeom>
        </p:spPr>
      </p:pic>
      <p:sp>
        <p:nvSpPr>
          <p:cNvPr id="13" name="Rectangle: Rounded Corners 17">
            <a:extLst>
              <a:ext uri="{FF2B5EF4-FFF2-40B4-BE49-F238E27FC236}">
                <a16:creationId xmlns:a16="http://schemas.microsoft.com/office/drawing/2014/main" id="{B89D596B-13BC-296E-95DC-B5BFA59C50A6}"/>
              </a:ext>
            </a:extLst>
          </p:cNvPr>
          <p:cNvSpPr/>
          <p:nvPr/>
        </p:nvSpPr>
        <p:spPr>
          <a:xfrm>
            <a:off x="7050475" y="264458"/>
            <a:ext cx="1660023" cy="388737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7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216C14-1CD0-6196-D919-7B4576F6D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03" y="102393"/>
            <a:ext cx="7886700" cy="994172"/>
          </a:xfrm>
        </p:spPr>
        <p:txBody>
          <a:bodyPr/>
          <a:lstStyle/>
          <a:p>
            <a:r>
              <a:rPr lang="en-US" dirty="0"/>
              <a:t>Example: coupled &amp; unintuitive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0CCF1646-0976-AC80-0A6C-05D04CBED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3267" t="45252"/>
          <a:stretch>
            <a:fillRect/>
          </a:stretch>
        </p:blipFill>
        <p:spPr>
          <a:xfrm>
            <a:off x="7098029" y="355287"/>
            <a:ext cx="1660023" cy="273844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5A3BA1-033E-231C-F3A2-8162EBD1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C91B66-1CBB-320B-74D1-A69AEEC9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17">
            <a:extLst>
              <a:ext uri="{FF2B5EF4-FFF2-40B4-BE49-F238E27FC236}">
                <a16:creationId xmlns:a16="http://schemas.microsoft.com/office/drawing/2014/main" id="{6C488C6A-2696-797F-7F36-D7649CE90A12}"/>
              </a:ext>
            </a:extLst>
          </p:cNvPr>
          <p:cNvSpPr/>
          <p:nvPr/>
        </p:nvSpPr>
        <p:spPr>
          <a:xfrm>
            <a:off x="7050475" y="264458"/>
            <a:ext cx="1660023" cy="388737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1FC68A0-9F0A-0AC6-20A8-A3AEC7C30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3" y="853526"/>
            <a:ext cx="5501460" cy="115167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8B4C4B4-C04C-9785-184C-3EFAF11F1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85" y="3381841"/>
            <a:ext cx="5011271" cy="12070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3BEF5AC2-3117-D568-5563-AEE3B0426F7F}"/>
                  </a:ext>
                </a:extLst>
              </p:cNvPr>
              <p:cNvSpPr txBox="1"/>
              <p:nvPr/>
            </p:nvSpPr>
            <p:spPr>
              <a:xfrm>
                <a:off x="4652284" y="3985363"/>
                <a:ext cx="455944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u="sng" dirty="0">
                    <a:solidFill>
                      <a:srgbClr val="00B05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Conclusion</a:t>
                </a:r>
                <a:r>
                  <a:rPr lang="en-US" sz="1600" dirty="0">
                    <a:solidFill>
                      <a:srgbClr val="00B05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: There is a pole and a zero at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𝑠</m:t>
                    </m:r>
                    <m:r>
                      <a:rPr lang="en-US" sz="16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=−1</m:t>
                    </m:r>
                  </m:oMath>
                </a14:m>
                <a:r>
                  <a:rPr lang="en-US" sz="1600" dirty="0">
                    <a:solidFill>
                      <a:srgbClr val="00B05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, but they do not cancel because they exist in different directions.</a:t>
                </a: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3BEF5AC2-3117-D568-5563-AEE3B0426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284" y="3985363"/>
                <a:ext cx="4559449" cy="830997"/>
              </a:xfrm>
              <a:prstGeom prst="rect">
                <a:avLst/>
              </a:prstGeom>
              <a:blipFill>
                <a:blip r:embed="rId5"/>
                <a:stretch>
                  <a:fillRect l="-833" t="-1493" r="-556"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rafik 16">
            <a:extLst>
              <a:ext uri="{FF2B5EF4-FFF2-40B4-BE49-F238E27FC236}">
                <a16:creationId xmlns:a16="http://schemas.microsoft.com/office/drawing/2014/main" id="{E63CB8E1-E1A1-D012-1AD4-E275228FA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99" y="2273107"/>
            <a:ext cx="4482760" cy="108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2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63EC7-C22A-C1C2-2E67-31E4E3AA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38D40-CB54-888A-61C3-23B0A2F8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3654"/>
            <a:ext cx="7886700" cy="994172"/>
          </a:xfrm>
        </p:spPr>
        <p:txBody>
          <a:bodyPr/>
          <a:lstStyle/>
          <a:p>
            <a:r>
              <a:rPr lang="en-US" dirty="0"/>
              <a:t>Invariant zeros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EC45FE-7198-73F4-34E3-8F72A0A19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39998"/>
            <a:ext cx="7886700" cy="994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understand</a:t>
            </a:r>
            <a:r>
              <a:rPr lang="de-CH" sz="1600" dirty="0"/>
              <a:t> invariant </a:t>
            </a:r>
            <a:r>
              <a:rPr lang="de-CH" sz="1600" dirty="0" err="1"/>
              <a:t>zeros</a:t>
            </a:r>
            <a:r>
              <a:rPr lang="de-CH" sz="1600" dirty="0"/>
              <a:t>, </a:t>
            </a: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look</a:t>
            </a:r>
            <a:r>
              <a:rPr lang="de-CH" sz="1600" dirty="0"/>
              <a:t> at </a:t>
            </a:r>
            <a:r>
              <a:rPr lang="de-CH" sz="1600" dirty="0" err="1"/>
              <a:t>our</a:t>
            </a:r>
            <a:r>
              <a:rPr lang="de-CH" sz="1600" dirty="0"/>
              <a:t> </a:t>
            </a:r>
            <a:r>
              <a:rPr lang="de-CH" sz="1600" dirty="0" err="1"/>
              <a:t>systems</a:t>
            </a:r>
            <a:r>
              <a:rPr lang="de-CH" sz="1600" dirty="0"/>
              <a:t> </a:t>
            </a:r>
            <a:r>
              <a:rPr lang="de-CH" sz="1600" dirty="0" err="1"/>
              <a:t>from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state-space</a:t>
            </a:r>
            <a:r>
              <a:rPr lang="de-CH" sz="1600" dirty="0"/>
              <a:t> </a:t>
            </a:r>
            <a:r>
              <a:rPr lang="de-CH" sz="1600" dirty="0" err="1"/>
              <a:t>perspective</a:t>
            </a:r>
            <a:r>
              <a:rPr lang="de-CH" sz="1600" dirty="0"/>
              <a:t>:</a:t>
            </a:r>
          </a:p>
          <a:p>
            <a:r>
              <a:rPr lang="de-CH" sz="1600" dirty="0" err="1"/>
              <a:t>Assume</a:t>
            </a:r>
            <a:r>
              <a:rPr lang="de-CH" sz="1600" dirty="0"/>
              <a:t> </a:t>
            </a: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have</a:t>
            </a:r>
            <a:r>
              <a:rPr lang="de-CH" sz="1600" dirty="0"/>
              <a:t> a (</a:t>
            </a:r>
            <a:r>
              <a:rPr lang="de-CH" sz="1600" dirty="0" err="1"/>
              <a:t>stable</a:t>
            </a:r>
            <a:r>
              <a:rPr lang="de-CH" sz="1600" dirty="0"/>
              <a:t>) </a:t>
            </a:r>
            <a:r>
              <a:rPr lang="de-CH" sz="1600" dirty="0" err="1"/>
              <a:t>system</a:t>
            </a:r>
            <a:r>
              <a:rPr lang="de-CH" sz="1600" dirty="0"/>
              <a:t>:</a:t>
            </a:r>
          </a:p>
          <a:p>
            <a:endParaRPr lang="en-US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4C96B3-6DE8-5B7F-5B26-5BB80428A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9F80717-3D21-2736-8EB2-97D0BD57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756C2F5-1D14-A430-C113-345AE5996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29865"/>
            <a:ext cx="4936691" cy="9223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F97AB0B3-57BA-8203-01AF-CBCD09A60E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1024" y="4270177"/>
                <a:ext cx="9227952" cy="9941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en-US" sz="1400" dirty="0">
                    <a:solidFill>
                      <a:srgbClr val="FF0000"/>
                    </a:solidFill>
                  </a:rPr>
                  <a:t>If this has a non-trivial solution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, then the output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is zero even though the input (and state) are not zero!</a:t>
                </a:r>
              </a:p>
              <a:p>
                <a:pPr>
                  <a:buClrTx/>
                </a:pPr>
                <a:r>
                  <a:rPr lang="en-US" sz="1400" dirty="0">
                    <a:solidFill>
                      <a:srgbClr val="FF0000"/>
                    </a:solidFill>
                  </a:rPr>
                  <a:t>The values of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for which this matrix becomes singular are the invariant zeros of the system!</a:t>
                </a:r>
              </a:p>
            </p:txBody>
          </p:sp>
        </mc:Choice>
        <mc:Fallback xmlns="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F97AB0B3-57BA-8203-01AF-CBCD09A60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24" y="4270177"/>
                <a:ext cx="9227952" cy="994172"/>
              </a:xfrm>
              <a:prstGeom prst="rect">
                <a:avLst/>
              </a:prstGeom>
              <a:blipFill>
                <a:blip r:embed="rId3"/>
                <a:stretch>
                  <a:fillRect l="-137" t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>
            <a:extLst>
              <a:ext uri="{FF2B5EF4-FFF2-40B4-BE49-F238E27FC236}">
                <a16:creationId xmlns:a16="http://schemas.microsoft.com/office/drawing/2014/main" id="{E80D53BC-A309-CBA8-4F1B-2A6EA3FE4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222" y="1292417"/>
            <a:ext cx="1107555" cy="56874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B32E5C8-BA94-F344-5DC5-310144793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20178"/>
            <a:ext cx="7772400" cy="66741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2F93DAD-E7C1-3F9F-D07E-1BCE180DE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461272"/>
            <a:ext cx="3745523" cy="709284"/>
          </a:xfrm>
          <a:prstGeom prst="rect">
            <a:avLst/>
          </a:prstGeom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762D410E-A551-32D4-8914-3040CA04A0B6}"/>
              </a:ext>
            </a:extLst>
          </p:cNvPr>
          <p:cNvGrpSpPr/>
          <p:nvPr/>
        </p:nvGrpSpPr>
        <p:grpSpPr>
          <a:xfrm>
            <a:off x="4655527" y="3439963"/>
            <a:ext cx="4562467" cy="954107"/>
            <a:chOff x="4655527" y="3439963"/>
            <a:chExt cx="4562467" cy="954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96923A92-AD47-0E66-EC4A-A1EF5505B15A}"/>
                    </a:ext>
                  </a:extLst>
                </p:cNvPr>
                <p:cNvSpPr txBox="1"/>
                <p:nvPr/>
              </p:nvSpPr>
              <p:spPr>
                <a:xfrm>
                  <a:off x="4655527" y="3439963"/>
                  <a:ext cx="4562467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Important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If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realization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de-CH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de-CH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𝐵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𝐶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𝐷</m:t>
                          </m:r>
                        </m:e>
                      </m:d>
                    </m:oMath>
                  </a14:m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minimal,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then</a:t>
                  </a:r>
                  <a:b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</a:b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	</a:t>
                  </a:r>
                  <a:r>
                    <a:rPr lang="de-CH" dirty="0">
                      <a:solidFill>
                        <a:schemeClr val="accent4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invariant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zeros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≙</m:t>
                      </m:r>
                    </m:oMath>
                  </a14:m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transmission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zeros</a:t>
                  </a:r>
                  <a:endParaRPr lang="de-CH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en-US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96923A92-AD47-0E66-EC4A-A1EF5505B1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527" y="3439963"/>
                  <a:ext cx="4562467" cy="954107"/>
                </a:xfrm>
                <a:prstGeom prst="rect">
                  <a:avLst/>
                </a:prstGeom>
                <a:blipFill>
                  <a:blip r:embed="rId7"/>
                  <a:stretch>
                    <a:fillRect l="-556" t="-12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2D35448-6D6D-082E-C162-F23D7ECC061B}"/>
                </a:ext>
              </a:extLst>
            </p:cNvPr>
            <p:cNvSpPr/>
            <p:nvPr/>
          </p:nvSpPr>
          <p:spPr>
            <a:xfrm>
              <a:off x="4655527" y="3439963"/>
              <a:ext cx="4435464" cy="60697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963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6113F-82AE-F1A1-B6A5-2DF6BADF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96308"/>
            <a:ext cx="7886700" cy="994172"/>
          </a:xfrm>
        </p:spPr>
        <p:txBody>
          <a:bodyPr/>
          <a:lstStyle/>
          <a:p>
            <a:r>
              <a:rPr lang="en-US" dirty="0"/>
              <a:t>Reachable </a:t>
            </a:r>
            <a:r>
              <a:rPr lang="en-US" dirty="0" err="1"/>
              <a:t>Cannonical</a:t>
            </a:r>
            <a:r>
              <a:rPr lang="en-US" dirty="0"/>
              <a:t>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EF3D609-BDC4-8262-B4B4-DB70FC345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667211"/>
                <a:ext cx="7886700" cy="8312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1600" dirty="0"/>
                  <a:t>What we have not looked at is how to find a state-space realization given a </a:t>
                </a:r>
                <a:r>
                  <a:rPr lang="en-US" sz="1600" dirty="0" err="1"/>
                  <a:t>tf</a:t>
                </a:r>
                <a:r>
                  <a:rPr lang="en-US" sz="1600" dirty="0"/>
                  <a:t> matrix</a:t>
                </a:r>
              </a:p>
              <a:p>
                <a:r>
                  <a:rPr lang="en-US" sz="1600" dirty="0"/>
                  <a:t>What we know already: given the MIMO state-space system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1600" dirty="0"/>
                  <a:t>, we find the </a:t>
                </a:r>
                <a:r>
                  <a:rPr lang="en-US" sz="1600" dirty="0" err="1"/>
                  <a:t>tf</a:t>
                </a:r>
                <a:r>
                  <a:rPr lang="en-US" sz="1600" dirty="0"/>
                  <a:t> matrix as: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 err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EF3D609-BDC4-8262-B4B4-DB70FC345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667211"/>
                <a:ext cx="7886700" cy="831288"/>
              </a:xfrm>
              <a:blipFill>
                <a:blip r:embed="rId3"/>
                <a:stretch>
                  <a:fillRect l="-322" t="-7463" r="-161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BD8348-0245-00D0-6EBB-CFCCA81D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1B0C218-EBEB-11B7-54CB-BC5CFFBB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B24989A-DB07-049F-A19A-10BD853B397F}"/>
              </a:ext>
            </a:extLst>
          </p:cNvPr>
          <p:cNvSpPr txBox="1"/>
          <p:nvPr/>
        </p:nvSpPr>
        <p:spPr>
          <a:xfrm>
            <a:off x="4625252" y="1176606"/>
            <a:ext cx="4113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what about the other way? i.e., </a:t>
            </a:r>
            <a:r>
              <a:rPr lang="en-US" sz="16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tf</a:t>
            </a:r>
            <a:r>
              <a:rPr lang="en-US" sz="16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→ SS</a:t>
            </a:r>
          </a:p>
          <a:p>
            <a:endParaRPr lang="en-US" sz="16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C6523615-4B89-A1A7-6878-851F446D720D}"/>
              </a:ext>
            </a:extLst>
          </p:cNvPr>
          <p:cNvGrpSpPr/>
          <p:nvPr/>
        </p:nvGrpSpPr>
        <p:grpSpPr>
          <a:xfrm>
            <a:off x="323256" y="1517331"/>
            <a:ext cx="8689031" cy="1339481"/>
            <a:chOff x="323256" y="1570671"/>
            <a:chExt cx="8689031" cy="1339481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709F378C-35BD-C92B-98DA-A6AA3252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256" y="2031407"/>
              <a:ext cx="3717748" cy="490045"/>
            </a:xfrm>
            <a:prstGeom prst="rect">
              <a:avLst/>
            </a:prstGeom>
          </p:spPr>
        </p:pic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CF3FC225-8233-C85F-1687-E2DB628B598E}"/>
                </a:ext>
              </a:extLst>
            </p:cNvPr>
            <p:cNvCxnSpPr/>
            <p:nvPr/>
          </p:nvCxnSpPr>
          <p:spPr>
            <a:xfrm>
              <a:off x="4284912" y="2268971"/>
              <a:ext cx="76571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8B6B54D9-46FD-9418-BBA3-6521BD298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94537" y="1630329"/>
              <a:ext cx="3038905" cy="1261582"/>
            </a:xfrm>
            <a:prstGeom prst="rect">
              <a:avLst/>
            </a:prstGeom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57854AF2-6E42-2816-511D-78DB2A22A1BF}"/>
                </a:ext>
              </a:extLst>
            </p:cNvPr>
            <p:cNvSpPr txBox="1"/>
            <p:nvPr/>
          </p:nvSpPr>
          <p:spPr>
            <a:xfrm>
              <a:off x="480859" y="1570671"/>
              <a:ext cx="6447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u="sng" dirty="0">
                  <a:latin typeface="Segoe UI" panose="020B0502040204020203" pitchFamily="34" charset="0"/>
                  <a:cs typeface="Segoe UI" panose="020B0502040204020203" pitchFamily="34" charset="0"/>
                </a:rPr>
                <a:t>SISO:</a:t>
              </a:r>
            </a:p>
          </p:txBody>
        </p:sp>
        <p:sp>
          <p:nvSpPr>
            <p:cNvPr id="14" name="Rectangle: Rounded Corners 17">
              <a:extLst>
                <a:ext uri="{FF2B5EF4-FFF2-40B4-BE49-F238E27FC236}">
                  <a16:creationId xmlns:a16="http://schemas.microsoft.com/office/drawing/2014/main" id="{876A4A43-BEC3-4D95-4C45-B3D4AC52A44A}"/>
                </a:ext>
              </a:extLst>
            </p:cNvPr>
            <p:cNvSpPr/>
            <p:nvPr/>
          </p:nvSpPr>
          <p:spPr>
            <a:xfrm>
              <a:off x="323256" y="1571190"/>
              <a:ext cx="8689031" cy="133896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9EC3450F-5CA6-66A7-C72A-155F95450FEE}"/>
              </a:ext>
            </a:extLst>
          </p:cNvPr>
          <p:cNvGrpSpPr/>
          <p:nvPr/>
        </p:nvGrpSpPr>
        <p:grpSpPr>
          <a:xfrm>
            <a:off x="4625252" y="2982324"/>
            <a:ext cx="3890098" cy="2161176"/>
            <a:chOff x="4625252" y="2982324"/>
            <a:chExt cx="3890098" cy="2161176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4BD0B096-A69F-B800-F405-584889C50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50629" y="2982324"/>
              <a:ext cx="3086100" cy="1269389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DC097F15-DC19-0F3E-77E0-0349C6F12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25252" y="4251713"/>
              <a:ext cx="3890098" cy="891787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6EEDB30F-B9DF-7EE0-998C-5C70276D4B3D}"/>
              </a:ext>
            </a:extLst>
          </p:cNvPr>
          <p:cNvGrpSpPr/>
          <p:nvPr/>
        </p:nvGrpSpPr>
        <p:grpSpPr>
          <a:xfrm>
            <a:off x="2447694" y="3135459"/>
            <a:ext cx="2451919" cy="755976"/>
            <a:chOff x="2447694" y="3135459"/>
            <a:chExt cx="2451919" cy="755976"/>
          </a:xfrm>
        </p:grpSpPr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F8F9FFB5-8BE4-0FCD-E643-5F02815EF577}"/>
                </a:ext>
              </a:extLst>
            </p:cNvPr>
            <p:cNvCxnSpPr>
              <a:cxnSpLocks/>
            </p:cNvCxnSpPr>
            <p:nvPr/>
          </p:nvCxnSpPr>
          <p:spPr>
            <a:xfrm>
              <a:off x="2447694" y="3735264"/>
              <a:ext cx="2379487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1B2D70DF-01C2-44E5-3452-A5EFCEA9F699}"/>
                    </a:ext>
                  </a:extLst>
                </p:cNvPr>
                <p:cNvSpPr txBox="1"/>
                <p:nvPr/>
              </p:nvSpPr>
              <p:spPr>
                <a:xfrm>
                  <a:off x="2484273" y="3135459"/>
                  <a:ext cx="2415340" cy="755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CH" dirty="0" err="1">
                      <a:solidFill>
                        <a:schemeClr val="accent6">
                          <a:lumMod val="50000"/>
                        </a:schemeClr>
                      </a:solidFill>
                    </a:rPr>
                    <a:t>calculate</a:t>
                  </a:r>
                  <a:r>
                    <a:rPr lang="de-CH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 a </a:t>
                  </a:r>
                  <a:r>
                    <a:rPr lang="de-CH" dirty="0" err="1">
                      <a:solidFill>
                        <a:schemeClr val="accent6">
                          <a:lumMod val="50000"/>
                        </a:schemeClr>
                      </a:solidFill>
                    </a:rPr>
                    <a:t>canonical</a:t>
                  </a:r>
                  <a:r>
                    <a:rPr lang="de-CH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 form </a:t>
                  </a:r>
                  <a:r>
                    <a:rPr lang="de-CH" dirty="0" err="1">
                      <a:solidFill>
                        <a:schemeClr val="accent6">
                          <a:lumMod val="50000"/>
                        </a:schemeClr>
                      </a:solidFill>
                    </a:rPr>
                    <a:t>for</a:t>
                  </a:r>
                  <a:r>
                    <a:rPr lang="de-CH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 </a:t>
                  </a:r>
                  <a:r>
                    <a:rPr lang="de-CH" dirty="0" err="1">
                      <a:solidFill>
                        <a:schemeClr val="accent6">
                          <a:lumMod val="50000"/>
                        </a:schemeClr>
                      </a:solidFill>
                    </a:rPr>
                    <a:t>each</a:t>
                  </a:r>
                  <a:r>
                    <a:rPr lang="de-CH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CH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CH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a14:m>
                  <a:r>
                    <a:rPr lang="de-CH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?</a:t>
                  </a:r>
                </a:p>
                <a:p>
                  <a:endParaRPr lang="en-US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1B2D70DF-01C2-44E5-3452-A5EFCEA9F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4273" y="3135459"/>
                  <a:ext cx="2415340" cy="755976"/>
                </a:xfrm>
                <a:prstGeom prst="rect">
                  <a:avLst/>
                </a:prstGeom>
                <a:blipFill>
                  <a:blip r:embed="rId8"/>
                  <a:stretch>
                    <a:fillRect l="-1047" t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feld 31">
            <a:extLst>
              <a:ext uri="{FF2B5EF4-FFF2-40B4-BE49-F238E27FC236}">
                <a16:creationId xmlns:a16="http://schemas.microsoft.com/office/drawing/2014/main" id="{6D25E039-DC01-1B12-7422-3AF83E474B34}"/>
              </a:ext>
            </a:extLst>
          </p:cNvPr>
          <p:cNvSpPr txBox="1"/>
          <p:nvPr/>
        </p:nvSpPr>
        <p:spPr>
          <a:xfrm>
            <a:off x="168218" y="4244043"/>
            <a:ext cx="3469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Good news: This is valid!</a:t>
            </a:r>
          </a:p>
          <a:p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Bad news: This realization is not minimal</a:t>
            </a: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740AFDB4-F05B-15F1-3262-99164B5112D6}"/>
              </a:ext>
            </a:extLst>
          </p:cNvPr>
          <p:cNvGrpSpPr/>
          <p:nvPr/>
        </p:nvGrpSpPr>
        <p:grpSpPr>
          <a:xfrm>
            <a:off x="-770255" y="2975785"/>
            <a:ext cx="4051370" cy="1050416"/>
            <a:chOff x="-770255" y="2975785"/>
            <a:chExt cx="4051370" cy="1050416"/>
          </a:xfrm>
        </p:grpSpPr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6EE3E7A0-CA35-8FE1-4523-E5106409A620}"/>
                </a:ext>
              </a:extLst>
            </p:cNvPr>
            <p:cNvSpPr txBox="1"/>
            <p:nvPr/>
          </p:nvSpPr>
          <p:spPr>
            <a:xfrm>
              <a:off x="480859" y="2975785"/>
              <a:ext cx="7745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u="sng" dirty="0">
                  <a:latin typeface="Segoe UI" panose="020B0502040204020203" pitchFamily="34" charset="0"/>
                  <a:cs typeface="Segoe UI" panose="020B0502040204020203" pitchFamily="34" charset="0"/>
                </a:rPr>
                <a:t>MIMO: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A36E72E3-776B-F945-D30F-738F49437008}"/>
                    </a:ext>
                  </a:extLst>
                </p:cNvPr>
                <p:cNvSpPr txBox="1"/>
                <p:nvPr/>
              </p:nvSpPr>
              <p:spPr>
                <a:xfrm>
                  <a:off x="-770255" y="3314339"/>
                  <a:ext cx="4051370" cy="7118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i="1" dirty="0" err="1">
                                          <a:latin typeface="Cambria Math" panose="02040503050406030204" pitchFamily="18" charset="0"/>
                                        </a:rPr>
                                        <m:t>𝑙𝑚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A36E72E3-776B-F945-D30F-738F494370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70255" y="3314339"/>
                  <a:ext cx="4051370" cy="71186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4885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BF89D0-7A58-4F61-19AF-503DB9D8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9950"/>
            <a:ext cx="7886700" cy="994172"/>
          </a:xfrm>
        </p:spPr>
        <p:txBody>
          <a:bodyPr/>
          <a:lstStyle/>
          <a:p>
            <a:r>
              <a:rPr lang="en-US" dirty="0"/>
              <a:t>Gilbert's Realization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B90097AA-7E8A-13DF-E8AD-20C6CAC80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9545" y="456224"/>
            <a:ext cx="4187879" cy="2115526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9578CE-CD6B-777F-C798-E9C5A465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64C3A3-D79B-B675-01FC-773F0384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A8FD717-4D2D-BB64-C194-747048A45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545" y="2725947"/>
            <a:ext cx="4060100" cy="211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44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4250670E-730F-1B40-5DB7-6909B65A1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212" y="170260"/>
            <a:ext cx="5060740" cy="4242408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36B93A-FEA2-5379-8E63-134F0238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EBEDFA-754A-91F9-E8CE-9633A5BA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8CE5C99-D051-38AF-A221-337D89B4E7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53"/>
          <a:stretch>
            <a:fillRect/>
          </a:stretch>
        </p:blipFill>
        <p:spPr>
          <a:xfrm>
            <a:off x="1221628" y="1048214"/>
            <a:ext cx="1574132" cy="26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76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D54F48-B004-18FB-8FDB-A8C35D85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analysis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F74C693A-9319-9E80-1CEB-5BACDC103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24298"/>
            <a:ext cx="6360755" cy="252922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B1CC648-C64E-D783-3273-1542F1CD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AD9EDA8-8FDF-B71D-8A8E-D332EC6F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365D811-2441-6F19-038B-228CDD0E9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671973"/>
            <a:ext cx="4653156" cy="58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7A72E-995D-4B95-2D76-B2BE02B8D8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 Norms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3CE8D6E-9498-249D-C7C5-24F07B0104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54F28D-70B1-7891-CC6D-A8A2A49E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FF8532-733E-E704-D627-F3DD82CF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3274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1EBD6-D178-35D0-E646-CB92B8A3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amplification in MIMO </a:t>
            </a:r>
            <a:r>
              <a:rPr lang="en-US" dirty="0" err="1"/>
              <a:t>sytems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E26253-3A74-AE97-3123-1D7194428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86948"/>
            <a:ext cx="7886700" cy="1212021"/>
          </a:xfrm>
        </p:spPr>
        <p:txBody>
          <a:bodyPr>
            <a:normAutofit/>
          </a:bodyPr>
          <a:lstStyle/>
          <a:p>
            <a:r>
              <a:rPr lang="de-CH" sz="1600" dirty="0" err="1"/>
              <a:t>For</a:t>
            </a:r>
            <a:r>
              <a:rPr lang="de-CH" sz="1600" dirty="0"/>
              <a:t> </a:t>
            </a:r>
            <a:r>
              <a:rPr lang="de-CH" sz="1600" dirty="0" err="1"/>
              <a:t>many</a:t>
            </a:r>
            <a:r>
              <a:rPr lang="de-CH" sz="1600" dirty="0"/>
              <a:t> </a:t>
            </a:r>
            <a:r>
              <a:rPr lang="de-CH" sz="1600" dirty="0" err="1"/>
              <a:t>performance</a:t>
            </a:r>
            <a:r>
              <a:rPr lang="de-CH" sz="1600" dirty="0"/>
              <a:t> </a:t>
            </a:r>
            <a:r>
              <a:rPr lang="de-CH" sz="1600" dirty="0" err="1"/>
              <a:t>criteria</a:t>
            </a:r>
            <a:r>
              <a:rPr lang="de-CH" sz="1600" dirty="0"/>
              <a:t> </a:t>
            </a: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had</a:t>
            </a:r>
            <a:r>
              <a:rPr lang="de-CH" sz="1600" dirty="0"/>
              <a:t> </a:t>
            </a: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look</a:t>
            </a:r>
            <a:r>
              <a:rPr lang="de-CH" sz="1600" dirty="0"/>
              <a:t> at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amplification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signals</a:t>
            </a:r>
            <a:r>
              <a:rPr lang="de-CH" sz="1600" dirty="0"/>
              <a:t> in </a:t>
            </a:r>
            <a:r>
              <a:rPr lang="de-CH" sz="1600" dirty="0" err="1"/>
              <a:t>the</a:t>
            </a:r>
            <a:r>
              <a:rPr lang="de-CH" sz="1600" dirty="0"/>
              <a:t> SISO </a:t>
            </a:r>
            <a:r>
              <a:rPr lang="de-CH" sz="1600" dirty="0" err="1"/>
              <a:t>case</a:t>
            </a:r>
            <a:r>
              <a:rPr lang="de-CH" sz="1600" dirty="0"/>
              <a:t> (</a:t>
            </a:r>
            <a:r>
              <a:rPr lang="de-CH" sz="1600" dirty="0" err="1"/>
              <a:t>recall</a:t>
            </a:r>
            <a:r>
              <a:rPr lang="de-CH" sz="1600" dirty="0"/>
              <a:t> Bode </a:t>
            </a:r>
            <a:r>
              <a:rPr lang="de-CH" sz="1600" dirty="0" err="1"/>
              <a:t>plots</a:t>
            </a:r>
            <a:r>
              <a:rPr lang="de-CH" sz="1600" dirty="0"/>
              <a:t>)</a:t>
            </a:r>
          </a:p>
          <a:p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did</a:t>
            </a:r>
            <a:r>
              <a:rPr lang="de-CH" sz="1600" dirty="0"/>
              <a:t> </a:t>
            </a:r>
            <a:r>
              <a:rPr lang="de-CH" sz="1600" dirty="0" err="1"/>
              <a:t>this</a:t>
            </a:r>
            <a:r>
              <a:rPr lang="de-CH" sz="1600" dirty="0"/>
              <a:t> </a:t>
            </a:r>
            <a:r>
              <a:rPr lang="de-CH" sz="1600" dirty="0" err="1"/>
              <a:t>by</a:t>
            </a:r>
            <a:r>
              <a:rPr lang="de-CH" sz="1600" dirty="0"/>
              <a:t> </a:t>
            </a:r>
            <a:r>
              <a:rPr lang="de-CH" sz="1600" dirty="0" err="1"/>
              <a:t>analyzing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magnitudes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transfer</a:t>
            </a:r>
            <a:r>
              <a:rPr lang="de-CH" sz="1600" dirty="0"/>
              <a:t> </a:t>
            </a:r>
            <a:r>
              <a:rPr lang="de-CH" sz="1600" dirty="0" err="1"/>
              <a:t>functions</a:t>
            </a:r>
            <a:endParaRPr lang="de-CH" sz="1600" dirty="0"/>
          </a:p>
          <a:p>
            <a:pPr marL="0" indent="0">
              <a:buNone/>
            </a:pPr>
            <a:r>
              <a:rPr lang="en-US" sz="1600" dirty="0"/>
              <a:t>Now, how do we translate this to MIMO systems?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BE89A4-3F7E-5B85-477B-C5888824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AE785D-3406-2BD9-257B-D4E3B4E6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E8AD9B2-15A3-6727-1ACF-D3BECE891DCD}"/>
              </a:ext>
            </a:extLst>
          </p:cNvPr>
          <p:cNvSpPr txBox="1"/>
          <p:nvPr/>
        </p:nvSpPr>
        <p:spPr>
          <a:xfrm>
            <a:off x="628650" y="3936731"/>
            <a:ext cx="61269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same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size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input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get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very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different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output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"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sizes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call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this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directionality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MIMO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systems</a:t>
            </a: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quantify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amplification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"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size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"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need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new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tools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norms</a:t>
            </a: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190F526-4939-3F5D-85B1-0CF49C914D20}"/>
              </a:ext>
            </a:extLst>
          </p:cNvPr>
          <p:cNvGrpSpPr/>
          <p:nvPr/>
        </p:nvGrpSpPr>
        <p:grpSpPr>
          <a:xfrm>
            <a:off x="628650" y="2332886"/>
            <a:ext cx="7006849" cy="1579147"/>
            <a:chOff x="628650" y="2332886"/>
            <a:chExt cx="7006849" cy="15791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656CD568-C36B-5B44-9BCC-921150E5EC43}"/>
                    </a:ext>
                  </a:extLst>
                </p:cNvPr>
                <p:cNvSpPr txBox="1"/>
                <p:nvPr/>
              </p:nvSpPr>
              <p:spPr>
                <a:xfrm>
                  <a:off x="628650" y="2332886"/>
                  <a:ext cx="567745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Let's illustrate the added complexity, assume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𝑦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𝐺𝑢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with:</a:t>
                  </a: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656CD568-C36B-5B44-9BCC-921150E5E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2332886"/>
                  <a:ext cx="5677452" cy="338554"/>
                </a:xfrm>
                <a:prstGeom prst="rect">
                  <a:avLst/>
                </a:prstGeom>
                <a:blipFill>
                  <a:blip r:embed="rId2"/>
                  <a:stretch>
                    <a:fillRect l="-446" t="-3571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B0BA7A5A-5DF0-EC66-A4BE-E82DD5E56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4088" y="2705357"/>
              <a:ext cx="5871411" cy="1206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465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64336C-0AA9-AB17-70E8-0B568890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7217"/>
            <a:ext cx="7886700" cy="994172"/>
          </a:xfrm>
        </p:spPr>
        <p:txBody>
          <a:bodyPr/>
          <a:lstStyle/>
          <a:p>
            <a:r>
              <a:rPr lang="en-US" dirty="0"/>
              <a:t>Vector norms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2896D9-5C97-F220-89B0-02E5FE505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45708"/>
            <a:ext cx="7886700" cy="1239228"/>
          </a:xfrm>
        </p:spPr>
        <p:txBody>
          <a:bodyPr>
            <a:normAutofit/>
          </a:bodyPr>
          <a:lstStyle/>
          <a:p>
            <a:r>
              <a:rPr lang="de-CH" sz="1600" dirty="0" err="1"/>
              <a:t>Measures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"</a:t>
            </a:r>
            <a:r>
              <a:rPr lang="de-CH" sz="1600" dirty="0" err="1"/>
              <a:t>length</a:t>
            </a:r>
            <a:r>
              <a:rPr lang="de-CH" sz="1600" dirty="0"/>
              <a:t>" </a:t>
            </a:r>
            <a:r>
              <a:rPr lang="de-CH" sz="1600" dirty="0" err="1"/>
              <a:t>of</a:t>
            </a:r>
            <a:r>
              <a:rPr lang="de-CH" sz="1600" dirty="0"/>
              <a:t> a </a:t>
            </a:r>
            <a:r>
              <a:rPr lang="de-CH" sz="1600" dirty="0" err="1"/>
              <a:t>vector</a:t>
            </a:r>
            <a:r>
              <a:rPr lang="de-CH" sz="1600" dirty="0"/>
              <a:t>  </a:t>
            </a:r>
          </a:p>
          <a:p>
            <a:r>
              <a:rPr lang="de-CH" sz="1600" dirty="0"/>
              <a:t>In </a:t>
            </a:r>
            <a:r>
              <a:rPr lang="de-CH" sz="1600" dirty="0" err="1"/>
              <a:t>higher</a:t>
            </a:r>
            <a:r>
              <a:rPr lang="de-CH" sz="1600" dirty="0"/>
              <a:t> </a:t>
            </a:r>
            <a:r>
              <a:rPr lang="de-CH" sz="1600" dirty="0" err="1"/>
              <a:t>dimensions</a:t>
            </a:r>
            <a:r>
              <a:rPr lang="de-CH" sz="1600" dirty="0"/>
              <a:t>, </a:t>
            </a:r>
            <a:r>
              <a:rPr lang="de-CH" sz="1600" dirty="0" err="1"/>
              <a:t>this</a:t>
            </a:r>
            <a:r>
              <a:rPr lang="de-CH" sz="1600" dirty="0"/>
              <a:t> </a:t>
            </a:r>
            <a:r>
              <a:rPr lang="de-CH" sz="1600" dirty="0" err="1"/>
              <a:t>notion</a:t>
            </a:r>
            <a:r>
              <a:rPr lang="de-CH" sz="1600" dirty="0"/>
              <a:t> </a:t>
            </a:r>
            <a:r>
              <a:rPr lang="de-CH" sz="1600" dirty="0" err="1"/>
              <a:t>becomes</a:t>
            </a:r>
            <a:r>
              <a:rPr lang="de-CH" sz="1600" dirty="0"/>
              <a:t> </a:t>
            </a:r>
            <a:r>
              <a:rPr lang="de-CH" sz="1600" dirty="0" err="1"/>
              <a:t>less</a:t>
            </a:r>
            <a:r>
              <a:rPr lang="de-CH" sz="1600" dirty="0"/>
              <a:t> intuitive  </a:t>
            </a:r>
          </a:p>
          <a:p>
            <a:pPr marL="0" indent="0">
              <a:buNone/>
            </a:pPr>
            <a:r>
              <a:rPr lang="de-CH" sz="1600" dirty="0"/>
              <a:t>⇒ </a:t>
            </a: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need</a:t>
            </a:r>
            <a:r>
              <a:rPr lang="de-CH" sz="1600" dirty="0"/>
              <a:t> a </a:t>
            </a:r>
            <a:r>
              <a:rPr lang="de-CH" sz="1600" dirty="0" err="1"/>
              <a:t>precise</a:t>
            </a:r>
            <a:r>
              <a:rPr lang="de-CH" sz="1600" dirty="0"/>
              <a:t> </a:t>
            </a:r>
            <a:r>
              <a:rPr lang="de-CH" sz="1600" dirty="0" err="1"/>
              <a:t>mathematical</a:t>
            </a:r>
            <a:r>
              <a:rPr lang="de-CH" sz="1600" dirty="0"/>
              <a:t> </a:t>
            </a:r>
            <a:r>
              <a:rPr lang="de-CH" sz="1600" dirty="0" err="1"/>
              <a:t>definition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"</a:t>
            </a:r>
            <a:r>
              <a:rPr lang="de-CH" sz="1600" dirty="0" err="1"/>
              <a:t>length</a:t>
            </a:r>
            <a:r>
              <a:rPr lang="de-CH" sz="1600" dirty="0"/>
              <a:t>"</a:t>
            </a:r>
          </a:p>
          <a:p>
            <a:pPr marL="0" indent="0">
              <a:buNone/>
            </a:pPr>
            <a:endParaRPr lang="de-CH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3AAE4A-6082-CC55-C6A6-EB8B3EF2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1875E2-6DEB-FCA3-CA6F-ED4D35F1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E7E02EC7-6FA5-7F4D-E96B-1DFC5A9B3C6C}"/>
              </a:ext>
            </a:extLst>
          </p:cNvPr>
          <p:cNvGrpSpPr/>
          <p:nvPr/>
        </p:nvGrpSpPr>
        <p:grpSpPr>
          <a:xfrm>
            <a:off x="301391" y="1939880"/>
            <a:ext cx="7341068" cy="2798731"/>
            <a:chOff x="301391" y="1939880"/>
            <a:chExt cx="7341068" cy="27987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D9B8C36D-5B17-B00C-33B5-71AFD3099915}"/>
                    </a:ext>
                  </a:extLst>
                </p:cNvPr>
                <p:cNvSpPr txBox="1"/>
                <p:nvPr/>
              </p:nvSpPr>
              <p:spPr>
                <a:xfrm>
                  <a:off x="628650" y="1939880"/>
                  <a:ext cx="7013809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A norm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maps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vectors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to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non-negative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scalar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with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these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properties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endParaRPr lang="de-CH" sz="8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sz="1600" u="sng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Positivity:</a:t>
                  </a:r>
                  <a:r>
                    <a:rPr lang="de-CH" sz="1600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||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|| &gt; 0  ∀ 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≠ 0</m:t>
                      </m:r>
                    </m:oMath>
                  </a14:m>
                  <a:endParaRPr lang="de-CH" sz="160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sz="1600" u="sng" dirty="0" err="1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Homogeneity</a:t>
                  </a:r>
                  <a:r>
                    <a:rPr lang="de-CH" sz="1600" u="sng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||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𝑎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|| =||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𝑎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|| ||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||,  ∀ 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𝑎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∈ </m:t>
                      </m:r>
                      <m:r>
                        <a:rPr lang="de-CH" sz="1600" i="1" dirty="0" err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ℝ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∈ 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</m:oMath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sz="1600" u="sng" dirty="0" err="1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Triangle</a:t>
                  </a:r>
                  <a:r>
                    <a:rPr lang="de-CH" sz="1600" u="sng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u="sng" dirty="0" err="1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inequality</a:t>
                  </a:r>
                  <a:r>
                    <a:rPr lang="de-CH" sz="1600" u="sng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  <a:r>
                    <a:rPr lang="de-CH" sz="160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||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+ </m:t>
                      </m:r>
                      <m:r>
                        <a:rPr lang="de-CH" sz="1600" i="1" dirty="0" err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𝑦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|| ≤ ||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|| + ||</m:t>
                      </m:r>
                      <m:r>
                        <a:rPr lang="de-CH" sz="1600" i="1" dirty="0" err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𝑦</m:t>
                      </m:r>
                      <m:r>
                        <a:rPr lang="de-CH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||</m:t>
                      </m:r>
                    </m:oMath>
                  </a14:m>
                  <a:endPara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D9B8C36D-5B17-B00C-33B5-71AFD3099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1939880"/>
                  <a:ext cx="7013809" cy="1446550"/>
                </a:xfrm>
                <a:prstGeom prst="rect">
                  <a:avLst/>
                </a:prstGeom>
                <a:blipFill>
                  <a:blip r:embed="rId2"/>
                  <a:stretch>
                    <a:fillRect l="-362" t="-8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2B94E87C-3365-A2AE-9C71-820E6ADED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391" y="3231210"/>
              <a:ext cx="4325052" cy="1507401"/>
            </a:xfrm>
            <a:prstGeom prst="rect">
              <a:avLst/>
            </a:prstGeom>
          </p:spPr>
        </p:pic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BE4B901D-FA6F-8E57-E785-B9546E6B8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265" y="3163405"/>
            <a:ext cx="3712344" cy="167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4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D845F-AE22-79DB-9367-545F1B7A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norms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93E504-E96A-780F-7431-8F059681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44730"/>
            <a:ext cx="7886700" cy="738714"/>
          </a:xfrm>
        </p:spPr>
        <p:txBody>
          <a:bodyPr>
            <a:normAutofit/>
          </a:bodyPr>
          <a:lstStyle/>
          <a:p>
            <a:r>
              <a:rPr lang="de-CH" sz="1600" dirty="0"/>
              <a:t>Most relevant </a:t>
            </a:r>
            <a:r>
              <a:rPr lang="de-CH" sz="1600" dirty="0" err="1"/>
              <a:t>matrix</a:t>
            </a:r>
            <a:r>
              <a:rPr lang="de-CH" sz="1600" dirty="0"/>
              <a:t> </a:t>
            </a:r>
            <a:r>
              <a:rPr lang="de-CH" sz="1600" dirty="0" err="1"/>
              <a:t>norms</a:t>
            </a:r>
            <a:r>
              <a:rPr lang="de-CH" sz="1600" dirty="0"/>
              <a:t> </a:t>
            </a:r>
            <a:r>
              <a:rPr lang="de-CH" sz="1600" dirty="0" err="1"/>
              <a:t>belong</a:t>
            </a:r>
            <a:r>
              <a:rPr lang="de-CH" sz="1600" dirty="0"/>
              <a:t> </a:t>
            </a:r>
            <a:r>
              <a:rPr lang="de-CH" sz="1600" dirty="0" err="1"/>
              <a:t>to</a:t>
            </a:r>
            <a:r>
              <a:rPr lang="de-CH" sz="1600" dirty="0"/>
              <a:t> a </a:t>
            </a:r>
            <a:r>
              <a:rPr lang="de-CH" sz="1600" dirty="0" err="1"/>
              <a:t>subclass</a:t>
            </a:r>
            <a:r>
              <a:rPr lang="de-CH" sz="1600" dirty="0"/>
              <a:t> </a:t>
            </a:r>
            <a:r>
              <a:rPr lang="de-CH" sz="1600" dirty="0" err="1"/>
              <a:t>called</a:t>
            </a:r>
            <a:r>
              <a:rPr lang="de-CH" sz="1600" dirty="0"/>
              <a:t> </a:t>
            </a:r>
            <a:r>
              <a:rPr lang="de-CH" sz="1600" dirty="0" err="1"/>
              <a:t>induced</a:t>
            </a:r>
            <a:r>
              <a:rPr lang="de-CH" sz="1600" dirty="0"/>
              <a:t> </a:t>
            </a:r>
            <a:r>
              <a:rPr lang="de-CH" sz="1600" dirty="0" err="1"/>
              <a:t>norms</a:t>
            </a:r>
            <a:endParaRPr lang="de-CH" sz="1600" dirty="0"/>
          </a:p>
          <a:p>
            <a:r>
              <a:rPr lang="de-CH" sz="1600" dirty="0" err="1"/>
              <a:t>They</a:t>
            </a:r>
            <a:r>
              <a:rPr lang="de-CH" sz="1600" dirty="0"/>
              <a:t> </a:t>
            </a:r>
            <a:r>
              <a:rPr lang="de-CH" sz="1600" dirty="0" err="1"/>
              <a:t>measure</a:t>
            </a:r>
            <a:r>
              <a:rPr lang="de-CH" sz="1600" dirty="0"/>
              <a:t> </a:t>
            </a:r>
            <a:r>
              <a:rPr lang="de-CH" sz="1600" dirty="0" err="1"/>
              <a:t>how</a:t>
            </a:r>
            <a:r>
              <a:rPr lang="de-CH" sz="1600" dirty="0"/>
              <a:t> "large" a </a:t>
            </a:r>
            <a:r>
              <a:rPr lang="de-CH" sz="1600" dirty="0" err="1"/>
              <a:t>matrix</a:t>
            </a:r>
            <a:r>
              <a:rPr lang="de-CH" sz="1600" dirty="0"/>
              <a:t> </a:t>
            </a:r>
            <a:r>
              <a:rPr lang="de-CH" sz="1600" dirty="0" err="1"/>
              <a:t>is</a:t>
            </a:r>
            <a:r>
              <a:rPr lang="de-CH" sz="1600" dirty="0"/>
              <a:t> </a:t>
            </a:r>
            <a:r>
              <a:rPr lang="de-CH" sz="1600" dirty="0" err="1"/>
              <a:t>based</a:t>
            </a:r>
            <a:r>
              <a:rPr lang="de-CH" sz="1600" dirty="0"/>
              <a:t> on </a:t>
            </a:r>
            <a:r>
              <a:rPr lang="de-CH" sz="1600" dirty="0" err="1"/>
              <a:t>how</a:t>
            </a:r>
            <a:r>
              <a:rPr lang="de-CH" sz="1600" dirty="0"/>
              <a:t> </a:t>
            </a:r>
            <a:r>
              <a:rPr lang="de-CH" sz="1600" dirty="0" err="1"/>
              <a:t>much</a:t>
            </a:r>
            <a:r>
              <a:rPr lang="de-CH" sz="1600" dirty="0"/>
              <a:t> </a:t>
            </a:r>
            <a:r>
              <a:rPr lang="de-CH" sz="1600" dirty="0" err="1"/>
              <a:t>it</a:t>
            </a:r>
            <a:r>
              <a:rPr lang="de-CH" sz="1600" dirty="0"/>
              <a:t> </a:t>
            </a:r>
            <a:r>
              <a:rPr lang="de-CH" sz="1600" dirty="0" err="1"/>
              <a:t>amplifies</a:t>
            </a:r>
            <a:r>
              <a:rPr lang="de-CH" sz="1600" dirty="0"/>
              <a:t> a </a:t>
            </a:r>
            <a:r>
              <a:rPr lang="de-CH" sz="1600" dirty="0" err="1"/>
              <a:t>vector</a:t>
            </a:r>
            <a:endParaRPr lang="en-US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1B2A90-6126-D04E-6A0E-E1F690E56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3DE0B2-D99F-B9A7-F386-E9A148CA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279694-0997-594D-94C6-C03D6D1F2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25" y="1725814"/>
            <a:ext cx="6227561" cy="310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8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de-DE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/>
          </a:bodyPr>
          <a:lstStyle/>
          <a:p>
            <a:r>
              <a:rPr lang="de-DE" err="1"/>
              <a:t>Too</a:t>
            </a:r>
            <a:r>
              <a:rPr lang="de-DE"/>
              <a:t> fast? </a:t>
            </a:r>
            <a:r>
              <a:rPr lang="de-DE" err="1"/>
              <a:t>Too</a:t>
            </a:r>
            <a:r>
              <a:rPr lang="de-DE"/>
              <a:t> slow? </a:t>
            </a:r>
            <a:r>
              <a:rPr lang="de-DE" err="1"/>
              <a:t>Less</a:t>
            </a:r>
            <a:r>
              <a:rPr lang="de-DE"/>
              <a:t> </a:t>
            </a:r>
            <a:r>
              <a:rPr lang="de-DE" err="1"/>
              <a:t>theory</a:t>
            </a:r>
            <a:r>
              <a:rPr lang="de-DE"/>
              <a:t>,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exercises</a:t>
            </a:r>
            <a:r>
              <a:rPr lang="de-DE"/>
              <a:t>?</a:t>
            </a:r>
          </a:p>
          <a:p>
            <a:r>
              <a:rPr lang="de-DE"/>
              <a:t>I </a:t>
            </a:r>
            <a:r>
              <a:rPr lang="de-DE" err="1"/>
              <a:t>would</a:t>
            </a:r>
            <a:r>
              <a:rPr lang="de-DE"/>
              <a:t> </a:t>
            </a:r>
            <a:r>
              <a:rPr lang="de-DE" err="1"/>
              <a:t>appreciate</a:t>
            </a:r>
            <a:r>
              <a:rPr lang="de-DE"/>
              <a:t>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feedback</a:t>
            </a:r>
            <a:r>
              <a:rPr lang="de-DE"/>
              <a:t>. </a:t>
            </a:r>
            <a:r>
              <a:rPr lang="de-DE" err="1"/>
              <a:t>Please</a:t>
            </a:r>
            <a:r>
              <a:rPr lang="de-DE"/>
              <a:t> </a:t>
            </a:r>
            <a:r>
              <a:rPr lang="de-DE" err="1"/>
              <a:t>let</a:t>
            </a:r>
            <a:r>
              <a:rPr lang="de-DE"/>
              <a:t> </a:t>
            </a:r>
            <a:r>
              <a:rPr lang="de-DE" err="1"/>
              <a:t>me</a:t>
            </a:r>
            <a:r>
              <a:rPr lang="de-DE"/>
              <a:t> </a:t>
            </a:r>
            <a:r>
              <a:rPr lang="de-DE" err="1"/>
              <a:t>know</a:t>
            </a:r>
            <a:r>
              <a:rPr lang="de-DE"/>
              <a:t>.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2268</Words>
  <Application>Microsoft Macintosh PowerPoint</Application>
  <PresentationFormat>Bildschirmpräsentation (16:9)</PresentationFormat>
  <Paragraphs>307</Paragraphs>
  <Slides>37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47" baseType="lpstr">
      <vt:lpstr>Calibri</vt:lpstr>
      <vt:lpstr>Segoe UI Black</vt:lpstr>
      <vt:lpstr>Cambria Math</vt:lpstr>
      <vt:lpstr>Segoe UI Light</vt:lpstr>
      <vt:lpstr>Quattrocento Sans</vt:lpstr>
      <vt:lpstr>Segoe UI</vt:lpstr>
      <vt:lpstr>Wingdings</vt:lpstr>
      <vt:lpstr>Segoe UI Semibold</vt:lpstr>
      <vt:lpstr>Arial</vt:lpstr>
      <vt:lpstr>Office Theme</vt:lpstr>
      <vt:lpstr>CS2 Week 5</vt:lpstr>
      <vt:lpstr>Exercise Classes</vt:lpstr>
      <vt:lpstr>Recap</vt:lpstr>
      <vt:lpstr>State Feedback</vt:lpstr>
      <vt:lpstr>LQR</vt:lpstr>
      <vt:lpstr>LQE </vt:lpstr>
      <vt:lpstr>DOFB</vt:lpstr>
      <vt:lpstr>Quiz</vt:lpstr>
      <vt:lpstr>Quiz</vt:lpstr>
      <vt:lpstr>Course Schedule</vt:lpstr>
      <vt:lpstr>Today</vt:lpstr>
      <vt:lpstr>1. DOFC w/ integral action</vt:lpstr>
      <vt:lpstr>DOFC with integral action</vt:lpstr>
      <vt:lpstr>LQG stability margins</vt:lpstr>
      <vt:lpstr>Summarized</vt:lpstr>
      <vt:lpstr>2. Intro MIMO systems</vt:lpstr>
      <vt:lpstr>Introduction</vt:lpstr>
      <vt:lpstr>Introduction</vt:lpstr>
      <vt:lpstr>Introduction</vt:lpstr>
      <vt:lpstr>MIMO block diagrams</vt:lpstr>
      <vt:lpstr>MIMO state-space</vt:lpstr>
      <vt:lpstr>Poles &amp; Zeros</vt:lpstr>
      <vt:lpstr>MIMO poles</vt:lpstr>
      <vt:lpstr>Example</vt:lpstr>
      <vt:lpstr>MIMO zeros</vt:lpstr>
      <vt:lpstr>Example: decoupled</vt:lpstr>
      <vt:lpstr>Example: coupled &amp; unintuitive</vt:lpstr>
      <vt:lpstr>Invariant zeros</vt:lpstr>
      <vt:lpstr>Reachable Cannonical Form</vt:lpstr>
      <vt:lpstr>Gilbert's Realization</vt:lpstr>
      <vt:lpstr>PowerPoint-Präsentation</vt:lpstr>
      <vt:lpstr>Quick analysis</vt:lpstr>
      <vt:lpstr>3. Norms</vt:lpstr>
      <vt:lpstr>Signal amplification in MIMO sytems</vt:lpstr>
      <vt:lpstr>Vector norms</vt:lpstr>
      <vt:lpstr>Matrix norms</vt:lpstr>
      <vt:lpstr>Feedback?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12</dc:title>
  <dc:creator>Julian 2</dc:creator>
  <cp:lastModifiedBy>Varatharajan  Kissan</cp:lastModifiedBy>
  <cp:revision>10</cp:revision>
  <dcterms:modified xsi:type="dcterms:W3CDTF">2026-03-19T09:56:33Z</dcterms:modified>
</cp:coreProperties>
</file>